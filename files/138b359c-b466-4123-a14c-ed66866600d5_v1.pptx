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8" d="100"/>
          <a:sy n="88" d="100"/>
        </p:scale>
        <p:origin x="1306" y="101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146A89-743C-441C-8687-38D0DB6B7666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060D0B-C203-419D-B38C-2EDFD2BAF3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4734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ED7D31"/>
                </a:solidFill>
                <a:latin typeface="Times New Roman"/>
                <a:cs typeface="Times New Roman"/>
              </a:defRPr>
            </a:lvl1pPr>
          </a:lstStyle>
          <a:p>
            <a:pPr marL="255904">
              <a:lnSpc>
                <a:spcPts val="1410"/>
              </a:lnSpc>
            </a:pPr>
            <a:r>
              <a:rPr spc="-10" dirty="0"/>
              <a:t>2023-</a:t>
            </a:r>
            <a:r>
              <a:rPr dirty="0"/>
              <a:t>2027</a:t>
            </a:r>
            <a:r>
              <a:rPr spc="-5" dirty="0"/>
              <a:t> </a:t>
            </a:r>
            <a:r>
              <a:rPr spc="-10" dirty="0"/>
              <a:t>Batch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ED7D31"/>
                </a:solidFill>
                <a:latin typeface="Times New Roman"/>
                <a:cs typeface="Times New Roman"/>
              </a:defRPr>
            </a:lvl1pPr>
          </a:lstStyle>
          <a:p>
            <a:pPr marL="255904">
              <a:lnSpc>
                <a:spcPts val="1410"/>
              </a:lnSpc>
            </a:pPr>
            <a:r>
              <a:rPr lang="en-US" smtClean="0"/>
              <a:t>CCD415 Project Phase I</a:t>
            </a:r>
            <a:endParaRPr spc="-50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375523"/>
                </a:solidFill>
                <a:latin typeface="Times New Roman"/>
                <a:cs typeface="Times New Roman"/>
              </a:defRPr>
            </a:lvl1pPr>
          </a:lstStyle>
          <a:p>
            <a:pPr marL="114300">
              <a:lnSpc>
                <a:spcPts val="141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781800" y="6443562"/>
            <a:ext cx="1348418" cy="356272"/>
          </a:xfrm>
        </p:spPr>
        <p:txBody>
          <a:bodyPr lIns="0" tIns="0" rIns="0" bIns="0"/>
          <a:lstStyle>
            <a:lvl1pPr>
              <a:defRPr sz="1200" b="1" i="0">
                <a:solidFill>
                  <a:srgbClr val="ED7D31"/>
                </a:solidFill>
                <a:latin typeface="Times New Roman"/>
                <a:cs typeface="Times New Roman"/>
              </a:defRPr>
            </a:lvl1pPr>
          </a:lstStyle>
          <a:p>
            <a:pPr marL="255904">
              <a:lnSpc>
                <a:spcPts val="1410"/>
              </a:lnSpc>
            </a:pPr>
            <a:r>
              <a:rPr spc="-10" dirty="0"/>
              <a:t>2023-</a:t>
            </a:r>
            <a:r>
              <a:rPr dirty="0"/>
              <a:t>2027</a:t>
            </a:r>
            <a:r>
              <a:rPr spc="-5" dirty="0"/>
              <a:t> </a:t>
            </a:r>
            <a:r>
              <a:rPr spc="-10" dirty="0"/>
              <a:t>Batch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429000" y="6437570"/>
            <a:ext cx="1979136" cy="184128"/>
          </a:xfrm>
        </p:spPr>
        <p:txBody>
          <a:bodyPr lIns="0" tIns="0" rIns="0" bIns="0"/>
          <a:lstStyle>
            <a:lvl1pPr>
              <a:defRPr sz="1200" b="1" i="0">
                <a:solidFill>
                  <a:srgbClr val="ED7D31"/>
                </a:solidFill>
                <a:latin typeface="Times New Roman"/>
                <a:cs typeface="Times New Roman"/>
              </a:defRPr>
            </a:lvl1pPr>
          </a:lstStyle>
          <a:p>
            <a:pPr marL="255904">
              <a:lnSpc>
                <a:spcPts val="1410"/>
              </a:lnSpc>
            </a:pPr>
            <a:r>
              <a:rPr lang="en-US" dirty="0" smtClean="0"/>
              <a:t>CCD415 Project Phase I</a:t>
            </a:r>
            <a:endParaRPr spc="-50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375523"/>
                </a:solidFill>
                <a:latin typeface="Times New Roman"/>
                <a:cs typeface="Times New Roman"/>
              </a:defRPr>
            </a:lvl1pPr>
          </a:lstStyle>
          <a:p>
            <a:pPr marL="114300">
              <a:lnSpc>
                <a:spcPts val="141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ED7D31"/>
                </a:solidFill>
                <a:latin typeface="Times New Roman"/>
                <a:cs typeface="Times New Roman"/>
              </a:defRPr>
            </a:lvl1pPr>
          </a:lstStyle>
          <a:p>
            <a:pPr marL="255904">
              <a:lnSpc>
                <a:spcPts val="1410"/>
              </a:lnSpc>
            </a:pPr>
            <a:r>
              <a:rPr spc="-10" dirty="0"/>
              <a:t>2023-</a:t>
            </a:r>
            <a:r>
              <a:rPr dirty="0"/>
              <a:t>2027</a:t>
            </a:r>
            <a:r>
              <a:rPr spc="-5" dirty="0"/>
              <a:t> </a:t>
            </a:r>
            <a:r>
              <a:rPr spc="-10" dirty="0"/>
              <a:t>Batch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ED7D31"/>
                </a:solidFill>
                <a:latin typeface="Times New Roman"/>
                <a:cs typeface="Times New Roman"/>
              </a:defRPr>
            </a:lvl1pPr>
          </a:lstStyle>
          <a:p>
            <a:pPr marL="255904">
              <a:lnSpc>
                <a:spcPts val="1410"/>
              </a:lnSpc>
            </a:pPr>
            <a:r>
              <a:rPr lang="en-US" smtClean="0"/>
              <a:t>CCD415 Project Phase I</a:t>
            </a:r>
            <a:endParaRPr spc="-50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375523"/>
                </a:solidFill>
                <a:latin typeface="Times New Roman"/>
                <a:cs typeface="Times New Roman"/>
              </a:defRPr>
            </a:lvl1pPr>
          </a:lstStyle>
          <a:p>
            <a:pPr marL="114300">
              <a:lnSpc>
                <a:spcPts val="141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ED7D31"/>
                </a:solidFill>
                <a:latin typeface="Times New Roman"/>
                <a:cs typeface="Times New Roman"/>
              </a:defRPr>
            </a:lvl1pPr>
          </a:lstStyle>
          <a:p>
            <a:pPr marL="255904">
              <a:lnSpc>
                <a:spcPts val="1410"/>
              </a:lnSpc>
            </a:pPr>
            <a:r>
              <a:rPr spc="-10" dirty="0"/>
              <a:t>2023-</a:t>
            </a:r>
            <a:r>
              <a:rPr dirty="0"/>
              <a:t>2027</a:t>
            </a:r>
            <a:r>
              <a:rPr spc="-5" dirty="0"/>
              <a:t> </a:t>
            </a:r>
            <a:r>
              <a:rPr spc="-10" dirty="0"/>
              <a:t>Batch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ED7D31"/>
                </a:solidFill>
                <a:latin typeface="Times New Roman"/>
                <a:cs typeface="Times New Roman"/>
              </a:defRPr>
            </a:lvl1pPr>
          </a:lstStyle>
          <a:p>
            <a:pPr marL="255904">
              <a:lnSpc>
                <a:spcPts val="1410"/>
              </a:lnSpc>
            </a:pPr>
            <a:r>
              <a:rPr lang="en-US" smtClean="0"/>
              <a:t>CCD415 Project Phase I</a:t>
            </a:r>
            <a:endParaRPr spc="-50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375523"/>
                </a:solidFill>
                <a:latin typeface="Times New Roman"/>
                <a:cs typeface="Times New Roman"/>
              </a:defRPr>
            </a:lvl1pPr>
          </a:lstStyle>
          <a:p>
            <a:pPr marL="114300">
              <a:lnSpc>
                <a:spcPts val="141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ED7D31"/>
                </a:solidFill>
                <a:latin typeface="Times New Roman"/>
                <a:cs typeface="Times New Roman"/>
              </a:defRPr>
            </a:lvl1pPr>
          </a:lstStyle>
          <a:p>
            <a:pPr marL="255904">
              <a:lnSpc>
                <a:spcPts val="1410"/>
              </a:lnSpc>
            </a:pPr>
            <a:r>
              <a:rPr spc="-10" dirty="0"/>
              <a:t>2023-</a:t>
            </a:r>
            <a:r>
              <a:rPr dirty="0"/>
              <a:t>2027</a:t>
            </a:r>
            <a:r>
              <a:rPr spc="-5" dirty="0"/>
              <a:t> </a:t>
            </a:r>
            <a:r>
              <a:rPr spc="-10" dirty="0"/>
              <a:t>Batch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ED7D31"/>
                </a:solidFill>
                <a:latin typeface="Times New Roman"/>
                <a:cs typeface="Times New Roman"/>
              </a:defRPr>
            </a:lvl1pPr>
          </a:lstStyle>
          <a:p>
            <a:pPr marL="255904">
              <a:lnSpc>
                <a:spcPts val="1410"/>
              </a:lnSpc>
            </a:pPr>
            <a:r>
              <a:rPr lang="en-US" smtClean="0"/>
              <a:t>CCD415 Project Phase I</a:t>
            </a:r>
            <a:endParaRPr spc="-50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375523"/>
                </a:solidFill>
                <a:latin typeface="Times New Roman"/>
                <a:cs typeface="Times New Roman"/>
              </a:defRPr>
            </a:lvl1pPr>
          </a:lstStyle>
          <a:p>
            <a:pPr marL="114300">
              <a:lnSpc>
                <a:spcPts val="141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53000" y="-80949"/>
            <a:ext cx="6437999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64331" y="1441306"/>
            <a:ext cx="8599805" cy="470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705600" y="6445272"/>
            <a:ext cx="1348418" cy="35627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rgbClr val="ED7D31"/>
                </a:solidFill>
                <a:latin typeface="Times New Roman"/>
                <a:cs typeface="Times New Roman"/>
              </a:defRPr>
            </a:lvl1pPr>
          </a:lstStyle>
          <a:p>
            <a:pPr marL="255904">
              <a:lnSpc>
                <a:spcPts val="1410"/>
              </a:lnSpc>
            </a:pPr>
            <a:r>
              <a:rPr spc="-10" dirty="0"/>
              <a:t>2023-</a:t>
            </a:r>
            <a:r>
              <a:rPr dirty="0"/>
              <a:t>2027</a:t>
            </a:r>
            <a:r>
              <a:rPr spc="-5" dirty="0"/>
              <a:t> </a:t>
            </a:r>
            <a:r>
              <a:rPr spc="-10" dirty="0"/>
              <a:t>Batch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057400" y="6445272"/>
            <a:ext cx="1905471" cy="179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rgbClr val="ED7D31"/>
                </a:solidFill>
                <a:latin typeface="Times New Roman"/>
                <a:cs typeface="Times New Roman"/>
              </a:defRPr>
            </a:lvl1pPr>
          </a:lstStyle>
          <a:p>
            <a:pPr marL="255904">
              <a:lnSpc>
                <a:spcPts val="1410"/>
              </a:lnSpc>
            </a:pPr>
            <a:r>
              <a:rPr lang="en-US" dirty="0" smtClean="0"/>
              <a:t>CCD415 Project Phase I</a:t>
            </a:r>
            <a:endParaRPr spc="-50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239125" y="6445272"/>
            <a:ext cx="291275" cy="35627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rgbClr val="375523"/>
                </a:solidFill>
                <a:latin typeface="Times New Roman"/>
                <a:cs typeface="Times New Roman"/>
              </a:defRPr>
            </a:lvl1pPr>
          </a:lstStyle>
          <a:p>
            <a:pPr marL="114300">
              <a:lnSpc>
                <a:spcPts val="141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iming>
    <p:tnLst>
      <p:par>
        <p:cTn id="1" dur="indefinite" restart="never" nodeType="tmRoot"/>
      </p:par>
    </p:tnLst>
  </p:timing>
  <p:hf hdr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mailto:mAP@0.5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mailto:mAP@0.5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9923" y="18974"/>
            <a:ext cx="8705888" cy="1038496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033116" y="1075549"/>
            <a:ext cx="5291455" cy="30480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b="1" dirty="0">
                <a:solidFill>
                  <a:srgbClr val="0C0C0C"/>
                </a:solidFill>
                <a:latin typeface="Times New Roman"/>
                <a:cs typeface="Times New Roman"/>
              </a:rPr>
              <a:t>Department</a:t>
            </a:r>
            <a:r>
              <a:rPr sz="2000" b="1" spc="-1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C0C0C"/>
                </a:solidFill>
                <a:latin typeface="Times New Roman"/>
                <a:cs typeface="Times New Roman"/>
              </a:rPr>
              <a:t>of</a:t>
            </a:r>
            <a:r>
              <a:rPr sz="2000" b="1" spc="-1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C0C0C"/>
                </a:solidFill>
                <a:latin typeface="Times New Roman"/>
                <a:cs typeface="Times New Roman"/>
              </a:rPr>
              <a:t>Computer</a:t>
            </a:r>
            <a:r>
              <a:rPr sz="2000" b="1" spc="-5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C0C0C"/>
                </a:solidFill>
                <a:latin typeface="Times New Roman"/>
                <a:cs typeface="Times New Roman"/>
              </a:rPr>
              <a:t>Science</a:t>
            </a:r>
            <a:r>
              <a:rPr sz="2000" b="1" spc="-2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C0C0C"/>
                </a:solidFill>
                <a:latin typeface="Times New Roman"/>
                <a:cs typeface="Times New Roman"/>
              </a:rPr>
              <a:t>&amp;</a:t>
            </a:r>
            <a:r>
              <a:rPr sz="2000" b="1" spc="-10" dirty="0">
                <a:solidFill>
                  <a:srgbClr val="0C0C0C"/>
                </a:solidFill>
                <a:latin typeface="Times New Roman"/>
                <a:cs typeface="Times New Roman"/>
              </a:rPr>
              <a:t> Engineering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3124200" y="1525619"/>
            <a:ext cx="3318522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 smtClean="0">
                <a:solidFill>
                  <a:srgbClr val="0C0C0C"/>
                </a:solidFill>
              </a:rPr>
              <a:t>C</a:t>
            </a:r>
            <a:r>
              <a:rPr lang="en-US" sz="2400" dirty="0" smtClean="0">
                <a:solidFill>
                  <a:srgbClr val="0C0C0C"/>
                </a:solidFill>
              </a:rPr>
              <a:t>C</a:t>
            </a:r>
            <a:r>
              <a:rPr sz="2400" dirty="0" smtClean="0">
                <a:solidFill>
                  <a:srgbClr val="0C0C0C"/>
                </a:solidFill>
              </a:rPr>
              <a:t>D</a:t>
            </a:r>
            <a:r>
              <a:rPr sz="2400" spc="-40" dirty="0" smtClean="0">
                <a:solidFill>
                  <a:srgbClr val="0C0C0C"/>
                </a:solidFill>
              </a:rPr>
              <a:t> </a:t>
            </a:r>
            <a:r>
              <a:rPr sz="2400" dirty="0">
                <a:solidFill>
                  <a:srgbClr val="0C0C0C"/>
                </a:solidFill>
              </a:rPr>
              <a:t>415</a:t>
            </a:r>
            <a:r>
              <a:rPr sz="2400" spc="-35" dirty="0">
                <a:solidFill>
                  <a:srgbClr val="0C0C0C"/>
                </a:solidFill>
              </a:rPr>
              <a:t> </a:t>
            </a:r>
            <a:r>
              <a:rPr sz="2400" dirty="0">
                <a:solidFill>
                  <a:srgbClr val="0C0C0C"/>
                </a:solidFill>
              </a:rPr>
              <a:t>Project</a:t>
            </a:r>
            <a:r>
              <a:rPr sz="2400" spc="-30" dirty="0">
                <a:solidFill>
                  <a:srgbClr val="0C0C0C"/>
                </a:solidFill>
              </a:rPr>
              <a:t> </a:t>
            </a:r>
            <a:r>
              <a:rPr sz="2400" dirty="0">
                <a:solidFill>
                  <a:srgbClr val="0C0C0C"/>
                </a:solidFill>
              </a:rPr>
              <a:t>Phase</a:t>
            </a:r>
            <a:r>
              <a:rPr sz="2400" spc="-40" dirty="0">
                <a:solidFill>
                  <a:srgbClr val="0C0C0C"/>
                </a:solidFill>
              </a:rPr>
              <a:t> </a:t>
            </a:r>
            <a:r>
              <a:rPr sz="2400" spc="-60" dirty="0">
                <a:solidFill>
                  <a:srgbClr val="0C0C0C"/>
                </a:solidFill>
              </a:rPr>
              <a:t>I</a:t>
            </a:r>
            <a:endParaRPr sz="2400" dirty="0"/>
          </a:p>
        </p:txBody>
      </p:sp>
      <p:sp>
        <p:nvSpPr>
          <p:cNvPr id="5" name="object 5"/>
          <p:cNvSpPr txBox="1"/>
          <p:nvPr/>
        </p:nvSpPr>
        <p:spPr>
          <a:xfrm>
            <a:off x="1224927" y="1613252"/>
            <a:ext cx="7217409" cy="1525931"/>
          </a:xfrm>
          <a:prstGeom prst="rect">
            <a:avLst/>
          </a:prstGeom>
        </p:spPr>
        <p:txBody>
          <a:bodyPr vert="horz" wrap="square" lIns="0" tIns="200025" rIns="0" bIns="0" rtlCol="0">
            <a:spAutoFit/>
          </a:bodyPr>
          <a:lstStyle/>
          <a:p>
            <a:pPr marL="3810" algn="ctr">
              <a:lnSpc>
                <a:spcPct val="100000"/>
              </a:lnSpc>
              <a:spcBef>
                <a:spcPts val="1575"/>
              </a:spcBef>
            </a:pPr>
            <a:r>
              <a:rPr sz="2200" b="1" dirty="0">
                <a:solidFill>
                  <a:srgbClr val="0C0C0C"/>
                </a:solidFill>
                <a:latin typeface="Times New Roman"/>
                <a:cs typeface="Times New Roman"/>
              </a:rPr>
              <a:t>First</a:t>
            </a:r>
            <a:r>
              <a:rPr sz="2200" b="1" spc="-5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200" b="1" spc="-10" dirty="0">
                <a:solidFill>
                  <a:srgbClr val="0C0C0C"/>
                </a:solidFill>
                <a:latin typeface="Times New Roman"/>
                <a:cs typeface="Times New Roman"/>
              </a:rPr>
              <a:t>Review</a:t>
            </a:r>
            <a:endParaRPr sz="2200" dirty="0">
              <a:latin typeface="Times New Roman"/>
              <a:cs typeface="Times New Roman"/>
            </a:endParaRPr>
          </a:p>
          <a:p>
            <a:pPr marL="12065" marR="5080" indent="635" algn="ctr">
              <a:lnSpc>
                <a:spcPct val="80000"/>
              </a:lnSpc>
              <a:spcBef>
                <a:spcPts val="2455"/>
              </a:spcBef>
            </a:pPr>
            <a:r>
              <a:rPr lang="en-US" sz="2700" b="1" dirty="0" smtClean="0">
                <a:solidFill>
                  <a:srgbClr val="FF0000"/>
                </a:solidFill>
                <a:latin typeface="Times New Roman"/>
                <a:cs typeface="Times New Roman"/>
              </a:rPr>
              <a:t>SECURE REMOTE NETWORK ACCESS USING TWIN GATE AND RASPBERRY PI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98312" y="4485749"/>
            <a:ext cx="2026285" cy="11285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300"/>
              </a:lnSpc>
              <a:spcBef>
                <a:spcPts val="100"/>
              </a:spcBef>
            </a:pPr>
            <a:r>
              <a:rPr sz="2000" b="1" dirty="0">
                <a:solidFill>
                  <a:srgbClr val="0C0C0C"/>
                </a:solidFill>
                <a:latin typeface="Times New Roman"/>
                <a:cs typeface="Times New Roman"/>
              </a:rPr>
              <a:t>Guided</a:t>
            </a:r>
            <a:r>
              <a:rPr sz="2000" b="1" spc="-3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000" b="1" spc="-25" dirty="0">
                <a:solidFill>
                  <a:srgbClr val="0C0C0C"/>
                </a:solidFill>
                <a:latin typeface="Times New Roman"/>
                <a:cs typeface="Times New Roman"/>
              </a:rPr>
              <a:t>By,</a:t>
            </a:r>
            <a:endParaRPr sz="2000" dirty="0">
              <a:latin typeface="Times New Roman"/>
              <a:cs typeface="Times New Roman"/>
            </a:endParaRPr>
          </a:p>
          <a:p>
            <a:pPr marL="12700">
              <a:lnSpc>
                <a:spcPts val="1820"/>
              </a:lnSpc>
            </a:pPr>
            <a:r>
              <a:rPr sz="1700" dirty="0" smtClean="0">
                <a:solidFill>
                  <a:srgbClr val="0C0C0C"/>
                </a:solidFill>
                <a:latin typeface="Times New Roman"/>
                <a:cs typeface="Times New Roman"/>
              </a:rPr>
              <a:t>M</a:t>
            </a:r>
            <a:r>
              <a:rPr lang="en-US" sz="1700" dirty="0" smtClean="0">
                <a:solidFill>
                  <a:srgbClr val="0C0C0C"/>
                </a:solidFill>
                <a:latin typeface="Times New Roman"/>
                <a:cs typeface="Times New Roman"/>
              </a:rPr>
              <a:t>s</a:t>
            </a:r>
            <a:r>
              <a:rPr sz="1700" dirty="0" smtClean="0">
                <a:solidFill>
                  <a:srgbClr val="0C0C0C"/>
                </a:solidFill>
                <a:latin typeface="Times New Roman"/>
                <a:cs typeface="Times New Roman"/>
              </a:rPr>
              <a:t>.</a:t>
            </a:r>
            <a:r>
              <a:rPr sz="1700" spc="-70" dirty="0" smtClean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lang="en-US" sz="1700" dirty="0" smtClean="0">
                <a:solidFill>
                  <a:srgbClr val="0C0C0C"/>
                </a:solidFill>
                <a:latin typeface="Times New Roman"/>
                <a:cs typeface="Times New Roman"/>
              </a:rPr>
              <a:t>FARBEENA</a:t>
            </a:r>
            <a:r>
              <a:rPr sz="1700" spc="-60" dirty="0" smtClean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lang="en-US" sz="1700" spc="-50" dirty="0">
                <a:solidFill>
                  <a:srgbClr val="0C0C0C"/>
                </a:solidFill>
                <a:latin typeface="Times New Roman"/>
                <a:cs typeface="Times New Roman"/>
              </a:rPr>
              <a:t>N</a:t>
            </a:r>
            <a:endParaRPr sz="1700" dirty="0">
              <a:latin typeface="Times New Roman"/>
              <a:cs typeface="Times New Roman"/>
            </a:endParaRPr>
          </a:p>
          <a:p>
            <a:pPr marL="12700" marR="5080">
              <a:lnSpc>
                <a:spcPts val="2160"/>
              </a:lnSpc>
              <a:spcBef>
                <a:spcPts val="150"/>
              </a:spcBef>
            </a:pPr>
            <a:r>
              <a:rPr sz="2000" dirty="0">
                <a:solidFill>
                  <a:srgbClr val="0C0C0C"/>
                </a:solidFill>
                <a:latin typeface="Times New Roman"/>
                <a:cs typeface="Times New Roman"/>
              </a:rPr>
              <a:t>Assistant</a:t>
            </a:r>
            <a:r>
              <a:rPr sz="2000" spc="-4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0C0C0C"/>
                </a:solidFill>
                <a:latin typeface="Times New Roman"/>
                <a:cs typeface="Times New Roman"/>
              </a:rPr>
              <a:t>Professor </a:t>
            </a:r>
            <a:r>
              <a:rPr sz="2000" dirty="0">
                <a:solidFill>
                  <a:srgbClr val="0C0C0C"/>
                </a:solidFill>
                <a:latin typeface="Times New Roman"/>
                <a:cs typeface="Times New Roman"/>
              </a:rPr>
              <a:t>Department</a:t>
            </a:r>
            <a:r>
              <a:rPr sz="2000" spc="-3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C0C0C"/>
                </a:solidFill>
                <a:latin typeface="Times New Roman"/>
                <a:cs typeface="Times New Roman"/>
              </a:rPr>
              <a:t>of</a:t>
            </a:r>
            <a:r>
              <a:rPr sz="2000" spc="-2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0C0C0C"/>
                </a:solidFill>
                <a:latin typeface="Times New Roman"/>
                <a:cs typeface="Times New Roman"/>
              </a:rPr>
              <a:t>CSE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652651" y="4480467"/>
            <a:ext cx="1480820" cy="261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50" b="1" dirty="0">
                <a:solidFill>
                  <a:srgbClr val="0C0C0C"/>
                </a:solidFill>
                <a:latin typeface="Times New Roman"/>
                <a:cs typeface="Times New Roman"/>
              </a:rPr>
              <a:t>Project</a:t>
            </a:r>
            <a:r>
              <a:rPr sz="1550" b="1" spc="-5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550" b="1" spc="-10" dirty="0">
                <a:solidFill>
                  <a:srgbClr val="0C0C0C"/>
                </a:solidFill>
                <a:latin typeface="Times New Roman"/>
                <a:cs typeface="Times New Roman"/>
              </a:rPr>
              <a:t>Members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603513" y="4716687"/>
            <a:ext cx="3119120" cy="962443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318770" indent="-306070">
              <a:lnSpc>
                <a:spcPct val="100000"/>
              </a:lnSpc>
              <a:spcBef>
                <a:spcPts val="725"/>
              </a:spcBef>
              <a:buClr>
                <a:srgbClr val="4472C4"/>
              </a:buClr>
              <a:buAutoNum type="arabicPeriod"/>
              <a:tabLst>
                <a:tab pos="318770" algn="l"/>
              </a:tabLst>
            </a:pPr>
            <a:r>
              <a:rPr lang="en-US" sz="1550" spc="-85" dirty="0" smtClean="0">
                <a:solidFill>
                  <a:srgbClr val="0C0C0C"/>
                </a:solidFill>
                <a:latin typeface="Times New Roman"/>
                <a:cs typeface="Times New Roman"/>
              </a:rPr>
              <a:t>AKSHAY</a:t>
            </a:r>
            <a:r>
              <a:rPr sz="1550" spc="-90" dirty="0" smtClean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lang="en-US" sz="1550" spc="-90" dirty="0" smtClean="0">
                <a:solidFill>
                  <a:srgbClr val="0C0C0C"/>
                </a:solidFill>
                <a:latin typeface="Times New Roman"/>
                <a:cs typeface="Times New Roman"/>
              </a:rPr>
              <a:t>N</a:t>
            </a:r>
            <a:r>
              <a:rPr sz="1550" spc="-10" dirty="0" smtClean="0">
                <a:solidFill>
                  <a:srgbClr val="0C0C0C"/>
                </a:solidFill>
                <a:latin typeface="Times New Roman"/>
                <a:cs typeface="Times New Roman"/>
              </a:rPr>
              <a:t>(JCE23</a:t>
            </a:r>
            <a:r>
              <a:rPr lang="en-US" sz="1550" spc="-10" dirty="0" smtClean="0">
                <a:solidFill>
                  <a:srgbClr val="0C0C0C"/>
                </a:solidFill>
                <a:latin typeface="Times New Roman"/>
                <a:cs typeface="Times New Roman"/>
              </a:rPr>
              <a:t>CC008</a:t>
            </a:r>
            <a:r>
              <a:rPr sz="1550" spc="-10" dirty="0" smtClean="0">
                <a:solidFill>
                  <a:srgbClr val="0C0C0C"/>
                </a:solidFill>
                <a:latin typeface="Times New Roman"/>
                <a:cs typeface="Times New Roman"/>
              </a:rPr>
              <a:t>)</a:t>
            </a:r>
            <a:endParaRPr sz="1550" dirty="0">
              <a:latin typeface="Times New Roman"/>
              <a:cs typeface="Times New Roman"/>
            </a:endParaRPr>
          </a:p>
          <a:p>
            <a:pPr marL="318770" indent="-306070">
              <a:lnSpc>
                <a:spcPct val="100000"/>
              </a:lnSpc>
              <a:spcBef>
                <a:spcPts val="630"/>
              </a:spcBef>
              <a:buClr>
                <a:srgbClr val="4472C4"/>
              </a:buClr>
              <a:buAutoNum type="arabicPeriod"/>
              <a:tabLst>
                <a:tab pos="318770" algn="l"/>
              </a:tabLst>
            </a:pPr>
            <a:r>
              <a:rPr lang="en-US" sz="1550" spc="-50" dirty="0" smtClean="0">
                <a:solidFill>
                  <a:srgbClr val="0C0C0C"/>
                </a:solidFill>
                <a:latin typeface="Times New Roman"/>
                <a:cs typeface="Times New Roman"/>
              </a:rPr>
              <a:t>ABHISHEK KB</a:t>
            </a:r>
            <a:r>
              <a:rPr sz="1550" spc="-10" dirty="0" smtClean="0">
                <a:solidFill>
                  <a:srgbClr val="0C0C0C"/>
                </a:solidFill>
                <a:latin typeface="Times New Roman"/>
                <a:cs typeface="Times New Roman"/>
              </a:rPr>
              <a:t>(</a:t>
            </a:r>
            <a:r>
              <a:rPr lang="en-US" sz="1550" spc="-10" dirty="0" smtClean="0">
                <a:solidFill>
                  <a:srgbClr val="0C0C0C"/>
                </a:solidFill>
                <a:latin typeface="Times New Roman"/>
                <a:cs typeface="Times New Roman"/>
              </a:rPr>
              <a:t>L</a:t>
            </a:r>
            <a:r>
              <a:rPr sz="1550" spc="-10" dirty="0" smtClean="0">
                <a:solidFill>
                  <a:srgbClr val="0C0C0C"/>
                </a:solidFill>
                <a:latin typeface="Times New Roman"/>
                <a:cs typeface="Times New Roman"/>
              </a:rPr>
              <a:t>JCE23C</a:t>
            </a:r>
            <a:r>
              <a:rPr lang="en-US" sz="1550" spc="-10" dirty="0" smtClean="0">
                <a:solidFill>
                  <a:srgbClr val="0C0C0C"/>
                </a:solidFill>
                <a:latin typeface="Times New Roman"/>
                <a:cs typeface="Times New Roman"/>
              </a:rPr>
              <a:t>C</a:t>
            </a:r>
            <a:r>
              <a:rPr sz="1550" spc="-10" dirty="0" smtClean="0">
                <a:solidFill>
                  <a:srgbClr val="0C0C0C"/>
                </a:solidFill>
                <a:latin typeface="Times New Roman"/>
                <a:cs typeface="Times New Roman"/>
              </a:rPr>
              <a:t>0</a:t>
            </a:r>
            <a:r>
              <a:rPr lang="en-US" sz="1550" spc="-10" dirty="0" smtClean="0">
                <a:solidFill>
                  <a:srgbClr val="0C0C0C"/>
                </a:solidFill>
                <a:latin typeface="Times New Roman"/>
                <a:cs typeface="Times New Roman"/>
              </a:rPr>
              <a:t>34</a:t>
            </a:r>
            <a:r>
              <a:rPr sz="1550" spc="-10" dirty="0" smtClean="0">
                <a:solidFill>
                  <a:srgbClr val="0C0C0C"/>
                </a:solidFill>
                <a:latin typeface="Times New Roman"/>
                <a:cs typeface="Times New Roman"/>
              </a:rPr>
              <a:t>)</a:t>
            </a:r>
            <a:endParaRPr sz="1550" dirty="0">
              <a:latin typeface="Times New Roman"/>
              <a:cs typeface="Times New Roman"/>
            </a:endParaRPr>
          </a:p>
          <a:p>
            <a:pPr marL="318770" indent="-306070">
              <a:lnSpc>
                <a:spcPct val="100000"/>
              </a:lnSpc>
              <a:spcBef>
                <a:spcPts val="630"/>
              </a:spcBef>
              <a:buClr>
                <a:srgbClr val="4472C4"/>
              </a:buClr>
              <a:buAutoNum type="arabicPeriod"/>
              <a:tabLst>
                <a:tab pos="318770" algn="l"/>
              </a:tabLst>
            </a:pPr>
            <a:r>
              <a:rPr sz="1550" spc="-50" dirty="0" smtClean="0">
                <a:solidFill>
                  <a:srgbClr val="0C0C0C"/>
                </a:solidFill>
                <a:latin typeface="Times New Roman"/>
                <a:cs typeface="Times New Roman"/>
              </a:rPr>
              <a:t>S</a:t>
            </a:r>
            <a:r>
              <a:rPr lang="en-US" sz="1550" spc="-50" dirty="0" smtClean="0">
                <a:solidFill>
                  <a:srgbClr val="0C0C0C"/>
                </a:solidFill>
                <a:latin typeface="Times New Roman"/>
                <a:cs typeface="Times New Roman"/>
              </a:rPr>
              <a:t>HANID ALI</a:t>
            </a:r>
            <a:r>
              <a:rPr sz="1550" spc="-10" dirty="0" smtClean="0">
                <a:solidFill>
                  <a:srgbClr val="0C0C0C"/>
                </a:solidFill>
                <a:latin typeface="Times New Roman"/>
                <a:cs typeface="Times New Roman"/>
              </a:rPr>
              <a:t>(JCE23C</a:t>
            </a:r>
            <a:r>
              <a:rPr lang="en-US" sz="1550" spc="-10" dirty="0" smtClean="0">
                <a:solidFill>
                  <a:srgbClr val="0C0C0C"/>
                </a:solidFill>
                <a:latin typeface="Times New Roman"/>
                <a:cs typeface="Times New Roman"/>
              </a:rPr>
              <a:t>C</a:t>
            </a:r>
            <a:r>
              <a:rPr sz="1550" spc="-10" dirty="0" smtClean="0">
                <a:solidFill>
                  <a:srgbClr val="0C0C0C"/>
                </a:solidFill>
                <a:latin typeface="Times New Roman"/>
                <a:cs typeface="Times New Roman"/>
              </a:rPr>
              <a:t>0</a:t>
            </a:r>
            <a:r>
              <a:rPr lang="en-US" sz="1550" spc="-10" dirty="0" smtClean="0">
                <a:solidFill>
                  <a:srgbClr val="0C0C0C"/>
                </a:solidFill>
                <a:latin typeface="Times New Roman"/>
                <a:cs typeface="Times New Roman"/>
              </a:rPr>
              <a:t>27</a:t>
            </a:r>
            <a:r>
              <a:rPr sz="1550" spc="-10" dirty="0" smtClean="0">
                <a:solidFill>
                  <a:srgbClr val="0C0C0C"/>
                </a:solidFill>
                <a:latin typeface="Times New Roman"/>
                <a:cs typeface="Times New Roman"/>
              </a:rPr>
              <a:t>)</a:t>
            </a:r>
            <a:endParaRPr sz="1550" dirty="0">
              <a:latin typeface="Times New Roman"/>
              <a:cs typeface="Times New Roman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8600" y="6231004"/>
            <a:ext cx="8915399" cy="626995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-6350" y="-6350"/>
            <a:ext cx="134620" cy="6870700"/>
            <a:chOff x="-6350" y="-6350"/>
            <a:chExt cx="134620" cy="6870700"/>
          </a:xfrm>
        </p:grpSpPr>
        <p:sp>
          <p:nvSpPr>
            <p:cNvPr id="11" name="object 11"/>
            <p:cNvSpPr/>
            <p:nvPr/>
          </p:nvSpPr>
          <p:spPr>
            <a:xfrm>
              <a:off x="0" y="0"/>
              <a:ext cx="121920" cy="6858000"/>
            </a:xfrm>
            <a:custGeom>
              <a:avLst/>
              <a:gdLst/>
              <a:ahLst/>
              <a:cxnLst/>
              <a:rect l="l" t="t" r="r" b="b"/>
              <a:pathLst>
                <a:path w="121920" h="6858000">
                  <a:moveTo>
                    <a:pt x="121919" y="6857999"/>
                  </a:moveTo>
                  <a:lnTo>
                    <a:pt x="0" y="6857999"/>
                  </a:lnTo>
                  <a:lnTo>
                    <a:pt x="0" y="0"/>
                  </a:lnTo>
                  <a:lnTo>
                    <a:pt x="121919" y="0"/>
                  </a:lnTo>
                  <a:lnTo>
                    <a:pt x="121919" y="6857999"/>
                  </a:lnTo>
                  <a:close/>
                </a:path>
              </a:pathLst>
            </a:custGeom>
            <a:solidFill>
              <a:srgbClr val="ED7D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0" y="0"/>
              <a:ext cx="121920" cy="6858000"/>
            </a:xfrm>
            <a:custGeom>
              <a:avLst/>
              <a:gdLst/>
              <a:ahLst/>
              <a:cxnLst/>
              <a:rect l="l" t="t" r="r" b="b"/>
              <a:pathLst>
                <a:path w="121920" h="6858000">
                  <a:moveTo>
                    <a:pt x="121919" y="0"/>
                  </a:moveTo>
                  <a:lnTo>
                    <a:pt x="0" y="0"/>
                  </a:lnTo>
                  <a:lnTo>
                    <a:pt x="0" y="6857999"/>
                  </a:lnTo>
                  <a:lnTo>
                    <a:pt x="121919" y="6857999"/>
                  </a:lnTo>
                  <a:lnTo>
                    <a:pt x="121919" y="0"/>
                  </a:lnTo>
                  <a:close/>
                </a:path>
              </a:pathLst>
            </a:custGeom>
            <a:ln w="1269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4603513" y="4111135"/>
            <a:ext cx="2560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Project Group No. :08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14300">
              <a:lnSpc>
                <a:spcPts val="1410"/>
              </a:lnSpc>
            </a:pPr>
            <a:fld id="{81D60167-4931-47E6-BA6A-407CBD079E47}" type="slidenum">
              <a:rPr lang="en-IN" spc="-50" smtClean="0"/>
              <a:t>1</a:t>
            </a:fld>
            <a:endParaRPr lang="en-IN" spc="-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262012" y="6445272"/>
            <a:ext cx="87630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spc="-25" dirty="0">
                <a:solidFill>
                  <a:srgbClr val="ED7D31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xfrm>
            <a:off x="2135664" y="6445272"/>
            <a:ext cx="190293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5904">
              <a:lnSpc>
                <a:spcPts val="1410"/>
              </a:lnSpc>
            </a:pPr>
            <a:r>
              <a:rPr lang="en-US" dirty="0" smtClean="0"/>
              <a:t>CCD415 Project Phase I</a:t>
            </a:r>
            <a:endParaRPr spc="-50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5904">
              <a:lnSpc>
                <a:spcPts val="1410"/>
              </a:lnSpc>
            </a:pPr>
            <a:r>
              <a:rPr spc="-10" dirty="0"/>
              <a:t>2023-</a:t>
            </a:r>
            <a:r>
              <a:rPr dirty="0"/>
              <a:t>2027</a:t>
            </a:r>
            <a:r>
              <a:rPr spc="-5" dirty="0"/>
              <a:t> </a:t>
            </a:r>
            <a:r>
              <a:rPr spc="-10" dirty="0"/>
              <a:t>Batch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4300">
              <a:lnSpc>
                <a:spcPts val="1410"/>
              </a:lnSpc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76559" y="39762"/>
            <a:ext cx="259905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OUTLINE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0989" y="690019"/>
            <a:ext cx="6094730" cy="5339080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191770" indent="-179070">
              <a:lnSpc>
                <a:spcPct val="100000"/>
              </a:lnSpc>
              <a:spcBef>
                <a:spcPts val="465"/>
              </a:spcBef>
              <a:buFont typeface="Arial"/>
              <a:buChar char="•"/>
              <a:tabLst>
                <a:tab pos="191770" algn="l"/>
              </a:tabLst>
            </a:pPr>
            <a:r>
              <a:rPr sz="2600" b="1" spc="-10" dirty="0">
                <a:solidFill>
                  <a:srgbClr val="0C0C0C"/>
                </a:solidFill>
                <a:latin typeface="Times New Roman"/>
                <a:cs typeface="Times New Roman"/>
              </a:rPr>
              <a:t>Abstract</a:t>
            </a:r>
            <a:endParaRPr sz="2600" dirty="0">
              <a:latin typeface="Times New Roman"/>
              <a:cs typeface="Times New Roman"/>
            </a:endParaRPr>
          </a:p>
          <a:p>
            <a:pPr marL="191770" indent="-179070">
              <a:lnSpc>
                <a:spcPct val="100000"/>
              </a:lnSpc>
              <a:spcBef>
                <a:spcPts val="370"/>
              </a:spcBef>
              <a:buFont typeface="Arial"/>
              <a:buChar char="•"/>
              <a:tabLst>
                <a:tab pos="191770" algn="l"/>
              </a:tabLst>
            </a:pPr>
            <a:r>
              <a:rPr sz="2600" b="1" spc="-10" dirty="0">
                <a:solidFill>
                  <a:srgbClr val="0C0C0C"/>
                </a:solidFill>
                <a:latin typeface="Times New Roman"/>
                <a:cs typeface="Times New Roman"/>
              </a:rPr>
              <a:t>Introduction</a:t>
            </a:r>
            <a:endParaRPr sz="2600" dirty="0">
              <a:latin typeface="Times New Roman"/>
              <a:cs typeface="Times New Roman"/>
            </a:endParaRPr>
          </a:p>
          <a:p>
            <a:pPr marL="191770" indent="-179070">
              <a:lnSpc>
                <a:spcPct val="100000"/>
              </a:lnSpc>
              <a:spcBef>
                <a:spcPts val="365"/>
              </a:spcBef>
              <a:buFont typeface="Arial"/>
              <a:buChar char="•"/>
              <a:tabLst>
                <a:tab pos="191770" algn="l"/>
              </a:tabLst>
            </a:pPr>
            <a:r>
              <a:rPr sz="2600" b="1" dirty="0">
                <a:solidFill>
                  <a:srgbClr val="0C0C0C"/>
                </a:solidFill>
                <a:latin typeface="Times New Roman"/>
                <a:cs typeface="Times New Roman"/>
              </a:rPr>
              <a:t>Problem</a:t>
            </a:r>
            <a:r>
              <a:rPr sz="2600" b="1" spc="-16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600" b="1" spc="-10" dirty="0">
                <a:solidFill>
                  <a:srgbClr val="0C0C0C"/>
                </a:solidFill>
                <a:latin typeface="Times New Roman"/>
                <a:cs typeface="Times New Roman"/>
              </a:rPr>
              <a:t>Definition</a:t>
            </a:r>
            <a:endParaRPr sz="2600" dirty="0">
              <a:latin typeface="Times New Roman"/>
              <a:cs typeface="Times New Roman"/>
            </a:endParaRPr>
          </a:p>
          <a:p>
            <a:pPr marL="191770" indent="-179070">
              <a:lnSpc>
                <a:spcPct val="100000"/>
              </a:lnSpc>
              <a:spcBef>
                <a:spcPts val="365"/>
              </a:spcBef>
              <a:buFont typeface="Arial"/>
              <a:buChar char="•"/>
              <a:tabLst>
                <a:tab pos="191770" algn="l"/>
              </a:tabLst>
            </a:pPr>
            <a:r>
              <a:rPr sz="2600" b="1" spc="-10" dirty="0">
                <a:solidFill>
                  <a:srgbClr val="0C0C0C"/>
                </a:solidFill>
                <a:latin typeface="Times New Roman"/>
                <a:cs typeface="Times New Roman"/>
              </a:rPr>
              <a:t>Objectives</a:t>
            </a:r>
            <a:endParaRPr sz="2600" dirty="0">
              <a:latin typeface="Times New Roman"/>
              <a:cs typeface="Times New Roman"/>
            </a:endParaRPr>
          </a:p>
          <a:p>
            <a:pPr marL="191770" indent="-179070">
              <a:lnSpc>
                <a:spcPct val="100000"/>
              </a:lnSpc>
              <a:spcBef>
                <a:spcPts val="370"/>
              </a:spcBef>
              <a:buFont typeface="Arial"/>
              <a:buChar char="•"/>
              <a:tabLst>
                <a:tab pos="191770" algn="l"/>
              </a:tabLst>
            </a:pPr>
            <a:r>
              <a:rPr sz="2600" b="1" spc="-10" dirty="0">
                <a:solidFill>
                  <a:srgbClr val="0C0C0C"/>
                </a:solidFill>
                <a:latin typeface="Times New Roman"/>
                <a:cs typeface="Times New Roman"/>
              </a:rPr>
              <a:t>Background</a:t>
            </a:r>
            <a:endParaRPr sz="2600" dirty="0">
              <a:latin typeface="Times New Roman"/>
              <a:cs typeface="Times New Roman"/>
            </a:endParaRPr>
          </a:p>
          <a:p>
            <a:pPr marL="191770" indent="-179070">
              <a:lnSpc>
                <a:spcPct val="100000"/>
              </a:lnSpc>
              <a:spcBef>
                <a:spcPts val="365"/>
              </a:spcBef>
              <a:buFont typeface="Arial"/>
              <a:buChar char="•"/>
              <a:tabLst>
                <a:tab pos="191770" algn="l"/>
              </a:tabLst>
            </a:pPr>
            <a:r>
              <a:rPr sz="2600" b="1" spc="-10" dirty="0">
                <a:solidFill>
                  <a:srgbClr val="0C0C0C"/>
                </a:solidFill>
                <a:latin typeface="Times New Roman"/>
                <a:cs typeface="Times New Roman"/>
              </a:rPr>
              <a:t>Literature</a:t>
            </a:r>
            <a:r>
              <a:rPr sz="2600" b="1" spc="-114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600" b="1" spc="-10" dirty="0">
                <a:solidFill>
                  <a:srgbClr val="0C0C0C"/>
                </a:solidFill>
                <a:latin typeface="Times New Roman"/>
                <a:cs typeface="Times New Roman"/>
              </a:rPr>
              <a:t>Survey</a:t>
            </a:r>
            <a:endParaRPr sz="2600" dirty="0">
              <a:latin typeface="Times New Roman"/>
              <a:cs typeface="Times New Roman"/>
            </a:endParaRPr>
          </a:p>
          <a:p>
            <a:pPr marL="191770" indent="-179070">
              <a:lnSpc>
                <a:spcPct val="100000"/>
              </a:lnSpc>
              <a:spcBef>
                <a:spcPts val="365"/>
              </a:spcBef>
              <a:buFont typeface="Arial"/>
              <a:buChar char="•"/>
              <a:tabLst>
                <a:tab pos="191770" algn="l"/>
              </a:tabLst>
            </a:pPr>
            <a:r>
              <a:rPr sz="2600" b="1" spc="-25" dirty="0">
                <a:solidFill>
                  <a:srgbClr val="0C0C0C"/>
                </a:solidFill>
                <a:latin typeface="Times New Roman"/>
                <a:cs typeface="Times New Roman"/>
              </a:rPr>
              <a:t>Comparative</a:t>
            </a:r>
            <a:r>
              <a:rPr sz="2600" b="1" spc="-7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600" b="1" spc="-10" dirty="0">
                <a:solidFill>
                  <a:srgbClr val="0C0C0C"/>
                </a:solidFill>
                <a:latin typeface="Times New Roman"/>
                <a:cs typeface="Times New Roman"/>
              </a:rPr>
              <a:t>Analysis</a:t>
            </a:r>
            <a:endParaRPr sz="2600" dirty="0">
              <a:latin typeface="Times New Roman"/>
              <a:cs typeface="Times New Roman"/>
            </a:endParaRPr>
          </a:p>
          <a:p>
            <a:pPr marL="191770" indent="-179070">
              <a:lnSpc>
                <a:spcPct val="100000"/>
              </a:lnSpc>
              <a:spcBef>
                <a:spcPts val="365"/>
              </a:spcBef>
              <a:buFont typeface="Arial"/>
              <a:buChar char="•"/>
              <a:tabLst>
                <a:tab pos="191770" algn="l"/>
              </a:tabLst>
            </a:pPr>
            <a:r>
              <a:rPr sz="2600" b="1" spc="-10" dirty="0">
                <a:solidFill>
                  <a:srgbClr val="0C0C0C"/>
                </a:solidFill>
                <a:latin typeface="Times New Roman"/>
                <a:cs typeface="Times New Roman"/>
              </a:rPr>
              <a:t>Proposed</a:t>
            </a:r>
            <a:r>
              <a:rPr sz="2600" b="1" spc="-11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600" b="1" spc="-10" dirty="0">
                <a:solidFill>
                  <a:srgbClr val="0C0C0C"/>
                </a:solidFill>
                <a:latin typeface="Times New Roman"/>
                <a:cs typeface="Times New Roman"/>
              </a:rPr>
              <a:t>System</a:t>
            </a:r>
            <a:endParaRPr sz="2600" dirty="0">
              <a:latin typeface="Times New Roman"/>
              <a:cs typeface="Times New Roman"/>
            </a:endParaRPr>
          </a:p>
          <a:p>
            <a:pPr marL="191770" indent="-179070">
              <a:lnSpc>
                <a:spcPct val="100000"/>
              </a:lnSpc>
              <a:spcBef>
                <a:spcPts val="370"/>
              </a:spcBef>
              <a:buFont typeface="Arial"/>
              <a:buChar char="•"/>
              <a:tabLst>
                <a:tab pos="191770" algn="l"/>
              </a:tabLst>
            </a:pPr>
            <a:r>
              <a:rPr sz="2600" b="1" dirty="0">
                <a:solidFill>
                  <a:srgbClr val="0C0C0C"/>
                </a:solidFill>
                <a:latin typeface="Times New Roman"/>
                <a:cs typeface="Times New Roman"/>
              </a:rPr>
              <a:t>Project</a:t>
            </a:r>
            <a:r>
              <a:rPr sz="2600" b="1" spc="-9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0C0C0C"/>
                </a:solidFill>
                <a:latin typeface="Times New Roman"/>
                <a:cs typeface="Times New Roman"/>
              </a:rPr>
              <a:t>Planning</a:t>
            </a:r>
            <a:r>
              <a:rPr sz="2600" b="1" spc="-9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0C0C0C"/>
                </a:solidFill>
                <a:latin typeface="Times New Roman"/>
                <a:cs typeface="Times New Roman"/>
              </a:rPr>
              <a:t>&amp;</a:t>
            </a:r>
            <a:r>
              <a:rPr sz="2600" b="1" spc="-9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600" b="1" spc="-10" dirty="0">
                <a:solidFill>
                  <a:srgbClr val="0C0C0C"/>
                </a:solidFill>
                <a:latin typeface="Times New Roman"/>
                <a:cs typeface="Times New Roman"/>
              </a:rPr>
              <a:t>Scheduling</a:t>
            </a:r>
            <a:endParaRPr sz="2600" dirty="0">
              <a:latin typeface="Times New Roman"/>
              <a:cs typeface="Times New Roman"/>
            </a:endParaRPr>
          </a:p>
          <a:p>
            <a:pPr marL="191770" indent="-179070">
              <a:lnSpc>
                <a:spcPct val="100000"/>
              </a:lnSpc>
              <a:spcBef>
                <a:spcPts val="365"/>
              </a:spcBef>
              <a:buFont typeface="Arial"/>
              <a:buChar char="•"/>
              <a:tabLst>
                <a:tab pos="191770" algn="l"/>
              </a:tabLst>
            </a:pPr>
            <a:r>
              <a:rPr sz="2600" b="1" spc="-35" dirty="0">
                <a:solidFill>
                  <a:srgbClr val="0C0C0C"/>
                </a:solidFill>
                <a:latin typeface="Times New Roman"/>
                <a:cs typeface="Times New Roman"/>
              </a:rPr>
              <a:t>Resource/Task</a:t>
            </a:r>
            <a:r>
              <a:rPr sz="2600" b="1" spc="-8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600" b="1" spc="-10" dirty="0">
                <a:solidFill>
                  <a:srgbClr val="0C0C0C"/>
                </a:solidFill>
                <a:latin typeface="Times New Roman"/>
                <a:cs typeface="Times New Roman"/>
              </a:rPr>
              <a:t>Identification</a:t>
            </a:r>
            <a:r>
              <a:rPr sz="2600" b="1" spc="-5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600" b="1" spc="-30" dirty="0">
                <a:solidFill>
                  <a:srgbClr val="0C0C0C"/>
                </a:solidFill>
                <a:latin typeface="Times New Roman"/>
                <a:cs typeface="Times New Roman"/>
              </a:rPr>
              <a:t>&amp;</a:t>
            </a:r>
            <a:r>
              <a:rPr sz="2600" b="1" spc="-14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600" b="1" spc="-10" dirty="0">
                <a:solidFill>
                  <a:srgbClr val="0C0C0C"/>
                </a:solidFill>
                <a:latin typeface="Times New Roman"/>
                <a:cs typeface="Times New Roman"/>
              </a:rPr>
              <a:t>Allocation</a:t>
            </a:r>
            <a:endParaRPr sz="2600" dirty="0">
              <a:latin typeface="Times New Roman"/>
              <a:cs typeface="Times New Roman"/>
            </a:endParaRPr>
          </a:p>
          <a:p>
            <a:pPr marL="191770" indent="-179070">
              <a:lnSpc>
                <a:spcPct val="100000"/>
              </a:lnSpc>
              <a:spcBef>
                <a:spcPts val="365"/>
              </a:spcBef>
              <a:buFont typeface="Arial"/>
              <a:buChar char="•"/>
              <a:tabLst>
                <a:tab pos="191770" algn="l"/>
              </a:tabLst>
            </a:pPr>
            <a:r>
              <a:rPr sz="2600" b="1" spc="-10" dirty="0">
                <a:solidFill>
                  <a:srgbClr val="0C0C0C"/>
                </a:solidFill>
                <a:latin typeface="Times New Roman"/>
                <a:cs typeface="Times New Roman"/>
              </a:rPr>
              <a:t>Conclusion</a:t>
            </a:r>
            <a:endParaRPr sz="2600" dirty="0">
              <a:latin typeface="Times New Roman"/>
              <a:cs typeface="Times New Roman"/>
            </a:endParaRPr>
          </a:p>
          <a:p>
            <a:pPr marL="191770" indent="-179070">
              <a:lnSpc>
                <a:spcPct val="100000"/>
              </a:lnSpc>
              <a:spcBef>
                <a:spcPts val="365"/>
              </a:spcBef>
              <a:buFont typeface="Arial"/>
              <a:buChar char="•"/>
              <a:tabLst>
                <a:tab pos="191770" algn="l"/>
              </a:tabLst>
            </a:pPr>
            <a:r>
              <a:rPr sz="2600" b="1" spc="-10" dirty="0">
                <a:solidFill>
                  <a:srgbClr val="0C0C0C"/>
                </a:solidFill>
                <a:latin typeface="Times New Roman"/>
                <a:cs typeface="Times New Roman"/>
              </a:rPr>
              <a:t>References</a:t>
            </a:r>
            <a:endParaRPr sz="26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262012" y="6445272"/>
            <a:ext cx="87630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spc="-25" dirty="0">
                <a:solidFill>
                  <a:srgbClr val="ED7D31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xfrm>
            <a:off x="2135664" y="6445272"/>
            <a:ext cx="190293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5904">
              <a:lnSpc>
                <a:spcPts val="1410"/>
              </a:lnSpc>
            </a:pPr>
            <a:r>
              <a:rPr lang="en-US" dirty="0" smtClean="0"/>
              <a:t>CCD415 Project Phase I</a:t>
            </a:r>
            <a:endParaRPr spc="-50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5904">
              <a:lnSpc>
                <a:spcPts val="1410"/>
              </a:lnSpc>
            </a:pPr>
            <a:r>
              <a:rPr spc="-10" dirty="0"/>
              <a:t>2023-</a:t>
            </a:r>
            <a:r>
              <a:rPr dirty="0"/>
              <a:t>2027</a:t>
            </a:r>
            <a:r>
              <a:rPr spc="-5" dirty="0"/>
              <a:t> </a:t>
            </a:r>
            <a:r>
              <a:rPr spc="-10" dirty="0"/>
              <a:t>Batch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4300">
              <a:lnSpc>
                <a:spcPts val="1410"/>
              </a:lnSpc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126458" y="408856"/>
            <a:ext cx="306451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ABSTRACT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6384" y="1344858"/>
            <a:ext cx="8409940" cy="449033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19075" marR="51435" indent="-207010">
              <a:lnSpc>
                <a:spcPct val="152300"/>
              </a:lnSpc>
              <a:spcBef>
                <a:spcPts val="95"/>
              </a:spcBef>
              <a:buFont typeface="Arial MT"/>
              <a:buChar char="•"/>
              <a:tabLst>
                <a:tab pos="219075" algn="l"/>
              </a:tabLst>
            </a:pPr>
            <a:r>
              <a:rPr lang="en-US" sz="1750" dirty="0" smtClean="0">
                <a:latin typeface="Times New Roman"/>
                <a:cs typeface="Times New Roman"/>
              </a:rPr>
              <a:t>Secure remote network access is essential for connecting users to private network resources while maintaining strong security and access control.</a:t>
            </a:r>
            <a:endParaRPr sz="1750" dirty="0" smtClean="0">
              <a:latin typeface="Times New Roman"/>
              <a:cs typeface="Times New Roman"/>
            </a:endParaRPr>
          </a:p>
          <a:p>
            <a:pPr marL="219075" marR="473709" indent="-207010">
              <a:lnSpc>
                <a:spcPct val="152300"/>
              </a:lnSpc>
              <a:spcBef>
                <a:spcPts val="1000"/>
              </a:spcBef>
              <a:buFont typeface="Arial MT"/>
              <a:buChar char="•"/>
              <a:tabLst>
                <a:tab pos="219075" algn="l"/>
              </a:tabLst>
            </a:pPr>
            <a:r>
              <a:rPr lang="en-US" sz="1750" dirty="0" smtClean="0">
                <a:latin typeface="Times New Roman"/>
                <a:cs typeface="Times New Roman"/>
              </a:rPr>
              <a:t>Traditional remote access methods such as Virtual Private Networks (VPNs) may require firewall modifications, port forwarding, public IP addresses, and complex network configurations, increasing deployment complexity and potential security risks</a:t>
            </a:r>
            <a:r>
              <a:rPr sz="1750" spc="-10" dirty="0" smtClean="0">
                <a:latin typeface="Times New Roman"/>
                <a:cs typeface="Times New Roman"/>
              </a:rPr>
              <a:t>.</a:t>
            </a:r>
            <a:endParaRPr sz="1750" dirty="0" smtClean="0">
              <a:latin typeface="Times New Roman"/>
              <a:cs typeface="Times New Roman"/>
            </a:endParaRPr>
          </a:p>
          <a:p>
            <a:pPr marL="219075" marR="5080" indent="-207010">
              <a:lnSpc>
                <a:spcPct val="152300"/>
              </a:lnSpc>
              <a:spcBef>
                <a:spcPts val="1000"/>
              </a:spcBef>
              <a:buFont typeface="Arial MT"/>
              <a:buChar char="•"/>
              <a:tabLst>
                <a:tab pos="219075" algn="l"/>
              </a:tabLst>
            </a:pPr>
            <a:r>
              <a:rPr lang="en-US" sz="1750" dirty="0" smtClean="0">
                <a:latin typeface="Times New Roman"/>
                <a:cs typeface="Times New Roman"/>
              </a:rPr>
              <a:t>A Raspberry Pi is configured as a network connector for </a:t>
            </a:r>
            <a:r>
              <a:rPr lang="en-US" sz="1750" dirty="0" err="1" smtClean="0">
                <a:latin typeface="Times New Roman"/>
                <a:cs typeface="Times New Roman"/>
              </a:rPr>
              <a:t>Twingate</a:t>
            </a:r>
            <a:r>
              <a:rPr lang="en-US" sz="1750" dirty="0" smtClean="0">
                <a:latin typeface="Times New Roman"/>
                <a:cs typeface="Times New Roman"/>
              </a:rPr>
              <a:t>, enabling remote devices to securely access authorized internal resources</a:t>
            </a:r>
            <a:r>
              <a:rPr sz="1750" spc="-10" dirty="0" smtClean="0">
                <a:latin typeface="Times New Roman"/>
                <a:cs typeface="Times New Roman"/>
              </a:rPr>
              <a:t>.</a:t>
            </a:r>
            <a:endParaRPr sz="1750" dirty="0">
              <a:latin typeface="Times New Roman"/>
              <a:cs typeface="Times New Roman"/>
            </a:endParaRPr>
          </a:p>
          <a:p>
            <a:pPr marL="219075" marR="414020" indent="-207010">
              <a:lnSpc>
                <a:spcPct val="152300"/>
              </a:lnSpc>
              <a:spcBef>
                <a:spcPts val="1000"/>
              </a:spcBef>
              <a:buFont typeface="Arial MT"/>
              <a:buChar char="•"/>
              <a:tabLst>
                <a:tab pos="219075" algn="l"/>
              </a:tabLst>
            </a:pPr>
            <a:r>
              <a:rPr lang="en-US" sz="1750" dirty="0" err="1" smtClean="0">
                <a:latin typeface="Times New Roman"/>
                <a:cs typeface="Times New Roman"/>
              </a:rPr>
              <a:t>Twingate</a:t>
            </a:r>
            <a:r>
              <a:rPr lang="en-US" sz="1750" dirty="0" smtClean="0">
                <a:latin typeface="Times New Roman"/>
                <a:cs typeface="Times New Roman"/>
              </a:rPr>
              <a:t> provides cloud-based management, authentication, device verification, granular access policies, and activity logging</a:t>
            </a:r>
            <a:r>
              <a:rPr sz="1750" spc="-10" dirty="0" smtClean="0">
                <a:latin typeface="Times New Roman"/>
                <a:cs typeface="Times New Roman"/>
              </a:rPr>
              <a:t>.</a:t>
            </a:r>
            <a:endParaRPr sz="175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164095" y="6488122"/>
            <a:ext cx="87630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spc="-25" dirty="0">
                <a:solidFill>
                  <a:srgbClr val="ED7D31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lang="en-US" smtClean="0"/>
              <a:t>CCD415 Project Phase I</a:t>
            </a:r>
            <a:endParaRPr spc="-50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spc="-10" dirty="0"/>
              <a:t>2023-</a:t>
            </a:r>
            <a:r>
              <a:rPr dirty="0"/>
              <a:t>2027</a:t>
            </a:r>
            <a:r>
              <a:rPr spc="-5" dirty="0"/>
              <a:t> </a:t>
            </a:r>
            <a:r>
              <a:rPr spc="-10" dirty="0"/>
              <a:t>Batch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14300">
              <a:lnSpc>
                <a:spcPts val="1410"/>
              </a:lnSpc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412681" y="130319"/>
            <a:ext cx="44958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INTRODUCTION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61100" y="973112"/>
            <a:ext cx="8606155" cy="522354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13995" marR="226060" indent="-201930">
              <a:lnSpc>
                <a:spcPct val="121800"/>
              </a:lnSpc>
              <a:spcBef>
                <a:spcPts val="95"/>
              </a:spcBef>
              <a:buFont typeface="Arial MT"/>
              <a:buChar char="•"/>
              <a:tabLst>
                <a:tab pos="213995" algn="l"/>
              </a:tabLst>
            </a:pPr>
            <a:r>
              <a:rPr lang="en-US" sz="1750" dirty="0" smtClean="0">
                <a:latin typeface="Times New Roman"/>
                <a:cs typeface="Times New Roman"/>
              </a:rPr>
              <a:t>Secure remote access enables users to connect to private network resources from different locations while maintaining confidentiality and controlled access</a:t>
            </a:r>
            <a:r>
              <a:rPr sz="1750" spc="-10" dirty="0" smtClean="0">
                <a:latin typeface="Times New Roman"/>
                <a:cs typeface="Times New Roman"/>
              </a:rPr>
              <a:t>.</a:t>
            </a:r>
            <a:endParaRPr sz="1750" dirty="0">
              <a:latin typeface="Times New Roman"/>
              <a:cs typeface="Times New Roman"/>
            </a:endParaRPr>
          </a:p>
          <a:p>
            <a:pPr marL="213995" marR="655955" indent="-201930">
              <a:lnSpc>
                <a:spcPct val="121800"/>
              </a:lnSpc>
              <a:spcBef>
                <a:spcPts val="1000"/>
              </a:spcBef>
              <a:buFont typeface="Arial MT"/>
              <a:buChar char="•"/>
              <a:tabLst>
                <a:tab pos="213995" algn="l"/>
              </a:tabLst>
            </a:pPr>
            <a:r>
              <a:rPr lang="en-US" sz="1750" dirty="0" smtClean="0">
                <a:latin typeface="Times New Roman"/>
                <a:cs typeface="Times New Roman"/>
              </a:rPr>
              <a:t>Traditional network access methods often provide broad connectivity once a user enters the network. Zero Trust improves security by continuously verifying users and devices before granting access</a:t>
            </a:r>
            <a:r>
              <a:rPr sz="1750" spc="-10" dirty="0" smtClean="0">
                <a:latin typeface="Times New Roman"/>
                <a:cs typeface="Times New Roman"/>
              </a:rPr>
              <a:t>.</a:t>
            </a:r>
            <a:endParaRPr sz="1750" dirty="0">
              <a:latin typeface="Times New Roman"/>
              <a:cs typeface="Times New Roman"/>
            </a:endParaRPr>
          </a:p>
          <a:p>
            <a:pPr marL="213995" marR="290830" indent="-201930">
              <a:lnSpc>
                <a:spcPct val="121800"/>
              </a:lnSpc>
              <a:spcBef>
                <a:spcPts val="1000"/>
              </a:spcBef>
              <a:buFont typeface="Arial MT"/>
              <a:buChar char="•"/>
              <a:tabLst>
                <a:tab pos="213995" algn="l"/>
              </a:tabLst>
            </a:pPr>
            <a:r>
              <a:rPr lang="en-US" sz="1750" dirty="0" err="1" smtClean="0">
                <a:latin typeface="Times New Roman"/>
                <a:cs typeface="Times New Roman"/>
              </a:rPr>
              <a:t>Twingate</a:t>
            </a:r>
            <a:r>
              <a:rPr lang="en-US" sz="1750" dirty="0" smtClean="0">
                <a:latin typeface="Times New Roman"/>
                <a:cs typeface="Times New Roman"/>
              </a:rPr>
              <a:t> provides a Zero Trust Network Access approach that uses identity-based authentication and least-privilege policies to provide access only to authorized resources</a:t>
            </a:r>
            <a:r>
              <a:rPr sz="1750" spc="-10" dirty="0" smtClean="0">
                <a:latin typeface="Times New Roman"/>
                <a:cs typeface="Times New Roman"/>
              </a:rPr>
              <a:t>.</a:t>
            </a:r>
            <a:endParaRPr sz="1750" dirty="0">
              <a:latin typeface="Times New Roman"/>
              <a:cs typeface="Times New Roman"/>
            </a:endParaRPr>
          </a:p>
          <a:p>
            <a:pPr marL="213995" marR="414020" indent="-201930">
              <a:lnSpc>
                <a:spcPct val="121800"/>
              </a:lnSpc>
              <a:spcBef>
                <a:spcPts val="1000"/>
              </a:spcBef>
              <a:buFont typeface="Arial MT"/>
              <a:buChar char="•"/>
              <a:tabLst>
                <a:tab pos="213995" algn="l"/>
              </a:tabLst>
            </a:pPr>
            <a:r>
              <a:rPr lang="en-US" sz="1750" dirty="0" smtClean="0">
                <a:latin typeface="Times New Roman"/>
                <a:cs typeface="Times New Roman"/>
              </a:rPr>
              <a:t>A Raspberry Pi can function as a lightweight network connector, linking internal network resources with the </a:t>
            </a:r>
            <a:r>
              <a:rPr lang="en-US" sz="1750" dirty="0" err="1" smtClean="0">
                <a:latin typeface="Times New Roman"/>
                <a:cs typeface="Times New Roman"/>
              </a:rPr>
              <a:t>Twingate</a:t>
            </a:r>
            <a:r>
              <a:rPr lang="en-US" sz="1750" dirty="0" smtClean="0">
                <a:latin typeface="Times New Roman"/>
                <a:cs typeface="Times New Roman"/>
              </a:rPr>
              <a:t> platform without requiring complex network infrastructure</a:t>
            </a:r>
            <a:r>
              <a:rPr sz="1750" spc="-10" dirty="0" smtClean="0">
                <a:latin typeface="Times New Roman"/>
                <a:cs typeface="Times New Roman"/>
              </a:rPr>
              <a:t>.</a:t>
            </a:r>
            <a:endParaRPr sz="1750" dirty="0">
              <a:latin typeface="Times New Roman"/>
              <a:cs typeface="Times New Roman"/>
            </a:endParaRPr>
          </a:p>
          <a:p>
            <a:pPr marL="213995" marR="5080" indent="-201930">
              <a:lnSpc>
                <a:spcPct val="121800"/>
              </a:lnSpc>
              <a:spcBef>
                <a:spcPts val="1000"/>
              </a:spcBef>
              <a:buFont typeface="Arial MT"/>
              <a:buChar char="•"/>
              <a:tabLst>
                <a:tab pos="213995" algn="l"/>
              </a:tabLst>
            </a:pPr>
            <a:r>
              <a:rPr lang="en-US" sz="1750" dirty="0" smtClean="0">
                <a:latin typeface="Times New Roman"/>
                <a:cs typeface="Times New Roman"/>
              </a:rPr>
              <a:t>Cloud-based management, device verification, access policies, and activity logging help administrators control and monitor remote access securely</a:t>
            </a:r>
            <a:r>
              <a:rPr sz="1750" spc="-10" dirty="0" smtClean="0">
                <a:latin typeface="Times New Roman"/>
                <a:cs typeface="Times New Roman"/>
              </a:rPr>
              <a:t>.</a:t>
            </a:r>
            <a:endParaRPr sz="1750" dirty="0">
              <a:latin typeface="Times New Roman"/>
              <a:cs typeface="Times New Roman"/>
            </a:endParaRPr>
          </a:p>
          <a:p>
            <a:pPr marL="213995" marR="588010" indent="-201930">
              <a:lnSpc>
                <a:spcPct val="121800"/>
              </a:lnSpc>
              <a:spcBef>
                <a:spcPts val="1000"/>
              </a:spcBef>
              <a:buFont typeface="Arial MT"/>
              <a:buChar char="•"/>
              <a:tabLst>
                <a:tab pos="213995" algn="l"/>
              </a:tabLst>
            </a:pPr>
            <a:r>
              <a:rPr lang="en-US" sz="1750" dirty="0" smtClean="0">
                <a:latin typeface="Times New Roman"/>
                <a:cs typeface="Times New Roman"/>
              </a:rPr>
              <a:t>Integration with the </a:t>
            </a:r>
            <a:r>
              <a:rPr lang="en-US" sz="1750" dirty="0" err="1" smtClean="0">
                <a:latin typeface="Times New Roman"/>
                <a:cs typeface="Times New Roman"/>
              </a:rPr>
              <a:t>Twingate</a:t>
            </a:r>
            <a:r>
              <a:rPr lang="en-US" sz="1750" dirty="0" smtClean="0">
                <a:latin typeface="Times New Roman"/>
                <a:cs typeface="Times New Roman"/>
              </a:rPr>
              <a:t> API and Python-based automation can reduce manual configuration, support dynamic resource registration, and simplify network administration.</a:t>
            </a:r>
            <a:endParaRPr sz="175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164095" y="6488122"/>
            <a:ext cx="87630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spc="-25" dirty="0">
                <a:solidFill>
                  <a:srgbClr val="ED7D31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lang="en-US" smtClean="0"/>
              <a:t>CCD415 Project Phase I</a:t>
            </a:r>
            <a:endParaRPr spc="-50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spc="-10" dirty="0"/>
              <a:t>2023-</a:t>
            </a:r>
            <a:r>
              <a:rPr dirty="0"/>
              <a:t>2027</a:t>
            </a:r>
            <a:r>
              <a:rPr spc="-5" dirty="0"/>
              <a:t> </a:t>
            </a:r>
            <a:r>
              <a:rPr spc="-10" dirty="0"/>
              <a:t>Batch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14300">
              <a:lnSpc>
                <a:spcPts val="1410"/>
              </a:lnSpc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473681" y="408856"/>
            <a:ext cx="637095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PROBLEM</a:t>
            </a:r>
            <a:r>
              <a:rPr spc="-260" dirty="0"/>
              <a:t> </a:t>
            </a:r>
            <a:r>
              <a:rPr spc="-10" dirty="0"/>
              <a:t>DEFINITION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364331" y="1441306"/>
            <a:ext cx="8599805" cy="5104801"/>
          </a:xfrm>
          <a:prstGeom prst="rect">
            <a:avLst/>
          </a:prstGeom>
        </p:spPr>
        <p:txBody>
          <a:bodyPr vert="horz" wrap="square" lIns="0" tIns="110560" rIns="0" bIns="0" rtlCol="0">
            <a:spAutoFit/>
          </a:bodyPr>
          <a:lstStyle/>
          <a:p>
            <a:pPr marL="209550" marR="16510" indent="-189230">
              <a:lnSpc>
                <a:spcPct val="100699"/>
              </a:lnSpc>
              <a:spcBef>
                <a:spcPts val="95"/>
              </a:spcBef>
              <a:buFont typeface="Arial MT"/>
              <a:buChar char="•"/>
              <a:tabLst>
                <a:tab pos="210820" algn="l"/>
              </a:tabLst>
            </a:pPr>
            <a:r>
              <a:rPr lang="en-US" dirty="0"/>
              <a:t>Traditional VPN-based remote access often requires firewall modifications, port forwarding, public IP addresses, and complex network configurations, making deployment difficult</a:t>
            </a:r>
            <a:r>
              <a:rPr spc="-10" dirty="0" smtClean="0"/>
              <a:t>.</a:t>
            </a:r>
            <a:endParaRPr spc="-10" dirty="0"/>
          </a:p>
          <a:p>
            <a:pPr marL="209550" marR="24765" indent="-189230">
              <a:lnSpc>
                <a:spcPct val="100699"/>
              </a:lnSpc>
              <a:spcBef>
                <a:spcPts val="1005"/>
              </a:spcBef>
              <a:buFont typeface="Arial MT"/>
              <a:buChar char="•"/>
              <a:tabLst>
                <a:tab pos="210820" algn="l"/>
              </a:tabLst>
            </a:pPr>
            <a:r>
              <a:rPr lang="en-US" dirty="0"/>
              <a:t>Conventional remote access methods may provide users with wider network access than necessary, increasing the risk of unauthorized access to internal resources</a:t>
            </a:r>
            <a:r>
              <a:rPr spc="-10" dirty="0" smtClean="0"/>
              <a:t>.</a:t>
            </a:r>
            <a:endParaRPr spc="-10" dirty="0"/>
          </a:p>
          <a:p>
            <a:pPr marL="209550" marR="23495" indent="-189230">
              <a:lnSpc>
                <a:spcPct val="100699"/>
              </a:lnSpc>
              <a:spcBef>
                <a:spcPts val="1000"/>
              </a:spcBef>
              <a:buFont typeface="Arial MT"/>
              <a:buChar char="•"/>
              <a:tabLst>
                <a:tab pos="210820" algn="l"/>
              </a:tabLst>
            </a:pPr>
            <a:r>
              <a:rPr dirty="0"/>
              <a:t>Villagers</a:t>
            </a:r>
            <a:r>
              <a:rPr spc="130" dirty="0"/>
              <a:t> </a:t>
            </a:r>
            <a:r>
              <a:rPr dirty="0"/>
              <a:t>have</a:t>
            </a:r>
            <a:r>
              <a:rPr spc="130" dirty="0"/>
              <a:t> </a:t>
            </a:r>
            <a:r>
              <a:rPr dirty="0"/>
              <a:t>no</a:t>
            </a:r>
            <a:r>
              <a:rPr spc="135" dirty="0"/>
              <a:t> </a:t>
            </a:r>
            <a:r>
              <a:rPr dirty="0"/>
              <a:t>advance,</a:t>
            </a:r>
            <a:r>
              <a:rPr spc="130" dirty="0"/>
              <a:t> </a:t>
            </a:r>
            <a:r>
              <a:rPr dirty="0"/>
              <a:t>location-specific</a:t>
            </a:r>
            <a:r>
              <a:rPr spc="135" dirty="0"/>
              <a:t> </a:t>
            </a:r>
            <a:r>
              <a:rPr dirty="0"/>
              <a:t>warning,</a:t>
            </a:r>
            <a:r>
              <a:rPr spc="130" dirty="0"/>
              <a:t> </a:t>
            </a:r>
            <a:r>
              <a:rPr dirty="0"/>
              <a:t>so</a:t>
            </a:r>
            <a:r>
              <a:rPr spc="135" dirty="0"/>
              <a:t> </a:t>
            </a:r>
            <a:r>
              <a:rPr dirty="0"/>
              <a:t>unfamiliar</a:t>
            </a:r>
            <a:r>
              <a:rPr spc="130" dirty="0"/>
              <a:t> </a:t>
            </a:r>
            <a:r>
              <a:rPr dirty="0"/>
              <a:t>or</a:t>
            </a:r>
            <a:r>
              <a:rPr spc="130" dirty="0"/>
              <a:t> </a:t>
            </a:r>
            <a:r>
              <a:rPr spc="-10" dirty="0"/>
              <a:t>nighttime 	</a:t>
            </a:r>
            <a:r>
              <a:rPr dirty="0"/>
              <a:t>routes</a:t>
            </a:r>
            <a:r>
              <a:rPr spc="5" dirty="0"/>
              <a:t> </a:t>
            </a:r>
            <a:r>
              <a:rPr dirty="0"/>
              <a:t>can</a:t>
            </a:r>
            <a:r>
              <a:rPr spc="10" dirty="0"/>
              <a:t> </a:t>
            </a:r>
            <a:r>
              <a:rPr dirty="0"/>
              <a:t>pass</a:t>
            </a:r>
            <a:r>
              <a:rPr spc="10" dirty="0"/>
              <a:t> </a:t>
            </a:r>
            <a:r>
              <a:rPr dirty="0"/>
              <a:t>directly</a:t>
            </a:r>
            <a:r>
              <a:rPr spc="10" dirty="0"/>
              <a:t> </a:t>
            </a:r>
            <a:r>
              <a:rPr dirty="0"/>
              <a:t>through</a:t>
            </a:r>
            <a:r>
              <a:rPr spc="10" dirty="0"/>
              <a:t> </a:t>
            </a:r>
            <a:r>
              <a:rPr dirty="0"/>
              <a:t>a</a:t>
            </a:r>
            <a:r>
              <a:rPr spc="10" dirty="0"/>
              <a:t> </a:t>
            </a:r>
            <a:r>
              <a:rPr dirty="0"/>
              <a:t>danger</a:t>
            </a:r>
            <a:r>
              <a:rPr spc="10" dirty="0"/>
              <a:t> </a:t>
            </a:r>
            <a:r>
              <a:rPr spc="-10" dirty="0"/>
              <a:t>zone.</a:t>
            </a:r>
          </a:p>
          <a:p>
            <a:pPr marL="209550" marR="24130" indent="-189230">
              <a:lnSpc>
                <a:spcPct val="100699"/>
              </a:lnSpc>
              <a:spcBef>
                <a:spcPts val="1000"/>
              </a:spcBef>
              <a:buFont typeface="Arial MT"/>
              <a:buChar char="•"/>
              <a:tabLst>
                <a:tab pos="210820" algn="l"/>
              </a:tabLst>
            </a:pPr>
            <a:r>
              <a:rPr dirty="0"/>
              <a:t>RRT</a:t>
            </a:r>
            <a:r>
              <a:rPr spc="100" dirty="0"/>
              <a:t>  </a:t>
            </a:r>
            <a:r>
              <a:rPr dirty="0"/>
              <a:t>members</a:t>
            </a:r>
            <a:r>
              <a:rPr spc="120" dirty="0"/>
              <a:t>  </a:t>
            </a:r>
            <a:r>
              <a:rPr dirty="0"/>
              <a:t>currently</a:t>
            </a:r>
            <a:r>
              <a:rPr spc="125" dirty="0"/>
              <a:t>  </a:t>
            </a:r>
            <a:r>
              <a:rPr dirty="0"/>
              <a:t>have</a:t>
            </a:r>
            <a:r>
              <a:rPr spc="120" dirty="0"/>
              <a:t>  </a:t>
            </a:r>
            <a:r>
              <a:rPr dirty="0"/>
              <a:t>no</a:t>
            </a:r>
            <a:r>
              <a:rPr spc="120" dirty="0"/>
              <a:t>  </a:t>
            </a:r>
            <a:r>
              <a:rPr dirty="0"/>
              <a:t>prior</a:t>
            </a:r>
            <a:r>
              <a:rPr spc="125" dirty="0"/>
              <a:t>  </a:t>
            </a:r>
            <a:r>
              <a:rPr dirty="0"/>
              <a:t>information</a:t>
            </a:r>
            <a:r>
              <a:rPr spc="120" dirty="0"/>
              <a:t>  </a:t>
            </a:r>
            <a:r>
              <a:rPr dirty="0"/>
              <a:t>(animal</a:t>
            </a:r>
            <a:r>
              <a:rPr spc="120" dirty="0"/>
              <a:t>  </a:t>
            </a:r>
            <a:r>
              <a:rPr dirty="0"/>
              <a:t>type,</a:t>
            </a:r>
            <a:r>
              <a:rPr spc="125" dirty="0"/>
              <a:t>  </a:t>
            </a:r>
            <a:r>
              <a:rPr spc="-10" dirty="0"/>
              <a:t>distance, 	</a:t>
            </a:r>
            <a:r>
              <a:rPr dirty="0"/>
              <a:t>movement</a:t>
            </a:r>
            <a:r>
              <a:rPr spc="10" dirty="0"/>
              <a:t> </a:t>
            </a:r>
            <a:r>
              <a:rPr dirty="0"/>
              <a:t>direction)</a:t>
            </a:r>
            <a:r>
              <a:rPr spc="15" dirty="0"/>
              <a:t> </a:t>
            </a:r>
            <a:r>
              <a:rPr dirty="0"/>
              <a:t>before</a:t>
            </a:r>
            <a:r>
              <a:rPr spc="10" dirty="0"/>
              <a:t> </a:t>
            </a:r>
            <a:r>
              <a:rPr dirty="0"/>
              <a:t>reaching</a:t>
            </a:r>
            <a:r>
              <a:rPr spc="15" dirty="0"/>
              <a:t> </a:t>
            </a:r>
            <a:r>
              <a:rPr dirty="0"/>
              <a:t>the</a:t>
            </a:r>
            <a:r>
              <a:rPr spc="10" dirty="0"/>
              <a:t> </a:t>
            </a:r>
            <a:r>
              <a:rPr dirty="0"/>
              <a:t>site,</a:t>
            </a:r>
            <a:r>
              <a:rPr spc="15" dirty="0"/>
              <a:t> </a:t>
            </a:r>
            <a:r>
              <a:rPr dirty="0"/>
              <a:t>delaying</a:t>
            </a:r>
            <a:r>
              <a:rPr spc="10" dirty="0"/>
              <a:t> </a:t>
            </a:r>
            <a:r>
              <a:rPr dirty="0"/>
              <a:t>an</a:t>
            </a:r>
            <a:r>
              <a:rPr spc="15" dirty="0"/>
              <a:t> </a:t>
            </a:r>
            <a:r>
              <a:rPr dirty="0"/>
              <a:t>informed</a:t>
            </a:r>
            <a:r>
              <a:rPr spc="10" dirty="0"/>
              <a:t> </a:t>
            </a:r>
            <a:r>
              <a:rPr spc="-10" dirty="0"/>
              <a:t>response.</a:t>
            </a:r>
          </a:p>
          <a:p>
            <a:pPr marL="209550" marR="5080" indent="-189230">
              <a:lnSpc>
                <a:spcPct val="100800"/>
              </a:lnSpc>
              <a:spcBef>
                <a:spcPts val="1000"/>
              </a:spcBef>
              <a:buFont typeface="Arial MT"/>
              <a:buChar char="•"/>
              <a:tabLst>
                <a:tab pos="210820" algn="l"/>
              </a:tabLst>
            </a:pPr>
            <a:r>
              <a:rPr dirty="0"/>
              <a:t>There</a:t>
            </a:r>
            <a:r>
              <a:rPr spc="375" dirty="0"/>
              <a:t> </a:t>
            </a:r>
            <a:r>
              <a:rPr dirty="0"/>
              <a:t>is</a:t>
            </a:r>
            <a:r>
              <a:rPr spc="380" dirty="0"/>
              <a:t> </a:t>
            </a:r>
            <a:r>
              <a:rPr dirty="0"/>
              <a:t>no</a:t>
            </a:r>
            <a:r>
              <a:rPr spc="375" dirty="0"/>
              <a:t> </a:t>
            </a:r>
            <a:r>
              <a:rPr dirty="0"/>
              <a:t>historical</a:t>
            </a:r>
            <a:r>
              <a:rPr spc="380" dirty="0"/>
              <a:t> </a:t>
            </a:r>
            <a:r>
              <a:rPr dirty="0"/>
              <a:t>record</a:t>
            </a:r>
            <a:r>
              <a:rPr spc="380" dirty="0"/>
              <a:t> </a:t>
            </a:r>
            <a:r>
              <a:rPr dirty="0"/>
              <a:t>of</a:t>
            </a:r>
            <a:r>
              <a:rPr spc="375" dirty="0"/>
              <a:t> </a:t>
            </a:r>
            <a:r>
              <a:rPr dirty="0"/>
              <a:t>intrusion</a:t>
            </a:r>
            <a:r>
              <a:rPr spc="380" dirty="0"/>
              <a:t> </a:t>
            </a:r>
            <a:r>
              <a:rPr dirty="0"/>
              <a:t>patterns,</a:t>
            </a:r>
            <a:r>
              <a:rPr spc="380" dirty="0"/>
              <a:t> </a:t>
            </a:r>
            <a:r>
              <a:rPr dirty="0"/>
              <a:t>so</a:t>
            </a:r>
            <a:r>
              <a:rPr spc="375" dirty="0"/>
              <a:t> </a:t>
            </a:r>
            <a:r>
              <a:rPr dirty="0"/>
              <a:t>hotspots</a:t>
            </a:r>
            <a:r>
              <a:rPr spc="380" dirty="0"/>
              <a:t> </a:t>
            </a:r>
            <a:r>
              <a:rPr dirty="0"/>
              <a:t>and</a:t>
            </a:r>
            <a:r>
              <a:rPr spc="375" dirty="0"/>
              <a:t> </a:t>
            </a:r>
            <a:r>
              <a:rPr dirty="0"/>
              <a:t>risk</a:t>
            </a:r>
            <a:r>
              <a:rPr spc="380" dirty="0"/>
              <a:t> </a:t>
            </a:r>
            <a:r>
              <a:rPr spc="-10" dirty="0"/>
              <a:t>trends 	</a:t>
            </a:r>
            <a:r>
              <a:rPr dirty="0"/>
              <a:t>cannot</a:t>
            </a:r>
            <a:r>
              <a:rPr spc="5" dirty="0"/>
              <a:t> </a:t>
            </a:r>
            <a:r>
              <a:rPr dirty="0"/>
              <a:t>be</a:t>
            </a:r>
            <a:r>
              <a:rPr spc="10" dirty="0"/>
              <a:t> </a:t>
            </a:r>
            <a:r>
              <a:rPr dirty="0"/>
              <a:t>identified</a:t>
            </a:r>
            <a:r>
              <a:rPr spc="10" dirty="0"/>
              <a:t> </a:t>
            </a:r>
            <a:r>
              <a:rPr dirty="0"/>
              <a:t>or</a:t>
            </a:r>
            <a:r>
              <a:rPr spc="10" dirty="0"/>
              <a:t> </a:t>
            </a:r>
            <a:r>
              <a:rPr dirty="0"/>
              <a:t>planned</a:t>
            </a:r>
            <a:r>
              <a:rPr spc="10" dirty="0"/>
              <a:t> </a:t>
            </a:r>
            <a:r>
              <a:rPr spc="-20" dirty="0"/>
              <a:t>for.</a:t>
            </a:r>
          </a:p>
          <a:p>
            <a:pPr marL="209550" marR="5080" indent="-189230">
              <a:lnSpc>
                <a:spcPct val="100699"/>
              </a:lnSpc>
              <a:spcBef>
                <a:spcPts val="1000"/>
              </a:spcBef>
              <a:buFont typeface="Arial MT"/>
              <a:buChar char="•"/>
              <a:tabLst>
                <a:tab pos="210820" algn="l"/>
              </a:tabLst>
            </a:pPr>
            <a:r>
              <a:rPr dirty="0"/>
              <a:t>Hence,</a:t>
            </a:r>
            <a:r>
              <a:rPr spc="300" dirty="0"/>
              <a:t> </a:t>
            </a:r>
            <a:r>
              <a:rPr dirty="0"/>
              <a:t>there</a:t>
            </a:r>
            <a:r>
              <a:rPr spc="305" dirty="0"/>
              <a:t> </a:t>
            </a:r>
            <a:r>
              <a:rPr dirty="0"/>
              <a:t>is</a:t>
            </a:r>
            <a:r>
              <a:rPr spc="305" dirty="0"/>
              <a:t> </a:t>
            </a:r>
            <a:r>
              <a:rPr dirty="0"/>
              <a:t>a</a:t>
            </a:r>
            <a:r>
              <a:rPr spc="305" dirty="0"/>
              <a:t> </a:t>
            </a:r>
            <a:r>
              <a:rPr dirty="0"/>
              <a:t>need</a:t>
            </a:r>
            <a:r>
              <a:rPr spc="305" dirty="0"/>
              <a:t> </a:t>
            </a:r>
            <a:r>
              <a:rPr dirty="0"/>
              <a:t>for</a:t>
            </a:r>
            <a:r>
              <a:rPr spc="305" dirty="0"/>
              <a:t> </a:t>
            </a:r>
            <a:r>
              <a:rPr dirty="0"/>
              <a:t>a</a:t>
            </a:r>
            <a:r>
              <a:rPr spc="300" dirty="0"/>
              <a:t> </a:t>
            </a:r>
            <a:r>
              <a:rPr dirty="0"/>
              <a:t>system</a:t>
            </a:r>
            <a:r>
              <a:rPr spc="305" dirty="0"/>
              <a:t> </a:t>
            </a:r>
            <a:r>
              <a:rPr dirty="0"/>
              <a:t>that</a:t>
            </a:r>
            <a:r>
              <a:rPr spc="305" dirty="0"/>
              <a:t> </a:t>
            </a:r>
            <a:r>
              <a:rPr dirty="0"/>
              <a:t>automatically</a:t>
            </a:r>
            <a:r>
              <a:rPr spc="305" dirty="0"/>
              <a:t> </a:t>
            </a:r>
            <a:r>
              <a:rPr dirty="0"/>
              <a:t>detects,</a:t>
            </a:r>
            <a:r>
              <a:rPr spc="305" dirty="0"/>
              <a:t> </a:t>
            </a:r>
            <a:r>
              <a:rPr dirty="0"/>
              <a:t>verifies,</a:t>
            </a:r>
            <a:r>
              <a:rPr spc="305" dirty="0"/>
              <a:t> </a:t>
            </a:r>
            <a:r>
              <a:rPr spc="-10" dirty="0"/>
              <a:t>scores, 	</a:t>
            </a:r>
            <a:r>
              <a:rPr dirty="0"/>
              <a:t>and</a:t>
            </a:r>
            <a:r>
              <a:rPr spc="15" dirty="0"/>
              <a:t> </a:t>
            </a:r>
            <a:r>
              <a:rPr dirty="0"/>
              <a:t>routes</a:t>
            </a:r>
            <a:r>
              <a:rPr spc="20" dirty="0"/>
              <a:t> </a:t>
            </a:r>
            <a:r>
              <a:rPr dirty="0"/>
              <a:t>wildlife-intrusion</a:t>
            </a:r>
            <a:r>
              <a:rPr spc="15" dirty="0"/>
              <a:t> </a:t>
            </a:r>
            <a:r>
              <a:rPr dirty="0"/>
              <a:t>alerts</a:t>
            </a:r>
            <a:r>
              <a:rPr spc="20" dirty="0"/>
              <a:t> </a:t>
            </a:r>
            <a:r>
              <a:rPr dirty="0"/>
              <a:t>to</a:t>
            </a:r>
            <a:r>
              <a:rPr spc="15" dirty="0"/>
              <a:t> </a:t>
            </a:r>
            <a:r>
              <a:rPr dirty="0"/>
              <a:t>the</a:t>
            </a:r>
            <a:r>
              <a:rPr spc="20" dirty="0"/>
              <a:t> </a:t>
            </a:r>
            <a:r>
              <a:rPr dirty="0"/>
              <a:t>right</a:t>
            </a:r>
            <a:r>
              <a:rPr spc="20" dirty="0"/>
              <a:t> </a:t>
            </a:r>
            <a:r>
              <a:rPr dirty="0"/>
              <a:t>people</a:t>
            </a:r>
            <a:r>
              <a:rPr spc="15" dirty="0"/>
              <a:t> </a:t>
            </a:r>
            <a:r>
              <a:rPr dirty="0"/>
              <a:t>at</a:t>
            </a:r>
            <a:r>
              <a:rPr spc="20" dirty="0"/>
              <a:t> </a:t>
            </a:r>
            <a:r>
              <a:rPr dirty="0"/>
              <a:t>the</a:t>
            </a:r>
            <a:r>
              <a:rPr spc="15" dirty="0"/>
              <a:t> </a:t>
            </a:r>
            <a:r>
              <a:rPr dirty="0"/>
              <a:t>right</a:t>
            </a:r>
            <a:r>
              <a:rPr spc="20" dirty="0"/>
              <a:t> </a:t>
            </a:r>
            <a:r>
              <a:rPr spc="-10" dirty="0"/>
              <a:t>time.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1164095" y="6488122"/>
            <a:ext cx="87630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spc="-25" dirty="0">
                <a:solidFill>
                  <a:srgbClr val="ED7D31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lang="en-US" smtClean="0"/>
              <a:t>CCD415 Project Phase I</a:t>
            </a:r>
            <a:endParaRPr spc="-50" dirty="0"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spc="-10" dirty="0"/>
              <a:t>2023-</a:t>
            </a:r>
            <a:r>
              <a:rPr dirty="0"/>
              <a:t>2027</a:t>
            </a:r>
            <a:r>
              <a:rPr spc="-5" dirty="0"/>
              <a:t> </a:t>
            </a:r>
            <a:r>
              <a:rPr spc="-10" dirty="0"/>
              <a:t>Batch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14300">
              <a:lnSpc>
                <a:spcPts val="1410"/>
              </a:lnSpc>
            </a:pPr>
            <a:fld id="{81D60167-4931-47E6-BA6A-407CBD079E47}" type="slidenum">
              <a:rPr spc="-50" dirty="0"/>
              <a:t>6</a:t>
            </a:fld>
            <a:endParaRPr spc="-50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616678" y="272332"/>
            <a:ext cx="356489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OBJECTIVES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71648" y="1319468"/>
            <a:ext cx="860996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14629" indent="-20193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14629" algn="l"/>
                <a:tab pos="660400" algn="l"/>
                <a:tab pos="1502410" algn="l"/>
                <a:tab pos="1794510" algn="l"/>
                <a:tab pos="3482340" algn="l"/>
                <a:tab pos="4493260" algn="l"/>
                <a:tab pos="5052695" algn="l"/>
                <a:tab pos="6543040" algn="l"/>
                <a:tab pos="7624445" algn="l"/>
              </a:tabLst>
            </a:pPr>
            <a:r>
              <a:rPr sz="2000" spc="-25" dirty="0">
                <a:latin typeface="Times New Roman"/>
                <a:cs typeface="Times New Roman"/>
              </a:rPr>
              <a:t>To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design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50" dirty="0">
                <a:latin typeface="Times New Roman"/>
                <a:cs typeface="Times New Roman"/>
              </a:rPr>
              <a:t>a</a:t>
            </a:r>
            <a:r>
              <a:rPr sz="2000" dirty="0">
                <a:latin typeface="Times New Roman"/>
                <a:cs typeface="Times New Roman"/>
              </a:rPr>
              <a:t>	thermal-</a:t>
            </a:r>
            <a:r>
              <a:rPr sz="2000" spc="-10" dirty="0">
                <a:latin typeface="Times New Roman"/>
                <a:cs typeface="Times New Roman"/>
              </a:rPr>
              <a:t>sensor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network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0" dirty="0">
                <a:latin typeface="Times New Roman"/>
                <a:cs typeface="Times New Roman"/>
              </a:rPr>
              <a:t>that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continuously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monitors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identified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71648" y="1496887"/>
            <a:ext cx="8609330" cy="2987356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216535">
              <a:lnSpc>
                <a:spcPct val="100000"/>
              </a:lnSpc>
              <a:spcBef>
                <a:spcPts val="1095"/>
              </a:spcBef>
            </a:pPr>
            <a:r>
              <a:rPr sz="2000" dirty="0">
                <a:latin typeface="Times New Roman"/>
                <a:cs typeface="Times New Roman"/>
              </a:rPr>
              <a:t>wildlife-intrusion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hotspots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along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village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boundaries.</a:t>
            </a:r>
            <a:endParaRPr sz="2000" dirty="0">
              <a:latin typeface="Times New Roman"/>
              <a:cs typeface="Times New Roman"/>
            </a:endParaRPr>
          </a:p>
          <a:p>
            <a:pPr marL="213995" marR="26670" indent="-201930">
              <a:lnSpc>
                <a:spcPct val="100000"/>
              </a:lnSpc>
              <a:spcBef>
                <a:spcPts val="1000"/>
              </a:spcBef>
              <a:buFont typeface="Arial MT"/>
              <a:buChar char="•"/>
              <a:tabLst>
                <a:tab pos="216535" algn="l"/>
              </a:tabLst>
            </a:pP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develop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AI/computer-</a:t>
            </a:r>
            <a:r>
              <a:rPr sz="2000" dirty="0">
                <a:latin typeface="Times New Roman"/>
                <a:cs typeface="Times New Roman"/>
              </a:rPr>
              <a:t>vision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module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verifies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genuine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animal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detections 	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filters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out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false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alarms.</a:t>
            </a:r>
            <a:endParaRPr sz="2000" dirty="0">
              <a:latin typeface="Times New Roman"/>
              <a:cs typeface="Times New Roman"/>
            </a:endParaRPr>
          </a:p>
          <a:p>
            <a:pPr marL="213995" marR="5080" indent="-201930">
              <a:lnSpc>
                <a:spcPct val="100000"/>
              </a:lnSpc>
              <a:spcBef>
                <a:spcPts val="990"/>
              </a:spcBef>
              <a:buFont typeface="Arial MT"/>
              <a:buChar char="•"/>
              <a:tabLst>
                <a:tab pos="216535" algn="l"/>
              </a:tabLst>
            </a:pPr>
            <a:r>
              <a:rPr lang="en-US" sz="2000" dirty="0" smtClean="0">
                <a:latin typeface="Times New Roman"/>
                <a:cs typeface="Times New Roman"/>
              </a:rPr>
              <a:t>Internal network services may need to be exposed or made reachable from the internet, increasing the potential attack surface and security risks</a:t>
            </a:r>
            <a:r>
              <a:rPr sz="2000" spc="-10" dirty="0" smtClean="0">
                <a:latin typeface="Times New Roman"/>
                <a:cs typeface="Times New Roman"/>
              </a:rPr>
              <a:t>.</a:t>
            </a:r>
            <a:endParaRPr sz="2000" dirty="0">
              <a:latin typeface="Times New Roman"/>
              <a:cs typeface="Times New Roman"/>
            </a:endParaRPr>
          </a:p>
          <a:p>
            <a:pPr marL="213995" marR="29209" indent="-201930">
              <a:lnSpc>
                <a:spcPct val="100000"/>
              </a:lnSpc>
              <a:spcBef>
                <a:spcPts val="994"/>
              </a:spcBef>
              <a:buFont typeface="Arial MT"/>
              <a:buChar char="•"/>
              <a:tabLst>
                <a:tab pos="216535" algn="l"/>
              </a:tabLst>
            </a:pPr>
            <a:r>
              <a:rPr lang="en-US" sz="2000" dirty="0" smtClean="0">
                <a:latin typeface="Times New Roman"/>
                <a:cs typeface="Times New Roman"/>
              </a:rPr>
              <a:t>Managing users, devices, permissions, and network resources manually can become complex, especially when multiple users require different levels of access</a:t>
            </a:r>
            <a:r>
              <a:rPr sz="2000" spc="-10" dirty="0" smtClean="0">
                <a:latin typeface="Times New Roman"/>
                <a:cs typeface="Times New Roman"/>
              </a:rPr>
              <a:t>.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7280" y="4478111"/>
            <a:ext cx="8602345" cy="1063753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213995" marR="5080" indent="-201930">
              <a:lnSpc>
                <a:spcPct val="100000"/>
              </a:lnSpc>
              <a:spcBef>
                <a:spcPts val="1000"/>
              </a:spcBef>
              <a:buFont typeface="Arial MT"/>
              <a:buChar char="•"/>
              <a:tabLst>
                <a:tab pos="216535" algn="l"/>
              </a:tabLst>
            </a:pPr>
            <a:r>
              <a:rPr lang="en-US" sz="2000" dirty="0" smtClean="0">
                <a:latin typeface="Times New Roman"/>
                <a:cs typeface="Times New Roman"/>
              </a:rPr>
              <a:t>Traditional approaches may lack simple centralized mechanisms for authentication, access policies, device verification, and monitoring of remote connections</a:t>
            </a:r>
            <a:r>
              <a:rPr sz="2000" spc="-10" dirty="0" smtClean="0">
                <a:latin typeface="Times New Roman"/>
                <a:cs typeface="Times New Roman"/>
              </a:rPr>
              <a:t>.</a:t>
            </a:r>
            <a:endParaRPr sz="2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164095" y="6488122"/>
            <a:ext cx="87630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spc="-25" dirty="0">
                <a:solidFill>
                  <a:srgbClr val="ED7D31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lang="en-US" smtClean="0"/>
              <a:t>CCD415 Project Phase I</a:t>
            </a:r>
            <a:endParaRPr spc="-50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spc="-10" dirty="0"/>
              <a:t>2023-</a:t>
            </a:r>
            <a:r>
              <a:rPr dirty="0"/>
              <a:t>2027</a:t>
            </a:r>
            <a:r>
              <a:rPr spc="-5" dirty="0"/>
              <a:t> </a:t>
            </a:r>
            <a:r>
              <a:rPr spc="-10" dirty="0"/>
              <a:t>Batch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14300">
              <a:lnSpc>
                <a:spcPts val="1410"/>
              </a:lnSpc>
            </a:pPr>
            <a:fld id="{81D60167-4931-47E6-BA6A-407CBD079E47}" type="slidenum">
              <a:rPr spc="-50" dirty="0"/>
              <a:t>7</a:t>
            </a:fld>
            <a:endParaRPr spc="-50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99142" y="216044"/>
            <a:ext cx="412242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BACKGROUND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15077" y="1164911"/>
            <a:ext cx="8143240" cy="5310877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10185" indent="-190500" algn="just">
              <a:lnSpc>
                <a:spcPct val="100000"/>
              </a:lnSpc>
              <a:spcBef>
                <a:spcPts val="120"/>
              </a:spcBef>
              <a:buFont typeface="Arial"/>
              <a:buChar char="•"/>
              <a:tabLst>
                <a:tab pos="210185" algn="l"/>
              </a:tabLst>
            </a:pPr>
            <a:r>
              <a:rPr sz="2250" b="1" spc="-10" dirty="0">
                <a:solidFill>
                  <a:srgbClr val="0C0C0C"/>
                </a:solidFill>
                <a:latin typeface="Times New Roman"/>
                <a:cs typeface="Times New Roman"/>
              </a:rPr>
              <a:t>Background</a:t>
            </a:r>
            <a:endParaRPr sz="2250" dirty="0">
              <a:latin typeface="Times New Roman"/>
              <a:cs typeface="Times New Roman"/>
            </a:endParaRPr>
          </a:p>
          <a:p>
            <a:pPr marL="211454" marR="12700" indent="-187325" algn="just">
              <a:lnSpc>
                <a:spcPts val="2100"/>
              </a:lnSpc>
              <a:spcBef>
                <a:spcPts val="235"/>
              </a:spcBef>
              <a:buSzPct val="116216"/>
              <a:buFont typeface="Arial"/>
              <a:buChar char="•"/>
              <a:tabLst>
                <a:tab pos="211454" algn="l"/>
              </a:tabLst>
            </a:pPr>
            <a:r>
              <a:rPr lang="en-US" sz="1850" dirty="0" smtClean="0">
                <a:solidFill>
                  <a:srgbClr val="0C0C0C"/>
                </a:solidFill>
                <a:latin typeface="Times New Roman"/>
                <a:cs typeface="Times New Roman"/>
              </a:rPr>
              <a:t>The increasing need to access private network resources remotely has created a demand for secure and reliable remote connectivity solutions</a:t>
            </a:r>
            <a:r>
              <a:rPr sz="1850" spc="-10" dirty="0" smtClean="0">
                <a:solidFill>
                  <a:srgbClr val="0C0C0C"/>
                </a:solidFill>
                <a:latin typeface="Times New Roman"/>
                <a:cs typeface="Times New Roman"/>
              </a:rPr>
              <a:t>.</a:t>
            </a:r>
            <a:endParaRPr sz="1850" dirty="0">
              <a:latin typeface="Times New Roman"/>
              <a:cs typeface="Times New Roman"/>
            </a:endParaRPr>
          </a:p>
          <a:p>
            <a:pPr marL="210185" marR="5715" indent="-198120" algn="just">
              <a:lnSpc>
                <a:spcPct val="122100"/>
              </a:lnSpc>
              <a:spcBef>
                <a:spcPts val="445"/>
              </a:spcBef>
              <a:buFont typeface="Arial MT"/>
              <a:buChar char="•"/>
              <a:tabLst>
                <a:tab pos="211454" algn="l"/>
              </a:tabLst>
            </a:pPr>
            <a:r>
              <a:rPr lang="en-US" sz="1850" dirty="0" smtClean="0">
                <a:solidFill>
                  <a:srgbClr val="0C0C0C"/>
                </a:solidFill>
                <a:latin typeface="Times New Roman"/>
                <a:cs typeface="Times New Roman"/>
              </a:rPr>
              <a:t>VPN-based solutions commonly depend on firewall configuration, port forwarding, public IP addresses, and other network settings that can make deployment more complex</a:t>
            </a:r>
            <a:r>
              <a:rPr sz="1850" spc="-10" dirty="0" smtClean="0">
                <a:solidFill>
                  <a:srgbClr val="0C0C0C"/>
                </a:solidFill>
                <a:latin typeface="Times New Roman"/>
                <a:cs typeface="Times New Roman"/>
              </a:rPr>
              <a:t>.</a:t>
            </a:r>
            <a:endParaRPr sz="1850" dirty="0">
              <a:latin typeface="Times New Roman"/>
              <a:cs typeface="Times New Roman"/>
            </a:endParaRPr>
          </a:p>
          <a:p>
            <a:pPr marL="210185" marR="5715" indent="-198120" algn="just">
              <a:lnSpc>
                <a:spcPct val="122100"/>
              </a:lnSpc>
              <a:spcBef>
                <a:spcPts val="1000"/>
              </a:spcBef>
              <a:buFont typeface="Arial MT"/>
              <a:buChar char="•"/>
              <a:tabLst>
                <a:tab pos="211454" algn="l"/>
              </a:tabLst>
            </a:pPr>
            <a:r>
              <a:rPr lang="en-US" sz="1850" dirty="0" smtClean="0">
                <a:solidFill>
                  <a:srgbClr val="0C0C0C"/>
                </a:solidFill>
                <a:latin typeface="Times New Roman"/>
                <a:cs typeface="Times New Roman"/>
              </a:rPr>
              <a:t>Zero Trust follows the principle of verifying users and devices before granting access rather than automatically trusting devices within a network</a:t>
            </a:r>
            <a:r>
              <a:rPr sz="1850" spc="-10" dirty="0" smtClean="0">
                <a:solidFill>
                  <a:srgbClr val="0C0C0C"/>
                </a:solidFill>
                <a:latin typeface="Times New Roman"/>
                <a:cs typeface="Times New Roman"/>
              </a:rPr>
              <a:t>.</a:t>
            </a:r>
            <a:endParaRPr sz="1850" dirty="0">
              <a:latin typeface="Times New Roman"/>
              <a:cs typeface="Times New Roman"/>
            </a:endParaRPr>
          </a:p>
          <a:p>
            <a:pPr marL="210185" marR="5080" indent="-198120" algn="just">
              <a:lnSpc>
                <a:spcPct val="122100"/>
              </a:lnSpc>
              <a:spcBef>
                <a:spcPts val="1000"/>
              </a:spcBef>
              <a:buFont typeface="Arial MT"/>
              <a:buChar char="•"/>
              <a:tabLst>
                <a:tab pos="211454" algn="l"/>
              </a:tabLst>
            </a:pPr>
            <a:r>
              <a:rPr lang="en-US" sz="1850" dirty="0" err="1" smtClean="0">
                <a:solidFill>
                  <a:srgbClr val="0C0C0C"/>
                </a:solidFill>
                <a:latin typeface="Times New Roman"/>
                <a:cs typeface="Times New Roman"/>
              </a:rPr>
              <a:t>Twingate</a:t>
            </a:r>
            <a:r>
              <a:rPr lang="en-US" sz="1850" dirty="0" smtClean="0">
                <a:solidFill>
                  <a:srgbClr val="0C0C0C"/>
                </a:solidFill>
                <a:latin typeface="Times New Roman"/>
                <a:cs typeface="Times New Roman"/>
              </a:rPr>
              <a:t> applies identity-based authentication and least-privilege access to ensure that users are provided access only to authorized network resources</a:t>
            </a:r>
            <a:r>
              <a:rPr sz="1850" spc="-10" dirty="0" smtClean="0">
                <a:solidFill>
                  <a:srgbClr val="0C0C0C"/>
                </a:solidFill>
                <a:latin typeface="Times New Roman"/>
                <a:cs typeface="Times New Roman"/>
              </a:rPr>
              <a:t>.</a:t>
            </a:r>
            <a:endParaRPr sz="1850" dirty="0">
              <a:latin typeface="Times New Roman"/>
              <a:cs typeface="Times New Roman"/>
            </a:endParaRPr>
          </a:p>
          <a:p>
            <a:pPr marL="210185" marR="5715" indent="-198120" algn="just">
              <a:lnSpc>
                <a:spcPct val="122100"/>
              </a:lnSpc>
              <a:spcBef>
                <a:spcPts val="1005"/>
              </a:spcBef>
              <a:buFont typeface="Arial MT"/>
              <a:buChar char="•"/>
              <a:tabLst>
                <a:tab pos="211454" algn="l"/>
              </a:tabLst>
            </a:pPr>
            <a:r>
              <a:rPr lang="en-US" sz="1850" dirty="0" smtClean="0">
                <a:solidFill>
                  <a:srgbClr val="0C0C0C"/>
                </a:solidFill>
                <a:latin typeface="Times New Roman"/>
                <a:cs typeface="Times New Roman"/>
              </a:rPr>
              <a:t>The Raspberry Pi provides a low-cost and lightweight platform that can connect internal network resources to the </a:t>
            </a:r>
            <a:r>
              <a:rPr lang="en-US" sz="1850" dirty="0" err="1" smtClean="0">
                <a:solidFill>
                  <a:srgbClr val="0C0C0C"/>
                </a:solidFill>
                <a:latin typeface="Times New Roman"/>
                <a:cs typeface="Times New Roman"/>
              </a:rPr>
              <a:t>Twingate</a:t>
            </a:r>
            <a:r>
              <a:rPr lang="en-US" sz="1850" dirty="0" smtClean="0">
                <a:solidFill>
                  <a:srgbClr val="0C0C0C"/>
                </a:solidFill>
                <a:latin typeface="Times New Roman"/>
                <a:cs typeface="Times New Roman"/>
              </a:rPr>
              <a:t> environment</a:t>
            </a:r>
            <a:r>
              <a:rPr sz="1850" spc="-10" dirty="0" smtClean="0">
                <a:solidFill>
                  <a:srgbClr val="0C0C0C"/>
                </a:solidFill>
                <a:latin typeface="Times New Roman"/>
                <a:cs typeface="Times New Roman"/>
              </a:rPr>
              <a:t>.</a:t>
            </a:r>
            <a:endParaRPr sz="1850" dirty="0">
              <a:latin typeface="Times New Roman"/>
              <a:cs typeface="Times New Roman"/>
            </a:endParaRPr>
          </a:p>
          <a:p>
            <a:pPr marL="210185" marR="6350" indent="-198120" algn="just">
              <a:lnSpc>
                <a:spcPct val="122100"/>
              </a:lnSpc>
              <a:spcBef>
                <a:spcPts val="1000"/>
              </a:spcBef>
              <a:buFont typeface="Arial MT"/>
              <a:buChar char="•"/>
              <a:tabLst>
                <a:tab pos="211454" algn="l"/>
              </a:tabLst>
            </a:pPr>
            <a:r>
              <a:rPr sz="1850" dirty="0">
                <a:solidFill>
                  <a:srgbClr val="0C0C0C"/>
                </a:solidFill>
                <a:latin typeface="Times New Roman"/>
                <a:cs typeface="Times New Roman"/>
              </a:rPr>
              <a:t>Non-lethal</a:t>
            </a:r>
            <a:r>
              <a:rPr sz="1850" spc="9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0C0C0C"/>
                </a:solidFill>
                <a:latin typeface="Times New Roman"/>
                <a:cs typeface="Times New Roman"/>
              </a:rPr>
              <a:t>deterrents</a:t>
            </a:r>
            <a:r>
              <a:rPr sz="1850" spc="9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0C0C0C"/>
                </a:solidFill>
                <a:latin typeface="Times New Roman"/>
                <a:cs typeface="Times New Roman"/>
              </a:rPr>
              <a:t>(lights,</a:t>
            </a:r>
            <a:r>
              <a:rPr sz="1850" spc="9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0C0C0C"/>
                </a:solidFill>
                <a:latin typeface="Times New Roman"/>
                <a:cs typeface="Times New Roman"/>
              </a:rPr>
              <a:t>sound)</a:t>
            </a:r>
            <a:r>
              <a:rPr sz="1850" spc="9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0C0C0C"/>
                </a:solidFill>
                <a:latin typeface="Times New Roman"/>
                <a:cs typeface="Times New Roman"/>
              </a:rPr>
              <a:t>are</a:t>
            </a:r>
            <a:r>
              <a:rPr sz="1850" spc="9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0C0C0C"/>
                </a:solidFill>
                <a:latin typeface="Times New Roman"/>
                <a:cs typeface="Times New Roman"/>
              </a:rPr>
              <a:t>an</a:t>
            </a:r>
            <a:r>
              <a:rPr sz="1850" spc="9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0C0C0C"/>
                </a:solidFill>
                <a:latin typeface="Times New Roman"/>
                <a:cs typeface="Times New Roman"/>
              </a:rPr>
              <a:t>accepted,</a:t>
            </a:r>
            <a:r>
              <a:rPr sz="1850" spc="9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0C0C0C"/>
                </a:solidFill>
                <a:latin typeface="Times New Roman"/>
                <a:cs typeface="Times New Roman"/>
              </a:rPr>
              <a:t>Forest-Department-</a:t>
            </a:r>
            <a:r>
              <a:rPr sz="1850" spc="-10" dirty="0">
                <a:solidFill>
                  <a:srgbClr val="0C0C0C"/>
                </a:solidFill>
                <a:latin typeface="Times New Roman"/>
                <a:cs typeface="Times New Roman"/>
              </a:rPr>
              <a:t>approved 	</a:t>
            </a:r>
            <a:r>
              <a:rPr sz="1850" dirty="0">
                <a:solidFill>
                  <a:srgbClr val="0C0C0C"/>
                </a:solidFill>
                <a:latin typeface="Times New Roman"/>
                <a:cs typeface="Times New Roman"/>
              </a:rPr>
              <a:t>method</a:t>
            </a:r>
            <a:r>
              <a:rPr sz="1850" spc="5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0C0C0C"/>
                </a:solidFill>
                <a:latin typeface="Times New Roman"/>
                <a:cs typeface="Times New Roman"/>
              </a:rPr>
              <a:t>for</a:t>
            </a:r>
            <a:r>
              <a:rPr sz="1850" spc="5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0C0C0C"/>
                </a:solidFill>
                <a:latin typeface="Times New Roman"/>
                <a:cs typeface="Times New Roman"/>
              </a:rPr>
              <a:t>discouraging</a:t>
            </a:r>
            <a:r>
              <a:rPr sz="1850" spc="5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0C0C0C"/>
                </a:solidFill>
                <a:latin typeface="Times New Roman"/>
                <a:cs typeface="Times New Roman"/>
              </a:rPr>
              <a:t>animals</a:t>
            </a:r>
            <a:r>
              <a:rPr sz="1850" spc="5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0C0C0C"/>
                </a:solidFill>
                <a:latin typeface="Times New Roman"/>
                <a:cs typeface="Times New Roman"/>
              </a:rPr>
              <a:t>without</a:t>
            </a:r>
            <a:r>
              <a:rPr sz="1850" spc="5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50" spc="-10" dirty="0">
                <a:solidFill>
                  <a:srgbClr val="0C0C0C"/>
                </a:solidFill>
                <a:latin typeface="Times New Roman"/>
                <a:cs typeface="Times New Roman"/>
              </a:rPr>
              <a:t>harm.</a:t>
            </a:r>
            <a:endParaRPr sz="185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164095" y="6488122"/>
            <a:ext cx="87630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spc="-25" dirty="0">
                <a:solidFill>
                  <a:srgbClr val="ED7D31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lang="en-US" smtClean="0"/>
              <a:t>CCD415 Project Phase I</a:t>
            </a:r>
            <a:endParaRPr spc="-50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spc="-10" dirty="0"/>
              <a:t>2023-</a:t>
            </a:r>
            <a:r>
              <a:rPr dirty="0"/>
              <a:t>2027</a:t>
            </a:r>
            <a:r>
              <a:rPr spc="-5" dirty="0"/>
              <a:t> </a:t>
            </a:r>
            <a:r>
              <a:rPr spc="-10" dirty="0"/>
              <a:t>Batch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14300">
              <a:lnSpc>
                <a:spcPts val="1410"/>
              </a:lnSpc>
            </a:pPr>
            <a:fld id="{81D60167-4931-47E6-BA6A-407CBD079E47}" type="slidenum">
              <a:rPr spc="-50" dirty="0"/>
              <a:t>8</a:t>
            </a:fld>
            <a:endParaRPr spc="-50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99130" y="408856"/>
            <a:ext cx="412242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BACKGROUND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8957" y="1053982"/>
            <a:ext cx="7860030" cy="5196935"/>
          </a:xfrm>
          <a:prstGeom prst="rect">
            <a:avLst/>
          </a:prstGeom>
        </p:spPr>
        <p:txBody>
          <a:bodyPr vert="horz" wrap="square" lIns="0" tIns="193675" rIns="0" bIns="0" rtlCol="0">
            <a:spAutoFit/>
          </a:bodyPr>
          <a:lstStyle/>
          <a:p>
            <a:pPr marL="203835" indent="-174625">
              <a:lnSpc>
                <a:spcPct val="100000"/>
              </a:lnSpc>
              <a:spcBef>
                <a:spcPts val="1525"/>
              </a:spcBef>
              <a:buFont typeface="Arial"/>
              <a:buChar char="•"/>
              <a:tabLst>
                <a:tab pos="203835" algn="l"/>
              </a:tabLst>
            </a:pPr>
            <a:r>
              <a:rPr sz="2800" b="1" dirty="0">
                <a:solidFill>
                  <a:srgbClr val="0C0C0C"/>
                </a:solidFill>
                <a:latin typeface="Times New Roman"/>
                <a:cs typeface="Times New Roman"/>
              </a:rPr>
              <a:t>Existing </a:t>
            </a:r>
            <a:r>
              <a:rPr sz="2800" b="1" spc="-10" dirty="0">
                <a:solidFill>
                  <a:srgbClr val="0C0C0C"/>
                </a:solidFill>
                <a:latin typeface="Times New Roman"/>
                <a:cs typeface="Times New Roman"/>
              </a:rPr>
              <a:t>System</a:t>
            </a:r>
            <a:endParaRPr sz="2800" dirty="0">
              <a:latin typeface="Times New Roman"/>
              <a:cs typeface="Times New Roman"/>
            </a:endParaRPr>
          </a:p>
          <a:p>
            <a:pPr marL="203835" marR="153035" indent="-191135">
              <a:lnSpc>
                <a:spcPct val="100000"/>
              </a:lnSpc>
              <a:spcBef>
                <a:spcPts val="969"/>
              </a:spcBef>
              <a:buFont typeface="Arial MT"/>
              <a:buChar char="•"/>
              <a:tabLst>
                <a:tab pos="205104" algn="l"/>
              </a:tabLst>
            </a:pPr>
            <a:r>
              <a:rPr lang="en-US" sz="1900" dirty="0" smtClean="0">
                <a:latin typeface="Times New Roman"/>
                <a:cs typeface="Times New Roman"/>
              </a:rPr>
              <a:t>Remote users commonly rely on VPNs to connect to private network resources from outside the organization</a:t>
            </a:r>
            <a:r>
              <a:rPr sz="1900" spc="-10" dirty="0" smtClean="0">
                <a:latin typeface="Times New Roman"/>
                <a:cs typeface="Times New Roman"/>
              </a:rPr>
              <a:t>.</a:t>
            </a:r>
            <a:endParaRPr sz="1900" dirty="0">
              <a:latin typeface="Times New Roman"/>
              <a:cs typeface="Times New Roman"/>
            </a:endParaRPr>
          </a:p>
          <a:p>
            <a:pPr marL="203835" marR="65405" indent="-191135">
              <a:lnSpc>
                <a:spcPct val="100000"/>
              </a:lnSpc>
              <a:spcBef>
                <a:spcPts val="1000"/>
              </a:spcBef>
              <a:buFont typeface="Arial MT"/>
              <a:buChar char="•"/>
              <a:tabLst>
                <a:tab pos="205104" algn="l"/>
              </a:tabLst>
            </a:pPr>
            <a:r>
              <a:rPr lang="en-US" sz="1900" dirty="0" smtClean="0">
                <a:latin typeface="Times New Roman"/>
                <a:cs typeface="Times New Roman"/>
              </a:rPr>
              <a:t>VPN deployment may require firewall changes, port forwarding, public IP addresses, and additional network configuration</a:t>
            </a:r>
            <a:r>
              <a:rPr sz="1900" spc="-10" dirty="0" smtClean="0">
                <a:latin typeface="Times New Roman"/>
                <a:cs typeface="Times New Roman"/>
              </a:rPr>
              <a:t>.</a:t>
            </a:r>
            <a:endParaRPr sz="1900" dirty="0">
              <a:latin typeface="Times New Roman"/>
              <a:cs typeface="Times New Roman"/>
            </a:endParaRPr>
          </a:p>
          <a:p>
            <a:pPr marL="203835" indent="-191135">
              <a:lnSpc>
                <a:spcPct val="100000"/>
              </a:lnSpc>
              <a:spcBef>
                <a:spcPts val="1000"/>
              </a:spcBef>
              <a:buFont typeface="Arial MT"/>
              <a:buChar char="•"/>
              <a:tabLst>
                <a:tab pos="203835" algn="l"/>
              </a:tabLst>
            </a:pPr>
            <a:r>
              <a:rPr lang="en-US" sz="1900" dirty="0" smtClean="0">
                <a:latin typeface="Times New Roman"/>
                <a:cs typeface="Times New Roman"/>
              </a:rPr>
              <a:t>Once connected through a traditional VPN, users may receive access to a larger portion of the internal network than actually required</a:t>
            </a:r>
            <a:r>
              <a:rPr sz="1900" spc="-10" dirty="0" smtClean="0">
                <a:latin typeface="Times New Roman"/>
                <a:cs typeface="Times New Roman"/>
              </a:rPr>
              <a:t>.</a:t>
            </a:r>
            <a:endParaRPr sz="1900" dirty="0">
              <a:latin typeface="Times New Roman"/>
              <a:cs typeface="Times New Roman"/>
            </a:endParaRPr>
          </a:p>
          <a:p>
            <a:pPr marL="203835" marR="226060" indent="-191135">
              <a:lnSpc>
                <a:spcPct val="100000"/>
              </a:lnSpc>
              <a:spcBef>
                <a:spcPts val="1000"/>
              </a:spcBef>
              <a:buFont typeface="Arial MT"/>
              <a:buChar char="•"/>
              <a:tabLst>
                <a:tab pos="205104" algn="l"/>
              </a:tabLst>
            </a:pPr>
            <a:r>
              <a:rPr lang="en-US" sz="1900" dirty="0" smtClean="0">
                <a:latin typeface="Times New Roman"/>
                <a:cs typeface="Times New Roman"/>
              </a:rPr>
              <a:t>Exposing network services or opening ports for remote access can increase the possibility of unauthorized access and security threats</a:t>
            </a:r>
            <a:r>
              <a:rPr sz="1900" spc="-10" dirty="0" smtClean="0">
                <a:latin typeface="Times New Roman"/>
                <a:cs typeface="Times New Roman"/>
              </a:rPr>
              <a:t>.</a:t>
            </a:r>
            <a:endParaRPr sz="1900" dirty="0">
              <a:latin typeface="Times New Roman"/>
              <a:cs typeface="Times New Roman"/>
            </a:endParaRPr>
          </a:p>
          <a:p>
            <a:pPr marL="203835" indent="-191135">
              <a:lnSpc>
                <a:spcPct val="100000"/>
              </a:lnSpc>
              <a:spcBef>
                <a:spcPts val="1000"/>
              </a:spcBef>
              <a:buFont typeface="Arial MT"/>
              <a:buChar char="•"/>
              <a:tabLst>
                <a:tab pos="203835" algn="l"/>
              </a:tabLst>
            </a:pPr>
            <a:r>
              <a:rPr lang="en-US" sz="1900" dirty="0" smtClean="0">
                <a:latin typeface="Times New Roman"/>
                <a:cs typeface="Times New Roman"/>
              </a:rPr>
              <a:t>Managing users, devices, permissions, and network resources can require considerable manual configuration and administration</a:t>
            </a:r>
            <a:r>
              <a:rPr sz="1900" spc="-10" dirty="0" smtClean="0">
                <a:latin typeface="Times New Roman"/>
                <a:cs typeface="Times New Roman"/>
              </a:rPr>
              <a:t>.</a:t>
            </a:r>
            <a:endParaRPr sz="1900" dirty="0">
              <a:latin typeface="Times New Roman"/>
              <a:cs typeface="Times New Roman"/>
            </a:endParaRPr>
          </a:p>
          <a:p>
            <a:pPr marL="203835" marR="5080" indent="-191135">
              <a:lnSpc>
                <a:spcPct val="100000"/>
              </a:lnSpc>
              <a:spcBef>
                <a:spcPts val="1000"/>
              </a:spcBef>
              <a:buFont typeface="Arial MT"/>
              <a:buChar char="•"/>
              <a:tabLst>
                <a:tab pos="205104" algn="l"/>
              </a:tabLst>
            </a:pPr>
            <a:r>
              <a:rPr lang="en-US" sz="1900" dirty="0" smtClean="0">
                <a:latin typeface="Times New Roman"/>
                <a:cs typeface="Times New Roman"/>
              </a:rPr>
              <a:t>Traditional solutions may make it difficult to implement centralized identity verification, granular access policies, device verification, and activity monitoring</a:t>
            </a:r>
            <a:r>
              <a:rPr sz="1900" spc="-10" dirty="0" smtClean="0">
                <a:latin typeface="Times New Roman"/>
                <a:cs typeface="Times New Roman"/>
              </a:rPr>
              <a:t>.</a:t>
            </a:r>
            <a:endParaRPr sz="19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1164095" y="6488122"/>
            <a:ext cx="87630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spc="-25" dirty="0">
                <a:solidFill>
                  <a:srgbClr val="ED7D31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lang="en-US" smtClean="0"/>
              <a:t>CCD415 Project Phase I</a:t>
            </a:r>
            <a:endParaRPr spc="-50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spc="-10" dirty="0"/>
              <a:t>2023-</a:t>
            </a:r>
            <a:r>
              <a:rPr dirty="0"/>
              <a:t>2027</a:t>
            </a:r>
            <a:r>
              <a:rPr spc="-5" dirty="0"/>
              <a:t> </a:t>
            </a:r>
            <a:r>
              <a:rPr spc="-10" dirty="0"/>
              <a:t>Batch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14300">
              <a:lnSpc>
                <a:spcPts val="1410"/>
              </a:lnSpc>
            </a:pPr>
            <a:fld id="{81D60167-4931-47E6-BA6A-407CBD079E47}" type="slidenum">
              <a:rPr spc="-50" dirty="0"/>
              <a:t>9</a:t>
            </a:fld>
            <a:endParaRPr spc="-50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612554" y="-7591"/>
            <a:ext cx="609409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LITERATURE</a:t>
            </a:r>
            <a:r>
              <a:rPr spc="-195" dirty="0"/>
              <a:t> </a:t>
            </a:r>
            <a:r>
              <a:rPr spc="-10" dirty="0"/>
              <a:t>SURVEY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4749" y="718559"/>
            <a:ext cx="8799830" cy="551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0185" marR="5080" indent="-198120">
              <a:lnSpc>
                <a:spcPct val="114999"/>
              </a:lnSpc>
              <a:spcBef>
                <a:spcPts val="100"/>
              </a:spcBef>
              <a:buClr>
                <a:srgbClr val="0C0C0C"/>
              </a:buClr>
              <a:buChar char="•"/>
              <a:tabLst>
                <a:tab pos="210185" algn="l"/>
              </a:tabLst>
            </a:pP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R.</a:t>
            </a:r>
            <a:r>
              <a:rPr sz="1500" spc="25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Jayadevan,</a:t>
            </a:r>
            <a:r>
              <a:rPr sz="1500" spc="254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S.</a:t>
            </a:r>
            <a:r>
              <a:rPr sz="1500" spc="254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M.</a:t>
            </a:r>
            <a:r>
              <a:rPr sz="1500" spc="254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Sebastian,</a:t>
            </a:r>
            <a:r>
              <a:rPr sz="1500" spc="17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A.</a:t>
            </a:r>
            <a:r>
              <a:rPr sz="1500" spc="254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Goutham,</a:t>
            </a:r>
            <a:r>
              <a:rPr sz="1500" spc="254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S.</a:t>
            </a:r>
            <a:r>
              <a:rPr sz="1500" spc="254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KV,</a:t>
            </a:r>
            <a:r>
              <a:rPr sz="1500" spc="254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S.</a:t>
            </a:r>
            <a:r>
              <a:rPr sz="1500" spc="22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T,</a:t>
            </a:r>
            <a:r>
              <a:rPr sz="1500" spc="254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and</a:t>
            </a:r>
            <a:r>
              <a:rPr sz="1500" spc="17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A.</a:t>
            </a:r>
            <a:r>
              <a:rPr sz="1500" spc="17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Ananthan,</a:t>
            </a:r>
            <a:r>
              <a:rPr sz="1500" spc="254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"Edge-Based,</a:t>
            </a:r>
            <a:r>
              <a:rPr sz="1500" spc="254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spc="-20" dirty="0">
                <a:solidFill>
                  <a:srgbClr val="303030"/>
                </a:solidFill>
                <a:latin typeface="Times New Roman"/>
                <a:cs typeface="Times New Roman"/>
              </a:rPr>
              <a:t>Power-</a:t>
            </a:r>
            <a:r>
              <a:rPr sz="1500" spc="-10" dirty="0">
                <a:solidFill>
                  <a:srgbClr val="303030"/>
                </a:solidFill>
                <a:latin typeface="Times New Roman"/>
                <a:cs typeface="Times New Roman"/>
              </a:rPr>
              <a:t>Efficient Real-Time</a:t>
            </a:r>
            <a:r>
              <a:rPr sz="1500" spc="-5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spc="-20" dirty="0">
                <a:solidFill>
                  <a:srgbClr val="303030"/>
                </a:solidFill>
                <a:latin typeface="Times New Roman"/>
                <a:cs typeface="Times New Roman"/>
              </a:rPr>
              <a:t>Wild</a:t>
            </a:r>
            <a:r>
              <a:rPr sz="1500" spc="-8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Animal</a:t>
            </a:r>
            <a:r>
              <a:rPr sz="1500" spc="-1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Detection</a:t>
            </a:r>
            <a:r>
              <a:rPr sz="1500" spc="-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and</a:t>
            </a:r>
            <a:r>
              <a:rPr sz="1500" spc="-9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Alarm</a:t>
            </a:r>
            <a:r>
              <a:rPr sz="1500" spc="-1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System</a:t>
            </a:r>
            <a:r>
              <a:rPr sz="1500" spc="-1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on</a:t>
            </a:r>
            <a:r>
              <a:rPr sz="1500" spc="-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Raspberry</a:t>
            </a:r>
            <a:r>
              <a:rPr sz="1500" spc="-1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Pi</a:t>
            </a:r>
            <a:r>
              <a:rPr sz="1500" spc="-10" dirty="0">
                <a:solidFill>
                  <a:srgbClr val="303030"/>
                </a:solidFill>
                <a:latin typeface="Times New Roman"/>
                <a:cs typeface="Times New Roman"/>
              </a:rPr>
              <a:t> Using</a:t>
            </a:r>
            <a:r>
              <a:rPr sz="1500" spc="-7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spc="-20" dirty="0">
                <a:solidFill>
                  <a:srgbClr val="303030"/>
                </a:solidFill>
                <a:latin typeface="Times New Roman"/>
                <a:cs typeface="Times New Roman"/>
              </a:rPr>
              <a:t>YOLO</a:t>
            </a:r>
            <a:r>
              <a:rPr sz="1500" spc="-8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Architecture,"</a:t>
            </a:r>
            <a:r>
              <a:rPr sz="1500" spc="-1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spc="-20" dirty="0">
                <a:solidFill>
                  <a:srgbClr val="303030"/>
                </a:solidFill>
                <a:latin typeface="Times New Roman"/>
                <a:cs typeface="Times New Roman"/>
              </a:rPr>
              <a:t>2025</a:t>
            </a:r>
            <a:endParaRPr sz="150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402431" y="1441306"/>
          <a:ext cx="8510905" cy="48602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136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66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120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38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8965">
                <a:tc>
                  <a:txBody>
                    <a:bodyPr/>
                    <a:lstStyle/>
                    <a:p>
                      <a:pPr marL="610870" marR="119380" indent="-48450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Core</a:t>
                      </a:r>
                      <a:r>
                        <a:rPr sz="16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Methodologies</a:t>
                      </a:r>
                      <a:r>
                        <a:rPr sz="1600" b="1" spc="-4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&amp;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Algorithm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514984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Advantages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55308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Limitations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64008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Summary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51325">
                <a:tc>
                  <a:txBody>
                    <a:bodyPr/>
                    <a:lstStyle/>
                    <a:p>
                      <a:pPr marL="542290" indent="-327660">
                        <a:lnSpc>
                          <a:spcPct val="100000"/>
                        </a:lnSpc>
                        <a:spcBef>
                          <a:spcPts val="245"/>
                        </a:spcBef>
                        <a:buFont typeface="Arial MT"/>
                        <a:buChar char="●"/>
                        <a:tabLst>
                          <a:tab pos="542290" algn="l"/>
                        </a:tabLst>
                      </a:pP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YOLOv8n: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542925">
                        <a:lnSpc>
                          <a:spcPct val="100000"/>
                        </a:lnSpc>
                      </a:pP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Lightweight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542925" marR="90805" algn="just">
                        <a:lnSpc>
                          <a:spcPct val="100000"/>
                        </a:lnSpc>
                      </a:pPr>
                      <a:r>
                        <a:rPr sz="13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anchor-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free</a:t>
                      </a:r>
                      <a:r>
                        <a:rPr sz="1300" spc="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nano</a:t>
                      </a:r>
                      <a:r>
                        <a:rPr sz="1300" spc="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model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deployed on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Raspberry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Pi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5.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542925" marR="90805" indent="-328295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PIR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Motion</a:t>
                      </a:r>
                      <a:r>
                        <a:rPr sz="1300" spc="-4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Trigger: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HC-SR501</a:t>
                      </a:r>
                      <a:r>
                        <a:rPr sz="1300" spc="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sensor</a:t>
                      </a:r>
                      <a:r>
                        <a:rPr sz="1300" spc="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(3–</a:t>
                      </a:r>
                      <a:r>
                        <a:rPr sz="1300" spc="-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7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300" spc="-3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range)</a:t>
                      </a:r>
                      <a:r>
                        <a:rPr sz="130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activates</a:t>
                      </a:r>
                      <a:r>
                        <a:rPr sz="130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USB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camera</a:t>
                      </a:r>
                      <a:r>
                        <a:rPr sz="1300" spc="-3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recording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at</a:t>
                      </a:r>
                      <a:r>
                        <a:rPr sz="130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6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FPS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30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60</a:t>
                      </a:r>
                      <a:r>
                        <a:rPr sz="130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s.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542925" marR="111125" indent="-328295">
                        <a:lnSpc>
                          <a:spcPct val="100000"/>
                        </a:lnSpc>
                        <a:buChar char="●"/>
                        <a:tabLst>
                          <a:tab pos="542925" algn="l"/>
                          <a:tab pos="574675" algn="l"/>
                        </a:tabLst>
                      </a:pPr>
                      <a:r>
                        <a:rPr sz="1300" dirty="0">
                          <a:solidFill>
                            <a:srgbClr val="303030"/>
                          </a:solidFill>
                          <a:latin typeface="Arial MT"/>
                          <a:cs typeface="Arial MT"/>
                        </a:rPr>
                        <a:t>	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Audio</a:t>
                      </a:r>
                      <a:r>
                        <a:rPr sz="1300" spc="-3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Warning: Species-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specific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buzzer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tones</a:t>
                      </a:r>
                      <a:r>
                        <a:rPr sz="1300" spc="-4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(continuous</a:t>
                      </a:r>
                      <a:r>
                        <a:rPr sz="1300" spc="-4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for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tiger,</a:t>
                      </a:r>
                      <a:r>
                        <a:rPr sz="1300" spc="-4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rapid</a:t>
                      </a:r>
                      <a:r>
                        <a:rPr sz="1300" spc="-4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beeps</a:t>
                      </a:r>
                      <a:r>
                        <a:rPr sz="1300" spc="-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for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monkey).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542925" marR="274955" indent="-328295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Dataset:</a:t>
                      </a:r>
                      <a:r>
                        <a:rPr sz="1300" spc="-5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Trained</a:t>
                      </a:r>
                      <a:r>
                        <a:rPr sz="130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on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6,000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augmented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images</a:t>
                      </a:r>
                      <a:r>
                        <a:rPr sz="1300" spc="-3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across</a:t>
                      </a:r>
                      <a:r>
                        <a:rPr sz="1300" spc="-4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Tiger, Monkey,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300" spc="-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Human classe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542925" marR="107950" indent="-328295">
                        <a:lnSpc>
                          <a:spcPct val="100000"/>
                        </a:lnSpc>
                        <a:spcBef>
                          <a:spcPts val="245"/>
                        </a:spcBef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3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Power-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Efficient: Hardware</a:t>
                      </a:r>
                      <a:r>
                        <a:rPr sz="130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camera</a:t>
                      </a:r>
                      <a:r>
                        <a:rPr sz="1300" spc="-4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remain</a:t>
                      </a:r>
                      <a:r>
                        <a:rPr sz="130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idle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until</a:t>
                      </a:r>
                      <a:r>
                        <a:rPr sz="1300" spc="-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motion</a:t>
                      </a:r>
                      <a:r>
                        <a:rPr sz="1300" spc="-4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is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detected,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preserving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battery</a:t>
                      </a:r>
                      <a:r>
                        <a:rPr sz="130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life</a:t>
                      </a:r>
                      <a:r>
                        <a:rPr sz="130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remote </a:t>
                      </a:r>
                      <a:r>
                        <a:rPr sz="13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off-grid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environments.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542925" marR="171450" indent="-328295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High</a:t>
                      </a:r>
                      <a:r>
                        <a:rPr sz="1300" spc="-7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Accuracy: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Reaches</a:t>
                      </a:r>
                      <a:r>
                        <a:rPr sz="1300" spc="-3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0.948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  <a:hlinkClick r:id="rId2"/>
                        </a:rPr>
                        <a:t>mAP@0.5</a:t>
                      </a:r>
                      <a:r>
                        <a:rPr sz="1300" spc="-5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98.7%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test</a:t>
                      </a:r>
                      <a:r>
                        <a:rPr sz="130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accuracy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sz="1300" spc="-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unseen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sz="1300" spc="-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with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only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3.2M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parameters.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542925" marR="160020" indent="-328295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100%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Offline: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Fully operational</a:t>
                      </a:r>
                      <a:r>
                        <a:rPr sz="1300" spc="-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without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requiring</a:t>
                      </a:r>
                      <a:r>
                        <a:rPr sz="1300" spc="-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internet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access,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cloud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infrastructure,</a:t>
                      </a:r>
                      <a:r>
                        <a:rPr sz="1300" spc="-7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or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cellular</a:t>
                      </a:r>
                      <a:r>
                        <a:rPr sz="1300" spc="-4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coverage.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542925" marR="89535" indent="-328295">
                        <a:lnSpc>
                          <a:spcPct val="100000"/>
                        </a:lnSpc>
                        <a:spcBef>
                          <a:spcPts val="245"/>
                        </a:spcBef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Restricted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Sensing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Range:</a:t>
                      </a:r>
                      <a:r>
                        <a:rPr sz="130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Detection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distance</a:t>
                      </a:r>
                      <a:r>
                        <a:rPr sz="1300" spc="-3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130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limited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by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300" spc="-4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physical</a:t>
                      </a:r>
                      <a:r>
                        <a:rPr sz="1300" spc="-3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range</a:t>
                      </a:r>
                      <a:r>
                        <a:rPr sz="1300" spc="-3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of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300" spc="-3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PIR</a:t>
                      </a:r>
                      <a:r>
                        <a:rPr sz="130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motion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sensor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(300</a:t>
                      </a:r>
                      <a:r>
                        <a:rPr sz="130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700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cm).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542925" marR="140970" indent="-328295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Low</a:t>
                      </a:r>
                      <a:r>
                        <a:rPr sz="1300" spc="-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Frame</a:t>
                      </a:r>
                      <a:r>
                        <a:rPr sz="1300" spc="-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Rate: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Video</a:t>
                      </a:r>
                      <a:r>
                        <a:rPr sz="1300" spc="-6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recording</a:t>
                      </a:r>
                      <a:r>
                        <a:rPr sz="1300" spc="-6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frame</a:t>
                      </a:r>
                      <a:r>
                        <a:rPr sz="130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processing</a:t>
                      </a:r>
                      <a:r>
                        <a:rPr sz="130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rate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constrained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300" spc="-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6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frames</a:t>
                      </a:r>
                      <a:r>
                        <a:rPr sz="1300" spc="-3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per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second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on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30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USB</a:t>
                      </a:r>
                      <a:r>
                        <a:rPr sz="130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camera setup.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542925" marR="114300" indent="-328295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Local</a:t>
                      </a:r>
                      <a:r>
                        <a:rPr sz="1300" spc="-7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Alerts</a:t>
                      </a:r>
                      <a:r>
                        <a:rPr sz="130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Only: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Relies</a:t>
                      </a:r>
                      <a:r>
                        <a:rPr sz="13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exclusively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on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local</a:t>
                      </a:r>
                      <a:r>
                        <a:rPr sz="1300" spc="-3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acoustic</a:t>
                      </a:r>
                      <a:r>
                        <a:rPr sz="130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buzzers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without</a:t>
                      </a:r>
                      <a:r>
                        <a:rPr sz="1300" spc="-7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remote mobile/SMS</a:t>
                      </a:r>
                      <a:r>
                        <a:rPr sz="13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alert capabilities.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542925" marR="191135" indent="-328295">
                        <a:lnSpc>
                          <a:spcPct val="100000"/>
                        </a:lnSpc>
                        <a:spcBef>
                          <a:spcPts val="245"/>
                        </a:spcBef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Objective:</a:t>
                      </a:r>
                      <a:r>
                        <a:rPr sz="13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Addresses escalating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542925" marR="278130">
                        <a:lnSpc>
                          <a:spcPct val="100000"/>
                        </a:lnSpc>
                      </a:pPr>
                      <a:r>
                        <a:rPr sz="13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human-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wildlife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conflict</a:t>
                      </a:r>
                      <a:r>
                        <a:rPr sz="1300" spc="-6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incidents</a:t>
                      </a:r>
                      <a:r>
                        <a:rPr sz="1300" spc="-6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in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Wayanad</a:t>
                      </a:r>
                      <a:r>
                        <a:rPr sz="1300" spc="-4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district, Kerala.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542925" marR="469265" indent="-328295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Mechanism: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Implements</a:t>
                      </a:r>
                      <a:r>
                        <a:rPr sz="1300" spc="-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an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edge-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based, motion-triggered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animal</a:t>
                      </a:r>
                      <a:r>
                        <a:rPr sz="130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detection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system</a:t>
                      </a:r>
                      <a:r>
                        <a:rPr sz="130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using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YOLOv8n</a:t>
                      </a:r>
                      <a:r>
                        <a:rPr sz="1300" spc="-6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on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Raspberry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Pi</a:t>
                      </a:r>
                      <a:r>
                        <a:rPr sz="130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5.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542925" marR="383540" indent="-328295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Output:</a:t>
                      </a:r>
                      <a:r>
                        <a:rPr sz="1300" spc="-7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Generates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distinct</a:t>
                      </a:r>
                      <a:r>
                        <a:rPr sz="1300" spc="-4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species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542925" marR="167005">
                        <a:lnSpc>
                          <a:spcPct val="100000"/>
                        </a:lnSpc>
                      </a:pP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specific</a:t>
                      </a:r>
                      <a:r>
                        <a:rPr sz="1300" spc="-3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acoustic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buzzer</a:t>
                      </a:r>
                      <a:r>
                        <a:rPr sz="13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warnings</a:t>
                      </a:r>
                      <a:r>
                        <a:rPr sz="13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with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zero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cloud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dependency and </a:t>
                      </a:r>
                      <a:r>
                        <a:rPr sz="13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high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battery</a:t>
                      </a:r>
                      <a:r>
                        <a:rPr sz="1300" spc="-4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efficiency.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3565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sp>
        <p:nvSpPr>
          <p:cNvPr id="6" name="object 6"/>
          <p:cNvSpPr txBox="1"/>
          <p:nvPr/>
        </p:nvSpPr>
        <p:spPr>
          <a:xfrm>
            <a:off x="1164095" y="6509553"/>
            <a:ext cx="87630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spc="-25" dirty="0">
                <a:solidFill>
                  <a:srgbClr val="ED7D31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64280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lang="en-US" smtClean="0"/>
              <a:t>CCD415 Project Phase I</a:t>
            </a:r>
            <a:endParaRPr spc="-50"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4280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spc="-10" dirty="0"/>
              <a:t>2023-</a:t>
            </a:r>
            <a:r>
              <a:rPr dirty="0"/>
              <a:t>2027</a:t>
            </a:r>
            <a:r>
              <a:rPr spc="-5" dirty="0"/>
              <a:t> </a:t>
            </a:r>
            <a:r>
              <a:rPr spc="-10" dirty="0"/>
              <a:t>Batch</a:t>
            </a: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612554" y="-7591"/>
            <a:ext cx="609409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LITERATURE</a:t>
            </a:r>
            <a:r>
              <a:rPr spc="-195" dirty="0"/>
              <a:t> </a:t>
            </a:r>
            <a:r>
              <a:rPr spc="-10" dirty="0"/>
              <a:t>SURVEY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4749" y="718559"/>
            <a:ext cx="8853805" cy="551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0185" marR="5080" indent="-198120">
              <a:lnSpc>
                <a:spcPct val="114999"/>
              </a:lnSpc>
              <a:spcBef>
                <a:spcPts val="100"/>
              </a:spcBef>
              <a:buClr>
                <a:srgbClr val="0C0C0C"/>
              </a:buClr>
              <a:buChar char="•"/>
              <a:tabLst>
                <a:tab pos="210185" algn="l"/>
              </a:tabLst>
            </a:pP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S.</a:t>
            </a:r>
            <a:r>
              <a:rPr sz="1500" spc="12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Naveen,</a:t>
            </a:r>
            <a:r>
              <a:rPr sz="1500" spc="12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R.</a:t>
            </a:r>
            <a:r>
              <a:rPr sz="1500" spc="12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Dhamotharan,</a:t>
            </a:r>
            <a:r>
              <a:rPr sz="1500" spc="12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et</a:t>
            </a:r>
            <a:r>
              <a:rPr sz="1500" spc="12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al.,</a:t>
            </a:r>
            <a:r>
              <a:rPr sz="1500" spc="12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"ElephantGuardNet:</a:t>
            </a:r>
            <a:r>
              <a:rPr sz="1500" spc="4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A</a:t>
            </a:r>
            <a:r>
              <a:rPr sz="1500" spc="4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Comprehensive</a:t>
            </a:r>
            <a:r>
              <a:rPr sz="1500" spc="12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Solution</a:t>
            </a:r>
            <a:r>
              <a:rPr sz="1500" spc="12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for</a:t>
            </a:r>
            <a:r>
              <a:rPr sz="1500" spc="12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Elephant</a:t>
            </a:r>
            <a:r>
              <a:rPr sz="1500" spc="12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spc="-10" dirty="0">
                <a:solidFill>
                  <a:srgbClr val="303030"/>
                </a:solidFill>
                <a:latin typeface="Times New Roman"/>
                <a:cs typeface="Times New Roman"/>
              </a:rPr>
              <a:t>Conservation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and</a:t>
            </a:r>
            <a:r>
              <a:rPr sz="1500" spc="-2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spc="-10" dirty="0">
                <a:solidFill>
                  <a:srgbClr val="303030"/>
                </a:solidFill>
                <a:latin typeface="Times New Roman"/>
                <a:cs typeface="Times New Roman"/>
              </a:rPr>
              <a:t>Human-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Elephant</a:t>
            </a:r>
            <a:r>
              <a:rPr sz="1500" spc="-2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Conflict</a:t>
            </a:r>
            <a:r>
              <a:rPr sz="1500" spc="-3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Reduction,"</a:t>
            </a:r>
            <a:r>
              <a:rPr sz="1500" spc="-2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Proc.</a:t>
            </a:r>
            <a:r>
              <a:rPr sz="1500" spc="-2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ICSADL,</a:t>
            </a:r>
            <a:r>
              <a:rPr sz="1500" spc="-2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pp.</a:t>
            </a:r>
            <a:r>
              <a:rPr sz="1500" spc="-2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1470–1477,</a:t>
            </a:r>
            <a:r>
              <a:rPr sz="1500" spc="-2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spc="-10" dirty="0">
                <a:solidFill>
                  <a:srgbClr val="303030"/>
                </a:solidFill>
                <a:latin typeface="Times New Roman"/>
                <a:cs typeface="Times New Roman"/>
              </a:rPr>
              <a:t>2025.</a:t>
            </a:r>
            <a:endParaRPr sz="150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16706" y="1366297"/>
          <a:ext cx="8650605" cy="50888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171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78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046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503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8965">
                <a:tc>
                  <a:txBody>
                    <a:bodyPr/>
                    <a:lstStyle/>
                    <a:p>
                      <a:pPr marL="862330" marR="371475" indent="-48450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Core</a:t>
                      </a:r>
                      <a:r>
                        <a:rPr sz="16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Methodologies</a:t>
                      </a:r>
                      <a:r>
                        <a:rPr sz="1600" b="1" spc="-4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&amp;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Algorithm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53086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Advantages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49974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Limitations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495934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Summary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79925">
                <a:tc>
                  <a:txBody>
                    <a:bodyPr/>
                    <a:lstStyle/>
                    <a:p>
                      <a:pPr marL="542925" marR="508634" indent="-320675">
                        <a:lnSpc>
                          <a:spcPct val="100000"/>
                        </a:lnSpc>
                        <a:spcBef>
                          <a:spcPts val="250"/>
                        </a:spcBef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Multi-Modal</a:t>
                      </a:r>
                      <a:r>
                        <a:rPr sz="1200" spc="-3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AI:</a:t>
                      </a:r>
                      <a:r>
                        <a:rPr sz="1200" spc="4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Fuses EfficientNet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B7</a:t>
                      </a:r>
                      <a:r>
                        <a:rPr sz="1200" spc="-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(image),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YOLOv5 on Jetson </a:t>
                      </a:r>
                      <a:r>
                        <a:rPr sz="12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Nano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(real-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time</a:t>
                      </a:r>
                      <a:r>
                        <a:rPr sz="120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edge),</a:t>
                      </a:r>
                      <a:r>
                        <a:rPr sz="12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3D</a:t>
                      </a:r>
                      <a:r>
                        <a:rPr sz="120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CNNs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(video),</a:t>
                      </a:r>
                      <a:r>
                        <a:rPr sz="12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GRU</a:t>
                      </a:r>
                      <a:r>
                        <a:rPr sz="120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(movement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271145">
                        <a:lnSpc>
                          <a:spcPct val="100000"/>
                        </a:lnSpc>
                      </a:pP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prediction),</a:t>
                      </a:r>
                      <a:r>
                        <a:rPr sz="1200" spc="-3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3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XGBoost</a:t>
                      </a:r>
                      <a:r>
                        <a:rPr sz="1200" spc="-4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(risk classification).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182880" indent="-320675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Multi-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Source</a:t>
                      </a:r>
                      <a:r>
                        <a:rPr sz="1200" spc="-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Ingestion: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Ingests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camera</a:t>
                      </a:r>
                      <a:r>
                        <a:rPr sz="1200" spc="-4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trap,</a:t>
                      </a:r>
                      <a:r>
                        <a:rPr sz="1200" spc="-4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drone,</a:t>
                      </a:r>
                      <a:r>
                        <a:rPr sz="1200" spc="-3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satellite,</a:t>
                      </a:r>
                      <a:r>
                        <a:rPr sz="1200" spc="-4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IoT</a:t>
                      </a:r>
                      <a:r>
                        <a:rPr sz="1200" spc="-4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sensor</a:t>
                      </a:r>
                      <a:r>
                        <a:rPr sz="12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(IR,</a:t>
                      </a:r>
                      <a:r>
                        <a:rPr sz="12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seismic,</a:t>
                      </a:r>
                      <a:r>
                        <a:rPr sz="12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GPS)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sz="12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into</a:t>
                      </a:r>
                      <a:r>
                        <a:rPr sz="12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custom ElephantMovementTracker dataset.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88265" indent="-320675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Signal</a:t>
                      </a:r>
                      <a:r>
                        <a:rPr sz="1200" spc="-6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Preprocessing:</a:t>
                      </a:r>
                      <a:r>
                        <a:rPr sz="1200" spc="-7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Applies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224x224</a:t>
                      </a:r>
                      <a:r>
                        <a:rPr sz="1200" spc="-3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image</a:t>
                      </a:r>
                      <a:r>
                        <a:rPr sz="1200" spc="-3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resizing,</a:t>
                      </a:r>
                      <a:r>
                        <a:rPr sz="120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Canny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Edge</a:t>
                      </a:r>
                      <a:r>
                        <a:rPr sz="1200" spc="-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Detection,</a:t>
                      </a:r>
                      <a:r>
                        <a:rPr sz="1200" spc="-4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Kalman</a:t>
                      </a:r>
                      <a:r>
                        <a:rPr sz="1200" spc="-4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Filtering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20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tracking,</a:t>
                      </a:r>
                      <a:r>
                        <a:rPr sz="120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Median</a:t>
                      </a:r>
                      <a:r>
                        <a:rPr sz="120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Filtering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sensor</a:t>
                      </a:r>
                      <a:r>
                        <a:rPr sz="1200" spc="-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noise.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104775" indent="-320675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Cloud-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Edge</a:t>
                      </a:r>
                      <a:r>
                        <a:rPr sz="1200" spc="-3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&amp;</a:t>
                      </a:r>
                      <a:r>
                        <a:rPr sz="1200" spc="-7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Active</a:t>
                      </a:r>
                      <a:r>
                        <a:rPr sz="120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Deterrents: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Deploys</a:t>
                      </a:r>
                      <a:r>
                        <a:rPr sz="1200" spc="-4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ESP32/Jetson</a:t>
                      </a:r>
                      <a:r>
                        <a:rPr sz="1200" spc="-3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Nano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boards</a:t>
                      </a:r>
                      <a:r>
                        <a:rPr sz="1200" spc="-6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200" spc="-7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AWS</a:t>
                      </a:r>
                      <a:r>
                        <a:rPr sz="1200" spc="-3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Cloud/Lambda,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triggering</a:t>
                      </a:r>
                      <a:r>
                        <a:rPr sz="1200" spc="-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automated</a:t>
                      </a:r>
                      <a:r>
                        <a:rPr sz="1200" spc="-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sound emitters</a:t>
                      </a:r>
                      <a:r>
                        <a:rPr sz="120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drones</a:t>
                      </a:r>
                      <a:r>
                        <a:rPr sz="12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[&lt;5s</a:t>
                      </a:r>
                      <a:r>
                        <a:rPr sz="12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alert delay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]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542925" marR="102235" indent="-320675">
                        <a:lnSpc>
                          <a:spcPct val="100000"/>
                        </a:lnSpc>
                        <a:spcBef>
                          <a:spcPts val="250"/>
                        </a:spcBef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•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High</a:t>
                      </a:r>
                      <a:r>
                        <a:rPr sz="1200" spc="-7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Accuracy: Reaches</a:t>
                      </a:r>
                      <a:r>
                        <a:rPr sz="12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97.85%</a:t>
                      </a:r>
                      <a:r>
                        <a:rPr sz="12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image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accuracy</a:t>
                      </a:r>
                      <a:r>
                        <a:rPr sz="1200" spc="-4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(EfficientNet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B7),</a:t>
                      </a:r>
                      <a:r>
                        <a:rPr sz="12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96.20%</a:t>
                      </a:r>
                      <a:r>
                        <a:rPr sz="12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video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accuracy</a:t>
                      </a:r>
                      <a:r>
                        <a:rPr sz="120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(3D</a:t>
                      </a:r>
                      <a:r>
                        <a:rPr sz="120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CNN),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low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forecast</a:t>
                      </a:r>
                      <a:r>
                        <a:rPr sz="120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error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(GRU</a:t>
                      </a:r>
                      <a:r>
                        <a:rPr sz="120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RMSE</a:t>
                      </a:r>
                      <a:r>
                        <a:rPr sz="12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0.25).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97155" indent="-320675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Rapid</a:t>
                      </a:r>
                      <a:r>
                        <a:rPr sz="1200" spc="-7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Alerts:</a:t>
                      </a:r>
                      <a:r>
                        <a:rPr sz="1200" spc="-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Pushes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automated</a:t>
                      </a:r>
                      <a:r>
                        <a:rPr sz="120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SMS,</a:t>
                      </a:r>
                      <a:r>
                        <a:rPr sz="12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email,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web</a:t>
                      </a:r>
                      <a:r>
                        <a:rPr sz="12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dashboard notifications</a:t>
                      </a:r>
                      <a:r>
                        <a:rPr sz="120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under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5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seconds.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102235" indent="-320675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Active</a:t>
                      </a:r>
                      <a:r>
                        <a:rPr sz="1200" spc="-6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Deterrence: Dispatches</a:t>
                      </a:r>
                      <a:r>
                        <a:rPr sz="1200" spc="-3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drones</a:t>
                      </a:r>
                      <a:r>
                        <a:rPr sz="120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sound</a:t>
                      </a:r>
                      <a:r>
                        <a:rPr sz="1200" spc="-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emitters</a:t>
                      </a:r>
                      <a:r>
                        <a:rPr sz="1200" spc="-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guide elephants</a:t>
                      </a:r>
                      <a:r>
                        <a:rPr sz="12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away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before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human</a:t>
                      </a:r>
                      <a:r>
                        <a:rPr sz="1200" spc="-3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conflicts happen.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161290" indent="-320675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Scalable</a:t>
                      </a:r>
                      <a:r>
                        <a:rPr sz="1200" spc="-7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Area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Coverage:</a:t>
                      </a:r>
                      <a:r>
                        <a:rPr sz="1200" spc="-4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Tracks</a:t>
                      </a:r>
                      <a:r>
                        <a:rPr sz="12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75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elephants</a:t>
                      </a:r>
                      <a:r>
                        <a:rPr sz="12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across</a:t>
                      </a:r>
                      <a:r>
                        <a:rPr sz="12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150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km²</a:t>
                      </a:r>
                      <a:r>
                        <a:rPr sz="120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zone</a:t>
                      </a:r>
                      <a:r>
                        <a:rPr sz="12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using</a:t>
                      </a:r>
                      <a:r>
                        <a:rPr sz="12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hybrid</a:t>
                      </a:r>
                      <a:r>
                        <a:rPr sz="1200" spc="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cloud-edge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network.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542925" marR="113664" indent="-320675">
                        <a:lnSpc>
                          <a:spcPct val="100000"/>
                        </a:lnSpc>
                        <a:spcBef>
                          <a:spcPts val="250"/>
                        </a:spcBef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High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System Complexity: Requires extensive</a:t>
                      </a:r>
                      <a:r>
                        <a:rPr sz="1200" spc="-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hardware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(drones,</a:t>
                      </a:r>
                      <a:r>
                        <a:rPr sz="12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Jetson</a:t>
                      </a:r>
                      <a:r>
                        <a:rPr sz="12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Nano,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IoT</a:t>
                      </a:r>
                      <a:r>
                        <a:rPr sz="1200" spc="-4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sensors,</a:t>
                      </a:r>
                      <a:r>
                        <a:rPr sz="120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sound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emitters)</a:t>
                      </a:r>
                      <a:r>
                        <a:rPr sz="1200" spc="-3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cloud infrastructure.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80010" indent="-320675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Connectivity Dependency: Depends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sz="120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active</a:t>
                      </a:r>
                      <a:r>
                        <a:rPr sz="120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LoRaWAN,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5G,</a:t>
                      </a:r>
                      <a:r>
                        <a:rPr sz="120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Wi-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Fi, or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cellular networks</a:t>
                      </a:r>
                      <a:r>
                        <a:rPr sz="12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sync</a:t>
                      </a:r>
                      <a:r>
                        <a:rPr sz="12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IoT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sensors</a:t>
                      </a:r>
                      <a:r>
                        <a:rPr sz="120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cloud services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in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remote forests.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78105" indent="-320675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Dataset</a:t>
                      </a:r>
                      <a:r>
                        <a:rPr sz="1200" spc="-4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&amp;</a:t>
                      </a:r>
                      <a:r>
                        <a:rPr sz="1200" spc="-4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Night Operations: Performance depends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sz="12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training</a:t>
                      </a:r>
                      <a:r>
                        <a:rPr sz="12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dataset diversity,</a:t>
                      </a:r>
                      <a:r>
                        <a:rPr sz="12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requiring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thermal</a:t>
                      </a:r>
                      <a:r>
                        <a:rPr sz="1200" spc="-6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imaging</a:t>
                      </a:r>
                      <a:r>
                        <a:rPr sz="1200" spc="-5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for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enhanced</a:t>
                      </a:r>
                      <a:r>
                        <a:rPr sz="1200" spc="-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night</a:t>
                      </a:r>
                      <a:r>
                        <a:rPr sz="1200" spc="-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vision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544830" indent="-322580" algn="just">
                        <a:lnSpc>
                          <a:spcPct val="100000"/>
                        </a:lnSpc>
                        <a:spcBef>
                          <a:spcPts val="250"/>
                        </a:spcBef>
                        <a:buFont typeface="Arial MT"/>
                        <a:buChar char="●"/>
                        <a:tabLst>
                          <a:tab pos="544830" algn="l"/>
                        </a:tabLst>
                      </a:pP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Objective: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algn="just">
                        <a:lnSpc>
                          <a:spcPct val="100000"/>
                        </a:lnSpc>
                      </a:pP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Establishes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85725" algn="just">
                        <a:lnSpc>
                          <a:spcPct val="100000"/>
                        </a:lnSpc>
                      </a:pP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end-to-end</a:t>
                      </a:r>
                      <a:r>
                        <a:rPr sz="1200" spc="-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AI,</a:t>
                      </a:r>
                      <a:r>
                        <a:rPr sz="1200" spc="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IoT,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3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cloud</a:t>
                      </a:r>
                      <a:r>
                        <a:rPr sz="1200" spc="-3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system</a:t>
                      </a:r>
                      <a:r>
                        <a:rPr sz="1200" spc="-4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prevent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319405">
                        <a:lnSpc>
                          <a:spcPct val="100000"/>
                        </a:lnSpc>
                      </a:pPr>
                      <a:r>
                        <a:rPr sz="12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human-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elephant conflicts.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290" indent="-320040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290" algn="l"/>
                        </a:tabLst>
                      </a:pP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Mechanism: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>
                        <a:lnSpc>
                          <a:spcPct val="100000"/>
                        </a:lnSpc>
                      </a:pP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Ingests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199390">
                        <a:lnSpc>
                          <a:spcPct val="100000"/>
                        </a:lnSpc>
                      </a:pP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multi-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sensor</a:t>
                      </a:r>
                      <a:r>
                        <a:rPr sz="1200" spc="-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data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into</a:t>
                      </a:r>
                      <a:r>
                        <a:rPr sz="12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deep</a:t>
                      </a:r>
                      <a:r>
                        <a:rPr sz="12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learning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models</a:t>
                      </a:r>
                      <a:r>
                        <a:rPr sz="1200" spc="-3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sz="120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Jetson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Nano</a:t>
                      </a:r>
                      <a:r>
                        <a:rPr sz="120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7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AWS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Cloud.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262890" indent="-320675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Output:</a:t>
                      </a:r>
                      <a:r>
                        <a:rPr sz="1200" spc="-7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Pushes real-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time</a:t>
                      </a:r>
                      <a:r>
                        <a:rPr sz="1200" spc="-4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alerts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within</a:t>
                      </a:r>
                      <a:r>
                        <a:rPr sz="12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r>
                        <a:rPr sz="120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seconds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dispatches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automated</a:t>
                      </a:r>
                      <a:r>
                        <a:rPr sz="1200" spc="-5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sound emitters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drones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3565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sp>
        <p:nvSpPr>
          <p:cNvPr id="6" name="object 6"/>
          <p:cNvSpPr txBox="1"/>
          <p:nvPr/>
        </p:nvSpPr>
        <p:spPr>
          <a:xfrm>
            <a:off x="1164095" y="6509553"/>
            <a:ext cx="87630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spc="-25" dirty="0">
                <a:solidFill>
                  <a:srgbClr val="ED7D31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64280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lang="en-US" smtClean="0"/>
              <a:t>CCD415 Project Phase I</a:t>
            </a:r>
            <a:endParaRPr spc="-50"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4280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spc="-10" dirty="0"/>
              <a:t>2023-</a:t>
            </a:r>
            <a:r>
              <a:rPr dirty="0"/>
              <a:t>2027</a:t>
            </a:r>
            <a:r>
              <a:rPr spc="-5" dirty="0"/>
              <a:t> </a:t>
            </a:r>
            <a:r>
              <a:rPr spc="-10" dirty="0"/>
              <a:t>Batch</a:t>
            </a: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612554" y="-7591"/>
            <a:ext cx="609409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LITERATURE</a:t>
            </a:r>
            <a:r>
              <a:rPr spc="-195" dirty="0"/>
              <a:t> </a:t>
            </a:r>
            <a:r>
              <a:rPr spc="-10" dirty="0"/>
              <a:t>SURVEY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4749" y="718559"/>
            <a:ext cx="8829040" cy="551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0185" marR="5080" indent="-198120">
              <a:lnSpc>
                <a:spcPct val="114999"/>
              </a:lnSpc>
              <a:spcBef>
                <a:spcPts val="100"/>
              </a:spcBef>
              <a:buClr>
                <a:srgbClr val="0C0C0C"/>
              </a:buClr>
              <a:buChar char="•"/>
              <a:tabLst>
                <a:tab pos="210185" algn="l"/>
              </a:tabLst>
            </a:pP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D.</a:t>
            </a:r>
            <a:r>
              <a:rPr sz="1500" spc="21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Ma</a:t>
            </a:r>
            <a:r>
              <a:rPr sz="1500" spc="204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and</a:t>
            </a:r>
            <a:r>
              <a:rPr sz="1500" spc="21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J.</a:t>
            </a:r>
            <a:r>
              <a:rPr sz="1500" spc="16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Yang,</a:t>
            </a:r>
            <a:r>
              <a:rPr sz="1500" spc="21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spc="-10" dirty="0">
                <a:solidFill>
                  <a:srgbClr val="303030"/>
                </a:solidFill>
                <a:latin typeface="Times New Roman"/>
                <a:cs typeface="Times New Roman"/>
              </a:rPr>
              <a:t>"YOLO-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Animal:</a:t>
            </a:r>
            <a:r>
              <a:rPr sz="1500" spc="13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An</a:t>
            </a:r>
            <a:r>
              <a:rPr sz="1500" spc="21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efficient</a:t>
            </a:r>
            <a:r>
              <a:rPr sz="1500" spc="204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wildlife</a:t>
            </a:r>
            <a:r>
              <a:rPr sz="1500" spc="204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detection</a:t>
            </a:r>
            <a:r>
              <a:rPr sz="1500" spc="21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network</a:t>
            </a:r>
            <a:r>
              <a:rPr sz="1500" spc="21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based</a:t>
            </a:r>
            <a:r>
              <a:rPr sz="1500" spc="21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on</a:t>
            </a:r>
            <a:r>
              <a:rPr sz="1500" spc="21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improved</a:t>
            </a:r>
            <a:r>
              <a:rPr sz="1500" spc="16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spc="-10" dirty="0">
                <a:solidFill>
                  <a:srgbClr val="303030"/>
                </a:solidFill>
                <a:latin typeface="Times New Roman"/>
                <a:cs typeface="Times New Roman"/>
              </a:rPr>
              <a:t>YOLOv5,"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International</a:t>
            </a:r>
            <a:r>
              <a:rPr sz="1500" spc="-3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Conference</a:t>
            </a:r>
            <a:r>
              <a:rPr sz="1500" spc="-3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on</a:t>
            </a:r>
            <a:r>
              <a:rPr sz="1500" spc="-2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Image</a:t>
            </a:r>
            <a:r>
              <a:rPr sz="1500" spc="-3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Processing,</a:t>
            </a:r>
            <a:r>
              <a:rPr sz="1500" spc="-2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Computer</a:t>
            </a:r>
            <a:r>
              <a:rPr sz="1500" spc="-5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spc="-10" dirty="0">
                <a:solidFill>
                  <a:srgbClr val="303030"/>
                </a:solidFill>
                <a:latin typeface="Times New Roman"/>
                <a:cs typeface="Times New Roman"/>
              </a:rPr>
              <a:t>Vision</a:t>
            </a:r>
            <a:r>
              <a:rPr sz="1500" spc="-2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and</a:t>
            </a:r>
            <a:r>
              <a:rPr sz="1500" spc="-2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Machine</a:t>
            </a:r>
            <a:r>
              <a:rPr sz="1500" spc="-3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Learning</a:t>
            </a:r>
            <a:r>
              <a:rPr sz="1500" spc="-2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(ICICML),</a:t>
            </a:r>
            <a:r>
              <a:rPr sz="1500" spc="-2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spc="-20" dirty="0">
                <a:solidFill>
                  <a:srgbClr val="303030"/>
                </a:solidFill>
                <a:latin typeface="Times New Roman"/>
                <a:cs typeface="Times New Roman"/>
              </a:rPr>
              <a:t>2022</a:t>
            </a:r>
            <a:endParaRPr sz="150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402431" y="1402559"/>
          <a:ext cx="8512174" cy="48907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085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6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961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212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8965">
                <a:tc>
                  <a:txBody>
                    <a:bodyPr/>
                    <a:lstStyle/>
                    <a:p>
                      <a:pPr marL="807720" marR="316865" indent="-48450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Core</a:t>
                      </a:r>
                      <a:r>
                        <a:rPr sz="16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Methodologies</a:t>
                      </a:r>
                      <a:r>
                        <a:rPr sz="1600" b="1" spc="-4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&amp;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Algorithm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48450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Advantages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445134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Limitations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58102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Summary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1805">
                <a:tc>
                  <a:txBody>
                    <a:bodyPr/>
                    <a:lstStyle/>
                    <a:p>
                      <a:pPr marL="542925" marR="84455" indent="-324485">
                        <a:lnSpc>
                          <a:spcPct val="100000"/>
                        </a:lnSpc>
                        <a:spcBef>
                          <a:spcPts val="250"/>
                        </a:spcBef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Model</a:t>
                      </a:r>
                      <a:r>
                        <a:rPr sz="1250" spc="-7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Architectural</a:t>
                      </a:r>
                      <a:r>
                        <a:rPr sz="125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Upgrades: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Upgrades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baseline</a:t>
                      </a:r>
                      <a:r>
                        <a:rPr sz="1250" spc="-4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YOLOv5s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into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'YOLO-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Animal'</a:t>
                      </a:r>
                      <a:r>
                        <a:rPr sz="125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with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ECA-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Net</a:t>
                      </a:r>
                      <a:r>
                        <a:rPr sz="125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attention,</a:t>
                      </a:r>
                      <a:r>
                        <a:rPr sz="125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BiFPN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feature</a:t>
                      </a:r>
                      <a:r>
                        <a:rPr sz="125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fusion,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Depthwise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Separable</a:t>
                      </a:r>
                      <a:r>
                        <a:rPr sz="1250" spc="-4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Convolutions.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marL="542925" marR="167005" indent="-324485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ECA-Net</a:t>
                      </a:r>
                      <a:r>
                        <a:rPr sz="1250" spc="-5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Attention:</a:t>
                      </a:r>
                      <a:r>
                        <a:rPr sz="1250" spc="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Employs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1D</a:t>
                      </a:r>
                      <a:r>
                        <a:rPr sz="1250" spc="-3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convolution</a:t>
                      </a:r>
                      <a:r>
                        <a:rPr sz="125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25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adaptive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kernel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size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for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cross-channel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interaction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without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dimensionality</a:t>
                      </a:r>
                      <a:r>
                        <a:rPr sz="1250" spc="-7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reduction.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marL="542925" marR="93980" indent="-324485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BiFPN</a:t>
                      </a:r>
                      <a:r>
                        <a:rPr sz="1250" spc="-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Feature</a:t>
                      </a:r>
                      <a:r>
                        <a:rPr sz="1250" spc="-4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Fusion: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Replaces</a:t>
                      </a:r>
                      <a:r>
                        <a:rPr sz="1250" spc="-4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PANet</a:t>
                      </a:r>
                      <a:r>
                        <a:rPr sz="1250" spc="-3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25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weighted</a:t>
                      </a:r>
                      <a:r>
                        <a:rPr sz="1250" spc="-3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Bidirectional</a:t>
                      </a:r>
                      <a:r>
                        <a:rPr sz="125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Feature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Pyramid</a:t>
                      </a:r>
                      <a:r>
                        <a:rPr sz="125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Network</a:t>
                      </a:r>
                      <a:r>
                        <a:rPr sz="125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25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deeper multi-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scale</a:t>
                      </a:r>
                      <a:r>
                        <a:rPr sz="125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feature</a:t>
                      </a:r>
                      <a:r>
                        <a:rPr sz="125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fusion.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marL="542925" marR="118110" indent="-324485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Reserve</a:t>
                      </a:r>
                      <a:r>
                        <a:rPr sz="1250" spc="-5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Dataset:</a:t>
                      </a:r>
                      <a:r>
                        <a:rPr sz="1250" spc="-6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Trained</a:t>
                      </a:r>
                      <a:r>
                        <a:rPr sz="1250" spc="-3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on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3,500</a:t>
                      </a:r>
                      <a:r>
                        <a:rPr sz="125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labeled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images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covering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r>
                        <a:rPr sz="125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wild</a:t>
                      </a:r>
                      <a:r>
                        <a:rPr sz="125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species</a:t>
                      </a:r>
                      <a:r>
                        <a:rPr sz="125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from</a:t>
                      </a:r>
                      <a:r>
                        <a:rPr sz="125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5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national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nature</a:t>
                      </a:r>
                      <a:r>
                        <a:rPr sz="125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reserve</a:t>
                      </a:r>
                      <a:r>
                        <a:rPr sz="1250" spc="-10" dirty="0">
                          <a:latin typeface="Times New Roman"/>
                          <a:cs typeface="Times New Roman"/>
                        </a:rPr>
                        <a:t>.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542925" marR="206375" indent="-324485">
                        <a:lnSpc>
                          <a:spcPct val="100000"/>
                        </a:lnSpc>
                        <a:spcBef>
                          <a:spcPts val="250"/>
                        </a:spcBef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Superior</a:t>
                      </a:r>
                      <a:r>
                        <a:rPr sz="1250" spc="-7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Accuracy: Outperforms baseline</a:t>
                      </a:r>
                      <a:r>
                        <a:rPr sz="1250" spc="-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YOLOv5s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by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+3.2% </a:t>
                      </a:r>
                      <a:r>
                        <a:rPr sz="125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mAP,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marL="542925" marR="363220">
                        <a:lnSpc>
                          <a:spcPct val="100000"/>
                        </a:lnSpc>
                      </a:pP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reaching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95.5%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  <a:hlinkClick r:id="rId2"/>
                        </a:rPr>
                        <a:t>mAP@0.5</a:t>
                      </a:r>
                      <a:r>
                        <a:rPr sz="1250" spc="-5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92.6%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precision.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marL="542925" marR="102235" indent="-324485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Small</a:t>
                      </a:r>
                      <a:r>
                        <a:rPr sz="1250" spc="-3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&amp;</a:t>
                      </a:r>
                      <a:r>
                        <a:rPr sz="1250" spc="-3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Blurred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Object</a:t>
                      </a:r>
                      <a:r>
                        <a:rPr sz="125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Handling: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Effectively</a:t>
                      </a:r>
                      <a:r>
                        <a:rPr sz="125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identifies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small,</a:t>
                      </a:r>
                      <a:r>
                        <a:rPr sz="1250" spc="-3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occluded,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blurred, and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distant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animal</a:t>
                      </a:r>
                      <a:r>
                        <a:rPr sz="1250" spc="-4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targets</a:t>
                      </a:r>
                      <a:r>
                        <a:rPr sz="1250" spc="-3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in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complex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natural terrain.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marL="542925" marR="153035" indent="-324485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Optimized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Memory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Draw:</a:t>
                      </a:r>
                      <a:r>
                        <a:rPr sz="125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Depthwise separable convolutions</a:t>
                      </a:r>
                      <a:r>
                        <a:rPr sz="1250" spc="-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reduce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parameter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overhead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fast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edge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execution</a:t>
                      </a:r>
                      <a:r>
                        <a:rPr sz="1250" spc="-10" dirty="0">
                          <a:latin typeface="Times New Roman"/>
                          <a:cs typeface="Times New Roman"/>
                        </a:rPr>
                        <a:t>.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542925" marR="100965" indent="-324485">
                        <a:lnSpc>
                          <a:spcPct val="100000"/>
                        </a:lnSpc>
                        <a:spcBef>
                          <a:spcPts val="250"/>
                        </a:spcBef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Slow</a:t>
                      </a:r>
                      <a:r>
                        <a:rPr sz="1250" spc="-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Convergence: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Requires</a:t>
                      </a:r>
                      <a:r>
                        <a:rPr sz="1250" spc="-4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long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iterative</a:t>
                      </a:r>
                      <a:r>
                        <a:rPr sz="1250" spc="-4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training,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converging</a:t>
                      </a:r>
                      <a:r>
                        <a:rPr sz="1250" spc="-3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late</a:t>
                      </a:r>
                      <a:r>
                        <a:rPr sz="1250" spc="-3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at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epoch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619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out</a:t>
                      </a:r>
                      <a:r>
                        <a:rPr sz="125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of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1000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iterations.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marL="542925" marR="295910" indent="-324485" algn="just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  <a:tab pos="544195" algn="l"/>
                        </a:tabLst>
                      </a:pP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	Limited</a:t>
                      </a:r>
                      <a:r>
                        <a:rPr sz="1250" spc="-4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Dataset </a:t>
                      </a:r>
                      <a:r>
                        <a:rPr sz="125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Volume:</a:t>
                      </a:r>
                      <a:r>
                        <a:rPr sz="125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Dataset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size</a:t>
                      </a:r>
                      <a:r>
                        <a:rPr sz="125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250" spc="-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3,500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marL="542925" marR="84455">
                        <a:lnSpc>
                          <a:spcPct val="100000"/>
                        </a:lnSpc>
                      </a:pP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images</a:t>
                      </a:r>
                      <a:r>
                        <a:rPr sz="125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across</a:t>
                      </a:r>
                      <a:r>
                        <a:rPr sz="125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8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species</a:t>
                      </a:r>
                      <a:r>
                        <a:rPr sz="1250" spc="-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limits</a:t>
                      </a:r>
                      <a:r>
                        <a:rPr sz="1250" spc="-4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broad field</a:t>
                      </a:r>
                      <a:r>
                        <a:rPr sz="1250" spc="5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generalization.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marL="542925" marR="128270" indent="-324485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Lower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Class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Recall:</a:t>
                      </a:r>
                      <a:r>
                        <a:rPr sz="1250" spc="-3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Lower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recall</a:t>
                      </a:r>
                      <a:r>
                        <a:rPr sz="125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observed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on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heavily camouflaged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species</a:t>
                      </a:r>
                      <a:r>
                        <a:rPr sz="125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sz="125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classes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25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fewer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training samples.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542925" marR="100330" indent="-324485">
                        <a:lnSpc>
                          <a:spcPct val="100000"/>
                        </a:lnSpc>
                        <a:spcBef>
                          <a:spcPts val="250"/>
                        </a:spcBef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Objective:</a:t>
                      </a:r>
                      <a:r>
                        <a:rPr sz="1250" spc="-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Proposes 'YOLO-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Animal'</a:t>
                      </a:r>
                      <a:r>
                        <a:rPr sz="1250" spc="-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for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real-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time</a:t>
                      </a:r>
                      <a:r>
                        <a:rPr sz="1250" spc="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wildlife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monitoring</a:t>
                      </a:r>
                      <a:r>
                        <a:rPr sz="1250" spc="-6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ecological</a:t>
                      </a:r>
                      <a:r>
                        <a:rPr sz="1250" spc="-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restoration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tracking</a:t>
                      </a:r>
                      <a:r>
                        <a:rPr sz="1250" spc="-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250" spc="-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nature reserves.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marL="542925" marR="189865" indent="-324485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Mechanism: Combines</a:t>
                      </a:r>
                      <a:r>
                        <a:rPr sz="125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ECA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channel</a:t>
                      </a:r>
                      <a:r>
                        <a:rPr sz="1250" spc="-3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attention,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BiFPN</a:t>
                      </a:r>
                      <a:r>
                        <a:rPr sz="1250" spc="-6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feature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pyramids, </a:t>
                      </a:r>
                      <a:r>
                        <a:rPr sz="125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depthwise</a:t>
                      </a:r>
                      <a:r>
                        <a:rPr sz="1250" spc="-4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separable convolutions</a:t>
                      </a:r>
                      <a:r>
                        <a:rPr sz="1250" spc="-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into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YOLOv5s.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marL="542925" marR="144145" indent="-324485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Output:</a:t>
                      </a:r>
                      <a:r>
                        <a:rPr sz="1250" spc="-7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Achieves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95.5%</a:t>
                      </a:r>
                      <a:r>
                        <a:rPr sz="125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mAP</a:t>
                      </a:r>
                      <a:r>
                        <a:rPr sz="1250" spc="-5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across</a:t>
                      </a:r>
                      <a:r>
                        <a:rPr sz="125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8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wild</a:t>
                      </a:r>
                      <a:r>
                        <a:rPr sz="125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species</a:t>
                      </a:r>
                      <a:r>
                        <a:rPr sz="125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while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maintaining</a:t>
                      </a:r>
                      <a:r>
                        <a:rPr sz="1250" spc="-6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fast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inference</a:t>
                      </a:r>
                      <a:r>
                        <a:rPr sz="125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speed</a:t>
                      </a:r>
                      <a:r>
                        <a:rPr sz="125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for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edge</a:t>
                      </a:r>
                      <a:r>
                        <a:rPr sz="125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deployment</a:t>
                      </a:r>
                      <a:r>
                        <a:rPr sz="1250" spc="-10" dirty="0">
                          <a:latin typeface="Times New Roman"/>
                          <a:cs typeface="Times New Roman"/>
                        </a:rPr>
                        <a:t>.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3565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  <p:sp>
        <p:nvSpPr>
          <p:cNvPr id="6" name="object 6"/>
          <p:cNvSpPr txBox="1"/>
          <p:nvPr/>
        </p:nvSpPr>
        <p:spPr>
          <a:xfrm>
            <a:off x="1164095" y="6509553"/>
            <a:ext cx="87630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spc="-25" dirty="0">
                <a:solidFill>
                  <a:srgbClr val="ED7D31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64280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lang="en-US" smtClean="0"/>
              <a:t>CCD415 Project Phase I</a:t>
            </a:r>
            <a:endParaRPr spc="-50"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4280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spc="-10" dirty="0"/>
              <a:t>2023-</a:t>
            </a:r>
            <a:r>
              <a:rPr dirty="0"/>
              <a:t>2027</a:t>
            </a:r>
            <a:r>
              <a:rPr spc="-5" dirty="0"/>
              <a:t> </a:t>
            </a:r>
            <a:r>
              <a:rPr spc="-10" dirty="0"/>
              <a:t>Batch</a:t>
            </a: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1780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LITERATURE</a:t>
            </a:r>
            <a:r>
              <a:rPr spc="-195" dirty="0"/>
              <a:t> </a:t>
            </a:r>
            <a:r>
              <a:rPr spc="-10" dirty="0"/>
              <a:t>SURVEY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4749" y="643550"/>
            <a:ext cx="8808720" cy="551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0185" marR="5080" indent="-198120">
              <a:lnSpc>
                <a:spcPct val="114999"/>
              </a:lnSpc>
              <a:spcBef>
                <a:spcPts val="100"/>
              </a:spcBef>
              <a:buClr>
                <a:srgbClr val="0C0C0C"/>
              </a:buClr>
              <a:buChar char="•"/>
              <a:tabLst>
                <a:tab pos="210185" algn="l"/>
              </a:tabLst>
            </a:pPr>
            <a:r>
              <a:rPr sz="1500" spc="-10" dirty="0">
                <a:solidFill>
                  <a:srgbClr val="303030"/>
                </a:solidFill>
                <a:latin typeface="Times New Roman"/>
                <a:cs typeface="Times New Roman"/>
              </a:rPr>
              <a:t>V.</a:t>
            </a:r>
            <a:r>
              <a:rPr sz="1500" spc="14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Bharati,</a:t>
            </a:r>
            <a:r>
              <a:rPr sz="1500" spc="15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"A</a:t>
            </a:r>
            <a:r>
              <a:rPr sz="1500" spc="7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Deep</a:t>
            </a:r>
            <a:r>
              <a:rPr sz="1500" spc="15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Neural</a:t>
            </a:r>
            <a:r>
              <a:rPr sz="1500" spc="15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Network</a:t>
            </a:r>
            <a:r>
              <a:rPr sz="1500" spc="15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Machine</a:t>
            </a:r>
            <a:r>
              <a:rPr sz="1500" spc="12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Vision</a:t>
            </a:r>
            <a:r>
              <a:rPr sz="1500" spc="7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Application</a:t>
            </a:r>
            <a:r>
              <a:rPr sz="1500" spc="15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for</a:t>
            </a:r>
            <a:r>
              <a:rPr sz="1500" spc="15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Preventing</a:t>
            </a:r>
            <a:r>
              <a:rPr sz="1500" spc="12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spc="-10" dirty="0">
                <a:solidFill>
                  <a:srgbClr val="303030"/>
                </a:solidFill>
                <a:latin typeface="Times New Roman"/>
                <a:cs typeface="Times New Roman"/>
              </a:rPr>
              <a:t>Wildlife-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Human</a:t>
            </a:r>
            <a:r>
              <a:rPr sz="1500" spc="15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spc="-10" dirty="0">
                <a:solidFill>
                  <a:srgbClr val="303030"/>
                </a:solidFill>
                <a:latin typeface="Times New Roman"/>
                <a:cs typeface="Times New Roman"/>
              </a:rPr>
              <a:t>Conflicts," </a:t>
            </a:r>
            <a:r>
              <a:rPr sz="1500" spc="-20" dirty="0">
                <a:solidFill>
                  <a:srgbClr val="303030"/>
                </a:solidFill>
                <a:latin typeface="Times New Roman"/>
                <a:cs typeface="Times New Roman"/>
              </a:rPr>
              <a:t>2021</a:t>
            </a:r>
            <a:endParaRPr sz="150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05991" y="1194847"/>
          <a:ext cx="8595992" cy="50584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742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16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05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94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8965">
                <a:tc>
                  <a:txBody>
                    <a:bodyPr/>
                    <a:lstStyle/>
                    <a:p>
                      <a:pPr marL="690880" marR="200025" indent="-48450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Core</a:t>
                      </a:r>
                      <a:r>
                        <a:rPr sz="16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Methodologies</a:t>
                      </a:r>
                      <a:r>
                        <a:rPr sz="1600" b="1" spc="-4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&amp;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Algorithm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55753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Advantages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54800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Limitations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56578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Summary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9445">
                <a:tc>
                  <a:txBody>
                    <a:bodyPr/>
                    <a:lstStyle/>
                    <a:p>
                      <a:pPr marL="542925" marR="120014" indent="-328295">
                        <a:lnSpc>
                          <a:spcPct val="100000"/>
                        </a:lnSpc>
                        <a:spcBef>
                          <a:spcPts val="245"/>
                        </a:spcBef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300" spc="-4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Two-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Stage</a:t>
                      </a:r>
                      <a:r>
                        <a:rPr sz="1300" spc="-3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Pipeline:</a:t>
                      </a:r>
                      <a:r>
                        <a:rPr sz="1300" spc="5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Stage</a:t>
                      </a:r>
                      <a:r>
                        <a:rPr sz="13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uses</a:t>
                      </a:r>
                      <a:r>
                        <a:rPr sz="1300" spc="-3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TensorFlow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MobileNet</a:t>
                      </a:r>
                      <a:r>
                        <a:rPr sz="1300" spc="-4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SSD</a:t>
                      </a:r>
                      <a:r>
                        <a:rPr sz="1300" spc="-4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v2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(320x320);</a:t>
                      </a:r>
                      <a:r>
                        <a:rPr sz="130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Stage</a:t>
                      </a:r>
                      <a:r>
                        <a:rPr sz="130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uses</a:t>
                      </a:r>
                      <a:r>
                        <a:rPr sz="130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custom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CNN</a:t>
                      </a:r>
                      <a:r>
                        <a:rPr sz="13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classifier.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542925" marR="389890" indent="-328295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Stage</a:t>
                      </a:r>
                      <a:r>
                        <a:rPr sz="130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sz="130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CNN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Design: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Features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r>
                        <a:rPr sz="130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repeating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542925" marR="155575">
                        <a:lnSpc>
                          <a:spcPct val="100000"/>
                        </a:lnSpc>
                      </a:pP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conv-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pooling</a:t>
                      </a:r>
                      <a:r>
                        <a:rPr sz="13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units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(32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3x3</a:t>
                      </a:r>
                      <a:r>
                        <a:rPr sz="130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kernels)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30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Dense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layer</a:t>
                      </a:r>
                      <a:r>
                        <a:rPr sz="13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30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0.5</a:t>
                      </a:r>
                      <a:r>
                        <a:rPr sz="130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dropout.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542925" marR="150495" indent="-328295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Hardware</a:t>
                      </a:r>
                      <a:r>
                        <a:rPr sz="130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Setup: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Deployed on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Raspberry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Pi</a:t>
                      </a:r>
                      <a:r>
                        <a:rPr sz="13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(8GB</a:t>
                      </a:r>
                      <a:r>
                        <a:rPr sz="130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RAM)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an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OV5647</a:t>
                      </a:r>
                      <a:r>
                        <a:rPr sz="1300" spc="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5MP</a:t>
                      </a:r>
                      <a:r>
                        <a:rPr sz="1300" spc="-4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IR-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cut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542925" marR="338455">
                        <a:lnSpc>
                          <a:spcPct val="100000"/>
                        </a:lnSpc>
                      </a:pP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camera</a:t>
                      </a:r>
                      <a:r>
                        <a:rPr sz="1300" spc="-3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300" spc="-8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AWS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SNS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notifications.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542290" indent="-327660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290" algn="l"/>
                        </a:tabLst>
                      </a:pP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Human Feedback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Loop: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542925">
                        <a:lnSpc>
                          <a:spcPct val="100000"/>
                        </a:lnSpc>
                      </a:pP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Incorporates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542925" marR="144780">
                        <a:lnSpc>
                          <a:spcPct val="100000"/>
                        </a:lnSpc>
                      </a:pP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crowd-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sourced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user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validation</a:t>
                      </a:r>
                      <a:r>
                        <a:rPr sz="1300" spc="-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("Correct"</a:t>
                      </a:r>
                      <a:r>
                        <a:rPr sz="1300" spc="-5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vs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"False</a:t>
                      </a:r>
                      <a:r>
                        <a:rPr sz="1300" spc="-7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Alarm")</a:t>
                      </a:r>
                      <a:r>
                        <a:rPr sz="130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model retraining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.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542925" marR="229235" indent="-328295">
                        <a:lnSpc>
                          <a:spcPct val="100000"/>
                        </a:lnSpc>
                        <a:spcBef>
                          <a:spcPts val="245"/>
                        </a:spcBef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3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Ultra-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Compact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Model:</a:t>
                      </a:r>
                      <a:r>
                        <a:rPr sz="130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Stage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2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footprint</a:t>
                      </a:r>
                      <a:r>
                        <a:rPr sz="130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130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only</a:t>
                      </a:r>
                      <a:r>
                        <a:rPr sz="1300" spc="-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675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kB</a:t>
                      </a:r>
                      <a:r>
                        <a:rPr sz="130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19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ms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detection</a:t>
                      </a:r>
                      <a:r>
                        <a:rPr sz="13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time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and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542925" marR="396875">
                        <a:lnSpc>
                          <a:spcPct val="100000"/>
                        </a:lnSpc>
                      </a:pP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~3-second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mobile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alert</a:t>
                      </a:r>
                      <a:r>
                        <a:rPr sz="1300" spc="-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latency.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542925" marR="467359" indent="-328295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Modular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Species Adaptability: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542925" marR="201930">
                        <a:lnSpc>
                          <a:spcPct val="100000"/>
                        </a:lnSpc>
                      </a:pPr>
                      <a:r>
                        <a:rPr sz="1300" spc="-3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Two-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stage</a:t>
                      </a:r>
                      <a:r>
                        <a:rPr sz="1300" spc="-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setup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allows</a:t>
                      </a:r>
                      <a:r>
                        <a:rPr sz="13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adapting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new</a:t>
                      </a:r>
                      <a:r>
                        <a:rPr sz="1300" spc="-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wildlife</a:t>
                      </a:r>
                      <a:r>
                        <a:rPr sz="1300" spc="-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species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by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retraining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Stage</a:t>
                      </a:r>
                      <a:r>
                        <a:rPr sz="130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2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only.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542925" marR="120650" indent="-328295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Redundant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Alert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Channels:</a:t>
                      </a:r>
                      <a:r>
                        <a:rPr sz="1300" spc="-4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Pushes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SMS, </a:t>
                      </a:r>
                      <a:r>
                        <a:rPr sz="13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Push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notifications,</a:t>
                      </a:r>
                      <a:r>
                        <a:rPr sz="1300" spc="-7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local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audio alarms, 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home</a:t>
                      </a:r>
                      <a:r>
                        <a:rPr sz="13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automation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voice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alerts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3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prevent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network</a:t>
                      </a:r>
                      <a:r>
                        <a:rPr sz="1300" spc="-4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failure.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542925" marR="88900" indent="-328295">
                        <a:lnSpc>
                          <a:spcPct val="100000"/>
                        </a:lnSpc>
                        <a:spcBef>
                          <a:spcPts val="245"/>
                        </a:spcBef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Loss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3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Color</a:t>
                      </a:r>
                      <a:r>
                        <a:rPr sz="13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Details: Preprocessing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converts</a:t>
                      </a:r>
                      <a:r>
                        <a:rPr sz="1300" spc="-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input</a:t>
                      </a:r>
                      <a:r>
                        <a:rPr sz="1300" spc="-4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frames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100x100</a:t>
                      </a:r>
                      <a:r>
                        <a:rPr sz="1300" spc="-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grayscale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before</a:t>
                      </a:r>
                      <a:r>
                        <a:rPr sz="1300" spc="-4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Stage</a:t>
                      </a:r>
                      <a:r>
                        <a:rPr sz="1300" spc="-4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2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classification.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542925" marR="105410" indent="-328295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Cloud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&amp;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Network Dependency: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Delivering</a:t>
                      </a:r>
                      <a:r>
                        <a:rPr sz="1300" spc="-6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SMS/Push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alerts</a:t>
                      </a:r>
                      <a:r>
                        <a:rPr sz="130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relies</a:t>
                      </a:r>
                      <a:r>
                        <a:rPr sz="130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on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cellular</a:t>
                      </a:r>
                      <a:r>
                        <a:rPr sz="1300" spc="-4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connectivity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300" spc="-8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AWS</a:t>
                      </a:r>
                      <a:r>
                        <a:rPr sz="1300" spc="-3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SNS</a:t>
                      </a:r>
                      <a:r>
                        <a:rPr sz="130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cloud services.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542925" marR="112395" indent="-328295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High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Synthetic</a:t>
                      </a:r>
                      <a:r>
                        <a:rPr sz="1300" spc="-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Ratio: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Relies</a:t>
                      </a:r>
                      <a:r>
                        <a:rPr sz="13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heavily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on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augmented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images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(8,306</a:t>
                      </a:r>
                      <a:r>
                        <a:rPr sz="1300" spc="-3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generated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images</a:t>
                      </a:r>
                      <a:r>
                        <a:rPr sz="130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out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3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12,737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total)</a:t>
                      </a:r>
                      <a:r>
                        <a:rPr sz="13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due</a:t>
                      </a:r>
                      <a:r>
                        <a:rPr sz="13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30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limited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raw</a:t>
                      </a:r>
                      <a:r>
                        <a:rPr sz="1300" spc="-3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samples.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542290" marR="87630" indent="-328295">
                        <a:lnSpc>
                          <a:spcPct val="100000"/>
                        </a:lnSpc>
                        <a:spcBef>
                          <a:spcPts val="245"/>
                        </a:spcBef>
                        <a:buFont typeface="Arial MT"/>
                        <a:buChar char="●"/>
                        <a:tabLst>
                          <a:tab pos="542290" algn="l"/>
                        </a:tabLst>
                      </a:pP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Objective:</a:t>
                      </a:r>
                      <a:r>
                        <a:rPr sz="1300" spc="-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Proposes 'WildlifeNet'</a:t>
                      </a:r>
                      <a:r>
                        <a:rPr sz="1300" spc="-5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protect</a:t>
                      </a:r>
                      <a:r>
                        <a:rPr sz="1300" spc="-7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communities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from</a:t>
                      </a:r>
                      <a:r>
                        <a:rPr sz="1300" spc="-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dangerous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wildlife</a:t>
                      </a:r>
                      <a:r>
                        <a:rPr sz="1300" spc="-8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encounters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(e.g.,</a:t>
                      </a:r>
                      <a:r>
                        <a:rPr sz="130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coyotes).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542290" marR="252729" indent="-328295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290" algn="l"/>
                        </a:tabLst>
                      </a:pP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Mechanism:</a:t>
                      </a:r>
                      <a:r>
                        <a:rPr sz="1300" spc="-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Pairs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MobileNet</a:t>
                      </a:r>
                      <a:r>
                        <a:rPr sz="1300" spc="-4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SSD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object</a:t>
                      </a:r>
                      <a:r>
                        <a:rPr sz="130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detection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30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30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compact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custom</a:t>
                      </a:r>
                      <a:r>
                        <a:rPr sz="130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CNN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classifier 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on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542290" marR="151765">
                        <a:lnSpc>
                          <a:spcPct val="100000"/>
                        </a:lnSpc>
                      </a:pP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low-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cost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Raspberry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Pi</a:t>
                      </a:r>
                      <a:r>
                        <a:rPr sz="130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hardware.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542290" marR="150495" indent="-328295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290" algn="l"/>
                        </a:tabLst>
                      </a:pP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Output:</a:t>
                      </a:r>
                      <a:r>
                        <a:rPr sz="1300" spc="-7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Delivers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rapid</a:t>
                      </a:r>
                      <a:r>
                        <a:rPr sz="130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mobile notifications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within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r>
                        <a:rPr sz="13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seconds</a:t>
                      </a:r>
                      <a:r>
                        <a:rPr sz="130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utilizes</a:t>
                      </a:r>
                      <a:r>
                        <a:rPr sz="1300" spc="-4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recipient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feedback 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for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ongoing</a:t>
                      </a:r>
                      <a:r>
                        <a:rPr sz="1300" spc="-4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model optimization.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3565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  <p:sp>
        <p:nvSpPr>
          <p:cNvPr id="6" name="object 6"/>
          <p:cNvSpPr txBox="1"/>
          <p:nvPr/>
        </p:nvSpPr>
        <p:spPr>
          <a:xfrm>
            <a:off x="1164095" y="6509553"/>
            <a:ext cx="87630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spc="-25" dirty="0">
                <a:solidFill>
                  <a:srgbClr val="ED7D31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64280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lang="en-US" smtClean="0"/>
              <a:t>CCD415 Project Phase I</a:t>
            </a:r>
            <a:endParaRPr spc="-50"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4280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spc="-10" dirty="0"/>
              <a:t>2023-</a:t>
            </a:r>
            <a:r>
              <a:rPr dirty="0"/>
              <a:t>2027</a:t>
            </a:r>
            <a:r>
              <a:rPr spc="-5" dirty="0"/>
              <a:t> </a:t>
            </a:r>
            <a:r>
              <a:rPr spc="-10" dirty="0"/>
              <a:t>Batch</a:t>
            </a: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612554" y="-7591"/>
            <a:ext cx="609409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LITERATURE</a:t>
            </a:r>
            <a:r>
              <a:rPr spc="-195" dirty="0"/>
              <a:t> </a:t>
            </a:r>
            <a:r>
              <a:rPr spc="-10" dirty="0"/>
              <a:t>SURVEY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4749" y="718559"/>
            <a:ext cx="8867775" cy="551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0185" marR="5080" indent="-198120">
              <a:lnSpc>
                <a:spcPct val="114999"/>
              </a:lnSpc>
              <a:spcBef>
                <a:spcPts val="100"/>
              </a:spcBef>
              <a:buClr>
                <a:srgbClr val="0C0C0C"/>
              </a:buClr>
              <a:buChar char="•"/>
              <a:tabLst>
                <a:tab pos="210185" algn="l"/>
              </a:tabLst>
            </a:pP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S.</a:t>
            </a:r>
            <a:r>
              <a:rPr sz="1500" spc="-1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Gunasekara,</a:t>
            </a:r>
            <a:r>
              <a:rPr sz="1500" spc="-1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M.</a:t>
            </a:r>
            <a:r>
              <a:rPr sz="1500" spc="-1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Jayasuriya,</a:t>
            </a:r>
            <a:r>
              <a:rPr sz="1500" spc="-1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N.</a:t>
            </a:r>
            <a:r>
              <a:rPr sz="1500" spc="-1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Harischandra,</a:t>
            </a:r>
            <a:r>
              <a:rPr sz="1500" spc="-1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L.</a:t>
            </a:r>
            <a:r>
              <a:rPr sz="1500" spc="-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Samaranayake,</a:t>
            </a:r>
            <a:r>
              <a:rPr sz="1500" spc="-1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and</a:t>
            </a:r>
            <a:r>
              <a:rPr sz="1500" spc="-1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G.</a:t>
            </a:r>
            <a:r>
              <a:rPr sz="1500" spc="-1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Dissanayake,</a:t>
            </a:r>
            <a:r>
              <a:rPr sz="1500" spc="-10" dirty="0">
                <a:solidFill>
                  <a:srgbClr val="303030"/>
                </a:solidFill>
                <a:latin typeface="Times New Roman"/>
                <a:cs typeface="Times New Roman"/>
              </a:rPr>
              <a:t> "A</a:t>
            </a:r>
            <a:r>
              <a:rPr sz="1500" spc="-8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Convolutional</a:t>
            </a:r>
            <a:r>
              <a:rPr sz="1500" spc="-10" dirty="0">
                <a:solidFill>
                  <a:srgbClr val="303030"/>
                </a:solidFill>
                <a:latin typeface="Times New Roman"/>
                <a:cs typeface="Times New Roman"/>
              </a:rPr>
              <a:t> Neural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Network</a:t>
            </a:r>
            <a:r>
              <a:rPr sz="1500" spc="-2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Based</a:t>
            </a:r>
            <a:r>
              <a:rPr sz="1500" spc="-2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Early</a:t>
            </a:r>
            <a:r>
              <a:rPr sz="1500" spc="-5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spc="-10" dirty="0">
                <a:solidFill>
                  <a:srgbClr val="303030"/>
                </a:solidFill>
                <a:latin typeface="Times New Roman"/>
                <a:cs typeface="Times New Roman"/>
              </a:rPr>
              <a:t>Warning</a:t>
            </a:r>
            <a:r>
              <a:rPr sz="1500" spc="-2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System</a:t>
            </a:r>
            <a:r>
              <a:rPr sz="1500" spc="-2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to</a:t>
            </a:r>
            <a:r>
              <a:rPr sz="1500" spc="-2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Prevent</a:t>
            </a:r>
            <a:r>
              <a:rPr sz="1500" spc="-2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spc="-10" dirty="0">
                <a:solidFill>
                  <a:srgbClr val="303030"/>
                </a:solidFill>
                <a:latin typeface="Times New Roman"/>
                <a:cs typeface="Times New Roman"/>
              </a:rPr>
              <a:t>Elephant-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Train</a:t>
            </a:r>
            <a:r>
              <a:rPr sz="1500" spc="-2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Collisions,"</a:t>
            </a:r>
            <a:r>
              <a:rPr sz="1500" spc="-2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IEEE,</a:t>
            </a:r>
            <a:r>
              <a:rPr sz="1500" spc="-2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spc="-20" dirty="0">
                <a:solidFill>
                  <a:srgbClr val="303030"/>
                </a:solidFill>
                <a:latin typeface="Times New Roman"/>
                <a:cs typeface="Times New Roman"/>
              </a:rPr>
              <a:t>2021</a:t>
            </a:r>
            <a:endParaRPr sz="150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402431" y="1441306"/>
          <a:ext cx="8509634" cy="470026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457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9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723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421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8965">
                <a:tc>
                  <a:txBody>
                    <a:bodyPr/>
                    <a:lstStyle/>
                    <a:p>
                      <a:pPr marL="776605" marR="285750" indent="-48450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Core</a:t>
                      </a:r>
                      <a:r>
                        <a:rPr sz="16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Methodologies</a:t>
                      </a:r>
                      <a:r>
                        <a:rPr sz="1600" b="1" spc="-4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&amp;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Algorithm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46672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Advantages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48387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Limitations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59182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Summary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91304">
                <a:tc>
                  <a:txBody>
                    <a:bodyPr/>
                    <a:lstStyle/>
                    <a:p>
                      <a:pPr marL="542925" marR="198755" indent="-324485">
                        <a:lnSpc>
                          <a:spcPct val="100000"/>
                        </a:lnSpc>
                        <a:spcBef>
                          <a:spcPts val="250"/>
                        </a:spcBef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YOLOv3</a:t>
                      </a:r>
                      <a:r>
                        <a:rPr sz="1250" spc="-7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Architecture: Employs</a:t>
                      </a:r>
                      <a:r>
                        <a:rPr sz="1250" spc="-5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YOLOv3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object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detection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250" spc="-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5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106-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layer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Darknet</a:t>
                      </a:r>
                      <a:r>
                        <a:rPr sz="1250" spc="-4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backbone</a:t>
                      </a:r>
                      <a:r>
                        <a:rPr sz="1250" spc="-3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operating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across</a:t>
                      </a:r>
                      <a:r>
                        <a:rPr sz="125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r>
                        <a:rPr sz="125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feature</a:t>
                      </a:r>
                      <a:r>
                        <a:rPr sz="125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scales.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marL="542925" marR="95250" indent="-324485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Camera</a:t>
                      </a:r>
                      <a:r>
                        <a:rPr sz="1250" spc="-3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Hardware:</a:t>
                      </a:r>
                      <a:r>
                        <a:rPr sz="125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Uses</a:t>
                      </a:r>
                      <a:r>
                        <a:rPr sz="125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Reolink</a:t>
                      </a:r>
                      <a:r>
                        <a:rPr sz="125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RLC-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423</a:t>
                      </a:r>
                      <a:r>
                        <a:rPr sz="125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RGB/IR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camera</a:t>
                      </a:r>
                      <a:r>
                        <a:rPr sz="125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25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motorized</a:t>
                      </a:r>
                      <a:r>
                        <a:rPr sz="125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360° pan-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tilt</a:t>
                      </a:r>
                      <a:r>
                        <a:rPr sz="125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coverage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50" spc="-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150</a:t>
                      </a:r>
                      <a:r>
                        <a:rPr sz="1250" spc="-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m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day</a:t>
                      </a:r>
                      <a:r>
                        <a:rPr sz="125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125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60</a:t>
                      </a:r>
                      <a:r>
                        <a:rPr sz="125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25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night</a:t>
                      </a:r>
                      <a:r>
                        <a:rPr sz="125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vision</a:t>
                      </a:r>
                      <a:r>
                        <a:rPr sz="125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range.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marL="542925" marR="264795" indent="-324485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Processing</a:t>
                      </a:r>
                      <a:r>
                        <a:rPr sz="1250" spc="-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&amp;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Power: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Powered by an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NVIDIA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Jetson</a:t>
                      </a:r>
                      <a:r>
                        <a:rPr sz="1250" spc="-7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AGX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Xavier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board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(~10</a:t>
                      </a:r>
                      <a:r>
                        <a:rPr sz="1250" spc="-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FPS)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backed</a:t>
                      </a:r>
                      <a:r>
                        <a:rPr sz="1250" spc="-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by</a:t>
                      </a:r>
                      <a:r>
                        <a:rPr sz="1250" spc="-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100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W</a:t>
                      </a:r>
                      <a:r>
                        <a:rPr sz="1250" spc="-4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solar</a:t>
                      </a:r>
                      <a:r>
                        <a:rPr sz="1250" spc="-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panel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50" spc="-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12</a:t>
                      </a:r>
                      <a:r>
                        <a:rPr sz="125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V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battery.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marL="542925" marR="100965" indent="-324485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GSM</a:t>
                      </a:r>
                      <a:r>
                        <a:rPr sz="125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Warning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System:</a:t>
                      </a:r>
                      <a:r>
                        <a:rPr sz="1250" spc="-7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3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An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Arduino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250" spc="-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5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SIM800L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GSM</a:t>
                      </a:r>
                      <a:r>
                        <a:rPr sz="1250" spc="-4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module</a:t>
                      </a:r>
                      <a:r>
                        <a:rPr sz="1250" spc="-4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sends</a:t>
                      </a:r>
                      <a:r>
                        <a:rPr sz="1250" spc="-4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SMS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alerts</a:t>
                      </a:r>
                      <a:r>
                        <a:rPr sz="125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5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distance</a:t>
                      </a:r>
                      <a:r>
                        <a:rPr sz="125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tracking</a:t>
                      </a:r>
                      <a:r>
                        <a:rPr sz="125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an</a:t>
                      </a:r>
                      <a:r>
                        <a:rPr sz="1250" spc="-7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Android driver map </a:t>
                      </a:r>
                      <a:r>
                        <a:rPr sz="125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app</a:t>
                      </a:r>
                      <a:r>
                        <a:rPr sz="1250" spc="-20" dirty="0">
                          <a:latin typeface="Times New Roman"/>
                          <a:cs typeface="Times New Roman"/>
                        </a:rPr>
                        <a:t>.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542925" marR="571500" indent="-324485">
                        <a:lnSpc>
                          <a:spcPct val="100000"/>
                        </a:lnSpc>
                        <a:spcBef>
                          <a:spcPts val="250"/>
                        </a:spcBef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Off-</a:t>
                      </a:r>
                      <a:r>
                        <a:rPr sz="125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Grid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Deployment: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marL="542925">
                        <a:lnSpc>
                          <a:spcPct val="100000"/>
                        </a:lnSpc>
                      </a:pP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Weatherized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marL="542925" marR="201930">
                        <a:lnSpc>
                          <a:spcPct val="100000"/>
                        </a:lnSpc>
                      </a:pP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self-sufficient</a:t>
                      </a:r>
                      <a:r>
                        <a:rPr sz="1250" spc="-6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unit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suitable</a:t>
                      </a:r>
                      <a:r>
                        <a:rPr sz="125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25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remote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railway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hotspot corridors.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marL="542925" marR="100330" indent="-324485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Multi-Scale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Detection:</a:t>
                      </a:r>
                      <a:r>
                        <a:rPr sz="1250" spc="-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Identifies far-distance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elephants</a:t>
                      </a:r>
                      <a:r>
                        <a:rPr sz="125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when</a:t>
                      </a:r>
                      <a:r>
                        <a:rPr sz="125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they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appear</a:t>
                      </a:r>
                      <a:r>
                        <a:rPr sz="125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small</a:t>
                      </a:r>
                      <a:r>
                        <a:rPr sz="125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25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video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frame.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marL="542925" marR="119380" indent="-324485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Extended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Driver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Range:</a:t>
                      </a:r>
                      <a:r>
                        <a:rPr sz="125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Extends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warning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range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beyond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headlights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(~300</a:t>
                      </a:r>
                      <a:r>
                        <a:rPr sz="1250" spc="-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m)</a:t>
                      </a:r>
                      <a:r>
                        <a:rPr sz="1250" spc="-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provide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adequate</a:t>
                      </a:r>
                      <a:r>
                        <a:rPr sz="1250" spc="-4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stopping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distance</a:t>
                      </a:r>
                      <a:r>
                        <a:rPr sz="125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(600</a:t>
                      </a:r>
                      <a:r>
                        <a:rPr sz="125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25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/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marL="542925">
                        <a:lnSpc>
                          <a:spcPct val="100000"/>
                        </a:lnSpc>
                      </a:pP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10-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minute</a:t>
                      </a:r>
                      <a:r>
                        <a:rPr sz="1250" spc="-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warning).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542925" marR="100330" indent="-324485">
                        <a:lnSpc>
                          <a:spcPct val="100000"/>
                        </a:lnSpc>
                        <a:spcBef>
                          <a:spcPts val="250"/>
                        </a:spcBef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Nighttime False Positives:</a:t>
                      </a:r>
                      <a:r>
                        <a:rPr sz="125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Displays</a:t>
                      </a:r>
                      <a:r>
                        <a:rPr sz="125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higher</a:t>
                      </a:r>
                      <a:r>
                        <a:rPr sz="1250" spc="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false-positive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detection</a:t>
                      </a:r>
                      <a:r>
                        <a:rPr sz="125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rate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during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infrared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night operations.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marL="542925" marR="118110" indent="-324485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Capped</a:t>
                      </a:r>
                      <a:r>
                        <a:rPr sz="125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Frame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Rate: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Processing speed </a:t>
                      </a:r>
                      <a:r>
                        <a:rPr sz="125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is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capped</a:t>
                      </a:r>
                      <a:r>
                        <a:rPr sz="1250" spc="-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at</a:t>
                      </a:r>
                      <a:r>
                        <a:rPr sz="1250" spc="-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~10 </a:t>
                      </a:r>
                      <a:r>
                        <a:rPr sz="125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FPS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due</a:t>
                      </a:r>
                      <a:r>
                        <a:rPr sz="125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computational</a:t>
                      </a:r>
                      <a:r>
                        <a:rPr sz="1250" spc="-6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load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of 106 deep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layers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edge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hardware.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marL="542925" marR="90805" indent="-324485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Interrupted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Field Trials:</a:t>
                      </a:r>
                      <a:r>
                        <a:rPr sz="125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On-</a:t>
                      </a:r>
                      <a:r>
                        <a:rPr sz="125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site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deployment</a:t>
                      </a:r>
                      <a:r>
                        <a:rPr sz="1250" spc="-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along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5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Palugaswewa</a:t>
                      </a:r>
                      <a:r>
                        <a:rPr sz="1250" spc="5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line</a:t>
                      </a:r>
                      <a:r>
                        <a:rPr sz="125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was</a:t>
                      </a:r>
                      <a:r>
                        <a:rPr sz="125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prematurely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dismantled</a:t>
                      </a:r>
                      <a:r>
                        <a:rPr sz="1250" spc="-3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due</a:t>
                      </a:r>
                      <a:r>
                        <a:rPr sz="1250" spc="-3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COVID-</a:t>
                      </a:r>
                      <a:r>
                        <a:rPr sz="125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19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marL="542925">
                        <a:lnSpc>
                          <a:spcPct val="100000"/>
                        </a:lnSpc>
                      </a:pP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restrictions</a:t>
                      </a:r>
                      <a:r>
                        <a:rPr sz="1250" spc="-10" dirty="0">
                          <a:latin typeface="Times New Roman"/>
                          <a:cs typeface="Times New Roman"/>
                        </a:rPr>
                        <a:t>.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542925" marR="162560" indent="-324485">
                        <a:lnSpc>
                          <a:spcPct val="100000"/>
                        </a:lnSpc>
                        <a:spcBef>
                          <a:spcPts val="250"/>
                        </a:spcBef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Objective:</a:t>
                      </a:r>
                      <a:r>
                        <a:rPr sz="1250" spc="-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Mitigates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severe</a:t>
                      </a:r>
                      <a:r>
                        <a:rPr sz="125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elephant-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train collisions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in </a:t>
                      </a:r>
                      <a:r>
                        <a:rPr sz="125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Sri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Lanka</a:t>
                      </a:r>
                      <a:r>
                        <a:rPr sz="1250" spc="-3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that</a:t>
                      </a:r>
                      <a:r>
                        <a:rPr sz="125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maim/kill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Asian</a:t>
                      </a:r>
                      <a:r>
                        <a:rPr sz="125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elephants</a:t>
                      </a:r>
                      <a:r>
                        <a:rPr sz="125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disrupt</a:t>
                      </a:r>
                      <a:r>
                        <a:rPr sz="1250" spc="-7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railway services.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marL="542925" marR="86360" indent="-324485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Mechanism:</a:t>
                      </a:r>
                      <a:r>
                        <a:rPr sz="1250" spc="-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Positions solar-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powered</a:t>
                      </a:r>
                      <a:r>
                        <a:rPr sz="1250" spc="3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vision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units</a:t>
                      </a:r>
                      <a:r>
                        <a:rPr sz="125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at</a:t>
                      </a:r>
                      <a:r>
                        <a:rPr sz="125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known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collision</a:t>
                      </a:r>
                      <a:r>
                        <a:rPr sz="1250" spc="-4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hotspots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where</a:t>
                      </a:r>
                      <a:r>
                        <a:rPr sz="125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elephant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corridors</a:t>
                      </a:r>
                      <a:r>
                        <a:rPr sz="1250" spc="-4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intersect tracks.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marL="542925" marR="117475" indent="-324485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Output:</a:t>
                      </a:r>
                      <a:r>
                        <a:rPr sz="1250" spc="-7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Fuses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YOLOv3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object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detection</a:t>
                      </a:r>
                      <a:r>
                        <a:rPr sz="125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360°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IR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video and </a:t>
                      </a:r>
                      <a:r>
                        <a:rPr sz="125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GSM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alerts</a:t>
                      </a:r>
                      <a:r>
                        <a:rPr sz="125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5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provide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drivers</a:t>
                      </a:r>
                      <a:r>
                        <a:rPr sz="125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25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real-</a:t>
                      </a:r>
                      <a:r>
                        <a:rPr sz="125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time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distance</a:t>
                      </a:r>
                      <a:r>
                        <a:rPr sz="1250" spc="-4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tracking</a:t>
                      </a:r>
                      <a:r>
                        <a:rPr sz="1250" spc="-10" dirty="0">
                          <a:latin typeface="Times New Roman"/>
                          <a:cs typeface="Times New Roman"/>
                        </a:rPr>
                        <a:t>.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8314500" y="6535234"/>
            <a:ext cx="17780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b="1" spc="-25" dirty="0">
                <a:solidFill>
                  <a:srgbClr val="375523"/>
                </a:solidFill>
                <a:latin typeface="Times New Roman"/>
                <a:cs typeface="Times New Roman"/>
              </a:rPr>
              <a:t>14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04095" y="6581784"/>
            <a:ext cx="87630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spc="-25" dirty="0">
                <a:solidFill>
                  <a:srgbClr val="ED7D31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6512" rIns="0" bIns="0" rtlCol="0">
            <a:spAutoFit/>
          </a:bodyPr>
          <a:lstStyle/>
          <a:p>
            <a:pPr marL="198120">
              <a:lnSpc>
                <a:spcPts val="1410"/>
              </a:lnSpc>
            </a:pPr>
            <a:r>
              <a:rPr lang="en-US" smtClean="0"/>
              <a:t>CCD415 Project Phase I</a:t>
            </a:r>
            <a:endParaRPr spc="-50"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6512" rIns="0" bIns="0" rtlCol="0">
            <a:spAutoFit/>
          </a:bodyPr>
          <a:lstStyle/>
          <a:p>
            <a:pPr marL="198120">
              <a:lnSpc>
                <a:spcPts val="1410"/>
              </a:lnSpc>
            </a:pPr>
            <a:r>
              <a:rPr spc="-10" dirty="0"/>
              <a:t>2023-</a:t>
            </a:r>
            <a:r>
              <a:rPr dirty="0"/>
              <a:t>2027</a:t>
            </a:r>
            <a:r>
              <a:rPr spc="-5" dirty="0"/>
              <a:t> </a:t>
            </a:r>
            <a:r>
              <a:rPr spc="-10" dirty="0"/>
              <a:t>Batch</a:t>
            </a: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235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LITERATURE</a:t>
            </a:r>
            <a:r>
              <a:rPr spc="-195" dirty="0"/>
              <a:t> </a:t>
            </a:r>
            <a:r>
              <a:rPr spc="-10" dirty="0"/>
              <a:t>SURVEY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19371" y="631460"/>
            <a:ext cx="8495030" cy="551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0185" marR="5080" indent="-198120">
              <a:lnSpc>
                <a:spcPct val="114999"/>
              </a:lnSpc>
              <a:spcBef>
                <a:spcPts val="100"/>
              </a:spcBef>
              <a:buChar char="•"/>
              <a:tabLst>
                <a:tab pos="210185" algn="l"/>
              </a:tabLst>
            </a:pPr>
            <a:r>
              <a:rPr sz="1500" dirty="0">
                <a:latin typeface="Times New Roman"/>
                <a:cs typeface="Times New Roman"/>
              </a:rPr>
              <a:t>Jayanthi</a:t>
            </a:r>
            <a:r>
              <a:rPr sz="1500" spc="36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</a:t>
            </a:r>
            <a:r>
              <a:rPr sz="1500" spc="36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&amp;</a:t>
            </a:r>
            <a:r>
              <a:rPr sz="1500" spc="36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K.V.</a:t>
            </a:r>
            <a:r>
              <a:rPr sz="1500" spc="36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Kanimozhi</a:t>
            </a:r>
            <a:r>
              <a:rPr sz="1500" spc="36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(2025).</a:t>
            </a:r>
            <a:r>
              <a:rPr sz="1500" spc="36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"Enhancing</a:t>
            </a:r>
            <a:r>
              <a:rPr sz="1500" spc="36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36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Identification</a:t>
            </a:r>
            <a:r>
              <a:rPr sz="1500" spc="36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of</a:t>
            </a:r>
            <a:r>
              <a:rPr sz="1500" spc="3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Wildlife</a:t>
            </a:r>
            <a:r>
              <a:rPr sz="1500" spc="36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via</a:t>
            </a:r>
            <a:r>
              <a:rPr sz="1500" spc="36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Self-</a:t>
            </a:r>
            <a:r>
              <a:rPr sz="1500" spc="-10" dirty="0">
                <a:latin typeface="Times New Roman"/>
                <a:cs typeface="Times New Roman"/>
              </a:rPr>
              <a:t>Supervised </a:t>
            </a:r>
            <a:r>
              <a:rPr sz="1500" dirty="0">
                <a:latin typeface="Times New Roman"/>
                <a:cs typeface="Times New Roman"/>
              </a:rPr>
              <a:t>Learning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on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Unlabelled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Camera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Trap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Information"</a:t>
            </a:r>
            <a:endParaRPr sz="150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39239" y="1285547"/>
          <a:ext cx="8537574" cy="50412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222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2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35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577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pPr marL="869950" marR="374015" indent="-48895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Core</a:t>
                      </a:r>
                      <a:r>
                        <a:rPr sz="16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Methodologies</a:t>
                      </a:r>
                      <a:r>
                        <a:rPr sz="1600" b="1" spc="-4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&amp;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Algorithms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50292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Advantages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41529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Limitations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54991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Summary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62145">
                <a:tc>
                  <a:txBody>
                    <a:bodyPr/>
                    <a:lstStyle/>
                    <a:p>
                      <a:pPr marL="542925" marR="280035" indent="-320675">
                        <a:lnSpc>
                          <a:spcPct val="114999"/>
                        </a:lnSpc>
                        <a:spcBef>
                          <a:spcPts val="35"/>
                        </a:spcBef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Self-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Supervised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Learning: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Automatically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finds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patterns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in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camera-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trap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images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without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needing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humans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label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them.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274320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Deep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Neural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Encoder: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Uses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a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ResNet-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50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neural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network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to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extract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important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features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from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images.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124460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Metadata Integration: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Uses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Metadata-Conditioned</a:t>
                      </a:r>
                      <a:r>
                        <a:rPr sz="12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Adaptive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Projection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Head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(MCPH)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to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combine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image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features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with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information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like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camera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ID,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time,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lighting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conditions.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90805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Domain-Aware</a:t>
                      </a:r>
                      <a:r>
                        <a:rPr sz="12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Sampling:</a:t>
                      </a:r>
                      <a:r>
                        <a:rPr sz="12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Uses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consecutive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images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from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different ecological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zones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as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negative</a:t>
                      </a:r>
                      <a:r>
                        <a:rPr sz="12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pairs.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542290" marR="87630" indent="-320675">
                        <a:lnSpc>
                          <a:spcPct val="114999"/>
                        </a:lnSpc>
                        <a:spcBef>
                          <a:spcPts val="35"/>
                        </a:spcBef>
                        <a:buFont typeface="Arial MT"/>
                        <a:buChar char="●"/>
                        <a:tabLst>
                          <a:tab pos="542290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No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Manual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Labeling: Removes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need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for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time-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consuming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costly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human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labeling.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290" marR="121920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290" algn="l"/>
                        </a:tabLst>
                      </a:pP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Works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Across Ecosystems: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Can</a:t>
                      </a:r>
                      <a:r>
                        <a:rPr sz="12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work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well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different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environments,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such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as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forests,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grasslands,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deserts.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290" marR="236220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290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High</a:t>
                      </a:r>
                      <a:r>
                        <a:rPr sz="12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Accuracy: Achieves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96.4%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detection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accuracy,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93.0%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classification accuracy,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an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29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F1-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score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0.94.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542925" marR="83185" indent="-320675">
                        <a:lnSpc>
                          <a:spcPct val="114999"/>
                        </a:lnSpc>
                        <a:spcBef>
                          <a:spcPts val="35"/>
                        </a:spcBef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Slight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Processing Overhead: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Shows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a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slightly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longer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processing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time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(64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ms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per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image)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than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basic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ResNet-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50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 (52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ms)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due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adding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metadata layers.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147955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Dependency</a:t>
                      </a:r>
                      <a:r>
                        <a:rPr sz="12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on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Environmental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Data: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Peak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classification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accuracy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relies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on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having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reliable, accurate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camera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environmental metadata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542925" marR="96520" indent="-320675">
                        <a:lnSpc>
                          <a:spcPct val="114999"/>
                        </a:lnSpc>
                        <a:spcBef>
                          <a:spcPts val="35"/>
                        </a:spcBef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Automated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System: WSSC-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Net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uses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deep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learning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automatically</a:t>
                      </a:r>
                      <a:r>
                        <a:rPr sz="12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analyze</a:t>
                      </a:r>
                      <a:r>
                        <a:rPr sz="1200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wildlife images.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290195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Combines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Data: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It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uses</a:t>
                      </a:r>
                      <a:r>
                        <a:rPr sz="12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camera-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trap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images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along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with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time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environmental information.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79375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Works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Across Habitats: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It</a:t>
                      </a:r>
                      <a:r>
                        <a:rPr sz="12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accurately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efficiently</a:t>
                      </a:r>
                      <a:r>
                        <a:rPr sz="1200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classifies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unlabelled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wildlife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images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different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natural</a:t>
                      </a:r>
                      <a:r>
                        <a:rPr sz="12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environments.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Slide Number Placeholder 8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14300">
              <a:lnSpc>
                <a:spcPts val="1410"/>
              </a:lnSpc>
            </a:pPr>
            <a:fld id="{81D60167-4931-47E6-BA6A-407CBD079E47}" type="slidenum">
              <a:rPr lang="en-IN" spc="-50" smtClean="0"/>
              <a:t>14</a:t>
            </a:fld>
            <a:endParaRPr lang="en-IN" spc="-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1018495" y="6607234"/>
            <a:ext cx="87630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spc="-25" dirty="0">
                <a:solidFill>
                  <a:srgbClr val="ED7D31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61962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mtClean="0"/>
              <a:t>CCD415 Project Phase I</a:t>
            </a:r>
            <a:endParaRPr spc="-50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61962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10" dirty="0"/>
              <a:t>2023-</a:t>
            </a:r>
            <a:r>
              <a:rPr dirty="0"/>
              <a:t>2027</a:t>
            </a:r>
            <a:r>
              <a:rPr spc="-5" dirty="0"/>
              <a:t> </a:t>
            </a:r>
            <a:r>
              <a:rPr spc="-10" dirty="0"/>
              <a:t>Batch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61962" rIns="0" bIns="0" rtlCol="0">
            <a:spAutoFit/>
          </a:bodyPr>
          <a:lstStyle/>
          <a:p>
            <a:pPr marL="87630">
              <a:lnSpc>
                <a:spcPts val="1410"/>
              </a:lnSpc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235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LITERATURE</a:t>
            </a:r>
            <a:r>
              <a:rPr spc="-195" dirty="0"/>
              <a:t> </a:t>
            </a:r>
            <a:r>
              <a:rPr spc="-10" dirty="0"/>
              <a:t>SURVEY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28281" y="727023"/>
            <a:ext cx="8515350" cy="4813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0660" marR="5080" indent="-188595">
              <a:lnSpc>
                <a:spcPct val="114999"/>
              </a:lnSpc>
              <a:spcBef>
                <a:spcPts val="100"/>
              </a:spcBef>
              <a:buChar char="•"/>
              <a:tabLst>
                <a:tab pos="200660" algn="l"/>
              </a:tabLst>
            </a:pPr>
            <a:r>
              <a:rPr sz="1300" dirty="0">
                <a:latin typeface="Times New Roman"/>
                <a:cs typeface="Times New Roman"/>
              </a:rPr>
              <a:t>Supreet</a:t>
            </a:r>
            <a:r>
              <a:rPr sz="1300" spc="7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Parida,</a:t>
            </a:r>
            <a:r>
              <a:rPr sz="1300" spc="7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Suvam</a:t>
            </a:r>
            <a:r>
              <a:rPr sz="1300" spc="7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Nayak,</a:t>
            </a:r>
            <a:r>
              <a:rPr sz="1300" spc="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Anjana</a:t>
            </a:r>
            <a:r>
              <a:rPr sz="1300" spc="7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Mishra,</a:t>
            </a:r>
            <a:r>
              <a:rPr sz="1300" spc="7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Nilamadhab</a:t>
            </a:r>
            <a:r>
              <a:rPr sz="1300" spc="7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Mishra,</a:t>
            </a:r>
            <a:r>
              <a:rPr sz="1300" spc="7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Bibhu</a:t>
            </a:r>
            <a:r>
              <a:rPr sz="1300" spc="7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Prasad</a:t>
            </a:r>
            <a:r>
              <a:rPr sz="1300" spc="7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Sahoo,</a:t>
            </a:r>
            <a:r>
              <a:rPr sz="1300" spc="7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&amp;</a:t>
            </a:r>
            <a:r>
              <a:rPr sz="1300" spc="7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Bhabani</a:t>
            </a:r>
            <a:r>
              <a:rPr sz="1300" spc="7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Sankar</a:t>
            </a:r>
            <a:r>
              <a:rPr sz="1300" spc="7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Panda</a:t>
            </a:r>
            <a:r>
              <a:rPr sz="1300" spc="70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(2024). </a:t>
            </a:r>
            <a:r>
              <a:rPr sz="1300" dirty="0">
                <a:latin typeface="Times New Roman"/>
                <a:cs typeface="Times New Roman"/>
              </a:rPr>
              <a:t>“Recognizing</a:t>
            </a:r>
            <a:r>
              <a:rPr sz="1300" spc="-60" dirty="0">
                <a:latin typeface="Times New Roman"/>
                <a:cs typeface="Times New Roman"/>
              </a:rPr>
              <a:t> </a:t>
            </a:r>
            <a:r>
              <a:rPr sz="1300" spc="-25" dirty="0">
                <a:latin typeface="Times New Roman"/>
                <a:cs typeface="Times New Roman"/>
              </a:rPr>
              <a:t>Wild</a:t>
            </a:r>
            <a:r>
              <a:rPr sz="1300" spc="-7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Animals</a:t>
            </a:r>
            <a:r>
              <a:rPr sz="1300" spc="-2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from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Camera</a:t>
            </a:r>
            <a:r>
              <a:rPr sz="1300" spc="-4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Trap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Images</a:t>
            </a:r>
            <a:r>
              <a:rPr sz="1300" spc="-2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Using</a:t>
            </a:r>
            <a:r>
              <a:rPr sz="1300" spc="-1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Deep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Learning”.</a:t>
            </a:r>
            <a:endParaRPr sz="130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39239" y="1355522"/>
          <a:ext cx="8537574" cy="5156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222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2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250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678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pPr marL="869950" marR="374015" indent="-48895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Core</a:t>
                      </a:r>
                      <a:r>
                        <a:rPr sz="16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Methodologies</a:t>
                      </a:r>
                      <a:r>
                        <a:rPr sz="1600" b="1" spc="-4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&amp;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Algorithms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50292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Advantages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61023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Limitations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35496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Summary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7080">
                <a:tc>
                  <a:txBody>
                    <a:bodyPr/>
                    <a:lstStyle/>
                    <a:p>
                      <a:pPr marL="542925" marR="172085" indent="-320675">
                        <a:lnSpc>
                          <a:spcPct val="114999"/>
                        </a:lnSpc>
                        <a:spcBef>
                          <a:spcPts val="35"/>
                        </a:spcBef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Convolutional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Neural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Network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(CNN):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Uses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deep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convolutional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neural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layers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automatically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learn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extract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spatial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features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directly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from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pixel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data.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407670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Transfer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Learning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(VGG16):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Adapts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VGG16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model pre-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trained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on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millions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of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ImageNet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photos,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leveraging pre-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learned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visual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weights.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182880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Standardized</a:t>
                      </a:r>
                      <a:r>
                        <a:rPr sz="12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Preprocessing: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Resizes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input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photos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224x224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pixels,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converts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RGB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colors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BGR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format,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applies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zero-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centering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color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balance.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337185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sz="12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Augmentation: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Increases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training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diversity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prevents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model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overfitting.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542290" marR="144780" indent="-320675">
                        <a:lnSpc>
                          <a:spcPct val="114999"/>
                        </a:lnSpc>
                        <a:spcBef>
                          <a:spcPts val="35"/>
                        </a:spcBef>
                        <a:buFont typeface="Arial MT"/>
                        <a:buChar char="●"/>
                        <a:tabLst>
                          <a:tab pos="542290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High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Classification Accuracy:</a:t>
                      </a:r>
                      <a:r>
                        <a:rPr sz="12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Achieves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a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98.67%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test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accuracy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290" marR="113664">
                        <a:lnSpc>
                          <a:spcPct val="114999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across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6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animal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species</a:t>
                      </a:r>
                      <a:r>
                        <a:rPr sz="12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(buffalo,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elephant,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rhino,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zebra,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giraffe,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lion).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290" marR="194945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290" algn="l"/>
                        </a:tabLst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Resource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Efficiency: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Significantly</a:t>
                      </a:r>
                      <a:r>
                        <a:rPr sz="12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cuts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down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required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training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dataset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size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computational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time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by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leveraging pre-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trained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weights.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290" marR="88900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290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Automated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Feature Extraction: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Hierarchically</a:t>
                      </a:r>
                      <a:r>
                        <a:rPr sz="12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extracts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visual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patterns automatically.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542925" marR="93345" indent="-320675">
                        <a:lnSpc>
                          <a:spcPct val="114999"/>
                        </a:lnSpc>
                        <a:spcBef>
                          <a:spcPts val="35"/>
                        </a:spcBef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Fixed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Species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Categories: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Restricted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strictly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6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pre-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defined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species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classes,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failing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classify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rare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unrepresented</a:t>
                      </a:r>
                      <a:r>
                        <a:rPr sz="12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wild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animals.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85725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Sensitivity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Visual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Noise: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Performance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drops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under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challenging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104139">
                        <a:lnSpc>
                          <a:spcPct val="114999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real-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world</a:t>
                      </a:r>
                      <a:r>
                        <a:rPr sz="120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camera-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trap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conditions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like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low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lighting,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partial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plant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occlusion,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motion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blur.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193675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Lacks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Object Localization: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Cannot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draw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bounding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boxes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around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detected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animals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perform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instance segmentation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542290" marR="175260" indent="-320675">
                        <a:lnSpc>
                          <a:spcPct val="100000"/>
                        </a:lnSpc>
                        <a:spcBef>
                          <a:spcPts val="250"/>
                        </a:spcBef>
                        <a:buFont typeface="Arial MT"/>
                        <a:buChar char="●"/>
                        <a:tabLst>
                          <a:tab pos="542290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users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trained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VGG16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CNN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290" marR="125730">
                        <a:lnSpc>
                          <a:spcPct val="10000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model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with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transfer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learning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classify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6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wild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animal</a:t>
                      </a:r>
                      <a:r>
                        <a:rPr sz="12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species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98.67%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test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accuracy,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offering</a:t>
                      </a:r>
                      <a:r>
                        <a:rPr sz="12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high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training efficiency while remaining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limited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by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fixed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species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classes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a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lack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spatial bounding-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box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localization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1018495" y="6607234"/>
            <a:ext cx="87630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spc="-25" dirty="0">
                <a:solidFill>
                  <a:srgbClr val="ED7D31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61962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mtClean="0"/>
              <a:t>CCD415 Project Phase I</a:t>
            </a:r>
            <a:endParaRPr spc="-50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61962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10" dirty="0"/>
              <a:t>2023-</a:t>
            </a:r>
            <a:r>
              <a:rPr dirty="0"/>
              <a:t>2027</a:t>
            </a:r>
            <a:r>
              <a:rPr spc="-5" dirty="0"/>
              <a:t> </a:t>
            </a:r>
            <a:r>
              <a:rPr spc="-10" dirty="0"/>
              <a:t>Batch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61962" rIns="0" bIns="0" rtlCol="0">
            <a:spAutoFit/>
          </a:bodyPr>
          <a:lstStyle/>
          <a:p>
            <a:pPr marL="87630">
              <a:lnSpc>
                <a:spcPts val="1410"/>
              </a:lnSpc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235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LITERATURE</a:t>
            </a:r>
            <a:r>
              <a:rPr spc="-195" dirty="0"/>
              <a:t> </a:t>
            </a:r>
            <a:r>
              <a:rPr spc="-10" dirty="0"/>
              <a:t>SURVEY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23852" y="756236"/>
            <a:ext cx="818007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5104" indent="-192405">
              <a:lnSpc>
                <a:spcPct val="100000"/>
              </a:lnSpc>
              <a:spcBef>
                <a:spcPts val="100"/>
              </a:spcBef>
              <a:buChar char="•"/>
              <a:tabLst>
                <a:tab pos="205104" algn="l"/>
              </a:tabLst>
            </a:pPr>
            <a:r>
              <a:rPr sz="1400" spc="-20" dirty="0">
                <a:latin typeface="Times New Roman"/>
                <a:cs typeface="Times New Roman"/>
              </a:rPr>
              <a:t>Krishnaveni</a:t>
            </a:r>
            <a:r>
              <a:rPr sz="1400" spc="-80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Times New Roman"/>
                <a:cs typeface="Times New Roman"/>
              </a:rPr>
              <a:t>A</a:t>
            </a:r>
            <a:r>
              <a:rPr sz="1400" spc="-8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&amp;</a:t>
            </a:r>
            <a:r>
              <a:rPr sz="1400" spc="-9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Arvinth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Times New Roman"/>
                <a:cs typeface="Times New Roman"/>
              </a:rPr>
              <a:t>K</a:t>
            </a:r>
            <a:r>
              <a:rPr sz="1400" spc="-80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Times New Roman"/>
                <a:cs typeface="Times New Roman"/>
              </a:rPr>
              <a:t>A</a:t>
            </a:r>
            <a:r>
              <a:rPr sz="1400" spc="-8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(2025). </a:t>
            </a:r>
            <a:r>
              <a:rPr sz="1400" spc="-10" dirty="0">
                <a:latin typeface="Times New Roman"/>
                <a:cs typeface="Times New Roman"/>
              </a:rPr>
              <a:t>"Smart</a:t>
            </a:r>
            <a:r>
              <a:rPr sz="1400" spc="-8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Animal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Monitoring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System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for Farms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using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YOLO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OpenCV"</a:t>
            </a:r>
            <a:endParaRPr sz="140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39239" y="1154909"/>
          <a:ext cx="8538844" cy="53079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025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25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54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82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pPr marL="760095" marR="264160" indent="-48895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Core</a:t>
                      </a:r>
                      <a:r>
                        <a:rPr sz="16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Methodologies</a:t>
                      </a:r>
                      <a:r>
                        <a:rPr sz="1600" b="1" spc="-4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&amp;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Algorithms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68326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Advantages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52514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Limitations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37020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Summary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28845">
                <a:tc>
                  <a:txBody>
                    <a:bodyPr/>
                    <a:lstStyle/>
                    <a:p>
                      <a:pPr marL="542925" marR="149860" indent="-320675">
                        <a:lnSpc>
                          <a:spcPct val="114999"/>
                        </a:lnSpc>
                        <a:spcBef>
                          <a:spcPts val="35"/>
                        </a:spcBef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YOLO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Object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Detection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: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Uses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YOLO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algorithm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detect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identify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animals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in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real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time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from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video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frames.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163830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Video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Frame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Processing: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Uses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OpenCV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capture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live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video,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process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each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frame,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display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bounding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boxes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around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detected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animals.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103505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Non-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Maximum</a:t>
                      </a:r>
                      <a:r>
                        <a:rPr sz="12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Suppression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(NMS)</a:t>
                      </a:r>
                      <a:r>
                        <a:rPr sz="1200" b="1" dirty="0">
                          <a:latin typeface="Times New Roman"/>
                          <a:cs typeface="Times New Roman"/>
                        </a:rPr>
                        <a:t>:</a:t>
                      </a:r>
                      <a:r>
                        <a:rPr sz="1200" b="1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Removes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duplicate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or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overlapping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bounding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boxes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keeps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detection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with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highest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confidence.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115570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Automated</a:t>
                      </a:r>
                      <a:r>
                        <a:rPr sz="12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Alert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System: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Automatically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provides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visual pop-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up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messages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sound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alarms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whenever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animal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is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detected.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542925" marR="127000" indent="-320675">
                        <a:lnSpc>
                          <a:spcPct val="114999"/>
                        </a:lnSpc>
                        <a:spcBef>
                          <a:spcPts val="35"/>
                        </a:spcBef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Single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Forward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Pass Efficiency: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Analyzes</a:t>
                      </a:r>
                      <a:r>
                        <a:rPr sz="1200" spc="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full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images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one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forward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pass,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delivering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high-speed,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real-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time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object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detection.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132715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Superior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Accuracy: Achieves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overall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98%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detection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accuracy,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significantly</a:t>
                      </a:r>
                      <a:r>
                        <a:rPr sz="12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outperforming traditional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manual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checking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(70%)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hardware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sensor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systems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(85%).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90170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Automated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Farm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Protection: Enhances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farm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security,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assists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tracking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livestock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health,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provides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early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warning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alerts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prevent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crop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damage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animal attacks.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542925" marR="126364" indent="-320675">
                        <a:lnSpc>
                          <a:spcPct val="114999"/>
                        </a:lnSpc>
                        <a:spcBef>
                          <a:spcPts val="35"/>
                        </a:spcBef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Regular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Retraining: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Needs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be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retrained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new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adapt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changing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farm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conditions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animal behaviors.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201295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Hardware Requirements: Requires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powerful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computing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resources,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such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as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GPUs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or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TPUs,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real-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time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video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processing.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104139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Possible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False Positives: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May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sometimes identify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objects</a:t>
                      </a:r>
                      <a:r>
                        <a:rPr sz="12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incorrectly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due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background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noise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or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animals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being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partly hidden.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542925" marR="391795" indent="-320675">
                        <a:lnSpc>
                          <a:spcPct val="100000"/>
                        </a:lnSpc>
                        <a:spcBef>
                          <a:spcPts val="250"/>
                        </a:spcBef>
                        <a:buChar char="●"/>
                        <a:tabLst>
                          <a:tab pos="542925" algn="l"/>
                          <a:tab pos="580390" algn="l"/>
                        </a:tabLst>
                      </a:pPr>
                      <a:r>
                        <a:rPr sz="1200" dirty="0">
                          <a:latin typeface="Arial MT"/>
                          <a:cs typeface="Arial MT"/>
                        </a:rPr>
                        <a:t>	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Combines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YOLO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87630">
                        <a:lnSpc>
                          <a:spcPct val="10000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real-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time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object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detection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with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OpenCV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frame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handling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build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an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automated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farm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surveillance</a:t>
                      </a:r>
                      <a:r>
                        <a:rPr sz="12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and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83820">
                        <a:lnSpc>
                          <a:spcPct val="10000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early-warning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alert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system,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reaching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98%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accuracy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live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video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streams</a:t>
                      </a:r>
                      <a:r>
                        <a:rPr sz="12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protect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livestock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reduce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109855">
                        <a:lnSpc>
                          <a:spcPct val="100000"/>
                        </a:lnSpc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human-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wildlife conflict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1018495" y="6607234"/>
            <a:ext cx="87630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spc="-25" dirty="0">
                <a:solidFill>
                  <a:srgbClr val="ED7D31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61962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mtClean="0"/>
              <a:t>CCD415 Project Phase I</a:t>
            </a:r>
            <a:endParaRPr spc="-50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61962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10" dirty="0"/>
              <a:t>2023-</a:t>
            </a:r>
            <a:r>
              <a:rPr dirty="0"/>
              <a:t>2027</a:t>
            </a:r>
            <a:r>
              <a:rPr spc="-5" dirty="0"/>
              <a:t> </a:t>
            </a:r>
            <a:r>
              <a:rPr spc="-10" dirty="0"/>
              <a:t>Batch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61962" rIns="0" bIns="0" rtlCol="0">
            <a:spAutoFit/>
          </a:bodyPr>
          <a:lstStyle/>
          <a:p>
            <a:pPr marL="87630">
              <a:lnSpc>
                <a:spcPts val="1410"/>
              </a:lnSpc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235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LITERATURE</a:t>
            </a:r>
            <a:r>
              <a:rPr spc="-195" dirty="0"/>
              <a:t> </a:t>
            </a:r>
            <a:r>
              <a:rPr spc="-10" dirty="0"/>
              <a:t>SURVEY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32710" y="622345"/>
            <a:ext cx="8510905" cy="4464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6850" marR="5080" indent="-184785">
              <a:lnSpc>
                <a:spcPct val="114999"/>
              </a:lnSpc>
              <a:spcBef>
                <a:spcPts val="100"/>
              </a:spcBef>
              <a:buChar char="•"/>
              <a:tabLst>
                <a:tab pos="196850" algn="l"/>
              </a:tabLst>
            </a:pPr>
            <a:r>
              <a:rPr sz="1200" dirty="0">
                <a:latin typeface="Times New Roman"/>
                <a:cs typeface="Times New Roman"/>
              </a:rPr>
              <a:t>Gabriel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S.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Ferrante,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Felipe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M.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Rodrigues,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Fernando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R.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H.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Andrade,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Rudinei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Goularte,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&amp;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Rodolfo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I.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Meneguette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(2021).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"Understanding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state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the</a:t>
            </a:r>
            <a:r>
              <a:rPr sz="1200" spc="-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</a:t>
            </a:r>
            <a:r>
              <a:rPr sz="1200" spc="-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Animal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detection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classification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computer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vision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technologies</a:t>
            </a:r>
            <a:endParaRPr sz="120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83264" y="1310609"/>
          <a:ext cx="8540115" cy="51733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323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28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158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pPr marL="774700" marR="278765" indent="-48895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Core</a:t>
                      </a:r>
                      <a:r>
                        <a:rPr sz="16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Methodologies</a:t>
                      </a:r>
                      <a:r>
                        <a:rPr sz="1600" b="1" spc="-4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&amp;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Algorithms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59309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Advantages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55499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Limitations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41529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Summary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94225">
                <a:tc>
                  <a:txBody>
                    <a:bodyPr/>
                    <a:lstStyle/>
                    <a:p>
                      <a:pPr marL="542925" marR="165100" indent="-320675">
                        <a:lnSpc>
                          <a:spcPct val="114999"/>
                        </a:lnSpc>
                        <a:spcBef>
                          <a:spcPts val="35"/>
                        </a:spcBef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Systematic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Literature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Survey: Analyzes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20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key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studies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selected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from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146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candidate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papers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published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between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2017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2021.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238125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Method</a:t>
                      </a:r>
                      <a:r>
                        <a:rPr sz="12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Taxonomy: Categorizes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computer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vision techniques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into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traditional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feature</a:t>
                      </a:r>
                      <a:r>
                        <a:rPr sz="12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extractors/classifiers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(SVM,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HOG,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SIFT,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PCA,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445134">
                        <a:lnSpc>
                          <a:spcPct val="114999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DFDL)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modern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deep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learning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models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(CNNs).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130810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Deep</a:t>
                      </a:r>
                      <a:r>
                        <a:rPr sz="12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Architecture</a:t>
                      </a:r>
                      <a:r>
                        <a:rPr sz="12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Evaluation: Evaluates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prominent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deep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learning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neural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backbones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(MobileNet,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ResNet,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Inception,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Darknet/YOLO)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edge/IoT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deployments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542925" marR="167640" indent="-320675">
                        <a:lnSpc>
                          <a:spcPct val="114999"/>
                        </a:lnSpc>
                        <a:spcBef>
                          <a:spcPts val="35"/>
                        </a:spcBef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Comprehensive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Domain Mapping: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Provides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a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structured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mapping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of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state-of-the-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art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visual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feature</a:t>
                      </a:r>
                      <a:r>
                        <a:rPr sz="12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extractors,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classification</a:t>
                      </a:r>
                      <a:r>
                        <a:rPr sz="12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models,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evaluation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metrics,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benchmark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datasets.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87630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Intelligent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Transportation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Systems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(ITS):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Explores practical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applications</a:t>
                      </a:r>
                      <a:r>
                        <a:rPr sz="12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in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highway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monitoring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Intelligent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Transportation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Systems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prevent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animal-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vehicle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collisions.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542925" marR="89535" indent="-320675">
                        <a:lnSpc>
                          <a:spcPct val="114999"/>
                        </a:lnSpc>
                        <a:spcBef>
                          <a:spcPts val="35"/>
                        </a:spcBef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Lack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Urban Architectures: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Identifies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major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literature</a:t>
                      </a:r>
                      <a:r>
                        <a:rPr sz="12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gap—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current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lack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of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specialized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computer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vision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architectures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designed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complex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urban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environments.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194945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Dataset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&amp;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Benchmark Deficit: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Highlights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absence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dedicated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urban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animal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datasets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edge-processing performance benchmarks across different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city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sizes.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542925" marR="92710" indent="-320675">
                        <a:lnSpc>
                          <a:spcPct val="114999"/>
                        </a:lnSpc>
                        <a:spcBef>
                          <a:spcPts val="35"/>
                        </a:spcBef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Main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Takeaway: Conducts 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a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systematic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survey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20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computer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vision animal classification studies,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establishing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clear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dominance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CNNs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transfer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learning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while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identifying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crucial</a:t>
                      </a:r>
                      <a:r>
                        <a:rPr sz="12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research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gaps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smart</a:t>
                      </a:r>
                      <a:r>
                        <a:rPr sz="12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city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traffic management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urban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collision prevention.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1018495" y="6607234"/>
            <a:ext cx="87630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spc="-25" dirty="0">
                <a:solidFill>
                  <a:srgbClr val="ED7D31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61962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mtClean="0"/>
              <a:t>CCD415 Project Phase I</a:t>
            </a:r>
            <a:endParaRPr spc="-50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61962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10" dirty="0"/>
              <a:t>2023-</a:t>
            </a:r>
            <a:r>
              <a:rPr dirty="0"/>
              <a:t>2027</a:t>
            </a:r>
            <a:r>
              <a:rPr spc="-5" dirty="0"/>
              <a:t> </a:t>
            </a:r>
            <a:r>
              <a:rPr spc="-10" dirty="0"/>
              <a:t>Batch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61962" rIns="0" bIns="0" rtlCol="0">
            <a:spAutoFit/>
          </a:bodyPr>
          <a:lstStyle/>
          <a:p>
            <a:pPr marL="87630">
              <a:lnSpc>
                <a:spcPts val="1410"/>
              </a:lnSpc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235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LITERATURE</a:t>
            </a:r>
            <a:r>
              <a:rPr spc="-195" dirty="0"/>
              <a:t> </a:t>
            </a:r>
            <a:r>
              <a:rPr spc="-10" dirty="0"/>
              <a:t>SURVEY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28281" y="649269"/>
            <a:ext cx="8245475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0660" indent="-187960">
              <a:lnSpc>
                <a:spcPct val="100000"/>
              </a:lnSpc>
              <a:spcBef>
                <a:spcPts val="100"/>
              </a:spcBef>
              <a:buChar char="•"/>
              <a:tabLst>
                <a:tab pos="200660" algn="l"/>
              </a:tabLst>
            </a:pPr>
            <a:r>
              <a:rPr sz="1300" spc="-10" dirty="0">
                <a:latin typeface="Times New Roman"/>
                <a:cs typeface="Times New Roman"/>
              </a:rPr>
              <a:t>Dr.</a:t>
            </a:r>
            <a:r>
              <a:rPr sz="1300" spc="-4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S.</a:t>
            </a:r>
            <a:r>
              <a:rPr sz="1300" spc="-40" dirty="0">
                <a:latin typeface="Times New Roman"/>
                <a:cs typeface="Times New Roman"/>
              </a:rPr>
              <a:t> </a:t>
            </a:r>
            <a:r>
              <a:rPr sz="1300" spc="-90" dirty="0">
                <a:latin typeface="Times New Roman"/>
                <a:cs typeface="Times New Roman"/>
              </a:rPr>
              <a:t>V.</a:t>
            </a:r>
            <a:r>
              <a:rPr sz="1300" spc="-25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Viraktamath,</a:t>
            </a:r>
            <a:r>
              <a:rPr sz="1300" spc="-1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Jahnavi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R,</a:t>
            </a:r>
            <a:r>
              <a:rPr sz="1300" spc="-40" dirty="0">
                <a:latin typeface="Times New Roman"/>
                <a:cs typeface="Times New Roman"/>
              </a:rPr>
              <a:t> </a:t>
            </a:r>
            <a:r>
              <a:rPr sz="1300" spc="-20" dirty="0">
                <a:latin typeface="Times New Roman"/>
                <a:cs typeface="Times New Roman"/>
              </a:rPr>
              <a:t>Vidya,</a:t>
            </a:r>
            <a:r>
              <a:rPr sz="1300" spc="-7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Abhay</a:t>
            </a:r>
            <a:r>
              <a:rPr sz="1300" spc="-1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S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Bhat,</a:t>
            </a:r>
            <a:r>
              <a:rPr sz="1300" spc="-1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&amp;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Sathvik</a:t>
            </a:r>
            <a:r>
              <a:rPr sz="1300" spc="-1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Nayak</a:t>
            </a:r>
            <a:r>
              <a:rPr sz="1300" spc="-1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(2021).</a:t>
            </a:r>
            <a:r>
              <a:rPr sz="1300" spc="-15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"Wildlife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Monitoring</a:t>
            </a:r>
            <a:r>
              <a:rPr sz="1300" spc="-1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and</a:t>
            </a:r>
            <a:r>
              <a:rPr sz="1300" spc="-15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Surveillance"</a:t>
            </a:r>
            <a:endParaRPr sz="130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39239" y="966009"/>
          <a:ext cx="8540114" cy="55943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626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77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608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8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pPr marL="1040130" marR="544195" indent="-48895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Core</a:t>
                      </a:r>
                      <a:r>
                        <a:rPr sz="16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Methodologies</a:t>
                      </a:r>
                      <a:r>
                        <a:rPr sz="1600" b="1" spc="-4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&amp;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Algorithms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59055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Advantages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37782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Limitations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33020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Summary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15230">
                <a:tc>
                  <a:txBody>
                    <a:bodyPr/>
                    <a:lstStyle/>
                    <a:p>
                      <a:pPr marL="542925" marR="114935" indent="-320675">
                        <a:lnSpc>
                          <a:spcPct val="114999"/>
                        </a:lnSpc>
                        <a:spcBef>
                          <a:spcPts val="35"/>
                        </a:spcBef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Convolutional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Neural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Network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(CNN):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Uses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deep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learning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model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2D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convolutional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layers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visual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feature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extraction,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max-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pooling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layers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for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spatial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dimension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reduction,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dense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fully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connected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layers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final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classification.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184785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Image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Preprocessing: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Loads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input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photos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3-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channel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RGB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format,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resizes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them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50x50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pixel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resolution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using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OpenCV,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randomly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shuffles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dataset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remove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class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ordering bias.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190500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Model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Configuration: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Employs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ReLU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activation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hidden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layers,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Softmax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output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probabilities,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Sparse Categorical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Cross-Entropy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as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loss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function,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Adam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optimizer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adjust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weights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during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training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542925" marR="116205" indent="-320675">
                        <a:lnSpc>
                          <a:spcPct val="114999"/>
                        </a:lnSpc>
                        <a:spcBef>
                          <a:spcPts val="35"/>
                        </a:spcBef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Reduces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Human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Labor: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Cuts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need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manual night-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sentry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guards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physical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monitoring</a:t>
                      </a:r>
                      <a:r>
                        <a:rPr sz="12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labor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by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roughly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70%.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136525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Safe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&amp;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Low-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Cost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Alternative: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Offers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an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affordable,</a:t>
                      </a:r>
                      <a:r>
                        <a:rPr sz="120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non-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intrusive alternative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hazardous electric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fencing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for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managing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human-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wildlife</a:t>
                      </a:r>
                      <a:r>
                        <a:rPr sz="1200" spc="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conflicts.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116205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Strong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Training Accuracy:</a:t>
                      </a:r>
                      <a:r>
                        <a:rPr sz="12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Achieves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high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training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accuracy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reaching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up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94.46%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(at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batch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size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16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across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10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animal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species)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542925" marR="151765" indent="-320675">
                        <a:lnSpc>
                          <a:spcPct val="114999"/>
                        </a:lnSpc>
                        <a:spcBef>
                          <a:spcPts val="35"/>
                        </a:spcBef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Moderate Validation Accuracy: Reaches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peak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testing/validation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accuracy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only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99695">
                        <a:lnSpc>
                          <a:spcPct val="114999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~62–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65%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because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validation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loss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fails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decrease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linearly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alongside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training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loss.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152400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Low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Image Resolution: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Resizing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images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down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50x50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pixel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resolution restricts</a:t>
                      </a:r>
                      <a:r>
                        <a:rPr sz="12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network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from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extracting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fine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visual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features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subtle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details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542290" marR="108585" indent="-320675">
                        <a:lnSpc>
                          <a:spcPct val="114999"/>
                        </a:lnSpc>
                        <a:spcBef>
                          <a:spcPts val="35"/>
                        </a:spcBef>
                        <a:buFont typeface="Arial MT"/>
                        <a:buChar char="●"/>
                        <a:tabLst>
                          <a:tab pos="542290" algn="l"/>
                        </a:tabLst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Demonstrates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CNN-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based animal classification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system</a:t>
                      </a:r>
                      <a:r>
                        <a:rPr sz="12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across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10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wild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species</a:t>
                      </a:r>
                      <a:r>
                        <a:rPr sz="12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that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can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reduce manual surveillance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labor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by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70%,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though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its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real-world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reliability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is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290" marR="78740">
                        <a:lnSpc>
                          <a:spcPct val="114999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limited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by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low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input resolution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(50x50)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a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peak</a:t>
                      </a:r>
                      <a:r>
                        <a:rPr sz="12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validation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accuracy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of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29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~65%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1018495" y="6607234"/>
            <a:ext cx="87630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spc="-25" dirty="0">
                <a:solidFill>
                  <a:srgbClr val="ED7D31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61962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mtClean="0"/>
              <a:t>CCD415 Project Phase I</a:t>
            </a:r>
            <a:endParaRPr spc="-50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61962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10" dirty="0"/>
              <a:t>2023-</a:t>
            </a:r>
            <a:r>
              <a:rPr dirty="0"/>
              <a:t>2027</a:t>
            </a:r>
            <a:r>
              <a:rPr spc="-5" dirty="0"/>
              <a:t> </a:t>
            </a:r>
            <a:r>
              <a:rPr spc="-10" dirty="0"/>
              <a:t>Batch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61962" rIns="0" bIns="0" rtlCol="0">
            <a:spAutoFit/>
          </a:bodyPr>
          <a:lstStyle/>
          <a:p>
            <a:pPr marL="87630">
              <a:lnSpc>
                <a:spcPts val="1410"/>
              </a:lnSpc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235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LITERATURE</a:t>
            </a:r>
            <a:r>
              <a:rPr spc="-195" dirty="0"/>
              <a:t> </a:t>
            </a:r>
            <a:r>
              <a:rPr spc="-10" dirty="0"/>
              <a:t>SURVEY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6266" y="659576"/>
            <a:ext cx="8301355" cy="4813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marR="5080" indent="-286385">
              <a:lnSpc>
                <a:spcPct val="114999"/>
              </a:lnSpc>
              <a:spcBef>
                <a:spcPts val="100"/>
              </a:spcBef>
              <a:buChar char="•"/>
              <a:tabLst>
                <a:tab pos="298450" algn="l"/>
              </a:tabLst>
            </a:pPr>
            <a:r>
              <a:rPr sz="1300" dirty="0">
                <a:solidFill>
                  <a:srgbClr val="303030"/>
                </a:solidFill>
                <a:latin typeface="Times New Roman"/>
                <a:cs typeface="Times New Roman"/>
              </a:rPr>
              <a:t>Karthik</a:t>
            </a:r>
            <a:r>
              <a:rPr sz="1300" spc="-6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300" spc="-35" dirty="0">
                <a:solidFill>
                  <a:srgbClr val="303030"/>
                </a:solidFill>
                <a:latin typeface="Times New Roman"/>
                <a:cs typeface="Times New Roman"/>
              </a:rPr>
              <a:t>Vasu,</a:t>
            </a:r>
            <a:r>
              <a:rPr sz="1300" spc="-7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303030"/>
                </a:solidFill>
                <a:latin typeface="Times New Roman"/>
                <a:cs typeface="Times New Roman"/>
              </a:rPr>
              <a:t>Anitha</a:t>
            </a:r>
            <a:r>
              <a:rPr sz="1300" spc="-2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300" spc="-10" dirty="0">
                <a:solidFill>
                  <a:srgbClr val="303030"/>
                </a:solidFill>
                <a:latin typeface="Times New Roman"/>
                <a:cs typeface="Times New Roman"/>
              </a:rPr>
              <a:t>Premkumar,</a:t>
            </a:r>
            <a:r>
              <a:rPr sz="1300" spc="-4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300" spc="-30" dirty="0">
                <a:solidFill>
                  <a:srgbClr val="303030"/>
                </a:solidFill>
                <a:latin typeface="Times New Roman"/>
                <a:cs typeface="Times New Roman"/>
              </a:rPr>
              <a:t>T.</a:t>
            </a:r>
            <a:r>
              <a:rPr sz="1300" spc="-2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303030"/>
                </a:solidFill>
                <a:latin typeface="Times New Roman"/>
                <a:cs typeface="Times New Roman"/>
              </a:rPr>
              <a:t>Ramesh,</a:t>
            </a:r>
            <a:r>
              <a:rPr sz="1300" spc="-2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303030"/>
                </a:solidFill>
                <a:latin typeface="Times New Roman"/>
                <a:cs typeface="Times New Roman"/>
              </a:rPr>
              <a:t>and</a:t>
            </a:r>
            <a:r>
              <a:rPr sz="1300" spc="-2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303030"/>
                </a:solidFill>
                <a:latin typeface="Times New Roman"/>
                <a:cs typeface="Times New Roman"/>
              </a:rPr>
              <a:t>Rajesh</a:t>
            </a:r>
            <a:r>
              <a:rPr sz="1300" spc="-2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303030"/>
                </a:solidFill>
                <a:latin typeface="Times New Roman"/>
                <a:cs typeface="Times New Roman"/>
              </a:rPr>
              <a:t>Natarajan,</a:t>
            </a:r>
            <a:r>
              <a:rPr sz="1300" spc="-1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300" spc="-10" dirty="0">
                <a:solidFill>
                  <a:srgbClr val="303030"/>
                </a:solidFill>
                <a:latin typeface="Times New Roman"/>
                <a:cs typeface="Times New Roman"/>
              </a:rPr>
              <a:t>"Real-Time</a:t>
            </a:r>
            <a:r>
              <a:rPr sz="1300" spc="-4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303030"/>
                </a:solidFill>
                <a:latin typeface="Times New Roman"/>
                <a:cs typeface="Times New Roman"/>
              </a:rPr>
              <a:t>Tiger</a:t>
            </a:r>
            <a:r>
              <a:rPr sz="1300" spc="-2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303030"/>
                </a:solidFill>
                <a:latin typeface="Times New Roman"/>
                <a:cs typeface="Times New Roman"/>
              </a:rPr>
              <a:t>Intrusion</a:t>
            </a:r>
            <a:r>
              <a:rPr sz="1300" spc="-2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303030"/>
                </a:solidFill>
                <a:latin typeface="Times New Roman"/>
                <a:cs typeface="Times New Roman"/>
              </a:rPr>
              <a:t>Detection</a:t>
            </a:r>
            <a:r>
              <a:rPr sz="1300" spc="-1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303030"/>
                </a:solidFill>
                <a:latin typeface="Times New Roman"/>
                <a:cs typeface="Times New Roman"/>
              </a:rPr>
              <a:t>System</a:t>
            </a:r>
            <a:r>
              <a:rPr sz="1300" spc="-2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300" spc="-10" dirty="0">
                <a:solidFill>
                  <a:srgbClr val="303030"/>
                </a:solidFill>
                <a:latin typeface="Times New Roman"/>
                <a:cs typeface="Times New Roman"/>
              </a:rPr>
              <a:t>Using </a:t>
            </a:r>
            <a:r>
              <a:rPr sz="1300" dirty="0">
                <a:solidFill>
                  <a:srgbClr val="303030"/>
                </a:solidFill>
                <a:latin typeface="Times New Roman"/>
                <a:cs typeface="Times New Roman"/>
              </a:rPr>
              <a:t>Machine</a:t>
            </a:r>
            <a:r>
              <a:rPr sz="1300" spc="-3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303030"/>
                </a:solidFill>
                <a:latin typeface="Times New Roman"/>
                <a:cs typeface="Times New Roman"/>
              </a:rPr>
              <a:t>Learning</a:t>
            </a:r>
            <a:r>
              <a:rPr sz="1300" spc="-3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303030"/>
                </a:solidFill>
                <a:latin typeface="Times New Roman"/>
                <a:cs typeface="Times New Roman"/>
              </a:rPr>
              <a:t>and</a:t>
            </a:r>
            <a:r>
              <a:rPr sz="1300" spc="-3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303030"/>
                </a:solidFill>
                <a:latin typeface="Times New Roman"/>
                <a:cs typeface="Times New Roman"/>
              </a:rPr>
              <a:t>IoT"</a:t>
            </a:r>
            <a:r>
              <a:rPr sz="1300" spc="-3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300" spc="-10" dirty="0">
                <a:solidFill>
                  <a:srgbClr val="303030"/>
                </a:solidFill>
                <a:latin typeface="Times New Roman"/>
                <a:cs typeface="Times New Roman"/>
              </a:rPr>
              <a:t>(2026)</a:t>
            </a:r>
            <a:endParaRPr sz="130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53876" y="1244559"/>
          <a:ext cx="8623934" cy="51790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47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9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64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09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pPr marL="932815" marR="436880" indent="-48895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Core</a:t>
                      </a:r>
                      <a:r>
                        <a:rPr sz="16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Methodologies</a:t>
                      </a:r>
                      <a:r>
                        <a:rPr sz="1600" b="1" spc="-4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&amp;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Algorithms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43624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Advantages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435609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Limitations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57594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Summary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99940">
                <a:tc>
                  <a:txBody>
                    <a:bodyPr/>
                    <a:lstStyle/>
                    <a:p>
                      <a:pPr marL="542925" marR="79375" indent="-328295">
                        <a:lnSpc>
                          <a:spcPct val="114999"/>
                        </a:lnSpc>
                        <a:spcBef>
                          <a:spcPts val="15"/>
                        </a:spcBef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Uses</a:t>
                      </a:r>
                      <a:r>
                        <a:rPr sz="13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Raspberry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Pi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3B</a:t>
                      </a:r>
                      <a:r>
                        <a:rPr sz="13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with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HD/thermal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cameras,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PIR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motion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sensors,</a:t>
                      </a:r>
                      <a:r>
                        <a:rPr sz="13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acoustic</a:t>
                      </a:r>
                      <a:r>
                        <a:rPr sz="13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sensors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542925" marR="164465" indent="-32829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Datasets</a:t>
                      </a:r>
                      <a:r>
                        <a:rPr sz="13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collected</a:t>
                      </a:r>
                      <a:r>
                        <a:rPr sz="13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from</a:t>
                      </a:r>
                      <a:r>
                        <a:rPr sz="13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COCO,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Serengeti,</a:t>
                      </a:r>
                      <a:r>
                        <a:rPr sz="13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ImageNet,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annotated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using</a:t>
                      </a:r>
                      <a:r>
                        <a:rPr sz="13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bounding</a:t>
                      </a:r>
                      <a:r>
                        <a:rPr sz="13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boxes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542925" marR="112395" indent="-32829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Uses</a:t>
                      </a:r>
                      <a:r>
                        <a:rPr sz="13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MobileNet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CNN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with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depth-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wise</a:t>
                      </a:r>
                      <a:r>
                        <a:rPr sz="13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separable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convolutions</a:t>
                      </a:r>
                      <a:r>
                        <a:rPr sz="13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Random</a:t>
                      </a:r>
                      <a:r>
                        <a:rPr sz="13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Forest classification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542925" marR="337185" indent="-32829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Transmits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via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 LoRaWAN 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GSM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networks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3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Flask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backend</a:t>
                      </a:r>
                      <a:r>
                        <a:rPr sz="13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3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web</a:t>
                      </a:r>
                      <a:r>
                        <a:rPr sz="13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UI 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for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54292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real-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time</a:t>
                      </a:r>
                      <a:r>
                        <a:rPr sz="13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alerts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542290" indent="-327660">
                        <a:lnSpc>
                          <a:spcPct val="100000"/>
                        </a:lnSpc>
                        <a:spcBef>
                          <a:spcPts val="245"/>
                        </a:spcBef>
                        <a:buFont typeface="Arial MT"/>
                        <a:buChar char="●"/>
                        <a:tabLst>
                          <a:tab pos="542290" algn="l"/>
                        </a:tabLst>
                      </a:pP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94.6%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542925" marR="467359">
                        <a:lnSpc>
                          <a:spcPct val="114999"/>
                        </a:lnSpc>
                      </a:pP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classification accuracy.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542925" marR="107314" indent="-32829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Low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 false-positive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rate</a:t>
                      </a:r>
                      <a:r>
                        <a:rPr sz="13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3.8%.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542925" marR="114300" indent="-328295">
                        <a:lnSpc>
                          <a:spcPct val="114999"/>
                        </a:lnSpc>
                        <a:buChar char="●"/>
                        <a:tabLst>
                          <a:tab pos="542925" algn="l"/>
                          <a:tab pos="574675" algn="l"/>
                        </a:tabLst>
                      </a:pPr>
                      <a:r>
                        <a:rPr sz="1300" dirty="0">
                          <a:latin typeface="Arial MT"/>
                          <a:cs typeface="Arial MT"/>
                        </a:rPr>
                        <a:t>	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Average</a:t>
                      </a:r>
                      <a:r>
                        <a:rPr sz="13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detection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time</a:t>
                      </a:r>
                      <a:r>
                        <a:rPr sz="13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 2.3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seconds.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542925" marR="396240" indent="-32829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MobileNet requires</a:t>
                      </a:r>
                      <a:r>
                        <a:rPr sz="13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low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computational resources.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542925" marR="110489" indent="-328295">
                        <a:lnSpc>
                          <a:spcPct val="114999"/>
                        </a:lnSpc>
                        <a:buChar char="●"/>
                        <a:tabLst>
                          <a:tab pos="542925" algn="l"/>
                          <a:tab pos="583565" algn="l"/>
                        </a:tabLst>
                      </a:pPr>
                      <a:r>
                        <a:rPr sz="1300" dirty="0">
                          <a:latin typeface="Arial MT"/>
                          <a:cs typeface="Arial MT"/>
                        </a:rPr>
                        <a:t>	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Non-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harmful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approach 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that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allows</a:t>
                      </a:r>
                      <a:r>
                        <a:rPr sz="13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natural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animal</a:t>
                      </a:r>
                      <a:r>
                        <a:rPr sz="13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movement.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542290" marR="158115" indent="-328295">
                        <a:lnSpc>
                          <a:spcPct val="114999"/>
                        </a:lnSpc>
                        <a:spcBef>
                          <a:spcPts val="15"/>
                        </a:spcBef>
                        <a:buFont typeface="Arial MT"/>
                        <a:buChar char="●"/>
                        <a:tabLst>
                          <a:tab pos="542290" algn="l"/>
                        </a:tabLst>
                      </a:pP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Performance</a:t>
                      </a:r>
                      <a:r>
                        <a:rPr sz="13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may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decrease</a:t>
                      </a:r>
                      <a:r>
                        <a:rPr sz="13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in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542290" marR="161925">
                        <a:lnSpc>
                          <a:spcPct val="114999"/>
                        </a:lnSpc>
                      </a:pP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low-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light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3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bad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weather.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542290" marR="129539" indent="-32829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290" algn="l"/>
                        </a:tabLst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Improper</a:t>
                      </a:r>
                      <a:r>
                        <a:rPr sz="13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camera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placement</a:t>
                      </a:r>
                      <a:r>
                        <a:rPr sz="13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can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create</a:t>
                      </a:r>
                      <a:r>
                        <a:rPr sz="13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blind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spots.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542290" marR="179705" indent="-32829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290" algn="l"/>
                        </a:tabLst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Requires</a:t>
                      </a:r>
                      <a:r>
                        <a:rPr sz="13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reliable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power</a:t>
                      </a:r>
                      <a:r>
                        <a:rPr sz="13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and LoRaWAN/GSM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54229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connectivity.</a:t>
                      </a:r>
                      <a:r>
                        <a:rPr sz="1300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50" dirty="0">
                          <a:latin typeface="Times New Roman"/>
                          <a:cs typeface="Times New Roman"/>
                        </a:rPr>
                        <a:t>.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542290" indent="-327660">
                        <a:lnSpc>
                          <a:spcPct val="100000"/>
                        </a:lnSpc>
                        <a:spcBef>
                          <a:spcPts val="245"/>
                        </a:spcBef>
                        <a:buFont typeface="Arial MT"/>
                        <a:buChar char="●"/>
                        <a:tabLst>
                          <a:tab pos="542290" algn="l"/>
                        </a:tabLst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An</a:t>
                      </a:r>
                      <a:r>
                        <a:rPr sz="13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IoT</a:t>
                      </a:r>
                      <a:r>
                        <a:rPr sz="13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and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542925" marR="180340">
                        <a:lnSpc>
                          <a:spcPct val="114999"/>
                        </a:lnSpc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ML-based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system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detecting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 tiger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intrusion</a:t>
                      </a:r>
                      <a:r>
                        <a:rPr sz="13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using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Raspberry 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Pi,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MobileNet</a:t>
                      </a:r>
                      <a:r>
                        <a:rPr sz="13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CNN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multiple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sensors.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It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 provides real-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time</a:t>
                      </a:r>
                      <a:r>
                        <a:rPr sz="13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alerts through LoRaWAN/GSM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542925" marR="217804">
                        <a:lnSpc>
                          <a:spcPct val="114999"/>
                        </a:lnSpc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aims</a:t>
                      </a:r>
                      <a:r>
                        <a:rPr sz="13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 reduce 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human–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wildlife conflict.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1018495" y="6607234"/>
            <a:ext cx="87630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spc="-25" dirty="0">
                <a:solidFill>
                  <a:srgbClr val="ED7D31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61962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mtClean="0"/>
              <a:t>CCD415 Project Phase I</a:t>
            </a:r>
            <a:endParaRPr spc="-50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61962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10" dirty="0"/>
              <a:t>2023-</a:t>
            </a:r>
            <a:r>
              <a:rPr dirty="0"/>
              <a:t>2027</a:t>
            </a:r>
            <a:r>
              <a:rPr spc="-5" dirty="0"/>
              <a:t> </a:t>
            </a:r>
            <a:r>
              <a:rPr spc="-10" dirty="0"/>
              <a:t>Batch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61962" rIns="0" bIns="0" rtlCol="0">
            <a:spAutoFit/>
          </a:bodyPr>
          <a:lstStyle/>
          <a:p>
            <a:pPr marL="87630">
              <a:lnSpc>
                <a:spcPts val="1410"/>
              </a:lnSpc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235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LITERATURE</a:t>
            </a:r>
            <a:r>
              <a:rPr spc="-195" dirty="0"/>
              <a:t> </a:t>
            </a:r>
            <a:r>
              <a:rPr spc="-10" dirty="0"/>
              <a:t>SURVEY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6395" y="662370"/>
            <a:ext cx="8471535" cy="4464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0340" marR="5080" indent="-168275">
              <a:lnSpc>
                <a:spcPct val="114999"/>
              </a:lnSpc>
              <a:spcBef>
                <a:spcPts val="100"/>
              </a:spcBef>
              <a:buChar char="•"/>
              <a:tabLst>
                <a:tab pos="180340" algn="l"/>
              </a:tabLst>
            </a:pPr>
            <a:r>
              <a:rPr sz="1200" spc="-30" dirty="0">
                <a:solidFill>
                  <a:srgbClr val="0C0C0C"/>
                </a:solidFill>
                <a:latin typeface="Times New Roman"/>
                <a:cs typeface="Times New Roman"/>
              </a:rPr>
              <a:t>T.</a:t>
            </a:r>
            <a:r>
              <a:rPr sz="1200" spc="-4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0C0C0C"/>
                </a:solidFill>
                <a:latin typeface="Times New Roman"/>
                <a:cs typeface="Times New Roman"/>
              </a:rPr>
              <a:t>Manikandan,</a:t>
            </a:r>
            <a:r>
              <a:rPr sz="1200" spc="-5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200" spc="-80" dirty="0">
                <a:solidFill>
                  <a:srgbClr val="0C0C0C"/>
                </a:solidFill>
                <a:latin typeface="Times New Roman"/>
                <a:cs typeface="Times New Roman"/>
              </a:rPr>
              <a:t>V.</a:t>
            </a:r>
            <a:r>
              <a:rPr sz="1200" dirty="0">
                <a:solidFill>
                  <a:srgbClr val="0C0C0C"/>
                </a:solidFill>
                <a:latin typeface="Times New Roman"/>
                <a:cs typeface="Times New Roman"/>
              </a:rPr>
              <a:t> Nandalal,</a:t>
            </a:r>
            <a:r>
              <a:rPr sz="1200" spc="-1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C0C0C"/>
                </a:solidFill>
                <a:latin typeface="Times New Roman"/>
                <a:cs typeface="Times New Roman"/>
              </a:rPr>
              <a:t>S.</a:t>
            </a:r>
            <a:r>
              <a:rPr sz="1200" spc="-1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C0C0C"/>
                </a:solidFill>
                <a:latin typeface="Times New Roman"/>
                <a:cs typeface="Times New Roman"/>
              </a:rPr>
              <a:t>Joshua</a:t>
            </a:r>
            <a:r>
              <a:rPr sz="1200" spc="-1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C0C0C"/>
                </a:solidFill>
                <a:latin typeface="Times New Roman"/>
                <a:cs typeface="Times New Roman"/>
              </a:rPr>
              <a:t>Kumaresan,</a:t>
            </a:r>
            <a:r>
              <a:rPr sz="1200" spc="-1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C0C0C"/>
                </a:solidFill>
                <a:latin typeface="Times New Roman"/>
                <a:cs typeface="Times New Roman"/>
              </a:rPr>
              <a:t>R.</a:t>
            </a:r>
            <a:r>
              <a:rPr sz="1200" spc="-1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C0C0C"/>
                </a:solidFill>
                <a:latin typeface="Times New Roman"/>
                <a:cs typeface="Times New Roman"/>
              </a:rPr>
              <a:t>Babuji,</a:t>
            </a:r>
            <a:r>
              <a:rPr sz="1200" spc="-1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0C0C0C"/>
                </a:solidFill>
                <a:latin typeface="Times New Roman"/>
                <a:cs typeface="Times New Roman"/>
              </a:rPr>
              <a:t>and</a:t>
            </a:r>
            <a:r>
              <a:rPr sz="1200" spc="-7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C0C0C"/>
                </a:solidFill>
                <a:latin typeface="Times New Roman"/>
                <a:cs typeface="Times New Roman"/>
              </a:rPr>
              <a:t>A.</a:t>
            </a:r>
            <a:r>
              <a:rPr sz="1200" spc="-1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0C0C0C"/>
                </a:solidFill>
                <a:latin typeface="Times New Roman"/>
                <a:cs typeface="Times New Roman"/>
              </a:rPr>
              <a:t>Muruganandham, </a:t>
            </a:r>
            <a:r>
              <a:rPr sz="1200" dirty="0">
                <a:solidFill>
                  <a:srgbClr val="0C0C0C"/>
                </a:solidFill>
                <a:latin typeface="Times New Roman"/>
                <a:cs typeface="Times New Roman"/>
              </a:rPr>
              <a:t>"IoT</a:t>
            </a:r>
            <a:r>
              <a:rPr sz="1200" spc="-4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0C0C0C"/>
                </a:solidFill>
                <a:latin typeface="Times New Roman"/>
                <a:cs typeface="Times New Roman"/>
              </a:rPr>
              <a:t>Based</a:t>
            </a:r>
            <a:r>
              <a:rPr sz="1200" spc="-7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C0C0C"/>
                </a:solidFill>
                <a:latin typeface="Times New Roman"/>
                <a:cs typeface="Times New Roman"/>
              </a:rPr>
              <a:t>Animal</a:t>
            </a:r>
            <a:r>
              <a:rPr sz="1200" spc="-2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C0C0C"/>
                </a:solidFill>
                <a:latin typeface="Times New Roman"/>
                <a:cs typeface="Times New Roman"/>
              </a:rPr>
              <a:t>Detection</a:t>
            </a:r>
            <a:r>
              <a:rPr sz="1200" spc="-10" dirty="0">
                <a:solidFill>
                  <a:srgbClr val="0C0C0C"/>
                </a:solidFill>
                <a:latin typeface="Times New Roman"/>
                <a:cs typeface="Times New Roman"/>
              </a:rPr>
              <a:t> and</a:t>
            </a:r>
            <a:r>
              <a:rPr sz="1200" spc="-7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C0C0C"/>
                </a:solidFill>
                <a:latin typeface="Times New Roman"/>
                <a:cs typeface="Times New Roman"/>
              </a:rPr>
              <a:t>Alert </a:t>
            </a:r>
            <a:r>
              <a:rPr sz="1200" spc="-10" dirty="0">
                <a:solidFill>
                  <a:srgbClr val="0C0C0C"/>
                </a:solidFill>
                <a:latin typeface="Times New Roman"/>
                <a:cs typeface="Times New Roman"/>
              </a:rPr>
              <a:t>System </a:t>
            </a:r>
            <a:r>
              <a:rPr sz="1200" dirty="0">
                <a:solidFill>
                  <a:srgbClr val="0C0C0C"/>
                </a:solidFill>
                <a:latin typeface="Times New Roman"/>
                <a:cs typeface="Times New Roman"/>
              </a:rPr>
              <a:t>for</a:t>
            </a:r>
            <a:r>
              <a:rPr sz="1200" spc="-3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C0C0C"/>
                </a:solidFill>
                <a:latin typeface="Times New Roman"/>
                <a:cs typeface="Times New Roman"/>
              </a:rPr>
              <a:t>Farm</a:t>
            </a:r>
            <a:r>
              <a:rPr sz="1200" spc="-3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0C0C0C"/>
                </a:solidFill>
                <a:latin typeface="Times New Roman"/>
                <a:cs typeface="Times New Roman"/>
              </a:rPr>
              <a:t>Fields",2024.</a:t>
            </a:r>
            <a:endParaRPr sz="120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53876" y="1177684"/>
          <a:ext cx="8622027" cy="52387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396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55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37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630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pPr marL="828675" marR="332740" indent="-48895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Core</a:t>
                      </a:r>
                      <a:r>
                        <a:rPr sz="16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Methodologies</a:t>
                      </a:r>
                      <a:r>
                        <a:rPr sz="1600" b="1" spc="-4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&amp;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Algorithms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69977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Advantages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44958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Limitations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40259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Summary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59630">
                <a:tc>
                  <a:txBody>
                    <a:bodyPr/>
                    <a:lstStyle/>
                    <a:p>
                      <a:pPr marL="542925" marR="296545" indent="-328295">
                        <a:lnSpc>
                          <a:spcPct val="114999"/>
                        </a:lnSpc>
                        <a:spcBef>
                          <a:spcPts val="15"/>
                        </a:spcBef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Connects</a:t>
                      </a:r>
                      <a:r>
                        <a:rPr sz="13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an</a:t>
                      </a:r>
                      <a:r>
                        <a:rPr sz="1300" spc="-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Arduino</a:t>
                      </a:r>
                      <a:r>
                        <a:rPr sz="13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UNO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3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central</a:t>
                      </a:r>
                      <a:r>
                        <a:rPr sz="13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control</a:t>
                      </a:r>
                      <a:r>
                        <a:rPr sz="13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3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50" dirty="0">
                          <a:latin typeface="Times New Roman"/>
                          <a:cs typeface="Times New Roman"/>
                        </a:rPr>
                        <a:t>a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NodeMCU</a:t>
                      </a:r>
                      <a:r>
                        <a:rPr sz="13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module</a:t>
                      </a:r>
                      <a:r>
                        <a:rPr sz="13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for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Adafruit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IoT</a:t>
                      </a:r>
                      <a:r>
                        <a:rPr sz="13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cloud integration.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542925" marR="128905" indent="-32829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Uses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high-frequency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ultrasonic</a:t>
                      </a:r>
                      <a:r>
                        <a:rPr sz="13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sensors</a:t>
                      </a:r>
                      <a:r>
                        <a:rPr sz="13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3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detect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animal</a:t>
                      </a:r>
                      <a:r>
                        <a:rPr sz="13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motion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proximity.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542925" marR="140970" indent="-32829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Triggers</a:t>
                      </a:r>
                      <a:r>
                        <a:rPr sz="13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audio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(animal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sounds),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fog/smoke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generators,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3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LED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lights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scare</a:t>
                      </a:r>
                      <a:r>
                        <a:rPr sz="13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off</a:t>
                      </a:r>
                      <a:r>
                        <a:rPr sz="13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intruders.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542925" marR="113664" indent="-32829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Uses</a:t>
                      </a:r>
                      <a:r>
                        <a:rPr sz="13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GSM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module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SMS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alerts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3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3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Telegram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bot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for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real-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time</a:t>
                      </a:r>
                      <a:r>
                        <a:rPr sz="13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photo</a:t>
                      </a:r>
                      <a:r>
                        <a:rPr sz="13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transmission.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542925" marR="156210" indent="-328295">
                        <a:lnSpc>
                          <a:spcPct val="114999"/>
                        </a:lnSpc>
                        <a:spcBef>
                          <a:spcPts val="15"/>
                        </a:spcBef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Uses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multi-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sensory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deterrents</a:t>
                      </a:r>
                      <a:r>
                        <a:rPr sz="13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(audio,</a:t>
                      </a:r>
                      <a:r>
                        <a:rPr sz="13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fog,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LED</a:t>
                      </a:r>
                      <a:r>
                        <a:rPr sz="13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lights)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actively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drive</a:t>
                      </a:r>
                      <a:r>
                        <a:rPr sz="13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animals</a:t>
                      </a:r>
                      <a:r>
                        <a:rPr sz="13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away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rather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than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just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 recording intrusion.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542925" marR="88900" indent="-32829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Supports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both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 automatic sensor-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triggered</a:t>
                      </a:r>
                      <a:r>
                        <a:rPr sz="13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defense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3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remote</a:t>
                      </a:r>
                      <a:r>
                        <a:rPr sz="13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manual</a:t>
                      </a:r>
                      <a:r>
                        <a:rPr sz="13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control via</a:t>
                      </a:r>
                      <a:r>
                        <a:rPr sz="13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Adafruit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 and</a:t>
                      </a:r>
                      <a:r>
                        <a:rPr sz="13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Telegram.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542925" marR="169545" indent="-32829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Sends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GSM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SMS</a:t>
                      </a:r>
                      <a:r>
                        <a:rPr sz="13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text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alerts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basic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phones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 and 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Telegram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photo notifications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3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smart devices.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542925" marR="129539" indent="-328295">
                        <a:lnSpc>
                          <a:spcPct val="114999"/>
                        </a:lnSpc>
                        <a:spcBef>
                          <a:spcPts val="15"/>
                        </a:spcBef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Requires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continuous</a:t>
                      </a:r>
                      <a:r>
                        <a:rPr sz="13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30" dirty="0">
                          <a:latin typeface="Times New Roman"/>
                          <a:cs typeface="Times New Roman"/>
                        </a:rPr>
                        <a:t>Wi-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Fi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GSM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coverage,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which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can</a:t>
                      </a:r>
                      <a:r>
                        <a:rPr sz="13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be</a:t>
                      </a:r>
                      <a:r>
                        <a:rPr sz="13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unreliable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3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rural</a:t>
                      </a:r>
                      <a:r>
                        <a:rPr sz="13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farmlands.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542925" marR="139700" indent="-32829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Ultrasonic</a:t>
                      </a:r>
                      <a:r>
                        <a:rPr sz="13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sensors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need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precise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positioning, 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audio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deterrents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require</a:t>
                      </a:r>
                      <a:r>
                        <a:rPr sz="13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manual</a:t>
                      </a:r>
                      <a:r>
                        <a:rPr sz="13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or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server-matched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sound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selection.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89535">
                        <a:lnSpc>
                          <a:spcPct val="114999"/>
                        </a:lnSpc>
                        <a:spcBef>
                          <a:spcPts val="15"/>
                        </a:spcBef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Implements</a:t>
                      </a:r>
                      <a:r>
                        <a:rPr sz="13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smart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farm</a:t>
                      </a:r>
                      <a:r>
                        <a:rPr sz="13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protection</a:t>
                      </a:r>
                      <a:r>
                        <a:rPr sz="13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system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using</a:t>
                      </a:r>
                      <a:r>
                        <a:rPr sz="1300" spc="-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Arduino,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NodeMCU,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ultrasonic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sensors, 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GSM,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Telegram,</a:t>
                      </a:r>
                      <a:r>
                        <a:rPr sz="13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fog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machines, 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LED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lighting,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scary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sound playback 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actively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repel</a:t>
                      </a:r>
                      <a:r>
                        <a:rPr sz="13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wild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animals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3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notify farmers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1018495" y="6607234"/>
            <a:ext cx="87630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spc="-25" dirty="0">
                <a:solidFill>
                  <a:srgbClr val="ED7D31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61962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mtClean="0"/>
              <a:t>CCD415 Project Phase I</a:t>
            </a:r>
            <a:endParaRPr spc="-50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61962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10" dirty="0"/>
              <a:t>2023-</a:t>
            </a:r>
            <a:r>
              <a:rPr dirty="0"/>
              <a:t>2027</a:t>
            </a:r>
            <a:r>
              <a:rPr spc="-5" dirty="0"/>
              <a:t> </a:t>
            </a:r>
            <a:r>
              <a:rPr spc="-10" dirty="0"/>
              <a:t>Batch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61962" rIns="0" bIns="0" rtlCol="0">
            <a:spAutoFit/>
          </a:bodyPr>
          <a:lstStyle/>
          <a:p>
            <a:pPr marL="87630">
              <a:lnSpc>
                <a:spcPts val="1410"/>
              </a:lnSpc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235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LITERATURE</a:t>
            </a:r>
            <a:r>
              <a:rPr spc="-195" dirty="0"/>
              <a:t> </a:t>
            </a:r>
            <a:r>
              <a:rPr spc="-10" dirty="0"/>
              <a:t>SURVEY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19885" y="689802"/>
            <a:ext cx="80467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6215" indent="-183515">
              <a:lnSpc>
                <a:spcPct val="100000"/>
              </a:lnSpc>
              <a:spcBef>
                <a:spcPts val="100"/>
              </a:spcBef>
              <a:buChar char="•"/>
              <a:tabLst>
                <a:tab pos="196215" algn="l"/>
              </a:tabLst>
            </a:pPr>
            <a:r>
              <a:rPr sz="1200" dirty="0">
                <a:latin typeface="Times New Roman"/>
                <a:cs typeface="Times New Roman"/>
              </a:rPr>
              <a:t>Sudharshan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Duth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65" dirty="0">
                <a:latin typeface="Times New Roman"/>
                <a:cs typeface="Times New Roman"/>
              </a:rPr>
              <a:t>P,</a:t>
            </a:r>
            <a:r>
              <a:rPr sz="1200" spc="-10" dirty="0">
                <a:latin typeface="Times New Roman"/>
                <a:cs typeface="Times New Roman"/>
              </a:rPr>
              <a:t> Maneesha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Shibu,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Nithyashree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"Animal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Detection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Night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Light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Videos </a:t>
            </a:r>
            <a:r>
              <a:rPr sz="1200" dirty="0">
                <a:latin typeface="Times New Roman"/>
                <a:cs typeface="Times New Roman"/>
              </a:rPr>
              <a:t>Using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Deep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Learning",2024</a:t>
            </a:r>
            <a:endParaRPr sz="120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96076" y="1105934"/>
          <a:ext cx="8540113" cy="53047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323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77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78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21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3725">
                <a:tc>
                  <a:txBody>
                    <a:bodyPr/>
                    <a:lstStyle/>
                    <a:p>
                      <a:pPr marL="774700" marR="278765" indent="-48895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Core</a:t>
                      </a:r>
                      <a:r>
                        <a:rPr sz="16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Methodologies</a:t>
                      </a:r>
                      <a:r>
                        <a:rPr sz="1600" b="1" spc="-4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&amp;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Algorithms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73025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Advantages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461009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Limitations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37147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Summary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11065">
                <a:tc>
                  <a:txBody>
                    <a:bodyPr/>
                    <a:lstStyle/>
                    <a:p>
                      <a:pPr marL="542925" marR="99695" indent="-320675">
                        <a:lnSpc>
                          <a:spcPct val="114999"/>
                        </a:lnSpc>
                        <a:spcBef>
                          <a:spcPts val="35"/>
                        </a:spcBef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YOLOv8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Model: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Uses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anchor-free</a:t>
                      </a:r>
                      <a:r>
                        <a:rPr sz="12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YOLOv8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model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detect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nocturnal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animals accurately.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104139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Model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Comparison: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Compares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YOLOv8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four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other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models: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Faster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R-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CNN,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RetinaNet,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SSD,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and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MobileNet.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168910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Image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Processing: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Resizes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images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640×640,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improves brightness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contrast,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combines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color,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texture,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shape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features.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130175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Nighttime Dataset: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Uses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10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nocturnal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animal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species,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with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500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images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per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species,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collected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from</a:t>
                      </a:r>
                      <a:r>
                        <a:rPr sz="12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YouTube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using Roboflow.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542290" marR="104139" indent="-320675">
                        <a:lnSpc>
                          <a:spcPct val="114999"/>
                        </a:lnSpc>
                        <a:spcBef>
                          <a:spcPts val="35"/>
                        </a:spcBef>
                        <a:buFont typeface="Arial MT"/>
                        <a:buChar char="●"/>
                        <a:tabLst>
                          <a:tab pos="542290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High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Nighttime</a:t>
                      </a:r>
                      <a:r>
                        <a:rPr sz="12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Accuracy: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Achieved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overall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detection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accuracy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87.50%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29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(Precision: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98.7%,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Recall: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290" marR="167005">
                        <a:lnSpc>
                          <a:spcPct val="114999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98.5%)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across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all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10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species,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Elephant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detection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reaching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87.49%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(Precision: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29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99.2%,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Recall: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100%).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290" marR="146050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290" algn="l"/>
                        </a:tabLst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Real-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Time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Night Surveillance: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Demonstrates efficient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real-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time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processing capabilities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suited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for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nighttime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monitoring,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overcoming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low-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light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conditions,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motion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blur,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background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occlusion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542290" marR="116839" indent="-320675">
                        <a:lnSpc>
                          <a:spcPct val="114999"/>
                        </a:lnSpc>
                        <a:spcBef>
                          <a:spcPts val="35"/>
                        </a:spcBef>
                        <a:buFont typeface="Arial MT"/>
                        <a:buChar char="●"/>
                        <a:tabLst>
                          <a:tab pos="542290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Poor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Performance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in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Baseline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Models: Alternative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baseline architectures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suffered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major performance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drops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under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nocturnal conditions.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290" marR="85725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290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Heavy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Preprocessing Requirement: Highly dependent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on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extensive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290" marR="229870">
                        <a:lnSpc>
                          <a:spcPct val="114999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night-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vision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image enhancement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handle</a:t>
                      </a:r>
                      <a:r>
                        <a:rPr sz="12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dark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shadows,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shifting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illumination,</a:t>
                      </a:r>
                      <a:r>
                        <a:rPr sz="12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plant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clutter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542925" marR="179070" indent="-320675">
                        <a:lnSpc>
                          <a:spcPct val="114999"/>
                        </a:lnSpc>
                        <a:spcBef>
                          <a:spcPts val="35"/>
                        </a:spcBef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Evaluates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five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deep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learning architectures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nighttime wildlife surveillance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across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10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species, demonstrating that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YOLOv8 achieves superior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492125" algn="just">
                        <a:lnSpc>
                          <a:spcPct val="114999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real-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time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detection accuracy (87.5%)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91440">
                        <a:lnSpc>
                          <a:spcPct val="114999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compared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traditional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object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detectors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/>
          <p:nvPr/>
        </p:nvSpPr>
        <p:spPr>
          <a:xfrm>
            <a:off x="1018495" y="6607234"/>
            <a:ext cx="87630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spc="-25" dirty="0">
                <a:solidFill>
                  <a:srgbClr val="ED7D31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61962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mtClean="0"/>
              <a:t>CCD415 Project Phase I</a:t>
            </a:r>
            <a:endParaRPr spc="-50"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61962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10" dirty="0"/>
              <a:t>2023-</a:t>
            </a:r>
            <a:r>
              <a:rPr dirty="0"/>
              <a:t>2027</a:t>
            </a:r>
            <a:r>
              <a:rPr spc="-5" dirty="0"/>
              <a:t> </a:t>
            </a:r>
            <a:r>
              <a:rPr spc="-10" dirty="0"/>
              <a:t>Batch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61962" rIns="0" bIns="0" rtlCol="0">
            <a:spAutoFit/>
          </a:bodyPr>
          <a:lstStyle/>
          <a:p>
            <a:pPr marL="87630">
              <a:lnSpc>
                <a:spcPts val="1410"/>
              </a:lnSpc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235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LITERATURE</a:t>
            </a:r>
            <a:r>
              <a:rPr spc="-195" dirty="0"/>
              <a:t> </a:t>
            </a:r>
            <a:r>
              <a:rPr spc="-10" dirty="0"/>
              <a:t>SURVEY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6395" y="662370"/>
            <a:ext cx="8341359" cy="4464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0340" marR="5080" indent="-168275">
              <a:lnSpc>
                <a:spcPct val="114999"/>
              </a:lnSpc>
              <a:spcBef>
                <a:spcPts val="100"/>
              </a:spcBef>
              <a:buChar char="•"/>
              <a:tabLst>
                <a:tab pos="180340" algn="l"/>
              </a:tabLst>
            </a:pPr>
            <a:r>
              <a:rPr sz="1200" dirty="0">
                <a:latin typeface="Times New Roman"/>
                <a:cs typeface="Times New Roman"/>
              </a:rPr>
              <a:t>Prabhat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Kumar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Panda,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Cherlopalli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Srujan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Kumar,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Bommu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Sai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Vivek,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Masura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Balachandra,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Shashi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Kant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Dargar,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"Implementation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Wild</a:t>
            </a:r>
            <a:r>
              <a:rPr sz="1200" spc="-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Animal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Intrusion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Detection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Model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Based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Internet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Things",2022.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37066" y="1331631"/>
            <a:ext cx="49530" cy="154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00"/>
              </a:lnSpc>
            </a:pPr>
            <a:r>
              <a:rPr sz="1100" spc="-50" dirty="0">
                <a:latin typeface="Times New Roman"/>
                <a:cs typeface="Times New Roman"/>
              </a:rPr>
              <a:t>•</a:t>
            </a:r>
            <a:endParaRPr sz="1100">
              <a:latin typeface="Times New Roman"/>
              <a:cs typeface="Times New Roman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96076" y="1240734"/>
          <a:ext cx="8540113" cy="51860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324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93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662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21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pPr marL="875030" marR="379095" indent="-48895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Core</a:t>
                      </a:r>
                      <a:r>
                        <a:rPr sz="16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Methodologies</a:t>
                      </a:r>
                      <a:r>
                        <a:rPr sz="1600" b="1" spc="-4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&amp;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Algorithms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56134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Advantages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53022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Limitations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37147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Summary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06925">
                <a:tc>
                  <a:txBody>
                    <a:bodyPr/>
                    <a:lstStyle/>
                    <a:p>
                      <a:pPr marL="542925" marR="131445" indent="-320675">
                        <a:lnSpc>
                          <a:spcPct val="114999"/>
                        </a:lnSpc>
                        <a:spcBef>
                          <a:spcPts val="35"/>
                        </a:spcBef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Dual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Microcontrollers: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Links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two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Arduino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UNOs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wirelessly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using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NRF24L01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RF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transceiver modules.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143510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Boundary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Sensing: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Deploys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four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ultrasonic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sensors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at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field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corners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detect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animal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distance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motion.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169545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Mobile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Patrol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Robot: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Operates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a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line-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following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robot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equipped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ESP32-CAM,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IR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path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sensors,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L298N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driver,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RTC,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servo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motor.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273685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Alerts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&amp;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Deterrents: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Captures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photos,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activates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buzzer,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sends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instant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push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notifications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via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Blynk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IoT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app.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542290" marR="84455" indent="-320675">
                        <a:lnSpc>
                          <a:spcPct val="114999"/>
                        </a:lnSpc>
                        <a:spcBef>
                          <a:spcPts val="35"/>
                        </a:spcBef>
                        <a:buFont typeface="Arial MT"/>
                        <a:buChar char="●"/>
                        <a:tabLst>
                          <a:tab pos="542290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Mobile</a:t>
                      </a:r>
                      <a:r>
                        <a:rPr sz="12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Patrol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Coverage: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Covers</a:t>
                      </a:r>
                      <a:r>
                        <a:rPr sz="12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large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perimeter boundaries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dynamically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without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needing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costly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static</a:t>
                      </a:r>
                      <a:r>
                        <a:rPr sz="12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camera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network.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290" marR="102235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290" algn="l"/>
                        </a:tabLst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Low-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Cost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Hardware: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Built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using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affordable, low-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power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components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(Arduino,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ESP32-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CAM,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ultrasonic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sensors, NRF24L01).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290" marR="116839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290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Instant</a:t>
                      </a:r>
                      <a:r>
                        <a:rPr sz="12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Photo</a:t>
                      </a:r>
                      <a:r>
                        <a:rPr sz="1200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Alerts: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Sends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real-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time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intruder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photos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notifications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directly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user's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mobile</a:t>
                      </a:r>
                      <a:r>
                        <a:rPr sz="12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phone.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542925" marR="334010" indent="-320675">
                        <a:lnSpc>
                          <a:spcPct val="114999"/>
                        </a:lnSpc>
                        <a:spcBef>
                          <a:spcPts val="35"/>
                        </a:spcBef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Restricted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Pathway Movement: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The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253365">
                        <a:lnSpc>
                          <a:spcPct val="114999"/>
                        </a:lnSpc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E-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vehicle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requires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a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physical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black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line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path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ground,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making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it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difficult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operate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rough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or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uneven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terrain.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186690" indent="-320675" algn="just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  <a:tab pos="544830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	Fixed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Motion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Timer: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Vehicle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movement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is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restricted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2-minute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run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cycles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per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trigger.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101600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No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Species Classification:</a:t>
                      </a:r>
                      <a:r>
                        <a:rPr sz="12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Lacks on-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board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deep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learning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models</a:t>
                      </a:r>
                      <a:r>
                        <a:rPr sz="12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automatically</a:t>
                      </a:r>
                      <a:r>
                        <a:rPr sz="12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identify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type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animal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542925" marR="149860" indent="-320675">
                        <a:lnSpc>
                          <a:spcPct val="114999"/>
                        </a:lnSpc>
                        <a:spcBef>
                          <a:spcPts val="35"/>
                        </a:spcBef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Implements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an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IoT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farm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security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model where boundary ultrasonic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sensors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trigger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mobile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85725">
                        <a:lnSpc>
                          <a:spcPct val="114999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line-following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vehicle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an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ESP32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camera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capture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intruder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photos,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sound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alarm buzzer,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notify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farmers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via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Blynk.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1018495" y="6607234"/>
            <a:ext cx="87630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spc="-25" dirty="0">
                <a:solidFill>
                  <a:srgbClr val="ED7D31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61962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mtClean="0"/>
              <a:t>CCD415 Project Phase I</a:t>
            </a:r>
            <a:endParaRPr spc="-50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61962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10" dirty="0"/>
              <a:t>2023-</a:t>
            </a:r>
            <a:r>
              <a:rPr dirty="0"/>
              <a:t>2027</a:t>
            </a:r>
            <a:r>
              <a:rPr spc="-5" dirty="0"/>
              <a:t> </a:t>
            </a:r>
            <a:r>
              <a:rPr spc="-10" dirty="0"/>
              <a:t>Batch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61962" rIns="0" bIns="0" rtlCol="0">
            <a:spAutoFit/>
          </a:bodyPr>
          <a:lstStyle/>
          <a:p>
            <a:pPr marL="87630">
              <a:lnSpc>
                <a:spcPts val="1410"/>
              </a:lnSpc>
            </a:pPr>
            <a:fld id="{81D60167-4931-47E6-BA6A-407CBD079E47}" type="slidenum">
              <a:rPr spc="-25" dirty="0"/>
              <a:t>23</a:t>
            </a:fld>
            <a:endParaRPr spc="-25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235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LITERATURE</a:t>
            </a:r>
            <a:r>
              <a:rPr spc="-195" dirty="0"/>
              <a:t> </a:t>
            </a:r>
            <a:r>
              <a:rPr spc="-10" dirty="0"/>
              <a:t>SURVEY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32710" y="622345"/>
            <a:ext cx="8484870" cy="4464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6850" marR="5080" indent="-184785">
              <a:lnSpc>
                <a:spcPct val="114999"/>
              </a:lnSpc>
              <a:spcBef>
                <a:spcPts val="100"/>
              </a:spcBef>
              <a:buChar char="•"/>
              <a:tabLst>
                <a:tab pos="196850" algn="l"/>
              </a:tabLst>
            </a:pPr>
            <a:r>
              <a:rPr sz="1200" dirty="0">
                <a:latin typeface="Times New Roman"/>
                <a:cs typeface="Times New Roman"/>
              </a:rPr>
              <a:t>K.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S.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65" dirty="0">
                <a:latin typeface="Times New Roman"/>
                <a:cs typeface="Times New Roman"/>
              </a:rPr>
              <a:t>P.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Premarathna,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R.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M.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K.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30" dirty="0">
                <a:latin typeface="Times New Roman"/>
                <a:cs typeface="Times New Roman"/>
              </a:rPr>
              <a:t>T.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Rathnayaka,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J.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Charles,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"An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Elephant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Detection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System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Prevent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Human-</a:t>
            </a:r>
            <a:r>
              <a:rPr sz="1200" spc="-10" dirty="0">
                <a:latin typeface="Times New Roman"/>
                <a:cs typeface="Times New Roman"/>
              </a:rPr>
              <a:t>Elephant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Conflict</a:t>
            </a:r>
            <a:r>
              <a:rPr sz="1200" spc="-25" dirty="0">
                <a:latin typeface="Times New Roman"/>
                <a:cs typeface="Times New Roman"/>
              </a:rPr>
              <a:t> and </a:t>
            </a:r>
            <a:r>
              <a:rPr sz="1200" spc="-10" dirty="0">
                <a:latin typeface="Times New Roman"/>
                <a:cs typeface="Times New Roman"/>
              </a:rPr>
              <a:t>Tracking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Elephant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Using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Deep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Learning"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,2020</a:t>
            </a:r>
            <a:endParaRPr sz="120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96089" y="1152009"/>
          <a:ext cx="8538843" cy="51733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9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17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04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82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pPr marL="854710" marR="358775" indent="-48895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Core</a:t>
                      </a:r>
                      <a:r>
                        <a:rPr sz="16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Methodologies</a:t>
                      </a:r>
                      <a:r>
                        <a:rPr sz="1600" b="1" spc="-4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&amp;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Algorithms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65087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Advantages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50292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Limitations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33020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Summary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94225">
                <a:tc>
                  <a:txBody>
                    <a:bodyPr/>
                    <a:lstStyle/>
                    <a:p>
                      <a:pPr marL="542925" marR="278765" indent="-320675">
                        <a:lnSpc>
                          <a:spcPct val="114999"/>
                        </a:lnSpc>
                        <a:spcBef>
                          <a:spcPts val="35"/>
                        </a:spcBef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CNN</a:t>
                      </a:r>
                      <a:r>
                        <a:rPr sz="12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Architecture:</a:t>
                      </a:r>
                      <a:r>
                        <a:rPr sz="12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Employs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a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3-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layer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Conv2D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model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with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ReLU,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Max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Pooling,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Dropout,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Softmax.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232410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Scale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&amp;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Localization: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Uses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Gaussian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Pyramids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Sliding Windows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locate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elephants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across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varying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sizes.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328295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Feature</a:t>
                      </a:r>
                      <a:r>
                        <a:rPr sz="1200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Matching:</a:t>
                      </a:r>
                      <a:r>
                        <a:rPr sz="12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Applies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Template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Color-Based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Matching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elephant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feature identification.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326390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Bounding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Box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Cleanup: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Uses Non-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Maximum</a:t>
                      </a:r>
                      <a:r>
                        <a:rPr sz="12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Suppression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(NMS)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eliminate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duplicate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detection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boxes.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567690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Dataset: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Trained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 on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8,250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annotated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images.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542925" marR="171450" indent="-320675">
                        <a:lnSpc>
                          <a:spcPct val="114999"/>
                        </a:lnSpc>
                        <a:spcBef>
                          <a:spcPts val="35"/>
                        </a:spcBef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High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Elephant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Detection Accuracy: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Reached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94%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accuracy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detecting elephants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after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50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training epochs.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129539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Non-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Invasive</a:t>
                      </a:r>
                      <a:r>
                        <a:rPr sz="120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Early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Warning: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Offers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safe,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visual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monitoring alternative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dangerous electric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fences,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expensive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seismic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sensors,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ineffective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manual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chasing methods.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300355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Real-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Time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Border Surveillance: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Leverages camera-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based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visual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tracking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enhance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269875">
                        <a:lnSpc>
                          <a:spcPct val="114999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real-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time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intrusion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alerts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along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forest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boundary zones.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542925" marR="85090" indent="-320675">
                        <a:lnSpc>
                          <a:spcPct val="114999"/>
                        </a:lnSpc>
                        <a:spcBef>
                          <a:spcPts val="35"/>
                        </a:spcBef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Low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Non-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Elephant Accuracy: Demonstrates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significantly</a:t>
                      </a:r>
                      <a:r>
                        <a:rPr sz="12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lower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detection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rates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for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other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species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(Deer: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50%,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Bear: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60%,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Hen: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45%,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Tiger: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55%,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Fox: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60%).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105410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Environmental 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&amp;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Maintenance Vulnerability: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Scalability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operational performance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are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constrained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by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maintenance requirements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under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severe</a:t>
                      </a:r>
                      <a:r>
                        <a:rPr sz="12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weather conditions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like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heavy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rain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strong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winds.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542290" indent="-320040">
                        <a:lnSpc>
                          <a:spcPct val="100000"/>
                        </a:lnSpc>
                        <a:spcBef>
                          <a:spcPts val="250"/>
                        </a:spcBef>
                        <a:buFont typeface="Arial MT"/>
                        <a:buChar char="●"/>
                        <a:tabLst>
                          <a:tab pos="542290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Proposes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a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106045">
                        <a:lnSpc>
                          <a:spcPct val="114999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6-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layer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CNN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computer vision</a:t>
                      </a:r>
                      <a:r>
                        <a:rPr sz="12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pipeline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automatically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detect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track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Asian elephants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along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Sri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Lankan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forest boundaries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mitigate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human-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elepha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nt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conflict (HEC),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139065">
                        <a:lnSpc>
                          <a:spcPct val="114999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protect</a:t>
                      </a:r>
                      <a:r>
                        <a:rPr sz="12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crops,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prevent casualties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1018495" y="6607234"/>
            <a:ext cx="87630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spc="-25" dirty="0">
                <a:solidFill>
                  <a:srgbClr val="ED7D31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61962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mtClean="0"/>
              <a:t>CCD415 Project Phase I</a:t>
            </a:r>
            <a:endParaRPr spc="-50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61962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10" dirty="0"/>
              <a:t>2023-</a:t>
            </a:r>
            <a:r>
              <a:rPr dirty="0"/>
              <a:t>2027</a:t>
            </a:r>
            <a:r>
              <a:rPr spc="-5" dirty="0"/>
              <a:t> </a:t>
            </a:r>
            <a:r>
              <a:rPr spc="-10" dirty="0"/>
              <a:t>Batch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61962" rIns="0" bIns="0" rtlCol="0">
            <a:spAutoFit/>
          </a:bodyPr>
          <a:lstStyle/>
          <a:p>
            <a:pPr marL="87630">
              <a:lnSpc>
                <a:spcPts val="1410"/>
              </a:lnSpc>
            </a:pPr>
            <a:fld id="{81D60167-4931-47E6-BA6A-407CBD079E47}" type="slidenum">
              <a:rPr spc="-25" dirty="0"/>
              <a:t>24</a:t>
            </a:fld>
            <a:endParaRPr spc="-25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235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LITERATURE</a:t>
            </a:r>
            <a:r>
              <a:rPr spc="-195" dirty="0"/>
              <a:t> </a:t>
            </a:r>
            <a:r>
              <a:rPr spc="-10" dirty="0"/>
              <a:t>SURVEY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6266" y="659576"/>
            <a:ext cx="8204200" cy="481330"/>
          </a:xfrm>
          <a:prstGeom prst="rect">
            <a:avLst/>
          </a:prstGeom>
        </p:spPr>
        <p:txBody>
          <a:bodyPr vert="horz" wrap="square" lIns="0" tIns="42544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334"/>
              </a:spcBef>
              <a:buChar char="•"/>
              <a:tabLst>
                <a:tab pos="298450" algn="l"/>
              </a:tabLst>
            </a:pPr>
            <a:r>
              <a:rPr sz="1300" dirty="0">
                <a:latin typeface="Times New Roman"/>
                <a:cs typeface="Times New Roman"/>
              </a:rPr>
              <a:t>AI-Based</a:t>
            </a:r>
            <a:r>
              <a:rPr sz="1300" spc="-6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Smart</a:t>
            </a:r>
            <a:r>
              <a:rPr sz="1300" spc="-25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Surveillance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System</a:t>
            </a:r>
            <a:r>
              <a:rPr sz="1300" spc="-2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Using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Raspberry</a:t>
            </a:r>
            <a:r>
              <a:rPr sz="1300" spc="-1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Pi</a:t>
            </a:r>
            <a:r>
              <a:rPr sz="1300" spc="-2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and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Embedded</a:t>
            </a:r>
            <a:r>
              <a:rPr sz="1300" spc="-4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Vision</a:t>
            </a:r>
            <a:r>
              <a:rPr sz="1300" spc="28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B.</a:t>
            </a:r>
            <a:r>
              <a:rPr sz="1300" spc="-1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Girirajan,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S.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Prabu,</a:t>
            </a:r>
            <a:r>
              <a:rPr sz="1300" spc="-40" dirty="0">
                <a:latin typeface="Times New Roman"/>
                <a:cs typeface="Times New Roman"/>
              </a:rPr>
              <a:t> </a:t>
            </a:r>
            <a:r>
              <a:rPr sz="1300" spc="-90" dirty="0">
                <a:latin typeface="Times New Roman"/>
                <a:cs typeface="Times New Roman"/>
              </a:rPr>
              <a:t>V.</a:t>
            </a:r>
            <a:r>
              <a:rPr sz="1300" spc="-25" dirty="0">
                <a:latin typeface="Times New Roman"/>
                <a:cs typeface="Times New Roman"/>
              </a:rPr>
              <a:t> </a:t>
            </a:r>
            <a:r>
              <a:rPr sz="1300" spc="-55" dirty="0">
                <a:latin typeface="Times New Roman"/>
                <a:cs typeface="Times New Roman"/>
              </a:rPr>
              <a:t>T.</a:t>
            </a:r>
            <a:r>
              <a:rPr sz="1300" spc="-25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Thangam,</a:t>
            </a:r>
            <a:endParaRPr sz="1300">
              <a:latin typeface="Times New Roman"/>
              <a:cs typeface="Times New Roman"/>
            </a:endParaRPr>
          </a:p>
          <a:p>
            <a:pPr marL="298450">
              <a:lnSpc>
                <a:spcPct val="100000"/>
              </a:lnSpc>
              <a:spcBef>
                <a:spcPts val="229"/>
              </a:spcBef>
            </a:pPr>
            <a:r>
              <a:rPr sz="1300" dirty="0">
                <a:latin typeface="Times New Roman"/>
                <a:cs typeface="Times New Roman"/>
              </a:rPr>
              <a:t>M.</a:t>
            </a:r>
            <a:r>
              <a:rPr sz="1300" spc="-3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Sugumaran,</a:t>
            </a:r>
            <a:r>
              <a:rPr sz="1300" spc="-10" dirty="0">
                <a:latin typeface="Times New Roman"/>
                <a:cs typeface="Times New Roman"/>
              </a:rPr>
              <a:t> </a:t>
            </a:r>
            <a:r>
              <a:rPr sz="1300" spc="-80" dirty="0">
                <a:latin typeface="Times New Roman"/>
                <a:cs typeface="Times New Roman"/>
              </a:rPr>
              <a:t>P.</a:t>
            </a:r>
            <a:r>
              <a:rPr sz="1300" spc="-25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Venkateshwaran,</a:t>
            </a:r>
            <a:r>
              <a:rPr sz="1300" spc="-7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A.</a:t>
            </a:r>
            <a:r>
              <a:rPr sz="1300" spc="-10" dirty="0">
                <a:latin typeface="Times New Roman"/>
                <a:cs typeface="Times New Roman"/>
              </a:rPr>
              <a:t> </a:t>
            </a:r>
            <a:r>
              <a:rPr sz="1300" spc="-20" dirty="0">
                <a:latin typeface="Times New Roman"/>
                <a:cs typeface="Times New Roman"/>
              </a:rPr>
              <a:t>Kaur</a:t>
            </a:r>
            <a:endParaRPr sz="130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53876" y="1244559"/>
          <a:ext cx="8623934" cy="51790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171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58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72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63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pPr marL="967105" marR="471170" indent="-48895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Core</a:t>
                      </a:r>
                      <a:r>
                        <a:rPr sz="16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Methodologies</a:t>
                      </a:r>
                      <a:r>
                        <a:rPr sz="1600" b="1" spc="-4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&amp;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Algorithms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60960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Advantages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40068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Limitations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40259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Summary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99940">
                <a:tc>
                  <a:txBody>
                    <a:bodyPr/>
                    <a:lstStyle/>
                    <a:p>
                      <a:pPr marL="542925" marR="467995" indent="-320675">
                        <a:lnSpc>
                          <a:spcPct val="114999"/>
                        </a:lnSpc>
                        <a:spcBef>
                          <a:spcPts val="35"/>
                        </a:spcBef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Uses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Raspberry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Pi,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PIR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sensor, ultrasonic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sensor,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camera together.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173990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Uses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improved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YOLOv5</a:t>
                      </a:r>
                      <a:r>
                        <a:rPr sz="12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CNN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model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object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detection.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179070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Uses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image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resizing,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normalization,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noise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removal.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161925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Processes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locally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the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Raspberry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Pi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without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cloud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support.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403860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Provides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real-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time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alerts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using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a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buzzer,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LED,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LCD.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304165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Tested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using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DCSASS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dataset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16,853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videos.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542290" indent="-320040">
                        <a:lnSpc>
                          <a:spcPct val="100000"/>
                        </a:lnSpc>
                        <a:spcBef>
                          <a:spcPts val="250"/>
                        </a:spcBef>
                        <a:buFont typeface="Arial MT"/>
                        <a:buChar char="●"/>
                        <a:tabLst>
                          <a:tab pos="542290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.High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accuracy: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96.8%.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290" indent="-320040">
                        <a:lnSpc>
                          <a:spcPct val="100000"/>
                        </a:lnSpc>
                        <a:spcBef>
                          <a:spcPts val="215"/>
                        </a:spcBef>
                        <a:buFont typeface="Arial MT"/>
                        <a:buChar char="●"/>
                        <a:tabLst>
                          <a:tab pos="542290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Fast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detection: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374015">
                        <a:lnSpc>
                          <a:spcPct val="114999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0.15-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second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response time.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254635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Works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well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under different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lighting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background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conditions.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324485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Low-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cost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scalable system.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389890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Works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independently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without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cloud.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542925" marR="163830" indent="-320675">
                        <a:lnSpc>
                          <a:spcPct val="114999"/>
                        </a:lnSpc>
                        <a:spcBef>
                          <a:spcPts val="35"/>
                        </a:spcBef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Processing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speed decreases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0.82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FPS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during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heavy computation.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147320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Detection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of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humans</a:t>
                      </a:r>
                      <a:r>
                        <a:rPr sz="12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objects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less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accurate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in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complex backgrounds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changing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lighting.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542925" marR="377825" indent="-320675">
                        <a:lnSpc>
                          <a:spcPct val="114999"/>
                        </a:lnSpc>
                        <a:spcBef>
                          <a:spcPts val="35"/>
                        </a:spcBef>
                        <a:buChar char="●"/>
                        <a:tabLst>
                          <a:tab pos="542925" algn="l"/>
                          <a:tab pos="580390" algn="l"/>
                        </a:tabLst>
                      </a:pPr>
                      <a:r>
                        <a:rPr sz="1200" dirty="0">
                          <a:latin typeface="Arial MT"/>
                          <a:cs typeface="Arial MT"/>
                        </a:rPr>
                        <a:t>	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low-cost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Raspberry Pi-based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AI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surveillance system.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106045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Uses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YOLOv5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multiple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sensors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detect humans,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vehicles,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animals.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177165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Provides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fast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accurate real-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time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monitoring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alerts.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1164041" y="6445272"/>
            <a:ext cx="87630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spc="-25" dirty="0">
                <a:solidFill>
                  <a:srgbClr val="ED7D31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lang="en-US" smtClean="0"/>
              <a:t>CCD415 Project Phase I</a:t>
            </a:r>
            <a:endParaRPr spc="-50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spc="-10" dirty="0"/>
              <a:t>2023-</a:t>
            </a:r>
            <a:r>
              <a:rPr dirty="0"/>
              <a:t>2027</a:t>
            </a:r>
            <a:r>
              <a:rPr spc="-5" dirty="0"/>
              <a:t> </a:t>
            </a:r>
            <a:r>
              <a:rPr spc="-10" dirty="0"/>
              <a:t>Batch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spc="-25" dirty="0"/>
              <a:t>25</a:t>
            </a:fld>
            <a:endParaRPr spc="-25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578498" y="181526"/>
            <a:ext cx="609409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LITERATURE</a:t>
            </a:r>
            <a:r>
              <a:rPr spc="-195" dirty="0"/>
              <a:t> </a:t>
            </a:r>
            <a:r>
              <a:rPr spc="-10" dirty="0"/>
              <a:t>SURVEY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47199" y="914552"/>
            <a:ext cx="8770620" cy="52768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97485" indent="-184785">
              <a:lnSpc>
                <a:spcPct val="100000"/>
              </a:lnSpc>
              <a:spcBef>
                <a:spcPts val="120"/>
              </a:spcBef>
              <a:buFont typeface="Arial MT"/>
              <a:buChar char="•"/>
              <a:tabLst>
                <a:tab pos="197485" algn="l"/>
              </a:tabLst>
            </a:pPr>
            <a:r>
              <a:rPr sz="1200" dirty="0">
                <a:solidFill>
                  <a:srgbClr val="0C0C0C"/>
                </a:solidFill>
                <a:latin typeface="Times New Roman"/>
                <a:cs typeface="Times New Roman"/>
              </a:rPr>
              <a:t>D.</a:t>
            </a:r>
            <a:r>
              <a:rPr sz="1200" spc="19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C0C0C"/>
                </a:solidFill>
                <a:latin typeface="Times New Roman"/>
                <a:cs typeface="Times New Roman"/>
              </a:rPr>
              <a:t>Slutskiy,</a:t>
            </a:r>
            <a:r>
              <a:rPr sz="1200" spc="20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C0C0C"/>
                </a:solidFill>
                <a:latin typeface="Times New Roman"/>
                <a:cs typeface="Times New Roman"/>
              </a:rPr>
              <a:t>Z.</a:t>
            </a:r>
            <a:r>
              <a:rPr sz="1200" spc="20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C0C0C"/>
                </a:solidFill>
                <a:latin typeface="Times New Roman"/>
                <a:cs typeface="Times New Roman"/>
              </a:rPr>
              <a:t>Jacques,</a:t>
            </a:r>
            <a:r>
              <a:rPr sz="1200" spc="20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C0C0C"/>
                </a:solidFill>
                <a:latin typeface="Times New Roman"/>
                <a:cs typeface="Times New Roman"/>
              </a:rPr>
              <a:t>N.</a:t>
            </a:r>
            <a:r>
              <a:rPr sz="1200" spc="20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C0C0C"/>
                </a:solidFill>
                <a:latin typeface="Times New Roman"/>
                <a:cs typeface="Times New Roman"/>
              </a:rPr>
              <a:t>Bazarian,</a:t>
            </a:r>
            <a:r>
              <a:rPr sz="1200" spc="20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C0C0C"/>
                </a:solidFill>
                <a:latin typeface="Times New Roman"/>
                <a:cs typeface="Times New Roman"/>
              </a:rPr>
              <a:t>S.</a:t>
            </a:r>
            <a:r>
              <a:rPr sz="1200" spc="20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C0C0C"/>
                </a:solidFill>
                <a:latin typeface="Times New Roman"/>
                <a:cs typeface="Times New Roman"/>
              </a:rPr>
              <a:t>Basnet,</a:t>
            </a:r>
            <a:r>
              <a:rPr sz="1200" spc="12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C0C0C"/>
                </a:solidFill>
                <a:latin typeface="Times New Roman"/>
                <a:cs typeface="Times New Roman"/>
              </a:rPr>
              <a:t>A.</a:t>
            </a:r>
            <a:r>
              <a:rPr sz="1200" spc="20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C0C0C"/>
                </a:solidFill>
                <a:latin typeface="Times New Roman"/>
                <a:cs typeface="Times New Roman"/>
              </a:rPr>
              <a:t>Poudel</a:t>
            </a:r>
            <a:r>
              <a:rPr sz="1200" spc="20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C0C0C"/>
                </a:solidFill>
                <a:latin typeface="Times New Roman"/>
                <a:cs typeface="Times New Roman"/>
              </a:rPr>
              <a:t>and</a:t>
            </a:r>
            <a:r>
              <a:rPr sz="1200" spc="20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C0C0C"/>
                </a:solidFill>
                <a:latin typeface="Times New Roman"/>
                <a:cs typeface="Times New Roman"/>
              </a:rPr>
              <a:t>P.</a:t>
            </a:r>
            <a:r>
              <a:rPr sz="1200" spc="20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C0C0C"/>
                </a:solidFill>
                <a:latin typeface="Times New Roman"/>
                <a:cs typeface="Times New Roman"/>
              </a:rPr>
              <a:t>Manandhar,</a:t>
            </a:r>
            <a:r>
              <a:rPr sz="1200" spc="20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C0C0C"/>
                </a:solidFill>
                <a:latin typeface="Times New Roman"/>
                <a:cs typeface="Times New Roman"/>
              </a:rPr>
              <a:t>“Non-human</a:t>
            </a:r>
            <a:r>
              <a:rPr sz="1200" spc="20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C0C0C"/>
                </a:solidFill>
                <a:latin typeface="Times New Roman"/>
                <a:cs typeface="Times New Roman"/>
              </a:rPr>
              <a:t>Primate</a:t>
            </a:r>
            <a:r>
              <a:rPr sz="1200" spc="20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C0C0C"/>
                </a:solidFill>
                <a:latin typeface="Times New Roman"/>
                <a:cs typeface="Times New Roman"/>
              </a:rPr>
              <a:t>Monitoring</a:t>
            </a:r>
            <a:r>
              <a:rPr sz="1200" spc="20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C0C0C"/>
                </a:solidFill>
                <a:latin typeface="Times New Roman"/>
                <a:cs typeface="Times New Roman"/>
              </a:rPr>
              <a:t>System:</a:t>
            </a:r>
            <a:r>
              <a:rPr sz="1200" spc="20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C0C0C"/>
                </a:solidFill>
                <a:latin typeface="Times New Roman"/>
                <a:cs typeface="Times New Roman"/>
              </a:rPr>
              <a:t>Early</a:t>
            </a:r>
            <a:r>
              <a:rPr sz="1200" spc="12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0C0C0C"/>
                </a:solidFill>
                <a:latin typeface="Times New Roman"/>
                <a:cs typeface="Times New Roman"/>
              </a:rPr>
              <a:t>Alert</a:t>
            </a:r>
            <a:endParaRPr sz="1200">
              <a:latin typeface="Times New Roman"/>
              <a:cs typeface="Times New Roman"/>
            </a:endParaRPr>
          </a:p>
          <a:p>
            <a:pPr marL="197485">
              <a:lnSpc>
                <a:spcPct val="100000"/>
              </a:lnSpc>
              <a:spcBef>
                <a:spcPts val="1045"/>
              </a:spcBef>
            </a:pPr>
            <a:r>
              <a:rPr sz="1200" dirty="0">
                <a:solidFill>
                  <a:srgbClr val="0C0C0C"/>
                </a:solidFill>
                <a:latin typeface="Times New Roman"/>
                <a:cs typeface="Times New Roman"/>
              </a:rPr>
              <a:t>System</a:t>
            </a:r>
            <a:r>
              <a:rPr sz="1200" spc="-5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C0C0C"/>
                </a:solidFill>
                <a:latin typeface="Times New Roman"/>
                <a:cs typeface="Times New Roman"/>
              </a:rPr>
              <a:t>Against</a:t>
            </a:r>
            <a:r>
              <a:rPr sz="1200" spc="1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C0C0C"/>
                </a:solidFill>
                <a:latin typeface="Times New Roman"/>
                <a:cs typeface="Times New Roman"/>
              </a:rPr>
              <a:t>Crop</a:t>
            </a:r>
            <a:r>
              <a:rPr sz="1200" spc="2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C0C0C"/>
                </a:solidFill>
                <a:latin typeface="Times New Roman"/>
                <a:cs typeface="Times New Roman"/>
              </a:rPr>
              <a:t>Raids</a:t>
            </a:r>
            <a:r>
              <a:rPr sz="1200" spc="1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C0C0C"/>
                </a:solidFill>
                <a:latin typeface="Times New Roman"/>
                <a:cs typeface="Times New Roman"/>
              </a:rPr>
              <a:t>for</a:t>
            </a:r>
            <a:r>
              <a:rPr sz="1200" spc="2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C0C0C"/>
                </a:solidFill>
                <a:latin typeface="Times New Roman"/>
                <a:cs typeface="Times New Roman"/>
              </a:rPr>
              <a:t>Farms</a:t>
            </a:r>
            <a:r>
              <a:rPr sz="1200" spc="1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C0C0C"/>
                </a:solidFill>
                <a:latin typeface="Times New Roman"/>
                <a:cs typeface="Times New Roman"/>
              </a:rPr>
              <a:t>in</a:t>
            </a:r>
            <a:r>
              <a:rPr sz="1200" spc="2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C0C0C"/>
                </a:solidFill>
                <a:latin typeface="Times New Roman"/>
                <a:cs typeface="Times New Roman"/>
              </a:rPr>
              <a:t>Nepal,”</a:t>
            </a:r>
            <a:r>
              <a:rPr sz="1200" spc="1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C0C0C"/>
                </a:solidFill>
                <a:latin typeface="Times New Roman"/>
                <a:cs typeface="Times New Roman"/>
              </a:rPr>
              <a:t>2024</a:t>
            </a:r>
            <a:r>
              <a:rPr sz="1200" spc="1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C0C0C"/>
                </a:solidFill>
                <a:latin typeface="Times New Roman"/>
                <a:cs typeface="Times New Roman"/>
              </a:rPr>
              <a:t>IEEE</a:t>
            </a:r>
            <a:r>
              <a:rPr sz="1200" spc="1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C0C0C"/>
                </a:solidFill>
                <a:latin typeface="Times New Roman"/>
                <a:cs typeface="Times New Roman"/>
              </a:rPr>
              <a:t>Global</a:t>
            </a:r>
            <a:r>
              <a:rPr sz="1200" spc="1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C0C0C"/>
                </a:solidFill>
                <a:latin typeface="Times New Roman"/>
                <a:cs typeface="Times New Roman"/>
              </a:rPr>
              <a:t>Humanitarian</a:t>
            </a:r>
            <a:r>
              <a:rPr sz="1200" spc="-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C0C0C"/>
                </a:solidFill>
                <a:latin typeface="Times New Roman"/>
                <a:cs typeface="Times New Roman"/>
              </a:rPr>
              <a:t>Technology</a:t>
            </a:r>
            <a:r>
              <a:rPr sz="1200" spc="1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C0C0C"/>
                </a:solidFill>
                <a:latin typeface="Times New Roman"/>
                <a:cs typeface="Times New Roman"/>
              </a:rPr>
              <a:t>Conference</a:t>
            </a:r>
            <a:r>
              <a:rPr sz="1200" spc="1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0C0C0C"/>
                </a:solidFill>
                <a:latin typeface="Times New Roman"/>
                <a:cs typeface="Times New Roman"/>
              </a:rPr>
              <a:t>(GHTC).</a:t>
            </a:r>
            <a:endParaRPr sz="120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411439" y="1612896"/>
          <a:ext cx="8286749" cy="46875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34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9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85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466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55650">
                <a:tc>
                  <a:txBody>
                    <a:bodyPr/>
                    <a:lstStyle/>
                    <a:p>
                      <a:pPr marL="497205" marR="182245" indent="-30924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Core</a:t>
                      </a:r>
                      <a:r>
                        <a:rPr sz="1800" b="1" spc="-9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Methodologies </a:t>
                      </a:r>
                      <a:r>
                        <a:rPr sz="1800" b="1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&amp;</a:t>
                      </a:r>
                      <a:r>
                        <a:rPr sz="1800" b="1" spc="-9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Algorithms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33782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Advantages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37719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Limitations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64008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Summary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0">
                <a:tc>
                  <a:txBody>
                    <a:bodyPr/>
                    <a:lstStyle/>
                    <a:p>
                      <a:pPr marL="85725" marR="160655" indent="106045">
                        <a:lnSpc>
                          <a:spcPct val="100000"/>
                        </a:lnSpc>
                        <a:spcBef>
                          <a:spcPts val="244"/>
                        </a:spcBef>
                        <a:buChar char="•"/>
                        <a:tabLst>
                          <a:tab pos="191770" algn="l"/>
                        </a:tabLst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Raspberry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Pi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4</a:t>
                      </a:r>
                      <a:r>
                        <a:rPr sz="14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4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camera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microphone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85725" marR="706120" indent="106045">
                        <a:lnSpc>
                          <a:spcPct val="100000"/>
                        </a:lnSpc>
                        <a:buChar char="•"/>
                        <a:tabLst>
                          <a:tab pos="191770" algn="l"/>
                        </a:tabLst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OpenCV</a:t>
                      </a:r>
                      <a:r>
                        <a:rPr sz="14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motion detection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85725" marR="201930" indent="102870">
                        <a:lnSpc>
                          <a:spcPct val="100000"/>
                        </a:lnSpc>
                        <a:buChar char="•"/>
                        <a:tabLst>
                          <a:tab pos="188595" algn="l"/>
                        </a:tabLst>
                      </a:pP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TensorFlow</a:t>
                      </a:r>
                      <a:r>
                        <a:rPr sz="14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Lite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with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EfficientDet-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Lite0</a:t>
                      </a:r>
                      <a:r>
                        <a:rPr sz="140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40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object detection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85725" marR="508634" indent="106045">
                        <a:lnSpc>
                          <a:spcPct val="100000"/>
                        </a:lnSpc>
                        <a:buChar char="•"/>
                        <a:tabLst>
                          <a:tab pos="191770" algn="l"/>
                        </a:tabLst>
                      </a:pPr>
                      <a:r>
                        <a:rPr sz="1400" spc="-35" dirty="0">
                          <a:latin typeface="Times New Roman"/>
                          <a:cs typeface="Times New Roman"/>
                        </a:rPr>
                        <a:t>IoT-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based</a:t>
                      </a:r>
                      <a:r>
                        <a:rPr sz="14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alerts</a:t>
                      </a: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using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Arduino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MKR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NB</a:t>
                      </a:r>
                      <a:r>
                        <a:rPr sz="14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1500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85725" marR="694055" indent="106045">
                        <a:lnSpc>
                          <a:spcPct val="100000"/>
                        </a:lnSpc>
                        <a:buChar char="•"/>
                        <a:tabLst>
                          <a:tab pos="191770" algn="l"/>
                        </a:tabLst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Python</a:t>
                      </a:r>
                      <a:r>
                        <a:rPr sz="14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4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real-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time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processing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384810" indent="106045">
                        <a:lnSpc>
                          <a:spcPct val="100000"/>
                        </a:lnSpc>
                        <a:spcBef>
                          <a:spcPts val="244"/>
                        </a:spcBef>
                        <a:buChar char="•"/>
                        <a:tabLst>
                          <a:tab pos="191770" algn="l"/>
                        </a:tabLst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Low-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cost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suitable</a:t>
                      </a:r>
                      <a:r>
                        <a:rPr sz="14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4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remote areas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85725" marR="301625" indent="106045">
                        <a:lnSpc>
                          <a:spcPct val="100000"/>
                        </a:lnSpc>
                        <a:buChar char="•"/>
                        <a:tabLst>
                          <a:tab pos="191770" algn="l"/>
                        </a:tabLst>
                      </a:pP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Real-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time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monkey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detection</a:t>
                      </a:r>
                      <a:r>
                        <a:rPr sz="14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4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alerts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85725" marR="194310" indent="102870">
                        <a:lnSpc>
                          <a:spcPct val="100000"/>
                        </a:lnSpc>
                        <a:buChar char="•"/>
                        <a:tabLst>
                          <a:tab pos="188595" algn="l"/>
                        </a:tabLst>
                      </a:pP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Works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existing cellular/internet connectivity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85725" marR="499745" indent="106045">
                        <a:lnSpc>
                          <a:spcPct val="100000"/>
                        </a:lnSpc>
                        <a:buChar char="•"/>
                        <a:tabLst>
                          <a:tab pos="191770" algn="l"/>
                        </a:tabLst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Non-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lethal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crop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protection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85725" marR="528955" indent="106045">
                        <a:lnSpc>
                          <a:spcPct val="100000"/>
                        </a:lnSpc>
                        <a:buChar char="•"/>
                        <a:tabLst>
                          <a:tab pos="191770" algn="l"/>
                        </a:tabLst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Lightweight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AI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model</a:t>
                      </a:r>
                      <a:r>
                        <a:rPr sz="14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 low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latency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299085" indent="106045">
                        <a:lnSpc>
                          <a:spcPct val="100000"/>
                        </a:lnSpc>
                        <a:spcBef>
                          <a:spcPts val="244"/>
                        </a:spcBef>
                        <a:buChar char="•"/>
                        <a:tabLst>
                          <a:tab pos="191770" algn="l"/>
                        </a:tabLst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Device</a:t>
                      </a:r>
                      <a:r>
                        <a:rPr sz="14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overheating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during field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testing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85725" marR="113664" indent="106045">
                        <a:lnSpc>
                          <a:spcPct val="100000"/>
                        </a:lnSpc>
                        <a:buChar char="•"/>
                        <a:tabLst>
                          <a:tab pos="191770" algn="l"/>
                        </a:tabLst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Limited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audio</a:t>
                      </a:r>
                      <a:r>
                        <a:rPr sz="14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dataset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monkey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recognition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85725" marR="103505" indent="106045">
                        <a:lnSpc>
                          <a:spcPct val="100000"/>
                        </a:lnSpc>
                        <a:buChar char="•"/>
                        <a:tabLst>
                          <a:tab pos="191770" algn="l"/>
                        </a:tabLst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Some</a:t>
                      </a:r>
                      <a:r>
                        <a:rPr sz="14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object</a:t>
                      </a:r>
                      <a:r>
                        <a:rPr sz="14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classes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showed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lower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detection confidence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85725" marR="324485" indent="106045">
                        <a:lnSpc>
                          <a:spcPct val="100000"/>
                        </a:lnSpc>
                        <a:buChar char="•"/>
                        <a:tabLst>
                          <a:tab pos="191770" algn="l"/>
                        </a:tabLst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Current</a:t>
                      </a:r>
                      <a:r>
                        <a:rPr sz="14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system</a:t>
                      </a: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has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limited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coverage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10223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4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system</a:t>
                      </a:r>
                      <a:r>
                        <a:rPr sz="14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combines</a:t>
                      </a: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AI,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computer</a:t>
                      </a:r>
                      <a:r>
                        <a:rPr sz="1400" b="1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vision</a:t>
                      </a:r>
                      <a:r>
                        <a:rPr sz="14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400" b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IoT</a:t>
                      </a:r>
                      <a:r>
                        <a:rPr sz="14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detect</a:t>
                      </a: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rhesus</a:t>
                      </a: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macaques</a:t>
                      </a:r>
                      <a:r>
                        <a:rPr sz="14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alert</a:t>
                      </a:r>
                      <a:r>
                        <a:rPr sz="14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farmers</a:t>
                      </a:r>
                      <a:r>
                        <a:rPr sz="14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real</a:t>
                      </a:r>
                      <a:r>
                        <a:rPr sz="14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time.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85725" marR="144145">
                        <a:lnSpc>
                          <a:spcPct val="10000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4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monkey</a:t>
                      </a:r>
                      <a:r>
                        <a:rPr sz="14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detection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achieved</a:t>
                      </a:r>
                      <a:r>
                        <a:rPr sz="14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an</a:t>
                      </a:r>
                      <a:r>
                        <a:rPr sz="14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average confidence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of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85%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Further improvements</a:t>
                      </a:r>
                      <a:r>
                        <a:rPr sz="14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are</a:t>
                      </a:r>
                      <a:r>
                        <a:rPr sz="14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needed</a:t>
                      </a:r>
                      <a:r>
                        <a:rPr sz="14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in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cooling,</a:t>
                      </a:r>
                      <a:r>
                        <a:rPr sz="14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audio</a:t>
                      </a:r>
                      <a:r>
                        <a:rPr sz="14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recognition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scalability.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1164041" y="6445272"/>
            <a:ext cx="87630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spc="-25" dirty="0">
                <a:solidFill>
                  <a:srgbClr val="ED7D31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lang="en-US" smtClean="0"/>
              <a:t>CCD415 Project Phase I</a:t>
            </a:r>
            <a:endParaRPr spc="-50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spc="-10" dirty="0"/>
              <a:t>2023-</a:t>
            </a:r>
            <a:r>
              <a:rPr dirty="0"/>
              <a:t>2027</a:t>
            </a:r>
            <a:r>
              <a:rPr spc="-5" dirty="0"/>
              <a:t> </a:t>
            </a:r>
            <a:r>
              <a:rPr spc="-10" dirty="0"/>
              <a:t>Batch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spc="-25" dirty="0"/>
              <a:t>26</a:t>
            </a:fld>
            <a:endParaRPr spc="-25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654698" y="181526"/>
            <a:ext cx="609409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LITERATURE</a:t>
            </a:r>
            <a:r>
              <a:rPr spc="-195" dirty="0"/>
              <a:t> </a:t>
            </a:r>
            <a:r>
              <a:rPr spc="-10" dirty="0"/>
              <a:t>SURVEY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8273" y="801928"/>
            <a:ext cx="8208009" cy="1082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3845" marR="5080" indent="-271780" algn="just">
              <a:lnSpc>
                <a:spcPct val="149000"/>
              </a:lnSpc>
              <a:spcBef>
                <a:spcPts val="100"/>
              </a:spcBef>
              <a:buSzPct val="64516"/>
              <a:buChar char="•"/>
              <a:tabLst>
                <a:tab pos="285115" algn="l"/>
              </a:tabLst>
            </a:pPr>
            <a:r>
              <a:rPr sz="1550" dirty="0">
                <a:solidFill>
                  <a:srgbClr val="0C0C0C"/>
                </a:solidFill>
                <a:latin typeface="Times New Roman"/>
                <a:cs typeface="Times New Roman"/>
              </a:rPr>
              <a:t>Diery</a:t>
            </a:r>
            <a:r>
              <a:rPr sz="1550" spc="-3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0C0C0C"/>
                </a:solidFill>
                <a:latin typeface="Times New Roman"/>
                <a:cs typeface="Times New Roman"/>
              </a:rPr>
              <a:t>NGOM,</a:t>
            </a:r>
            <a:r>
              <a:rPr sz="1550" spc="-8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0C0C0C"/>
                </a:solidFill>
                <a:latin typeface="Times New Roman"/>
                <a:cs typeface="Times New Roman"/>
              </a:rPr>
              <a:t>Alla</a:t>
            </a:r>
            <a:r>
              <a:rPr sz="1550" spc="-1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0C0C0C"/>
                </a:solidFill>
                <a:latin typeface="Times New Roman"/>
                <a:cs typeface="Times New Roman"/>
              </a:rPr>
              <a:t>LO,</a:t>
            </a:r>
            <a:r>
              <a:rPr sz="1550" spc="-1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0C0C0C"/>
                </a:solidFill>
                <a:latin typeface="Times New Roman"/>
                <a:cs typeface="Times New Roman"/>
              </a:rPr>
              <a:t>Serigne</a:t>
            </a:r>
            <a:r>
              <a:rPr sz="1550" spc="-1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0C0C0C"/>
                </a:solidFill>
                <a:latin typeface="Times New Roman"/>
                <a:cs typeface="Times New Roman"/>
              </a:rPr>
              <a:t>Mbacké</a:t>
            </a:r>
            <a:r>
              <a:rPr sz="1550" spc="-1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550" spc="-20" dirty="0">
                <a:solidFill>
                  <a:srgbClr val="0C0C0C"/>
                </a:solidFill>
                <a:latin typeface="Times New Roman"/>
                <a:cs typeface="Times New Roman"/>
              </a:rPr>
              <a:t>GUEYE,</a:t>
            </a:r>
            <a:r>
              <a:rPr sz="1550" spc="-7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0C0C0C"/>
                </a:solidFill>
                <a:latin typeface="Times New Roman"/>
                <a:cs typeface="Times New Roman"/>
              </a:rPr>
              <a:t>Absa</a:t>
            </a:r>
            <a:r>
              <a:rPr sz="1550" spc="-1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0C0C0C"/>
                </a:solidFill>
                <a:latin typeface="Times New Roman"/>
                <a:cs typeface="Times New Roman"/>
              </a:rPr>
              <a:t>LECOR,</a:t>
            </a:r>
            <a:r>
              <a:rPr sz="1550" spc="-1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0C0C0C"/>
                </a:solidFill>
                <a:latin typeface="Times New Roman"/>
                <a:cs typeface="Times New Roman"/>
              </a:rPr>
              <a:t>"An</a:t>
            </a:r>
            <a:r>
              <a:rPr sz="1550" spc="-1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0C0C0C"/>
                </a:solidFill>
                <a:latin typeface="Times New Roman"/>
                <a:cs typeface="Times New Roman"/>
              </a:rPr>
              <a:t>Intelligent</a:t>
            </a:r>
            <a:r>
              <a:rPr sz="1550" spc="-1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0C0C0C"/>
                </a:solidFill>
                <a:latin typeface="Times New Roman"/>
                <a:cs typeface="Times New Roman"/>
              </a:rPr>
              <a:t>IoT</a:t>
            </a:r>
            <a:r>
              <a:rPr sz="1550" spc="-3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0C0C0C"/>
                </a:solidFill>
                <a:latin typeface="Times New Roman"/>
                <a:cs typeface="Times New Roman"/>
              </a:rPr>
              <a:t>and</a:t>
            </a:r>
            <a:r>
              <a:rPr sz="1550" spc="-8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550" spc="-10" dirty="0">
                <a:solidFill>
                  <a:srgbClr val="0C0C0C"/>
                </a:solidFill>
                <a:latin typeface="Times New Roman"/>
                <a:cs typeface="Times New Roman"/>
              </a:rPr>
              <a:t>AI-Based 	</a:t>
            </a:r>
            <a:r>
              <a:rPr sz="1550" dirty="0">
                <a:solidFill>
                  <a:srgbClr val="0C0C0C"/>
                </a:solidFill>
                <a:latin typeface="Times New Roman"/>
                <a:cs typeface="Times New Roman"/>
              </a:rPr>
              <a:t>Surveillance</a:t>
            </a:r>
            <a:r>
              <a:rPr sz="1550" spc="8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0C0C0C"/>
                </a:solidFill>
                <a:latin typeface="Times New Roman"/>
                <a:cs typeface="Times New Roman"/>
              </a:rPr>
              <a:t>System</a:t>
            </a:r>
            <a:r>
              <a:rPr sz="1550" spc="8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0C0C0C"/>
                </a:solidFill>
                <a:latin typeface="Times New Roman"/>
                <a:cs typeface="Times New Roman"/>
              </a:rPr>
              <a:t>for</a:t>
            </a:r>
            <a:r>
              <a:rPr sz="1550" spc="8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0C0C0C"/>
                </a:solidFill>
                <a:latin typeface="Times New Roman"/>
                <a:cs typeface="Times New Roman"/>
              </a:rPr>
              <a:t>the</a:t>
            </a:r>
            <a:r>
              <a:rPr sz="1550" spc="8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0C0C0C"/>
                </a:solidFill>
                <a:latin typeface="Times New Roman"/>
                <a:cs typeface="Times New Roman"/>
              </a:rPr>
              <a:t>Detection</a:t>
            </a:r>
            <a:r>
              <a:rPr sz="1550" spc="8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0C0C0C"/>
                </a:solidFill>
                <a:latin typeface="Times New Roman"/>
                <a:cs typeface="Times New Roman"/>
              </a:rPr>
              <a:t>and</a:t>
            </a:r>
            <a:r>
              <a:rPr sz="1550" spc="8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0C0C0C"/>
                </a:solidFill>
                <a:latin typeface="Times New Roman"/>
                <a:cs typeface="Times New Roman"/>
              </a:rPr>
              <a:t>Recognition</a:t>
            </a:r>
            <a:r>
              <a:rPr sz="1550" spc="8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0C0C0C"/>
                </a:solidFill>
                <a:latin typeface="Times New Roman"/>
                <a:cs typeface="Times New Roman"/>
              </a:rPr>
              <a:t>of</a:t>
            </a:r>
            <a:r>
              <a:rPr sz="1550" spc="8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0C0C0C"/>
                </a:solidFill>
                <a:latin typeface="Times New Roman"/>
                <a:cs typeface="Times New Roman"/>
              </a:rPr>
              <a:t>Pest</a:t>
            </a:r>
            <a:r>
              <a:rPr sz="1550" spc="8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0C0C0C"/>
                </a:solidFill>
                <a:latin typeface="Times New Roman"/>
                <a:cs typeface="Times New Roman"/>
              </a:rPr>
              <a:t>Birds</a:t>
            </a:r>
            <a:r>
              <a:rPr sz="1550" spc="8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0C0C0C"/>
                </a:solidFill>
                <a:latin typeface="Times New Roman"/>
                <a:cs typeface="Times New Roman"/>
              </a:rPr>
              <a:t>in</a:t>
            </a:r>
            <a:r>
              <a:rPr sz="1550" spc="8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0C0C0C"/>
                </a:solidFill>
                <a:latin typeface="Times New Roman"/>
                <a:cs typeface="Times New Roman"/>
              </a:rPr>
              <a:t>Rice</a:t>
            </a:r>
            <a:r>
              <a:rPr sz="1550" spc="8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0C0C0C"/>
                </a:solidFill>
                <a:latin typeface="Times New Roman"/>
                <a:cs typeface="Times New Roman"/>
              </a:rPr>
              <a:t>Crops</a:t>
            </a:r>
            <a:r>
              <a:rPr sz="1550" spc="8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0C0C0C"/>
                </a:solidFill>
                <a:latin typeface="Times New Roman"/>
                <a:cs typeface="Times New Roman"/>
              </a:rPr>
              <a:t>of</a:t>
            </a:r>
            <a:r>
              <a:rPr sz="1550" spc="8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0C0C0C"/>
                </a:solidFill>
                <a:latin typeface="Times New Roman"/>
                <a:cs typeface="Times New Roman"/>
              </a:rPr>
              <a:t>the</a:t>
            </a:r>
            <a:r>
              <a:rPr sz="1550" spc="8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550" spc="-10" dirty="0">
                <a:solidFill>
                  <a:srgbClr val="0C0C0C"/>
                </a:solidFill>
                <a:latin typeface="Times New Roman"/>
                <a:cs typeface="Times New Roman"/>
              </a:rPr>
              <a:t>Senegal 	</a:t>
            </a:r>
            <a:r>
              <a:rPr sz="1550" dirty="0">
                <a:solidFill>
                  <a:srgbClr val="0C0C0C"/>
                </a:solidFill>
                <a:latin typeface="Times New Roman"/>
                <a:cs typeface="Times New Roman"/>
              </a:rPr>
              <a:t>River</a:t>
            </a:r>
            <a:r>
              <a:rPr sz="1550" spc="-7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550" spc="-10" dirty="0">
                <a:solidFill>
                  <a:srgbClr val="0C0C0C"/>
                </a:solidFill>
                <a:latin typeface="Times New Roman"/>
                <a:cs typeface="Times New Roman"/>
              </a:rPr>
              <a:t>Valley</a:t>
            </a:r>
            <a:endParaRPr sz="155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439963" y="1962146"/>
          <a:ext cx="8229599" cy="43853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406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157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157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7870">
                <a:tc>
                  <a:txBody>
                    <a:bodyPr/>
                    <a:lstStyle/>
                    <a:p>
                      <a:pPr marL="499745" marR="184785" indent="-30924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Core</a:t>
                      </a:r>
                      <a:r>
                        <a:rPr sz="1800" b="1" spc="-9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Methodologies </a:t>
                      </a:r>
                      <a:r>
                        <a:rPr sz="1800" b="1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&amp;</a:t>
                      </a:r>
                      <a:r>
                        <a:rPr sz="1800" b="1" spc="-9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Algorithms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38608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Advantages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39243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Limitations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54546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Summary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350">
                <a:tc>
                  <a:txBody>
                    <a:bodyPr/>
                    <a:lstStyle/>
                    <a:p>
                      <a:pPr marL="177165" indent="-91440">
                        <a:lnSpc>
                          <a:spcPct val="100000"/>
                        </a:lnSpc>
                        <a:spcBef>
                          <a:spcPts val="250"/>
                        </a:spcBef>
                        <a:buFont typeface="Times New Roman"/>
                        <a:buChar char="•"/>
                        <a:tabLst>
                          <a:tab pos="177165" algn="l"/>
                        </a:tabLst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Architecture:</a:t>
                      </a:r>
                      <a:r>
                        <a:rPr sz="12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PIR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Motion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176530" indent="-91440">
                        <a:lnSpc>
                          <a:spcPct val="100000"/>
                        </a:lnSpc>
                        <a:spcBef>
                          <a:spcPts val="250"/>
                        </a:spcBef>
                        <a:buFont typeface="Times New Roman"/>
                        <a:buChar char="•"/>
                        <a:tabLst>
                          <a:tab pos="176530" algn="l"/>
                        </a:tabLst>
                      </a:pPr>
                      <a:r>
                        <a:rPr sz="1200" b="1" dirty="0">
                          <a:latin typeface="Times New Roman"/>
                          <a:cs typeface="Times New Roman"/>
                        </a:rPr>
                        <a:t>Rapid</a:t>
                      </a:r>
                      <a:r>
                        <a:rPr sz="12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Response: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710"/>
                        </a:lnSpc>
                        <a:spcBef>
                          <a:spcPts val="240"/>
                        </a:spcBef>
                      </a:pPr>
                      <a:r>
                        <a:rPr sz="1500" dirty="0">
                          <a:latin typeface="Times New Roman"/>
                          <a:cs typeface="Times New Roman"/>
                        </a:rPr>
                        <a:t>Moderate</a:t>
                      </a:r>
                      <a:r>
                        <a:rPr sz="15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spc="-10" dirty="0">
                          <a:latin typeface="Times New Roman"/>
                          <a:cs typeface="Times New Roman"/>
                        </a:rPr>
                        <a:t>overfitting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solidFill>
                      <a:srgbClr val="F7D6CC"/>
                    </a:solidFill>
                  </a:tcPr>
                </a:tc>
                <a:tc rowSpan="8">
                  <a:txBody>
                    <a:bodyPr/>
                    <a:lstStyle/>
                    <a:p>
                      <a:pPr marL="85725" marR="208279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500" dirty="0">
                          <a:latin typeface="Times New Roman"/>
                          <a:cs typeface="Times New Roman"/>
                        </a:rPr>
                        <a:t>Integrates</a:t>
                      </a:r>
                      <a:r>
                        <a:rPr sz="15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dirty="0">
                          <a:latin typeface="Times New Roman"/>
                          <a:cs typeface="Times New Roman"/>
                        </a:rPr>
                        <a:t>PIR</a:t>
                      </a:r>
                      <a:r>
                        <a:rPr sz="15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spc="-10" dirty="0">
                          <a:latin typeface="Times New Roman"/>
                          <a:cs typeface="Times New Roman"/>
                        </a:rPr>
                        <a:t>sensors, </a:t>
                      </a:r>
                      <a:r>
                        <a:rPr sz="1500" dirty="0">
                          <a:latin typeface="Times New Roman"/>
                          <a:cs typeface="Times New Roman"/>
                        </a:rPr>
                        <a:t>Raspberry Pi, </a:t>
                      </a:r>
                      <a:r>
                        <a:rPr sz="15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500" dirty="0">
                          <a:latin typeface="Times New Roman"/>
                          <a:cs typeface="Times New Roman"/>
                        </a:rPr>
                        <a:t>MobileNetV2 to </a:t>
                      </a:r>
                      <a:r>
                        <a:rPr sz="1500" spc="-10" dirty="0">
                          <a:latin typeface="Times New Roman"/>
                          <a:cs typeface="Times New Roman"/>
                        </a:rPr>
                        <a:t>detect </a:t>
                      </a:r>
                      <a:r>
                        <a:rPr sz="1500" dirty="0">
                          <a:latin typeface="Times New Roman"/>
                          <a:cs typeface="Times New Roman"/>
                        </a:rPr>
                        <a:t>pest</a:t>
                      </a:r>
                      <a:r>
                        <a:rPr sz="15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dirty="0">
                          <a:latin typeface="Times New Roman"/>
                          <a:cs typeface="Times New Roman"/>
                        </a:rPr>
                        <a:t>birds</a:t>
                      </a:r>
                      <a:r>
                        <a:rPr sz="15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spc="-10" dirty="0">
                          <a:latin typeface="Times New Roman"/>
                          <a:cs typeface="Times New Roman"/>
                        </a:rPr>
                        <a:t>(Quelea </a:t>
                      </a:r>
                      <a:r>
                        <a:rPr sz="1500" dirty="0">
                          <a:latin typeface="Times New Roman"/>
                          <a:cs typeface="Times New Roman"/>
                        </a:rPr>
                        <a:t>quelea,</a:t>
                      </a:r>
                      <a:r>
                        <a:rPr sz="15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dirty="0">
                          <a:latin typeface="Times New Roman"/>
                          <a:cs typeface="Times New Roman"/>
                        </a:rPr>
                        <a:t>ducks,</a:t>
                      </a:r>
                      <a:r>
                        <a:rPr sz="15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spc="-10" dirty="0">
                          <a:latin typeface="Times New Roman"/>
                          <a:cs typeface="Times New Roman"/>
                        </a:rPr>
                        <a:t>snipes) </a:t>
                      </a:r>
                      <a:r>
                        <a:rPr sz="1500" dirty="0">
                          <a:latin typeface="Times New Roman"/>
                          <a:cs typeface="Times New Roman"/>
                        </a:rPr>
                        <a:t>and trigger </a:t>
                      </a:r>
                      <a:r>
                        <a:rPr sz="1500" spc="-10" dirty="0">
                          <a:latin typeface="Times New Roman"/>
                          <a:cs typeface="Times New Roman"/>
                        </a:rPr>
                        <a:t>automated </a:t>
                      </a:r>
                      <a:r>
                        <a:rPr sz="1500" dirty="0">
                          <a:latin typeface="Times New Roman"/>
                          <a:cs typeface="Times New Roman"/>
                        </a:rPr>
                        <a:t>deterrence</a:t>
                      </a:r>
                      <a:r>
                        <a:rPr sz="15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dirty="0">
                          <a:latin typeface="Times New Roman"/>
                          <a:cs typeface="Times New Roman"/>
                        </a:rPr>
                        <a:t>within</a:t>
                      </a:r>
                      <a:r>
                        <a:rPr sz="15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spc="-50" dirty="0">
                          <a:latin typeface="Times New Roman"/>
                          <a:cs typeface="Times New Roman"/>
                        </a:rPr>
                        <a:t>1 </a:t>
                      </a:r>
                      <a:r>
                        <a:rPr sz="1500" dirty="0">
                          <a:latin typeface="Times New Roman"/>
                          <a:cs typeface="Times New Roman"/>
                        </a:rPr>
                        <a:t>second, protecting </a:t>
                      </a:r>
                      <a:r>
                        <a:rPr sz="1500" spc="-20" dirty="0">
                          <a:latin typeface="Times New Roman"/>
                          <a:cs typeface="Times New Roman"/>
                        </a:rPr>
                        <a:t>rice </a:t>
                      </a:r>
                      <a:r>
                        <a:rPr sz="1500" spc="-10" dirty="0">
                          <a:latin typeface="Times New Roman"/>
                          <a:cs typeface="Times New Roman"/>
                        </a:rPr>
                        <a:t>crops.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70915">
                <a:tc>
                  <a:txBody>
                    <a:bodyPr/>
                    <a:lstStyle/>
                    <a:p>
                      <a:pPr marL="85725">
                        <a:lnSpc>
                          <a:spcPts val="1295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Sensor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$\rightarrow$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IP</a:t>
                      </a:r>
                      <a:r>
                        <a:rPr sz="12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Camera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8572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$\rightarrow$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Raspberry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Pi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(Edge)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8572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$\rightarrow$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Ultrasonic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Deterrent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8572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Web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&amp;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Mobile</a:t>
                      </a:r>
                      <a:r>
                        <a:rPr sz="12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API.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ts val="1295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Sub-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second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(&lt;1s)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detection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8509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deterrence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loop.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85090" marR="171450">
                        <a:lnSpc>
                          <a:spcPct val="114999"/>
                        </a:lnSpc>
                        <a:spcBef>
                          <a:spcPts val="1200"/>
                        </a:spcBef>
                      </a:pPr>
                      <a:r>
                        <a:rPr sz="1200" b="1" dirty="0">
                          <a:latin typeface="Times New Roman"/>
                          <a:cs typeface="Times New Roman"/>
                        </a:rPr>
                        <a:t>Edge</a:t>
                      </a:r>
                      <a:r>
                        <a:rPr sz="1200" b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dirty="0">
                          <a:latin typeface="Times New Roman"/>
                          <a:cs typeface="Times New Roman"/>
                        </a:rPr>
                        <a:t>Execution:</a:t>
                      </a:r>
                      <a:r>
                        <a:rPr sz="1200" b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Operates offline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without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cloud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525145">
                        <a:lnSpc>
                          <a:spcPts val="2070"/>
                        </a:lnSpc>
                        <a:spcBef>
                          <a:spcPts val="100"/>
                        </a:spcBef>
                      </a:pPr>
                      <a:r>
                        <a:rPr sz="1500" dirty="0">
                          <a:latin typeface="Times New Roman"/>
                          <a:cs typeface="Times New Roman"/>
                        </a:rPr>
                        <a:t>due to</a:t>
                      </a:r>
                      <a:r>
                        <a:rPr sz="15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spc="-10" dirty="0">
                          <a:latin typeface="Times New Roman"/>
                          <a:cs typeface="Times New Roman"/>
                        </a:rPr>
                        <a:t>inter-class similarity.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85725">
                        <a:lnSpc>
                          <a:spcPct val="100000"/>
                        </a:lnSpc>
                        <a:spcBef>
                          <a:spcPts val="1355"/>
                        </a:spcBef>
                      </a:pPr>
                      <a:r>
                        <a:rPr sz="1500" spc="-10" dirty="0">
                          <a:latin typeface="Times New Roman"/>
                          <a:cs typeface="Times New Roman"/>
                        </a:rPr>
                        <a:t>CUB-200-</a:t>
                      </a:r>
                      <a:r>
                        <a:rPr sz="1500" spc="-20" dirty="0">
                          <a:latin typeface="Times New Roman"/>
                          <a:cs typeface="Times New Roman"/>
                        </a:rPr>
                        <a:t>2011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127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7D6C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2410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200" b="1" dirty="0">
                          <a:latin typeface="Times New Roman"/>
                          <a:cs typeface="Times New Roman"/>
                        </a:rPr>
                        <a:t>Model:</a:t>
                      </a:r>
                      <a:r>
                        <a:rPr sz="1200" b="1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MobileNetV2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with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latency.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710"/>
                        </a:lnSpc>
                        <a:spcBef>
                          <a:spcPts val="20"/>
                        </a:spcBef>
                      </a:pPr>
                      <a:r>
                        <a:rPr sz="1500" dirty="0">
                          <a:latin typeface="Times New Roman"/>
                          <a:cs typeface="Times New Roman"/>
                        </a:rPr>
                        <a:t>dataset</a:t>
                      </a:r>
                      <a:r>
                        <a:rPr sz="15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spc="-10" dirty="0">
                          <a:latin typeface="Times New Roman"/>
                          <a:cs typeface="Times New Roman"/>
                        </a:rPr>
                        <a:t>lacks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25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7D6C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0545">
                <a:tc>
                  <a:txBody>
                    <a:bodyPr/>
                    <a:lstStyle/>
                    <a:p>
                      <a:pPr marL="85725">
                        <a:lnSpc>
                          <a:spcPts val="1295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Transfer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Learning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on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8572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CUB-200-2011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dataset.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85090" marR="308610" indent="38100">
                        <a:lnSpc>
                          <a:spcPct val="114999"/>
                        </a:lnSpc>
                        <a:spcBef>
                          <a:spcPts val="840"/>
                        </a:spcBef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Targeted:</a:t>
                      </a:r>
                      <a:r>
                        <a:rPr sz="12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Prevents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bird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habituation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avoids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066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342900">
                        <a:lnSpc>
                          <a:spcPts val="2070"/>
                        </a:lnSpc>
                        <a:spcBef>
                          <a:spcPts val="95"/>
                        </a:spcBef>
                      </a:pPr>
                      <a:r>
                        <a:rPr sz="1500" dirty="0">
                          <a:latin typeface="Times New Roman"/>
                          <a:cs typeface="Times New Roman"/>
                        </a:rPr>
                        <a:t>field-</a:t>
                      </a:r>
                      <a:r>
                        <a:rPr sz="1500" spc="-10" dirty="0">
                          <a:latin typeface="Times New Roman"/>
                          <a:cs typeface="Times New Roman"/>
                        </a:rPr>
                        <a:t>captured </a:t>
                      </a:r>
                      <a:r>
                        <a:rPr sz="1500" dirty="0">
                          <a:latin typeface="Times New Roman"/>
                          <a:cs typeface="Times New Roman"/>
                        </a:rPr>
                        <a:t>Senegalese</a:t>
                      </a:r>
                      <a:r>
                        <a:rPr sz="15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spc="-10" dirty="0">
                          <a:latin typeface="Times New Roman"/>
                          <a:cs typeface="Times New Roman"/>
                        </a:rPr>
                        <a:t>images.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7D6C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marL="123825">
                        <a:lnSpc>
                          <a:spcPts val="1325"/>
                        </a:lnSpc>
                        <a:spcBef>
                          <a:spcPts val="30"/>
                        </a:spcBef>
                      </a:pPr>
                      <a:r>
                        <a:rPr sz="1200" b="1" dirty="0">
                          <a:latin typeface="Times New Roman"/>
                          <a:cs typeface="Times New Roman"/>
                        </a:rPr>
                        <a:t>Optimization:</a:t>
                      </a:r>
                      <a:r>
                        <a:rPr sz="1200" b="1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Data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ts val="1325"/>
                        </a:lnSpc>
                        <a:spcBef>
                          <a:spcPts val="3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chemical/harmful methods.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7D6C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4950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augmentation,</a:t>
                      </a:r>
                      <a:r>
                        <a:rPr sz="12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Adam</a:t>
                      </a:r>
                      <a:r>
                        <a:rPr sz="12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optimizer,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605"/>
                        </a:lnSpc>
                      </a:pPr>
                      <a:r>
                        <a:rPr sz="1500" dirty="0">
                          <a:latin typeface="Times New Roman"/>
                          <a:cs typeface="Times New Roman"/>
                        </a:rPr>
                        <a:t>Requires</a:t>
                      </a:r>
                      <a:r>
                        <a:rPr sz="15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spc="-10" dirty="0">
                          <a:latin typeface="Times New Roman"/>
                          <a:cs typeface="Times New Roman"/>
                        </a:rPr>
                        <a:t>solar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7D6C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2410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ReduceLROnPlateau,</a:t>
                      </a:r>
                      <a:r>
                        <a:rPr sz="1200" spc="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Early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710"/>
                        </a:lnSpc>
                        <a:spcBef>
                          <a:spcPts val="20"/>
                        </a:spcBef>
                      </a:pPr>
                      <a:r>
                        <a:rPr sz="1500" dirty="0">
                          <a:latin typeface="Times New Roman"/>
                          <a:cs typeface="Times New Roman"/>
                        </a:rPr>
                        <a:t>integration</a:t>
                      </a:r>
                      <a:r>
                        <a:rPr sz="15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500" spc="-10" dirty="0">
                          <a:latin typeface="Times New Roman"/>
                          <a:cs typeface="Times New Roman"/>
                        </a:rPr>
                        <a:t> remote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25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7D6C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981075">
                <a:tc>
                  <a:txBody>
                    <a:bodyPr/>
                    <a:lstStyle/>
                    <a:p>
                      <a:pPr marL="85725">
                        <a:lnSpc>
                          <a:spcPts val="1295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Stopping.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500" dirty="0">
                          <a:latin typeface="Times New Roman"/>
                          <a:cs typeface="Times New Roman"/>
                        </a:rPr>
                        <a:t>field </a:t>
                      </a:r>
                      <a:r>
                        <a:rPr sz="1500" spc="-10" dirty="0">
                          <a:latin typeface="Times New Roman"/>
                          <a:cs typeface="Times New Roman"/>
                        </a:rPr>
                        <a:t>power.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1164041" y="6445272"/>
            <a:ext cx="87630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spc="-25" dirty="0">
                <a:solidFill>
                  <a:srgbClr val="ED7D31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lang="en-US" smtClean="0"/>
              <a:t>CCD415 Project Phase I</a:t>
            </a:r>
            <a:endParaRPr spc="-50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spc="-10" dirty="0"/>
              <a:t>2023-</a:t>
            </a:r>
            <a:r>
              <a:rPr dirty="0"/>
              <a:t>2027</a:t>
            </a:r>
            <a:r>
              <a:rPr spc="-5" dirty="0"/>
              <a:t> </a:t>
            </a:r>
            <a:r>
              <a:rPr spc="-10" dirty="0"/>
              <a:t>Batch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spc="-25" dirty="0"/>
              <a:t>27</a:t>
            </a:fld>
            <a:endParaRPr spc="-25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654698" y="181526"/>
            <a:ext cx="609409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LITERATURE</a:t>
            </a:r>
            <a:r>
              <a:rPr spc="-195" dirty="0"/>
              <a:t> </a:t>
            </a:r>
            <a:r>
              <a:rPr spc="-10" dirty="0"/>
              <a:t>SURVEY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1919" y="1021801"/>
            <a:ext cx="8703310" cy="88582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20"/>
              </a:spcBef>
              <a:buFont typeface="Arial MT"/>
              <a:buChar char="•"/>
              <a:tabLst>
                <a:tab pos="240029" algn="l"/>
              </a:tabLst>
            </a:pPr>
            <a:r>
              <a:rPr sz="2150" dirty="0">
                <a:solidFill>
                  <a:srgbClr val="0C0C0C"/>
                </a:solidFill>
                <a:latin typeface="Times New Roman"/>
                <a:cs typeface="Times New Roman"/>
              </a:rPr>
              <a:t>Curry,</a:t>
            </a:r>
            <a:r>
              <a:rPr sz="2150" spc="18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150" dirty="0">
                <a:solidFill>
                  <a:srgbClr val="0C0C0C"/>
                </a:solidFill>
                <a:latin typeface="Times New Roman"/>
                <a:cs typeface="Times New Roman"/>
              </a:rPr>
              <a:t>Trotter</a:t>
            </a:r>
            <a:r>
              <a:rPr sz="2150" spc="229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150" dirty="0">
                <a:solidFill>
                  <a:srgbClr val="0C0C0C"/>
                </a:solidFill>
                <a:latin typeface="Times New Roman"/>
                <a:cs typeface="Times New Roman"/>
              </a:rPr>
              <a:t>&amp;</a:t>
            </a:r>
            <a:r>
              <a:rPr sz="2150" spc="22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150" dirty="0">
                <a:solidFill>
                  <a:srgbClr val="0C0C0C"/>
                </a:solidFill>
                <a:latin typeface="Times New Roman"/>
                <a:cs typeface="Times New Roman"/>
              </a:rPr>
              <a:t>McGough,</a:t>
            </a:r>
            <a:r>
              <a:rPr sz="2150" spc="22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150" dirty="0">
                <a:solidFill>
                  <a:srgbClr val="0C0C0C"/>
                </a:solidFill>
                <a:latin typeface="Times New Roman"/>
                <a:cs typeface="Times New Roman"/>
              </a:rPr>
              <a:t>2021</a:t>
            </a:r>
            <a:r>
              <a:rPr sz="2150" spc="229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150" dirty="0">
                <a:solidFill>
                  <a:srgbClr val="0C0C0C"/>
                </a:solidFill>
                <a:latin typeface="Times New Roman"/>
                <a:cs typeface="Times New Roman"/>
              </a:rPr>
              <a:t>–</a:t>
            </a:r>
            <a:r>
              <a:rPr sz="2150" spc="22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150" dirty="0">
                <a:solidFill>
                  <a:srgbClr val="0C0C0C"/>
                </a:solidFill>
                <a:latin typeface="Times New Roman"/>
                <a:cs typeface="Times New Roman"/>
              </a:rPr>
              <a:t>camera</a:t>
            </a:r>
            <a:r>
              <a:rPr sz="2150" spc="22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150" dirty="0">
                <a:solidFill>
                  <a:srgbClr val="0C0C0C"/>
                </a:solidFill>
                <a:latin typeface="Times New Roman"/>
                <a:cs typeface="Times New Roman"/>
              </a:rPr>
              <a:t>trap</a:t>
            </a:r>
            <a:r>
              <a:rPr sz="2150" spc="22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150" dirty="0">
                <a:solidFill>
                  <a:srgbClr val="0C0C0C"/>
                </a:solidFill>
                <a:latin typeface="Times New Roman"/>
                <a:cs typeface="Times New Roman"/>
              </a:rPr>
              <a:t>deep</a:t>
            </a:r>
            <a:r>
              <a:rPr sz="2150" spc="229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150" dirty="0">
                <a:solidFill>
                  <a:srgbClr val="0C0C0C"/>
                </a:solidFill>
                <a:latin typeface="Times New Roman"/>
                <a:cs typeface="Times New Roman"/>
              </a:rPr>
              <a:t>learning</a:t>
            </a:r>
            <a:r>
              <a:rPr sz="2150" spc="22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150" dirty="0">
                <a:solidFill>
                  <a:srgbClr val="0C0C0C"/>
                </a:solidFill>
                <a:latin typeface="Times New Roman"/>
                <a:cs typeface="Times New Roman"/>
              </a:rPr>
              <a:t>for</a:t>
            </a:r>
            <a:r>
              <a:rPr sz="2150" spc="22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150" spc="-10" dirty="0">
                <a:solidFill>
                  <a:srgbClr val="0C0C0C"/>
                </a:solidFill>
                <a:latin typeface="Times New Roman"/>
                <a:cs typeface="Times New Roman"/>
              </a:rPr>
              <a:t>Scottish</a:t>
            </a:r>
            <a:endParaRPr sz="2150">
              <a:latin typeface="Times New Roman"/>
              <a:cs typeface="Times New Roman"/>
            </a:endParaRPr>
          </a:p>
          <a:p>
            <a:pPr marL="239395">
              <a:lnSpc>
                <a:spcPct val="100000"/>
              </a:lnSpc>
              <a:spcBef>
                <a:spcPts val="1585"/>
              </a:spcBef>
            </a:pPr>
            <a:r>
              <a:rPr sz="2150" spc="-10" dirty="0">
                <a:solidFill>
                  <a:srgbClr val="0C0C0C"/>
                </a:solidFill>
                <a:latin typeface="Times New Roman"/>
                <a:cs typeface="Times New Roman"/>
              </a:rPr>
              <a:t>wildcat</a:t>
            </a:r>
            <a:endParaRPr sz="215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439963" y="2216196"/>
          <a:ext cx="8068944" cy="41395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948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8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83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73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39445">
                <a:tc>
                  <a:txBody>
                    <a:bodyPr/>
                    <a:lstStyle/>
                    <a:p>
                      <a:pPr marL="476884" marR="161925" indent="-30924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Core</a:t>
                      </a:r>
                      <a:r>
                        <a:rPr sz="1800" b="1" spc="-9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Methodologies </a:t>
                      </a:r>
                      <a:r>
                        <a:rPr sz="1800" b="1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&amp;</a:t>
                      </a:r>
                      <a:r>
                        <a:rPr sz="1800" b="1" spc="-9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Algorithms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36766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Advantages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37401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Limitations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52578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Summary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0120">
                <a:tc>
                  <a:txBody>
                    <a:bodyPr/>
                    <a:lstStyle/>
                    <a:p>
                      <a:pPr marL="85725" marR="9525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Ensemble</a:t>
                      </a:r>
                      <a:r>
                        <a:rPr sz="1800" spc="-11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of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MegaDetector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(detection),</a:t>
                      </a:r>
                      <a:r>
                        <a:rPr sz="1800" spc="-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DeepMAC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(segmentation),</a:t>
                      </a:r>
                      <a:r>
                        <a:rPr sz="18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8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3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CNN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classifiers (DenseNet201, MobileNet,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ResNet152V2)</a:t>
                      </a:r>
                      <a:r>
                        <a:rPr sz="1800" spc="-1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with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vote-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based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two-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class 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(Wildcat/Not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Wildcat) output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8509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Novel</a:t>
                      </a:r>
                      <a:r>
                        <a:rPr sz="18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use</a:t>
                      </a:r>
                      <a:r>
                        <a:rPr sz="18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of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captive</a:t>
                      </a:r>
                      <a:r>
                        <a:rPr sz="1800" spc="-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imagery</a:t>
                      </a:r>
                      <a:r>
                        <a:rPr sz="18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35" dirty="0"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train</a:t>
                      </a:r>
                      <a:r>
                        <a:rPr sz="1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models</a:t>
                      </a:r>
                      <a:r>
                        <a:rPr sz="1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a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rare</a:t>
                      </a:r>
                      <a:r>
                        <a:rPr sz="18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species</a:t>
                      </a:r>
                      <a:r>
                        <a:rPr sz="18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with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no wild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training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data;</a:t>
                      </a:r>
                      <a:r>
                        <a:rPr sz="1800" spc="-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ensemble</a:t>
                      </a:r>
                      <a:r>
                        <a:rPr sz="1800" spc="-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+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segmentation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improved</a:t>
                      </a:r>
                      <a:r>
                        <a:rPr sz="18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results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22352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Poor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generalisation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from</a:t>
                      </a:r>
                      <a:r>
                        <a:rPr sz="18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captivity</a:t>
                      </a:r>
                      <a:r>
                        <a:rPr sz="18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wild —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accuracy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dropped</a:t>
                      </a:r>
                      <a:r>
                        <a:rPr sz="18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from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85725">
                        <a:lnSpc>
                          <a:spcPct val="100000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~90%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20–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45%;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85725" marR="326390">
                        <a:lnSpc>
                          <a:spcPct val="100000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best</a:t>
                      </a:r>
                      <a:r>
                        <a:rPr sz="18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model</a:t>
                      </a:r>
                      <a:r>
                        <a:rPr sz="18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only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54.8%</a:t>
                      </a: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wildcat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accuracy</a:t>
                      </a:r>
                      <a:r>
                        <a:rPr sz="18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wild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Shows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85725" marR="206375">
                        <a:lnSpc>
                          <a:spcPct val="100000"/>
                        </a:lnSpc>
                      </a:pP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captivity-to-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wild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training</a:t>
                      </a:r>
                      <a:r>
                        <a:rPr sz="18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18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feasible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but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not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yet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reliable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enough</a:t>
                      </a:r>
                      <a:r>
                        <a:rPr sz="1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replace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manual</a:t>
                      </a:r>
                      <a:r>
                        <a:rPr sz="1800" spc="-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ecologist review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1164041" y="6445272"/>
            <a:ext cx="87630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spc="-25" dirty="0">
                <a:solidFill>
                  <a:srgbClr val="ED7D31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lang="en-US" smtClean="0"/>
              <a:t>CCD415 Project Phase I</a:t>
            </a:r>
            <a:endParaRPr spc="-50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spc="-10" dirty="0"/>
              <a:t>2023-</a:t>
            </a:r>
            <a:r>
              <a:rPr dirty="0"/>
              <a:t>2027</a:t>
            </a:r>
            <a:r>
              <a:rPr spc="-5" dirty="0"/>
              <a:t> </a:t>
            </a:r>
            <a:r>
              <a:rPr spc="-10" dirty="0"/>
              <a:t>Batch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spc="-25" dirty="0"/>
              <a:t>28</a:t>
            </a:fld>
            <a:endParaRPr spc="-25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805491" y="128401"/>
            <a:ext cx="5487035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950" spc="-20" dirty="0"/>
              <a:t>LITERATURE</a:t>
            </a:r>
            <a:r>
              <a:rPr sz="3950" spc="-150" dirty="0"/>
              <a:t> </a:t>
            </a:r>
            <a:r>
              <a:rPr sz="3950" spc="-10" dirty="0"/>
              <a:t>SURVEY</a:t>
            </a:r>
            <a:endParaRPr sz="3950"/>
          </a:p>
        </p:txBody>
      </p:sp>
      <p:sp>
        <p:nvSpPr>
          <p:cNvPr id="3" name="object 3"/>
          <p:cNvSpPr txBox="1"/>
          <p:nvPr/>
        </p:nvSpPr>
        <p:spPr>
          <a:xfrm>
            <a:off x="291862" y="841067"/>
            <a:ext cx="8232140" cy="3244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97180" indent="-284480">
              <a:lnSpc>
                <a:spcPct val="100000"/>
              </a:lnSpc>
              <a:spcBef>
                <a:spcPts val="110"/>
              </a:spcBef>
              <a:buSzPct val="64102"/>
              <a:buChar char="•"/>
              <a:tabLst>
                <a:tab pos="297180" algn="l"/>
              </a:tabLst>
            </a:pPr>
            <a:r>
              <a:rPr sz="1950" dirty="0">
                <a:solidFill>
                  <a:srgbClr val="0C0C0C"/>
                </a:solidFill>
                <a:latin typeface="Times New Roman"/>
                <a:cs typeface="Times New Roman"/>
              </a:rPr>
              <a:t>Kathir,</a:t>
            </a:r>
            <a:r>
              <a:rPr sz="1950" spc="-1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950" dirty="0">
                <a:solidFill>
                  <a:srgbClr val="0C0C0C"/>
                </a:solidFill>
                <a:latin typeface="Times New Roman"/>
                <a:cs typeface="Times New Roman"/>
              </a:rPr>
              <a:t>Balaji</a:t>
            </a:r>
            <a:r>
              <a:rPr sz="1950" spc="-1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950" dirty="0">
                <a:solidFill>
                  <a:srgbClr val="0C0C0C"/>
                </a:solidFill>
                <a:latin typeface="Times New Roman"/>
                <a:cs typeface="Times New Roman"/>
              </a:rPr>
              <a:t>&amp;</a:t>
            </a:r>
            <a:r>
              <a:rPr sz="1950" spc="-12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950" dirty="0">
                <a:solidFill>
                  <a:srgbClr val="0C0C0C"/>
                </a:solidFill>
                <a:latin typeface="Times New Roman"/>
                <a:cs typeface="Times New Roman"/>
              </a:rPr>
              <a:t>Ashwini,</a:t>
            </a:r>
            <a:r>
              <a:rPr sz="1950" spc="-1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950" dirty="0">
                <a:solidFill>
                  <a:srgbClr val="0C0C0C"/>
                </a:solidFill>
                <a:latin typeface="Times New Roman"/>
                <a:cs typeface="Times New Roman"/>
              </a:rPr>
              <a:t>2024</a:t>
            </a:r>
            <a:r>
              <a:rPr sz="1950" spc="-1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950" dirty="0">
                <a:solidFill>
                  <a:srgbClr val="0C0C0C"/>
                </a:solidFill>
                <a:latin typeface="Times New Roman"/>
                <a:cs typeface="Times New Roman"/>
              </a:rPr>
              <a:t>—</a:t>
            </a:r>
            <a:r>
              <a:rPr sz="1950" spc="-12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950" dirty="0">
                <a:solidFill>
                  <a:srgbClr val="0C0C0C"/>
                </a:solidFill>
                <a:latin typeface="Times New Roman"/>
                <a:cs typeface="Times New Roman"/>
              </a:rPr>
              <a:t>Animal</a:t>
            </a:r>
            <a:r>
              <a:rPr sz="1950" spc="-1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950" dirty="0">
                <a:solidFill>
                  <a:srgbClr val="0C0C0C"/>
                </a:solidFill>
                <a:latin typeface="Times New Roman"/>
                <a:cs typeface="Times New Roman"/>
              </a:rPr>
              <a:t>Intrusion</a:t>
            </a:r>
            <a:r>
              <a:rPr sz="1950" spc="-1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950" dirty="0">
                <a:solidFill>
                  <a:srgbClr val="0C0C0C"/>
                </a:solidFill>
                <a:latin typeface="Times New Roman"/>
                <a:cs typeface="Times New Roman"/>
              </a:rPr>
              <a:t>Detection</a:t>
            </a:r>
            <a:r>
              <a:rPr sz="1950" spc="-1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950" dirty="0">
                <a:solidFill>
                  <a:srgbClr val="0C0C0C"/>
                </a:solidFill>
                <a:latin typeface="Times New Roman"/>
                <a:cs typeface="Times New Roman"/>
              </a:rPr>
              <a:t>Using</a:t>
            </a:r>
            <a:r>
              <a:rPr sz="1950" spc="-8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950" dirty="0">
                <a:solidFill>
                  <a:srgbClr val="0C0C0C"/>
                </a:solidFill>
                <a:latin typeface="Times New Roman"/>
                <a:cs typeface="Times New Roman"/>
              </a:rPr>
              <a:t>YOLO</a:t>
            </a:r>
            <a:r>
              <a:rPr sz="1950" spc="-1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950" spc="-25" dirty="0">
                <a:solidFill>
                  <a:srgbClr val="0C0C0C"/>
                </a:solidFill>
                <a:latin typeface="Times New Roman"/>
                <a:cs typeface="Times New Roman"/>
              </a:rPr>
              <a:t>v8</a:t>
            </a:r>
            <a:endParaRPr sz="195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439963" y="1458627"/>
          <a:ext cx="8229599" cy="48793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406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157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157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52475">
                <a:tc>
                  <a:txBody>
                    <a:bodyPr/>
                    <a:lstStyle/>
                    <a:p>
                      <a:pPr marL="499745" marR="184785" indent="-30924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Core</a:t>
                      </a:r>
                      <a:r>
                        <a:rPr sz="1800" b="1" spc="-9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Methodologies </a:t>
                      </a:r>
                      <a:r>
                        <a:rPr sz="1800" b="1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&amp;</a:t>
                      </a:r>
                      <a:r>
                        <a:rPr sz="1800" b="1" spc="-9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Algorithms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38608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Advantages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39243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Limitations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54610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Summary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26865">
                <a:tc>
                  <a:txBody>
                    <a:bodyPr/>
                    <a:lstStyle/>
                    <a:p>
                      <a:pPr marL="85725" marR="12827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YOLO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v8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(anchor-free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object</a:t>
                      </a:r>
                      <a:r>
                        <a:rPr sz="1800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detector)</a:t>
                      </a:r>
                      <a:r>
                        <a:rPr sz="18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trained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100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epochs</a:t>
                      </a:r>
                      <a:r>
                        <a:rPr sz="1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4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classes</a:t>
                      </a:r>
                      <a:r>
                        <a:rPr sz="1800" spc="-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(buffalo,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elephant,</a:t>
                      </a:r>
                      <a:r>
                        <a:rPr sz="18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rhino,</a:t>
                      </a:r>
                      <a:r>
                        <a:rPr sz="18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zebra);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dataset</a:t>
                      </a:r>
                      <a:r>
                        <a:rPr sz="18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split</a:t>
                      </a:r>
                      <a:r>
                        <a:rPr sz="18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so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training/validation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images</a:t>
                      </a:r>
                      <a:r>
                        <a:rPr sz="1800" spc="-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have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85725" marR="255904">
                        <a:lnSpc>
                          <a:spcPct val="100000"/>
                        </a:lnSpc>
                      </a:pP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single-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class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objects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while</a:t>
                      </a:r>
                      <a:r>
                        <a:rPr sz="18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harder</a:t>
                      </a:r>
                      <a:r>
                        <a:rPr sz="18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test</a:t>
                      </a:r>
                      <a:r>
                        <a:rPr sz="18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set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requires</a:t>
                      </a:r>
                      <a:r>
                        <a:rPr sz="18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multi-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class images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85090" marR="21018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High</a:t>
                      </a:r>
                      <a:r>
                        <a:rPr sz="18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accuracy</a:t>
                      </a:r>
                      <a:r>
                        <a:rPr sz="1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—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mAP50-95 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of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0.964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(train)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and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85090" marR="92075">
                        <a:lnSpc>
                          <a:spcPct val="100000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0.845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(validation); 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anchor-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free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 design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mosaic augmentation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improve</a:t>
                      </a:r>
                      <a:r>
                        <a:rPr sz="1800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speed</a:t>
                      </a:r>
                      <a:r>
                        <a:rPr sz="18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generalizability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over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earlier</a:t>
                      </a:r>
                      <a:r>
                        <a:rPr sz="1800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YOLO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versions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67500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Trained</a:t>
                      </a:r>
                      <a:r>
                        <a:rPr sz="1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a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small,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85725" marR="236854">
                        <a:lnSpc>
                          <a:spcPct val="100000"/>
                        </a:lnSpc>
                      </a:pP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web-scraped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dataset</a:t>
                      </a:r>
                      <a:r>
                        <a:rPr sz="1800" spc="-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(~376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images/class)</a:t>
                      </a:r>
                      <a:r>
                        <a:rPr sz="1800" spc="-1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of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only 4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South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African</a:t>
                      </a:r>
                      <a:r>
                        <a:rPr sz="18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species;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no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real-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time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field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deployment</a:t>
                      </a:r>
                      <a:r>
                        <a:rPr sz="18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or 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alert-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system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testing</a:t>
                      </a:r>
                      <a:r>
                        <a:rPr sz="18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shown;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tested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GTX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1050,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low-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end GPU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14986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Demonstrates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YOLOv8</a:t>
                      </a:r>
                      <a:r>
                        <a:rPr sz="18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can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accurately</a:t>
                      </a:r>
                      <a:r>
                        <a:rPr sz="1800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detect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intruding</a:t>
                      </a:r>
                      <a:r>
                        <a:rPr sz="1800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wildlife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crop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protection,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with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strong precision/recall,</a:t>
                      </a:r>
                      <a:r>
                        <a:rPr sz="180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but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needs</a:t>
                      </a: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real-world deployment</a:t>
                      </a:r>
                      <a:r>
                        <a:rPr sz="18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broader</a:t>
                      </a:r>
                      <a:r>
                        <a:rPr sz="18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species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coverage</a:t>
                      </a:r>
                      <a:r>
                        <a:rPr sz="1800" spc="-10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for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practical</a:t>
                      </a:r>
                      <a:r>
                        <a:rPr sz="1800" spc="-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farm</a:t>
                      </a:r>
                      <a:r>
                        <a:rPr sz="1800" spc="-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use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164095" y="6578165"/>
            <a:ext cx="87630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spc="-25" dirty="0">
                <a:solidFill>
                  <a:srgbClr val="ED7D31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2893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lang="en-US" smtClean="0"/>
              <a:t>CCD415 Project Phase I</a:t>
            </a:r>
            <a:endParaRPr spc="-50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2893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spc="-10" dirty="0"/>
              <a:t>2023-</a:t>
            </a:r>
            <a:r>
              <a:rPr dirty="0"/>
              <a:t>2027</a:t>
            </a:r>
            <a:r>
              <a:rPr spc="-5" dirty="0"/>
              <a:t> </a:t>
            </a:r>
            <a:r>
              <a:rPr spc="-10" dirty="0"/>
              <a:t>Batch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2893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spc="-25" dirty="0"/>
              <a:t>29</a:t>
            </a:fld>
            <a:endParaRPr spc="-25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106104" y="32355"/>
            <a:ext cx="710438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80" dirty="0"/>
              <a:t>COMPARATIVE</a:t>
            </a:r>
            <a:r>
              <a:rPr spc="-190" dirty="0"/>
              <a:t> </a:t>
            </a:r>
            <a:r>
              <a:rPr spc="-35" dirty="0"/>
              <a:t>ANALYSIS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565023" y="698222"/>
          <a:ext cx="8256269" cy="57581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385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89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640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38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009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 marL="168910" marR="161290" indent="-1270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Paper/ Year/ Authors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Methodology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marL="39433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Approach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220979" indent="26416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Tool/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Algorithm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marL="774065" marR="316230" indent="-45085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Observations/Key Findings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70A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[2]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1CE"/>
                    </a:solidFill>
                  </a:tcPr>
                </a:tc>
                <a:tc>
                  <a:txBody>
                    <a:bodyPr/>
                    <a:lstStyle/>
                    <a:p>
                      <a:pPr marL="104139" marR="97790" indent="-63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Multi-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model AI+IoTframework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elephant tracking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and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91440" marR="86360" algn="ctr">
                        <a:lnSpc>
                          <a:spcPct val="100000"/>
                        </a:lnSpc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human-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elephantconfl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ict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prediction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1CE"/>
                    </a:solidFill>
                  </a:tcPr>
                </a:tc>
                <a:tc>
                  <a:txBody>
                    <a:bodyPr/>
                    <a:lstStyle/>
                    <a:p>
                      <a:pPr marL="94615" marR="8826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Real-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time</a:t>
                      </a:r>
                      <a:r>
                        <a:rPr sz="12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detection,video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analytics,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movement prediction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398780" marR="392430" algn="ctr">
                        <a:lnSpc>
                          <a:spcPct val="10000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andconflict-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risk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classification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1CE"/>
                    </a:solidFill>
                  </a:tcPr>
                </a:tc>
                <a:tc>
                  <a:txBody>
                    <a:bodyPr/>
                    <a:lstStyle/>
                    <a:p>
                      <a:pPr marL="86360" marR="78740" indent="-127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EfficientNet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B7,YOLO,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3D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CNN,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GRU,XGBoost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1CE"/>
                    </a:solidFill>
                  </a:tcPr>
                </a:tc>
                <a:tc>
                  <a:txBody>
                    <a:bodyPr/>
                    <a:lstStyle/>
                    <a:p>
                      <a:pPr marL="130810" marR="12573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EfficientNet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B7: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97.85%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accuracy; GRUgave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lowest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RMSE(0.25)for conflictprediction;</a:t>
                      </a:r>
                      <a:r>
                        <a:rPr sz="12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JetsonNano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498475" marR="490855" algn="ctr">
                        <a:lnSpc>
                          <a:spcPct val="10000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+AWSdeploymentwith SMS/dronealerts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1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3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[19]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1E7"/>
                    </a:solidFill>
                  </a:tcPr>
                </a:tc>
                <a:tc>
                  <a:txBody>
                    <a:bodyPr/>
                    <a:lstStyle/>
                    <a:p>
                      <a:pPr marL="108585" marR="103505" indent="63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Single-stage deepobject detectionforcrop-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fiel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intrusion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1E7"/>
                    </a:solidFill>
                  </a:tcPr>
                </a:tc>
                <a:tc>
                  <a:txBody>
                    <a:bodyPr/>
                    <a:lstStyle/>
                    <a:p>
                      <a:pPr marL="102870" marR="95250" indent="-127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Real-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time</a:t>
                      </a:r>
                      <a:r>
                        <a:rPr sz="12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identification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of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intrudinganimalstotrigger farmerwarnings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1E7"/>
                    </a:solidFill>
                  </a:tcPr>
                </a:tc>
                <a:tc>
                  <a:txBody>
                    <a:bodyPr/>
                    <a:lstStyle/>
                    <a:p>
                      <a:pPr marL="448309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YOLOv8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1E7"/>
                    </a:solidFill>
                  </a:tcPr>
                </a:tc>
                <a:tc>
                  <a:txBody>
                    <a:bodyPr/>
                    <a:lstStyle/>
                    <a:p>
                      <a:pPr marL="98425" marR="9080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mAP@0.5=0.994(train)/0.959(val)o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buffalo,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elephant,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rhino,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zebra classes;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nolive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alertsystem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implemented</a:t>
                      </a:r>
                      <a:r>
                        <a:rPr sz="12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yet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1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5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[20]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1CE"/>
                    </a:solidFill>
                  </a:tcPr>
                </a:tc>
                <a:tc>
                  <a:txBody>
                    <a:bodyPr/>
                    <a:lstStyle/>
                    <a:p>
                      <a:pPr marL="99695" marR="9461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Ensembleobject-dete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ction+ segmentation+ classification pipeline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1CE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84455" indent="-317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Testswhethercaptivity-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tra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ined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modelsgeneraliseto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wild</a:t>
                      </a:r>
                      <a:r>
                        <a:rPr sz="12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camera-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trap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imagery(Scottish</a:t>
                      </a:r>
                      <a:r>
                        <a:rPr sz="1200" spc="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wildcat)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1CE"/>
                    </a:solidFill>
                  </a:tcPr>
                </a:tc>
                <a:tc>
                  <a:txBody>
                    <a:bodyPr/>
                    <a:lstStyle/>
                    <a:p>
                      <a:pPr marL="123825" marR="11620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MegaDetector,Deep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MAC,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14300" marR="108585" algn="ctr">
                        <a:lnSpc>
                          <a:spcPct val="10000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DenseNet201/Mobil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eNet/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ResNet152V2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1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Best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2-classmodel:81.6%overall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12395" marR="106680" algn="ctr">
                        <a:lnSpc>
                          <a:spcPct val="10000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/54.8%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wildcat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accuracy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onwildtest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set;</a:t>
                      </a:r>
                      <a:r>
                        <a:rPr sz="12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concludes</a:t>
                      </a:r>
                      <a:r>
                        <a:rPr sz="12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captivity-to-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wild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generalisation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still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lim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1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23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[10]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1E7"/>
                    </a:solidFill>
                  </a:tcPr>
                </a:tc>
                <a:tc>
                  <a:txBody>
                    <a:bodyPr/>
                    <a:lstStyle/>
                    <a:p>
                      <a:pPr marL="103505" marR="9779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Multi-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sensor(PIR+ul trasonic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+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vision)adaptive surveillance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1E7"/>
                    </a:solidFill>
                  </a:tcPr>
                </a:tc>
                <a:tc>
                  <a:txBody>
                    <a:bodyPr/>
                    <a:lstStyle/>
                    <a:p>
                      <a:pPr marL="176530" marR="16954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Motion-gated detectionwith dynamicthresholds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hierarchical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alerting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1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YOLOv5+CNN(Ada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39700" marR="132080" indent="-1905" algn="ctr">
                        <a:lnSpc>
                          <a:spcPct val="10000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ptive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Object RecognitionModel)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1E7"/>
                    </a:solidFill>
                  </a:tcPr>
                </a:tc>
                <a:tc>
                  <a:txBody>
                    <a:bodyPr/>
                    <a:lstStyle/>
                    <a:p>
                      <a:pPr marL="257175" marR="249554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96.8%detectionaccuracy,</a:t>
                      </a:r>
                      <a:r>
                        <a:rPr sz="120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0.15s latency,95%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reliability; embeddedFPSonly≈0.82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1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05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[18]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1CE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8382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Architecture-improv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ed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YOLOv5sfornature-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r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eserve</a:t>
                      </a:r>
                      <a:r>
                        <a:rPr sz="12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species detection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1CE"/>
                    </a:solidFill>
                  </a:tcPr>
                </a:tc>
                <a:tc>
                  <a:txBody>
                    <a:bodyPr/>
                    <a:lstStyle/>
                    <a:p>
                      <a:pPr marL="151130" marR="145415" indent="190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Improvedetectionof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small,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lurred, andoccludedanimal targets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via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attention+feature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fusion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1CE"/>
                    </a:solidFill>
                  </a:tcPr>
                </a:tc>
                <a:tc>
                  <a:txBody>
                    <a:bodyPr/>
                    <a:lstStyle/>
                    <a:p>
                      <a:pPr marL="121285" marR="11557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YOLOv5s+BiFPN+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ECA+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254000" marR="248285" algn="ctr">
                        <a:lnSpc>
                          <a:spcPct val="100000"/>
                        </a:lnSpc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depth-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separable convolution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1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mAP95.5%vsYOLOv5sbaseline93.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3%,SSD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91.2%,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Faster-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RCNN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94.7%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(+3.2%over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baseline)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1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164095" y="6578165"/>
            <a:ext cx="87630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spc="-25" dirty="0">
                <a:solidFill>
                  <a:srgbClr val="ED7D31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2893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lang="en-US" smtClean="0"/>
              <a:t>CCD415 Project Phase I</a:t>
            </a:r>
            <a:endParaRPr spc="-50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2893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spc="-10" dirty="0"/>
              <a:t>2023-</a:t>
            </a:r>
            <a:r>
              <a:rPr dirty="0"/>
              <a:t>2027</a:t>
            </a:r>
            <a:r>
              <a:rPr spc="-5" dirty="0"/>
              <a:t> </a:t>
            </a:r>
            <a:r>
              <a:rPr spc="-10" dirty="0"/>
              <a:t>Batch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2893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spc="-25" dirty="0"/>
              <a:t>30</a:t>
            </a:fld>
            <a:endParaRPr spc="-25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106104" y="32355"/>
            <a:ext cx="710438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80" dirty="0"/>
              <a:t>COMPARATIVE</a:t>
            </a:r>
            <a:r>
              <a:rPr spc="-190" dirty="0"/>
              <a:t> </a:t>
            </a:r>
            <a:r>
              <a:rPr spc="-35" dirty="0"/>
              <a:t>ANALYSIS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65662" y="786826"/>
          <a:ext cx="8465182" cy="54419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233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25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167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496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228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64565">
                <a:tc>
                  <a:txBody>
                    <a:bodyPr/>
                    <a:lstStyle/>
                    <a:p>
                      <a:pPr marL="161290" marR="153670" indent="-1270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Paper/ Year/ Authors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marL="13462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Methodology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marL="42100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Approach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marL="116839" marR="109220" indent="26416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Tool/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Algorithm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marL="935355" marR="477520" indent="-45085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Observations/Key Findings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70A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3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[4]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1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IoT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93980" marR="88900" algn="ctr">
                        <a:lnSpc>
                          <a:spcPct val="10000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+AIpipelineforautoma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ted</a:t>
                      </a:r>
                      <a:r>
                        <a:rPr sz="12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pest-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bird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deterrence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1CE"/>
                    </a:solidFill>
                  </a:tcPr>
                </a:tc>
                <a:tc>
                  <a:txBody>
                    <a:bodyPr/>
                    <a:lstStyle/>
                    <a:p>
                      <a:pPr marL="104139" marR="9652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Motion-triggereddetection followedbyautomatic ultrasonic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deterrent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+farmeralert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1CE"/>
                    </a:solidFill>
                  </a:tcPr>
                </a:tc>
                <a:tc>
                  <a:txBody>
                    <a:bodyPr/>
                    <a:lstStyle/>
                    <a:p>
                      <a:pPr marL="197485" marR="90170" indent="-10223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MobileNetV2(tra nsferlearning)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1CE"/>
                    </a:solidFill>
                  </a:tcPr>
                </a:tc>
                <a:tc>
                  <a:txBody>
                    <a:bodyPr/>
                    <a:lstStyle/>
                    <a:p>
                      <a:pPr marL="276225" marR="269875" indent="-190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75%validationaccuracy;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&lt;1s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detection-to-deterrence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response;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trainedon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non-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local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CUB-200-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2011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dataset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1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5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[5]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1E7"/>
                    </a:solidFill>
                  </a:tcPr>
                </a:tc>
                <a:tc>
                  <a:txBody>
                    <a:bodyPr/>
                    <a:lstStyle/>
                    <a:p>
                      <a:pPr marL="112395" marR="107314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Two-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stagelightweight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DNN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optimised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for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edgedevices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1E7"/>
                    </a:solidFill>
                  </a:tcPr>
                </a:tc>
                <a:tc>
                  <a:txBody>
                    <a:bodyPr/>
                    <a:lstStyle/>
                    <a:p>
                      <a:pPr marL="277495" marR="270510" indent="-63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Object detectionthenspecies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classification,</a:t>
                      </a:r>
                      <a:r>
                        <a:rPr sz="12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with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86055" marR="178435" algn="ctr">
                        <a:lnSpc>
                          <a:spcPct val="10000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user-feedbackretraining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loop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1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MobileNet/SSD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97790" marR="91440" algn="ctr">
                        <a:lnSpc>
                          <a:spcPct val="10000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+custom lightweight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CNN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1E7"/>
                    </a:solidFill>
                  </a:tcPr>
                </a:tc>
                <a:tc>
                  <a:txBody>
                    <a:bodyPr/>
                    <a:lstStyle/>
                    <a:p>
                      <a:pPr marL="165735" marR="158115" indent="-317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~78%validationaccuracy;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only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675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KBmodel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size;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demonstrated oncoyotedetectionwith</a:t>
                      </a:r>
                      <a:r>
                        <a:rPr sz="1200" spc="1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SMS/pushalerts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1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5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[17]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1CE"/>
                    </a:solidFill>
                  </a:tcPr>
                </a:tc>
                <a:tc>
                  <a:txBody>
                    <a:bodyPr/>
                    <a:lstStyle/>
                    <a:p>
                      <a:pPr marL="100330" marR="9461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Solar-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poweredIR-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cam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era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+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87960" marR="180340" algn="ctr">
                        <a:lnSpc>
                          <a:spcPct val="10000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CNNearly-warning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field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unit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at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rail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hotspots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1CE"/>
                    </a:solidFill>
                  </a:tcPr>
                </a:tc>
                <a:tc>
                  <a:txBody>
                    <a:bodyPr/>
                    <a:lstStyle/>
                    <a:p>
                      <a:pPr marL="305435" marR="109855" indent="-19050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Detect</a:t>
                      </a:r>
                      <a:r>
                        <a:rPr sz="12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elephantsday/night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near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tracks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andalert traindrivers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directly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1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YOLOv3(YOLO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93040" marR="185420" algn="ctr">
                        <a:lnSpc>
                          <a:spcPct val="10000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v2preliminary tests)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1CE"/>
                    </a:solidFill>
                  </a:tcPr>
                </a:tc>
                <a:tc>
                  <a:txBody>
                    <a:bodyPr/>
                    <a:lstStyle/>
                    <a:p>
                      <a:pPr marL="100330" marR="9779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Reliable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day/night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detectionqualitatively;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higher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false-positive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rate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at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night;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real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field-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tested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hardwareinSri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Lanka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1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23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[1]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1E7"/>
                    </a:solidFill>
                  </a:tcPr>
                </a:tc>
                <a:tc>
                  <a:txBody>
                    <a:bodyPr/>
                    <a:lstStyle/>
                    <a:p>
                      <a:pPr marL="88265" marR="81915" indent="63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Motion-triggered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edgedetection</a:t>
                      </a:r>
                      <a:r>
                        <a:rPr sz="12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withIoT alertingforcrop-raidin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g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macaques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1E7"/>
                    </a:solidFill>
                  </a:tcPr>
                </a:tc>
                <a:tc>
                  <a:txBody>
                    <a:bodyPr/>
                    <a:lstStyle/>
                    <a:p>
                      <a:pPr marL="112395" marR="10541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Detect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monkey/wildboar</a:t>
                      </a:r>
                      <a:r>
                        <a:rPr sz="12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/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porcupine/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humanclasses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SMS-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alert farmersinNepal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1E7"/>
                    </a:solidFill>
                  </a:tcPr>
                </a:tc>
                <a:tc>
                  <a:txBody>
                    <a:bodyPr/>
                    <a:lstStyle/>
                    <a:p>
                      <a:pPr marL="101600" marR="9588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TensorFlowLite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EfficientDet-Lite 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1E7"/>
                    </a:solidFill>
                  </a:tcPr>
                </a:tc>
                <a:tc>
                  <a:txBody>
                    <a:bodyPr/>
                    <a:lstStyle/>
                    <a:p>
                      <a:pPr marL="119380" marR="11176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Monkeyclass85%confidence,Porcupine8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1%,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42240" marR="134620" algn="ctr">
                        <a:lnSpc>
                          <a:spcPct val="10000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Human78%;deviceoverheatingobserved duringfieldtest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1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23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[3]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1CE"/>
                    </a:solidFill>
                  </a:tcPr>
                </a:tc>
                <a:tc>
                  <a:txBody>
                    <a:bodyPr/>
                    <a:lstStyle/>
                    <a:p>
                      <a:pPr marL="111760" marR="104139" indent="33591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PIR-gated, power-efficient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edge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detectionfortiger/mon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221615">
                        <a:lnSpc>
                          <a:spcPct val="10000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key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conflict zones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1CE"/>
                    </a:solidFill>
                  </a:tcPr>
                </a:tc>
                <a:tc>
                  <a:txBody>
                    <a:bodyPr/>
                    <a:lstStyle/>
                    <a:p>
                      <a:pPr marL="159385" marR="15430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Motion-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triggeredcapture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species-specific buzzeralarm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(tiger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vs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monkey)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1CE"/>
                    </a:solidFill>
                  </a:tcPr>
                </a:tc>
                <a:tc>
                  <a:txBody>
                    <a:bodyPr/>
                    <a:lstStyle/>
                    <a:p>
                      <a:pPr marL="29908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YOLOv8n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1CE"/>
                    </a:solidFill>
                  </a:tcPr>
                </a:tc>
                <a:tc>
                  <a:txBody>
                    <a:bodyPr/>
                    <a:lstStyle/>
                    <a:p>
                      <a:pPr marL="94615" marR="91440" indent="-63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mAP@0.5=94.8%,testaccuracy98.7%;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outperformsYOLOv7-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Tiny</a:t>
                      </a:r>
                      <a:r>
                        <a:rPr sz="1200" spc="1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/v5n/v3-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Tiny/ SSDontheaccuracy-vs-computetrade-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off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1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spc="-25" dirty="0"/>
              <a:t>31</a:t>
            </a:fld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1164095" y="6488122"/>
            <a:ext cx="87630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spc="-25" dirty="0">
                <a:solidFill>
                  <a:srgbClr val="ED7D31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lang="en-US" smtClean="0"/>
              <a:t>CCD415 Project Phase I</a:t>
            </a:r>
            <a:endParaRPr spc="-50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spc="-10" dirty="0"/>
              <a:t>2023-</a:t>
            </a:r>
            <a:r>
              <a:rPr dirty="0"/>
              <a:t>2027</a:t>
            </a:r>
            <a:r>
              <a:rPr spc="-5" dirty="0"/>
              <a:t> </a:t>
            </a:r>
            <a:r>
              <a:rPr spc="-10" dirty="0"/>
              <a:t>Batch</a:t>
            </a: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908119" y="408856"/>
            <a:ext cx="550227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PROPOSED</a:t>
            </a:r>
            <a:r>
              <a:rPr spc="-200" dirty="0"/>
              <a:t> </a:t>
            </a:r>
            <a:r>
              <a:rPr spc="-10" dirty="0"/>
              <a:t>SYSTEM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76885" y="1117157"/>
            <a:ext cx="8249284" cy="52254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5104" marR="553085" indent="-193040">
              <a:lnSpc>
                <a:spcPct val="101099"/>
              </a:lnSpc>
              <a:spcBef>
                <a:spcPts val="95"/>
              </a:spcBef>
              <a:buFont typeface="Arial MT"/>
              <a:buChar char="•"/>
              <a:tabLst>
                <a:tab pos="206375" algn="l"/>
              </a:tabLst>
            </a:pPr>
            <a:r>
              <a:rPr sz="1800" dirty="0">
                <a:latin typeface="Times New Roman"/>
                <a:cs typeface="Times New Roman"/>
              </a:rPr>
              <a:t>WILDGUARD-X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places</a:t>
            </a:r>
            <a:r>
              <a:rPr sz="1800" spc="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thermal</a:t>
            </a:r>
            <a:r>
              <a:rPr sz="1800" spc="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cameras/sensors</a:t>
            </a:r>
            <a:r>
              <a:rPr sz="1800" spc="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at</a:t>
            </a:r>
            <a:r>
              <a:rPr sz="1800" spc="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known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intrusion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hotspots</a:t>
            </a:r>
            <a:r>
              <a:rPr sz="1800" spc="4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to 	</a:t>
            </a:r>
            <a:r>
              <a:rPr sz="1800" dirty="0">
                <a:latin typeface="Times New Roman"/>
                <a:cs typeface="Times New Roman"/>
              </a:rPr>
              <a:t>continuously</a:t>
            </a:r>
            <a:r>
              <a:rPr sz="1800" spc="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monitor</a:t>
            </a:r>
            <a:r>
              <a:rPr sz="1800" spc="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village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boundaries.</a:t>
            </a:r>
            <a:endParaRPr sz="1800">
              <a:latin typeface="Times New Roman"/>
              <a:cs typeface="Times New Roman"/>
            </a:endParaRPr>
          </a:p>
          <a:p>
            <a:pPr marL="205104" marR="521334" indent="-193040">
              <a:lnSpc>
                <a:spcPct val="101099"/>
              </a:lnSpc>
              <a:spcBef>
                <a:spcPts val="1000"/>
              </a:spcBef>
              <a:buFont typeface="Arial MT"/>
              <a:buChar char="•"/>
              <a:tabLst>
                <a:tab pos="206375" algn="l"/>
              </a:tabLst>
            </a:pPr>
            <a:r>
              <a:rPr sz="1800" dirty="0">
                <a:latin typeface="Times New Roman"/>
                <a:cs typeface="Times New Roman"/>
              </a:rPr>
              <a:t>An</a:t>
            </a:r>
            <a:r>
              <a:rPr sz="1800" spc="-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AI/CV verification</a:t>
            </a:r>
            <a:r>
              <a:rPr sz="1800" spc="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module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confirms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genuine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animal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detections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filters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out 	</a:t>
            </a:r>
            <a:r>
              <a:rPr sz="1800" dirty="0">
                <a:latin typeface="Times New Roman"/>
                <a:cs typeface="Times New Roman"/>
              </a:rPr>
              <a:t>non-animal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heat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sources,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reducing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false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alarms.</a:t>
            </a:r>
            <a:endParaRPr sz="1800">
              <a:latin typeface="Times New Roman"/>
              <a:cs typeface="Times New Roman"/>
            </a:endParaRPr>
          </a:p>
          <a:p>
            <a:pPr marL="205104" marR="5080" indent="-193040">
              <a:lnSpc>
                <a:spcPct val="101099"/>
              </a:lnSpc>
              <a:spcBef>
                <a:spcPts val="1000"/>
              </a:spcBef>
              <a:buFont typeface="Arial MT"/>
              <a:buChar char="•"/>
              <a:tabLst>
                <a:tab pos="206375" algn="l"/>
              </a:tabLst>
            </a:pP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8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dynamic</a:t>
            </a:r>
            <a:r>
              <a:rPr sz="1800" spc="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risk-scoring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engine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evaluates</a:t>
            </a:r>
            <a:r>
              <a:rPr sz="1800" spc="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species,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distance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from</a:t>
            </a:r>
            <a:r>
              <a:rPr sz="1800" spc="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houses,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movement 	</a:t>
            </a:r>
            <a:r>
              <a:rPr sz="1800" dirty="0">
                <a:latin typeface="Times New Roman"/>
                <a:cs typeface="Times New Roman"/>
              </a:rPr>
              <a:t>direction,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time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day,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prior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incidents,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nearby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population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classify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each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incident's 	severity.</a:t>
            </a:r>
            <a:endParaRPr sz="1800">
              <a:latin typeface="Times New Roman"/>
              <a:cs typeface="Times New Roman"/>
            </a:endParaRPr>
          </a:p>
          <a:p>
            <a:pPr marL="205104" marR="107314" indent="-193040">
              <a:lnSpc>
                <a:spcPct val="101099"/>
              </a:lnSpc>
              <a:spcBef>
                <a:spcPts val="1000"/>
              </a:spcBef>
              <a:buFont typeface="Arial MT"/>
              <a:buChar char="•"/>
              <a:tabLst>
                <a:tab pos="206375" algn="l"/>
              </a:tabLst>
            </a:pPr>
            <a:r>
              <a:rPr sz="1800" dirty="0">
                <a:latin typeface="Times New Roman"/>
                <a:cs typeface="Times New Roman"/>
              </a:rPr>
              <a:t>High-risk/critical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incidents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automatically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alert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RRT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through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mobile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app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with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the 	</a:t>
            </a:r>
            <a:r>
              <a:rPr sz="1800" dirty="0">
                <a:latin typeface="Times New Roman"/>
                <a:cs typeface="Times New Roman"/>
              </a:rPr>
              <a:t>location,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thermal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image,</a:t>
            </a:r>
            <a:r>
              <a:rPr sz="1800" spc="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risk</a:t>
            </a:r>
            <a:r>
              <a:rPr sz="1800" spc="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score;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low-risk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incidents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are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logged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for</a:t>
            </a:r>
            <a:r>
              <a:rPr sz="1800" spc="4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monitoring.</a:t>
            </a:r>
            <a:endParaRPr sz="1800">
              <a:latin typeface="Times New Roman"/>
              <a:cs typeface="Times New Roman"/>
            </a:endParaRPr>
          </a:p>
          <a:p>
            <a:pPr marL="205104" marR="133350" indent="-193040">
              <a:lnSpc>
                <a:spcPct val="101099"/>
              </a:lnSpc>
              <a:spcBef>
                <a:spcPts val="1000"/>
              </a:spcBef>
              <a:buFont typeface="Arial MT"/>
              <a:buChar char="•"/>
              <a:tabLst>
                <a:tab pos="206375" algn="l"/>
              </a:tabLst>
            </a:pPr>
            <a:r>
              <a:rPr sz="1800" dirty="0">
                <a:latin typeface="Times New Roman"/>
                <a:cs typeface="Times New Roman"/>
              </a:rPr>
              <a:t>Nearby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villagers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receive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location-based</a:t>
            </a:r>
            <a:r>
              <a:rPr sz="1800" spc="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push</a:t>
            </a:r>
            <a:r>
              <a:rPr sz="1800" spc="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alerts,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Safe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Route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feature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reroutes 	</a:t>
            </a:r>
            <a:r>
              <a:rPr sz="1800" dirty="0">
                <a:latin typeface="Times New Roman"/>
                <a:cs typeface="Times New Roman"/>
              </a:rPr>
              <a:t>them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away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from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active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danger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zones.</a:t>
            </a:r>
            <a:endParaRPr sz="1800">
              <a:latin typeface="Times New Roman"/>
              <a:cs typeface="Times New Roman"/>
            </a:endParaRPr>
          </a:p>
          <a:p>
            <a:pPr marL="205104" marR="424815" indent="-193040">
              <a:lnSpc>
                <a:spcPct val="101099"/>
              </a:lnSpc>
              <a:spcBef>
                <a:spcPts val="1000"/>
              </a:spcBef>
              <a:buFont typeface="Arial MT"/>
              <a:buChar char="•"/>
              <a:tabLst>
                <a:tab pos="206375" algn="l"/>
              </a:tabLst>
            </a:pPr>
            <a:r>
              <a:rPr sz="1800" dirty="0">
                <a:latin typeface="Times New Roman"/>
                <a:cs typeface="Times New Roman"/>
              </a:rPr>
              <a:t>Selected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boundary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points</a:t>
            </a:r>
            <a:r>
              <a:rPr sz="1800" spc="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can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trigger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approved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non-lethal</a:t>
            </a:r>
            <a:r>
              <a:rPr sz="1800" spc="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deterrents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(lights/sound) 	automatically.</a:t>
            </a:r>
            <a:endParaRPr sz="1800">
              <a:latin typeface="Times New Roman"/>
              <a:cs typeface="Times New Roman"/>
            </a:endParaRPr>
          </a:p>
          <a:p>
            <a:pPr marL="205104" marR="17780" indent="-193040" algn="just">
              <a:lnSpc>
                <a:spcPct val="101099"/>
              </a:lnSpc>
              <a:spcBef>
                <a:spcPts val="1000"/>
              </a:spcBef>
              <a:buFont typeface="Arial MT"/>
              <a:buChar char="•"/>
              <a:tabLst>
                <a:tab pos="206375" algn="l"/>
              </a:tabLst>
            </a:pPr>
            <a:r>
              <a:rPr sz="1800" spc="-10" dirty="0">
                <a:latin typeface="Times New Roman"/>
                <a:cs typeface="Times New Roman"/>
              </a:rPr>
              <a:t>RRT </a:t>
            </a:r>
            <a:r>
              <a:rPr sz="1800" dirty="0">
                <a:latin typeface="Times New Roman"/>
                <a:cs typeface="Times New Roman"/>
              </a:rPr>
              <a:t>members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can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accept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incident,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navigate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location,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update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response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status, 	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system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auto-resolves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incident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once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animal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leaves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zone,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storing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data 	</a:t>
            </a:r>
            <a:r>
              <a:rPr sz="1800" dirty="0">
                <a:latin typeface="Times New Roman"/>
                <a:cs typeface="Times New Roman"/>
              </a:rPr>
              <a:t>for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analysis.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spc="-25" dirty="0"/>
              <a:t>32</a:t>
            </a:fld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1164095" y="6488122"/>
            <a:ext cx="87630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spc="-25" dirty="0">
                <a:solidFill>
                  <a:srgbClr val="ED7D31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lang="en-US" smtClean="0"/>
              <a:t>CCD415 Project Phase I</a:t>
            </a:r>
            <a:endParaRPr spc="-50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spc="-10" dirty="0"/>
              <a:t>2023-</a:t>
            </a:r>
            <a:r>
              <a:rPr dirty="0"/>
              <a:t>2027</a:t>
            </a:r>
            <a:r>
              <a:rPr spc="-5" dirty="0"/>
              <a:t> </a:t>
            </a:r>
            <a:r>
              <a:rPr spc="-10" dirty="0"/>
              <a:t>Batch</a:t>
            </a: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815094" y="107104"/>
            <a:ext cx="5691505" cy="129984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946150" marR="5080" indent="-934085">
              <a:lnSpc>
                <a:spcPts val="4750"/>
              </a:lnSpc>
              <a:spcBef>
                <a:spcPts val="700"/>
              </a:spcBef>
            </a:pPr>
            <a:r>
              <a:rPr spc="-10" dirty="0"/>
              <a:t>PROPOSED</a:t>
            </a:r>
            <a:r>
              <a:rPr spc="-200" dirty="0"/>
              <a:t> </a:t>
            </a:r>
            <a:r>
              <a:rPr spc="-10" dirty="0"/>
              <a:t>SYSTEM: </a:t>
            </a:r>
            <a:r>
              <a:rPr spc="80" dirty="0"/>
              <a:t>AD</a:t>
            </a:r>
            <a:r>
              <a:rPr spc="-480" dirty="0"/>
              <a:t>V</a:t>
            </a:r>
            <a:r>
              <a:rPr spc="80" dirty="0"/>
              <a:t>AN</a:t>
            </a:r>
            <a:r>
              <a:rPr spc="-250" dirty="0"/>
              <a:t>T</a:t>
            </a:r>
            <a:r>
              <a:rPr spc="80" dirty="0"/>
              <a:t>A</a:t>
            </a:r>
            <a:r>
              <a:rPr spc="75" dirty="0"/>
              <a:t>GES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68549" y="1423478"/>
            <a:ext cx="8362315" cy="44088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7010" marR="1027430" indent="-194945">
              <a:lnSpc>
                <a:spcPct val="120000"/>
              </a:lnSpc>
              <a:spcBef>
                <a:spcPts val="100"/>
              </a:spcBef>
              <a:buChar char="•"/>
              <a:tabLst>
                <a:tab pos="207010" algn="l"/>
              </a:tabLst>
            </a:pPr>
            <a:r>
              <a:rPr sz="1800" dirty="0">
                <a:latin typeface="Times New Roman"/>
                <a:cs typeface="Times New Roman"/>
              </a:rPr>
              <a:t>Reduces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RRT</a:t>
            </a:r>
            <a:r>
              <a:rPr sz="1800" spc="-8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response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time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by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pre-</a:t>
            </a:r>
            <a:r>
              <a:rPr sz="1800" dirty="0">
                <a:latin typeface="Times New Roman"/>
                <a:cs typeface="Times New Roman"/>
              </a:rPr>
              <a:t>verifying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prioritizing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incidents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before deployment.</a:t>
            </a:r>
            <a:endParaRPr sz="1800">
              <a:latin typeface="Times New Roman"/>
              <a:cs typeface="Times New Roman"/>
            </a:endParaRPr>
          </a:p>
          <a:p>
            <a:pPr marL="205740" marR="234950" indent="-192405">
              <a:lnSpc>
                <a:spcPct val="120000"/>
              </a:lnSpc>
              <a:spcBef>
                <a:spcPts val="1000"/>
              </a:spcBef>
              <a:buFont typeface="Arial MT"/>
              <a:buChar char="•"/>
              <a:tabLst>
                <a:tab pos="207010" algn="l"/>
              </a:tabLst>
            </a:pPr>
            <a:r>
              <a:rPr sz="1800" dirty="0">
                <a:latin typeface="Times New Roman"/>
                <a:cs typeface="Times New Roman"/>
              </a:rPr>
              <a:t>Cuts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unnecessary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RRT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trips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fuel/operational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costs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by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filtering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out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false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alarms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and 	</a:t>
            </a:r>
            <a:r>
              <a:rPr sz="1800" spc="-10" dirty="0">
                <a:latin typeface="Times New Roman"/>
                <a:cs typeface="Times New Roman"/>
              </a:rPr>
              <a:t>low-</a:t>
            </a:r>
            <a:r>
              <a:rPr sz="1800" dirty="0">
                <a:latin typeface="Times New Roman"/>
                <a:cs typeface="Times New Roman"/>
              </a:rPr>
              <a:t>risk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events.</a:t>
            </a:r>
            <a:endParaRPr sz="1800">
              <a:latin typeface="Times New Roman"/>
              <a:cs typeface="Times New Roman"/>
            </a:endParaRPr>
          </a:p>
          <a:p>
            <a:pPr marL="205740" marR="65405" indent="-192405">
              <a:lnSpc>
                <a:spcPct val="120000"/>
              </a:lnSpc>
              <a:spcBef>
                <a:spcPts val="1000"/>
              </a:spcBef>
              <a:buFont typeface="Arial MT"/>
              <a:buChar char="•"/>
              <a:tabLst>
                <a:tab pos="207010" algn="l"/>
              </a:tabLst>
            </a:pPr>
            <a:r>
              <a:rPr sz="1800" dirty="0">
                <a:latin typeface="Times New Roman"/>
                <a:cs typeface="Times New Roman"/>
              </a:rPr>
              <a:t>Gives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villagers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earlier,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more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specific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warnings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than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word-of-</a:t>
            </a:r>
            <a:r>
              <a:rPr sz="1800" dirty="0">
                <a:latin typeface="Times New Roman"/>
                <a:cs typeface="Times New Roman"/>
              </a:rPr>
              <a:t>mouth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reporting,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especially 	</a:t>
            </a:r>
            <a:r>
              <a:rPr sz="1800" dirty="0">
                <a:latin typeface="Times New Roman"/>
                <a:cs typeface="Times New Roman"/>
              </a:rPr>
              <a:t>at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night.</a:t>
            </a:r>
            <a:endParaRPr sz="1800">
              <a:latin typeface="Times New Roman"/>
              <a:cs typeface="Times New Roman"/>
            </a:endParaRPr>
          </a:p>
          <a:p>
            <a:pPr marL="206375" indent="-192405">
              <a:lnSpc>
                <a:spcPct val="100000"/>
              </a:lnSpc>
              <a:spcBef>
                <a:spcPts val="1430"/>
              </a:spcBef>
              <a:buFont typeface="Arial MT"/>
              <a:buChar char="•"/>
              <a:tabLst>
                <a:tab pos="206375" algn="l"/>
              </a:tabLst>
            </a:pPr>
            <a:r>
              <a:rPr sz="1800" dirty="0">
                <a:latin typeface="Times New Roman"/>
                <a:cs typeface="Times New Roman"/>
              </a:rPr>
              <a:t>Safe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Route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guidance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reduces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chance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villagers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walking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into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active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danger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zone.</a:t>
            </a:r>
            <a:endParaRPr sz="1800">
              <a:latin typeface="Times New Roman"/>
              <a:cs typeface="Times New Roman"/>
            </a:endParaRPr>
          </a:p>
          <a:p>
            <a:pPr marL="206375" indent="-192405">
              <a:lnSpc>
                <a:spcPct val="100000"/>
              </a:lnSpc>
              <a:spcBef>
                <a:spcPts val="1435"/>
              </a:spcBef>
              <a:buFont typeface="Arial MT"/>
              <a:buChar char="•"/>
              <a:tabLst>
                <a:tab pos="206375" algn="l"/>
              </a:tabLst>
            </a:pPr>
            <a:r>
              <a:rPr sz="1800" spc="-10" dirty="0">
                <a:latin typeface="Times New Roman"/>
                <a:cs typeface="Times New Roman"/>
              </a:rPr>
              <a:t>Risk-</a:t>
            </a:r>
            <a:r>
              <a:rPr sz="1800" dirty="0">
                <a:latin typeface="Times New Roman"/>
                <a:cs typeface="Times New Roman"/>
              </a:rPr>
              <a:t>based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prioritization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ensures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critical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incidents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get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faster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attention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than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low-risk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ones.</a:t>
            </a:r>
            <a:endParaRPr sz="1800">
              <a:latin typeface="Times New Roman"/>
              <a:cs typeface="Times New Roman"/>
            </a:endParaRPr>
          </a:p>
          <a:p>
            <a:pPr marL="205740" marR="802640" indent="-192405">
              <a:lnSpc>
                <a:spcPct val="120000"/>
              </a:lnSpc>
              <a:spcBef>
                <a:spcPts val="1000"/>
              </a:spcBef>
              <a:buFont typeface="Arial MT"/>
              <a:buChar char="•"/>
              <a:tabLst>
                <a:tab pos="207010" algn="l"/>
              </a:tabLst>
            </a:pPr>
            <a:r>
              <a:rPr sz="1800" spc="-10" dirty="0">
                <a:latin typeface="Times New Roman"/>
                <a:cs typeface="Times New Roman"/>
              </a:rPr>
              <a:t>Historical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incident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data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supports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long-</a:t>
            </a:r>
            <a:r>
              <a:rPr sz="1800" dirty="0">
                <a:latin typeface="Times New Roman"/>
                <a:cs typeface="Times New Roman"/>
              </a:rPr>
              <a:t>term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hotspot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identification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prevention 	planning.</a:t>
            </a:r>
            <a:endParaRPr sz="1800">
              <a:latin typeface="Times New Roman"/>
              <a:cs typeface="Times New Roman"/>
            </a:endParaRPr>
          </a:p>
          <a:p>
            <a:pPr marL="206375" indent="-192405">
              <a:lnSpc>
                <a:spcPct val="100000"/>
              </a:lnSpc>
              <a:spcBef>
                <a:spcPts val="1430"/>
              </a:spcBef>
              <a:buFont typeface="Arial MT"/>
              <a:buChar char="•"/>
              <a:tabLst>
                <a:tab pos="206375" algn="l"/>
              </a:tabLst>
            </a:pPr>
            <a:r>
              <a:rPr sz="1800" spc="-20" dirty="0">
                <a:latin typeface="Times New Roman"/>
                <a:cs typeface="Times New Roman"/>
              </a:rPr>
              <a:t>Non-</a:t>
            </a:r>
            <a:r>
              <a:rPr sz="1800" dirty="0">
                <a:latin typeface="Times New Roman"/>
                <a:cs typeface="Times New Roman"/>
              </a:rPr>
              <a:t>lethal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deterrents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offer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automated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first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line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response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without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human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presence.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spc="-25" dirty="0"/>
              <a:t>33</a:t>
            </a:fld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1164095" y="6488122"/>
            <a:ext cx="87630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spc="-25" dirty="0">
                <a:solidFill>
                  <a:srgbClr val="ED7D31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lang="en-US" smtClean="0"/>
              <a:t>CCD415 Project Phase I</a:t>
            </a:r>
            <a:endParaRPr spc="-50" dirty="0"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spc="-10" dirty="0"/>
              <a:t>2023-</a:t>
            </a:r>
            <a:r>
              <a:rPr dirty="0"/>
              <a:t>2027</a:t>
            </a:r>
            <a:r>
              <a:rPr spc="-5" dirty="0"/>
              <a:t> </a:t>
            </a:r>
            <a:r>
              <a:rPr spc="-10" dirty="0"/>
              <a:t>Batch</a:t>
            </a: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486776" y="107104"/>
            <a:ext cx="6341110" cy="129984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95400" marR="5080" indent="-1283335">
              <a:lnSpc>
                <a:spcPts val="4750"/>
              </a:lnSpc>
              <a:spcBef>
                <a:spcPts val="700"/>
              </a:spcBef>
            </a:pPr>
            <a:r>
              <a:rPr spc="-10" dirty="0"/>
              <a:t>PROJECT</a:t>
            </a:r>
            <a:r>
              <a:rPr spc="-185" dirty="0"/>
              <a:t> </a:t>
            </a:r>
            <a:r>
              <a:rPr dirty="0"/>
              <a:t>PLANNING</a:t>
            </a:r>
            <a:r>
              <a:rPr spc="-110" dirty="0"/>
              <a:t> </a:t>
            </a:r>
            <a:r>
              <a:rPr spc="-50" dirty="0"/>
              <a:t>&amp; </a:t>
            </a:r>
            <a:r>
              <a:rPr spc="-10" dirty="0"/>
              <a:t>SCHEDULING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39575" y="1429725"/>
            <a:ext cx="3927475" cy="3244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950" b="1" dirty="0">
                <a:latin typeface="Times New Roman"/>
                <a:cs typeface="Times New Roman"/>
              </a:rPr>
              <a:t>Work</a:t>
            </a:r>
            <a:r>
              <a:rPr sz="1950" b="1" spc="-80" dirty="0">
                <a:latin typeface="Times New Roman"/>
                <a:cs typeface="Times New Roman"/>
              </a:rPr>
              <a:t> </a:t>
            </a:r>
            <a:r>
              <a:rPr sz="1950" b="1" dirty="0">
                <a:latin typeface="Times New Roman"/>
                <a:cs typeface="Times New Roman"/>
              </a:rPr>
              <a:t>Breakdown</a:t>
            </a:r>
            <a:r>
              <a:rPr sz="1950" b="1" spc="-65" dirty="0">
                <a:latin typeface="Times New Roman"/>
                <a:cs typeface="Times New Roman"/>
              </a:rPr>
              <a:t> </a:t>
            </a:r>
            <a:r>
              <a:rPr sz="1950" b="1" dirty="0">
                <a:latin typeface="Times New Roman"/>
                <a:cs typeface="Times New Roman"/>
              </a:rPr>
              <a:t>Structure</a:t>
            </a:r>
            <a:r>
              <a:rPr sz="1950" b="1" spc="-70" dirty="0">
                <a:latin typeface="Times New Roman"/>
                <a:cs typeface="Times New Roman"/>
              </a:rPr>
              <a:t> </a:t>
            </a:r>
            <a:r>
              <a:rPr sz="1950" b="1" dirty="0">
                <a:latin typeface="Times New Roman"/>
                <a:cs typeface="Times New Roman"/>
              </a:rPr>
              <a:t>(WBS)</a:t>
            </a:r>
            <a:r>
              <a:rPr sz="1950" b="1" spc="-65" dirty="0">
                <a:latin typeface="Times New Roman"/>
                <a:cs typeface="Times New Roman"/>
              </a:rPr>
              <a:t> </a:t>
            </a:r>
            <a:r>
              <a:rPr sz="1950" b="1" spc="-50" dirty="0">
                <a:latin typeface="Times New Roman"/>
                <a:cs typeface="Times New Roman"/>
              </a:rPr>
              <a:t>: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74226" y="1844192"/>
            <a:ext cx="8544560" cy="3028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05740" indent="-193040">
              <a:lnSpc>
                <a:spcPct val="100000"/>
              </a:lnSpc>
              <a:spcBef>
                <a:spcPts val="120"/>
              </a:spcBef>
              <a:buFont typeface="Arial MT"/>
              <a:buChar char="•"/>
              <a:tabLst>
                <a:tab pos="205740" algn="l"/>
                <a:tab pos="1678305" algn="l"/>
                <a:tab pos="2801620" algn="l"/>
                <a:tab pos="3669029" algn="l"/>
                <a:tab pos="5147945" algn="l"/>
                <a:tab pos="6401435" algn="l"/>
                <a:tab pos="7947025" algn="l"/>
              </a:tabLst>
            </a:pPr>
            <a:r>
              <a:rPr sz="1800" spc="-10" dirty="0">
                <a:latin typeface="Times New Roman"/>
                <a:cs typeface="Times New Roman"/>
              </a:rPr>
              <a:t>Requirements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-10" dirty="0">
                <a:latin typeface="Times New Roman"/>
                <a:cs typeface="Times New Roman"/>
              </a:rPr>
              <a:t>gathering: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-10" dirty="0">
                <a:latin typeface="Times New Roman"/>
                <a:cs typeface="Times New Roman"/>
              </a:rPr>
              <a:t>hotspot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-10" dirty="0">
                <a:latin typeface="Times New Roman"/>
                <a:cs typeface="Times New Roman"/>
              </a:rPr>
              <a:t>identification,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-10" dirty="0">
                <a:latin typeface="Times New Roman"/>
                <a:cs typeface="Times New Roman"/>
              </a:rPr>
              <a:t>stakeholder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-10" dirty="0">
                <a:latin typeface="Times New Roman"/>
                <a:cs typeface="Times New Roman"/>
              </a:rPr>
              <a:t>(villager/RRT)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-10" dirty="0">
                <a:latin typeface="Times New Roman"/>
                <a:cs typeface="Times New Roman"/>
              </a:rPr>
              <a:t>needs,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74226" y="1994561"/>
            <a:ext cx="8547100" cy="4398010"/>
          </a:xfrm>
          <a:prstGeom prst="rect">
            <a:avLst/>
          </a:prstGeom>
        </p:spPr>
        <p:txBody>
          <a:bodyPr vert="horz" wrap="square" lIns="0" tIns="169545" rIns="0" bIns="0" rtlCol="0">
            <a:spAutoFit/>
          </a:bodyPr>
          <a:lstStyle/>
          <a:p>
            <a:pPr marL="206375">
              <a:lnSpc>
                <a:spcPct val="100000"/>
              </a:lnSpc>
              <a:spcBef>
                <a:spcPts val="1335"/>
              </a:spcBef>
            </a:pPr>
            <a:r>
              <a:rPr sz="1800" dirty="0">
                <a:latin typeface="Times New Roman"/>
                <a:cs typeface="Times New Roman"/>
              </a:rPr>
              <a:t>feasibility</a:t>
            </a:r>
            <a:r>
              <a:rPr sz="1800" spc="7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study.</a:t>
            </a:r>
            <a:endParaRPr sz="1800">
              <a:latin typeface="Times New Roman"/>
              <a:cs typeface="Times New Roman"/>
            </a:endParaRPr>
          </a:p>
          <a:p>
            <a:pPr marL="205104" marR="6985" indent="-193040">
              <a:lnSpc>
                <a:spcPct val="111200"/>
              </a:lnSpc>
              <a:spcBef>
                <a:spcPts val="1000"/>
              </a:spcBef>
              <a:buFont typeface="Arial MT"/>
              <a:buChar char="•"/>
              <a:tabLst>
                <a:tab pos="206375" algn="l"/>
              </a:tabLst>
            </a:pPr>
            <a:r>
              <a:rPr sz="1800" dirty="0">
                <a:latin typeface="Times New Roman"/>
                <a:cs typeface="Times New Roman"/>
              </a:rPr>
              <a:t>System</a:t>
            </a:r>
            <a:r>
              <a:rPr sz="1800" spc="2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architecture</a:t>
            </a:r>
            <a:r>
              <a:rPr sz="1800" spc="2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2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database</a:t>
            </a:r>
            <a:r>
              <a:rPr sz="1800" spc="2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design</a:t>
            </a:r>
            <a:r>
              <a:rPr sz="1800" spc="2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covering</a:t>
            </a:r>
            <a:r>
              <a:rPr sz="1800" spc="2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sensors,</a:t>
            </a:r>
            <a:r>
              <a:rPr sz="1800" spc="10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AI</a:t>
            </a:r>
            <a:r>
              <a:rPr sz="1800" spc="2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pipeline,</a:t>
            </a:r>
            <a:r>
              <a:rPr sz="1800" spc="2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mobile</a:t>
            </a:r>
            <a:r>
              <a:rPr sz="1800" spc="2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app,</a:t>
            </a:r>
            <a:r>
              <a:rPr sz="1800" spc="21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and 	</a:t>
            </a:r>
            <a:r>
              <a:rPr sz="1800" dirty="0">
                <a:latin typeface="Times New Roman"/>
                <a:cs typeface="Times New Roman"/>
              </a:rPr>
              <a:t>alert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flow.</a:t>
            </a:r>
            <a:endParaRPr sz="1800">
              <a:latin typeface="Times New Roman"/>
              <a:cs typeface="Times New Roman"/>
            </a:endParaRPr>
          </a:p>
          <a:p>
            <a:pPr marL="205740" indent="-193040">
              <a:lnSpc>
                <a:spcPct val="100000"/>
              </a:lnSpc>
              <a:spcBef>
                <a:spcPts val="1245"/>
              </a:spcBef>
              <a:buFont typeface="Arial MT"/>
              <a:buChar char="•"/>
              <a:tabLst>
                <a:tab pos="205740" algn="l"/>
              </a:tabLst>
            </a:pPr>
            <a:r>
              <a:rPr sz="1800" dirty="0">
                <a:latin typeface="Times New Roman"/>
                <a:cs typeface="Times New Roman"/>
              </a:rPr>
              <a:t>Thermal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detection</a:t>
            </a:r>
            <a:r>
              <a:rPr sz="1800" spc="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module: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sensor/camera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integration</a:t>
            </a:r>
            <a:r>
              <a:rPr sz="1800" spc="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boundary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monitoring</a:t>
            </a:r>
            <a:r>
              <a:rPr sz="1800" spc="6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setup.</a:t>
            </a:r>
            <a:endParaRPr sz="1800">
              <a:latin typeface="Times New Roman"/>
              <a:cs typeface="Times New Roman"/>
            </a:endParaRPr>
          </a:p>
          <a:p>
            <a:pPr marL="205740" indent="-193040">
              <a:lnSpc>
                <a:spcPct val="100000"/>
              </a:lnSpc>
              <a:spcBef>
                <a:spcPts val="1240"/>
              </a:spcBef>
              <a:buFont typeface="Arial MT"/>
              <a:buChar char="•"/>
              <a:tabLst>
                <a:tab pos="205740" algn="l"/>
              </a:tabLst>
            </a:pPr>
            <a:r>
              <a:rPr sz="1800" dirty="0">
                <a:latin typeface="Times New Roman"/>
                <a:cs typeface="Times New Roman"/>
              </a:rPr>
              <a:t>AI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verification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module: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CNN-based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animal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detection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false-alarm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filtering.</a:t>
            </a:r>
            <a:endParaRPr sz="1800">
              <a:latin typeface="Times New Roman"/>
              <a:cs typeface="Times New Roman"/>
            </a:endParaRPr>
          </a:p>
          <a:p>
            <a:pPr marL="205104" marR="5080" indent="-193040">
              <a:lnSpc>
                <a:spcPct val="111200"/>
              </a:lnSpc>
              <a:spcBef>
                <a:spcPts val="1005"/>
              </a:spcBef>
              <a:buFont typeface="Arial MT"/>
              <a:buChar char="•"/>
              <a:tabLst>
                <a:tab pos="206375" algn="l"/>
              </a:tabLst>
            </a:pPr>
            <a:r>
              <a:rPr sz="1800" dirty="0">
                <a:latin typeface="Times New Roman"/>
                <a:cs typeface="Times New Roman"/>
              </a:rPr>
              <a:t>Risk-scoring</a:t>
            </a:r>
            <a:r>
              <a:rPr sz="1800" spc="25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module:</a:t>
            </a:r>
            <a:r>
              <a:rPr sz="1800" spc="2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model</a:t>
            </a:r>
            <a:r>
              <a:rPr sz="1800" spc="2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combining</a:t>
            </a:r>
            <a:r>
              <a:rPr sz="1800" spc="2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species,</a:t>
            </a:r>
            <a:r>
              <a:rPr sz="1800" spc="25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distance,</a:t>
            </a:r>
            <a:r>
              <a:rPr sz="1800" spc="2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movement,</a:t>
            </a:r>
            <a:r>
              <a:rPr sz="1800" spc="2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time,</a:t>
            </a:r>
            <a:r>
              <a:rPr sz="1800" spc="2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history,</a:t>
            </a:r>
            <a:r>
              <a:rPr sz="1800" spc="254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and 	</a:t>
            </a:r>
            <a:r>
              <a:rPr sz="1800" dirty="0">
                <a:latin typeface="Times New Roman"/>
                <a:cs typeface="Times New Roman"/>
              </a:rPr>
              <a:t>population</a:t>
            </a:r>
            <a:r>
              <a:rPr sz="1800" spc="8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data.</a:t>
            </a:r>
            <a:endParaRPr sz="1800">
              <a:latin typeface="Times New Roman"/>
              <a:cs typeface="Times New Roman"/>
            </a:endParaRPr>
          </a:p>
          <a:p>
            <a:pPr marL="205104" marR="7620" indent="-193040">
              <a:lnSpc>
                <a:spcPct val="111200"/>
              </a:lnSpc>
              <a:spcBef>
                <a:spcPts val="1000"/>
              </a:spcBef>
              <a:buFont typeface="Arial MT"/>
              <a:buChar char="•"/>
              <a:tabLst>
                <a:tab pos="206375" algn="l"/>
              </a:tabLst>
            </a:pPr>
            <a:r>
              <a:rPr sz="1800" dirty="0">
                <a:latin typeface="Times New Roman"/>
                <a:cs typeface="Times New Roman"/>
              </a:rPr>
              <a:t>Alert</a:t>
            </a:r>
            <a:r>
              <a:rPr sz="1800" spc="2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&amp;</a:t>
            </a:r>
            <a:r>
              <a:rPr sz="1800" spc="2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coordination</a:t>
            </a:r>
            <a:r>
              <a:rPr sz="1800" spc="2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module:</a:t>
            </a:r>
            <a:r>
              <a:rPr sz="1800" spc="2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villager</a:t>
            </a:r>
            <a:r>
              <a:rPr sz="1800" spc="2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location-based</a:t>
            </a:r>
            <a:r>
              <a:rPr sz="1800" spc="2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alerts,</a:t>
            </a:r>
            <a:r>
              <a:rPr sz="1800" spc="2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Safe</a:t>
            </a:r>
            <a:r>
              <a:rPr sz="1800" spc="2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Route</a:t>
            </a:r>
            <a:r>
              <a:rPr sz="1800" spc="2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logic,</a:t>
            </a:r>
            <a:r>
              <a:rPr sz="1800" spc="2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22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RRT 	</a:t>
            </a:r>
            <a:r>
              <a:rPr sz="1800" dirty="0">
                <a:latin typeface="Times New Roman"/>
                <a:cs typeface="Times New Roman"/>
              </a:rPr>
              <a:t>mobile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app</a:t>
            </a:r>
            <a:r>
              <a:rPr sz="1800" spc="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(accept/navigate/update</a:t>
            </a:r>
            <a:r>
              <a:rPr sz="1800" spc="4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status).</a:t>
            </a:r>
            <a:endParaRPr sz="1800">
              <a:latin typeface="Times New Roman"/>
              <a:cs typeface="Times New Roman"/>
            </a:endParaRPr>
          </a:p>
          <a:p>
            <a:pPr marL="205740" indent="-193040">
              <a:lnSpc>
                <a:spcPct val="100000"/>
              </a:lnSpc>
              <a:spcBef>
                <a:spcPts val="1240"/>
              </a:spcBef>
              <a:buFont typeface="Arial MT"/>
              <a:buChar char="•"/>
              <a:tabLst>
                <a:tab pos="205740" algn="l"/>
              </a:tabLst>
            </a:pPr>
            <a:r>
              <a:rPr sz="1800" dirty="0">
                <a:latin typeface="Times New Roman"/>
                <a:cs typeface="Times New Roman"/>
              </a:rPr>
              <a:t>Integration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non-lethal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deterrent</a:t>
            </a:r>
            <a:r>
              <a:rPr sz="1800" spc="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triggering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at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boundary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points.</a:t>
            </a:r>
            <a:endParaRPr sz="1800">
              <a:latin typeface="Times New Roman"/>
              <a:cs typeface="Times New Roman"/>
            </a:endParaRPr>
          </a:p>
          <a:p>
            <a:pPr marL="205740" indent="-193040">
              <a:lnSpc>
                <a:spcPct val="100000"/>
              </a:lnSpc>
              <a:spcBef>
                <a:spcPts val="1245"/>
              </a:spcBef>
              <a:buFont typeface="Arial MT"/>
              <a:buChar char="•"/>
              <a:tabLst>
                <a:tab pos="205740" algn="l"/>
              </a:tabLst>
            </a:pPr>
            <a:r>
              <a:rPr sz="1800" dirty="0">
                <a:latin typeface="Times New Roman"/>
                <a:cs typeface="Times New Roman"/>
              </a:rPr>
              <a:t>System</a:t>
            </a:r>
            <a:r>
              <a:rPr sz="1800" spc="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integration,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testing,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final</a:t>
            </a:r>
            <a:r>
              <a:rPr sz="1800" spc="4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report/deployment.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spc="-25" dirty="0"/>
              <a:t>34</a:t>
            </a:fld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1164095" y="6488122"/>
            <a:ext cx="87630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spc="-25" dirty="0">
                <a:solidFill>
                  <a:srgbClr val="ED7D31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lang="en-US" smtClean="0"/>
              <a:t>CCD415 Project Phase I</a:t>
            </a:r>
            <a:endParaRPr spc="-50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spc="-10" dirty="0"/>
              <a:t>2023-</a:t>
            </a:r>
            <a:r>
              <a:rPr dirty="0"/>
              <a:t>2027</a:t>
            </a:r>
            <a:r>
              <a:rPr spc="-5" dirty="0"/>
              <a:t> </a:t>
            </a:r>
            <a:r>
              <a:rPr spc="-10" dirty="0"/>
              <a:t>Batch</a:t>
            </a: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62768" y="370236"/>
            <a:ext cx="198818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10" dirty="0">
                <a:solidFill>
                  <a:srgbClr val="000000"/>
                </a:solidFill>
              </a:rPr>
              <a:t>Methodology:</a:t>
            </a:r>
            <a:endParaRPr sz="2600"/>
          </a:p>
        </p:txBody>
      </p:sp>
      <p:sp>
        <p:nvSpPr>
          <p:cNvPr id="3" name="object 3"/>
          <p:cNvSpPr txBox="1"/>
          <p:nvPr/>
        </p:nvSpPr>
        <p:spPr>
          <a:xfrm>
            <a:off x="484335" y="1246232"/>
            <a:ext cx="8313420" cy="4627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8440" marR="5715" indent="-20637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19710" algn="l"/>
              </a:tabLst>
            </a:pPr>
            <a:r>
              <a:rPr sz="1800" dirty="0">
                <a:latin typeface="Times New Roman"/>
                <a:cs typeface="Times New Roman"/>
              </a:rPr>
              <a:t>Thermal</a:t>
            </a:r>
            <a:r>
              <a:rPr sz="1800" spc="3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cameras/sensors</a:t>
            </a:r>
            <a:r>
              <a:rPr sz="1800" spc="3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continuously</a:t>
            </a:r>
            <a:r>
              <a:rPr sz="1800" spc="3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monitor</a:t>
            </a:r>
            <a:r>
              <a:rPr sz="1800" spc="3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identified</a:t>
            </a:r>
            <a:r>
              <a:rPr sz="1800" spc="3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hotspots</a:t>
            </a:r>
            <a:r>
              <a:rPr sz="1800" spc="3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along</a:t>
            </a:r>
            <a:r>
              <a:rPr sz="1800" spc="3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35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village 	boundary.</a:t>
            </a:r>
            <a:endParaRPr sz="1800">
              <a:latin typeface="Times New Roman"/>
              <a:cs typeface="Times New Roman"/>
            </a:endParaRPr>
          </a:p>
          <a:p>
            <a:pPr marL="218440" marR="16510" indent="-206375">
              <a:lnSpc>
                <a:spcPct val="100000"/>
              </a:lnSpc>
              <a:spcBef>
                <a:spcPts val="1000"/>
              </a:spcBef>
              <a:buFont typeface="Arial MT"/>
              <a:buChar char="•"/>
              <a:tabLst>
                <a:tab pos="219710" algn="l"/>
              </a:tabLst>
            </a:pPr>
            <a:r>
              <a:rPr sz="1800" dirty="0">
                <a:latin typeface="Times New Roman"/>
                <a:cs typeface="Times New Roman"/>
              </a:rPr>
              <a:t>On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detecting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heat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signatures,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the</a:t>
            </a:r>
            <a:r>
              <a:rPr sz="1800" spc="-10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AI/CV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module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verifies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whether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source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10" dirty="0">
                <a:latin typeface="Times New Roman"/>
                <a:cs typeface="Times New Roman"/>
              </a:rPr>
              <a:t> genuine 	</a:t>
            </a:r>
            <a:r>
              <a:rPr sz="1800" dirty="0">
                <a:latin typeface="Times New Roman"/>
                <a:cs typeface="Times New Roman"/>
              </a:rPr>
              <a:t>animal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identifies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species.</a:t>
            </a:r>
            <a:endParaRPr sz="1800">
              <a:latin typeface="Times New Roman"/>
              <a:cs typeface="Times New Roman"/>
            </a:endParaRPr>
          </a:p>
          <a:p>
            <a:pPr marL="218440" marR="5080" indent="-206375">
              <a:lnSpc>
                <a:spcPct val="100000"/>
              </a:lnSpc>
              <a:spcBef>
                <a:spcPts val="1000"/>
              </a:spcBef>
              <a:buFont typeface="Arial MT"/>
              <a:buChar char="•"/>
              <a:tabLst>
                <a:tab pos="219710" algn="l"/>
              </a:tabLst>
            </a:pP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44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risk-</a:t>
            </a:r>
            <a:r>
              <a:rPr sz="1800" dirty="0">
                <a:latin typeface="Times New Roman"/>
                <a:cs typeface="Times New Roman"/>
              </a:rPr>
              <a:t>scoring</a:t>
            </a:r>
            <a:r>
              <a:rPr sz="1800" spc="4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engine</a:t>
            </a:r>
            <a:r>
              <a:rPr sz="1800" spc="4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computes</a:t>
            </a:r>
            <a:r>
              <a:rPr sz="1800" spc="4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4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severity</a:t>
            </a:r>
            <a:r>
              <a:rPr sz="1800" spc="4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score</a:t>
            </a:r>
            <a:r>
              <a:rPr sz="1800" spc="4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using</a:t>
            </a:r>
            <a:r>
              <a:rPr sz="1800" spc="4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distance,</a:t>
            </a:r>
            <a:r>
              <a:rPr sz="1800" spc="4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direction,</a:t>
            </a:r>
            <a:r>
              <a:rPr sz="1800" spc="45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time, 	history,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population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density.</a:t>
            </a:r>
            <a:endParaRPr sz="1800">
              <a:latin typeface="Times New Roman"/>
              <a:cs typeface="Times New Roman"/>
            </a:endParaRPr>
          </a:p>
          <a:p>
            <a:pPr marL="218440" marR="22860" indent="-206375">
              <a:lnSpc>
                <a:spcPct val="100000"/>
              </a:lnSpc>
              <a:spcBef>
                <a:spcPts val="1000"/>
              </a:spcBef>
              <a:buFont typeface="Arial MT"/>
              <a:buChar char="•"/>
              <a:tabLst>
                <a:tab pos="219710" algn="l"/>
              </a:tabLst>
            </a:pPr>
            <a:r>
              <a:rPr sz="1800" dirty="0">
                <a:latin typeface="Times New Roman"/>
                <a:cs typeface="Times New Roman"/>
              </a:rPr>
              <a:t>Based</a:t>
            </a:r>
            <a:r>
              <a:rPr sz="1800" spc="1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on</a:t>
            </a:r>
            <a:r>
              <a:rPr sz="1800" spc="1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1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score,</a:t>
            </a:r>
            <a:r>
              <a:rPr sz="1800" spc="1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1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system</a:t>
            </a:r>
            <a:r>
              <a:rPr sz="1800" spc="1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either</a:t>
            </a:r>
            <a:r>
              <a:rPr sz="1800" spc="1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logs</a:t>
            </a:r>
            <a:r>
              <a:rPr sz="1800" spc="1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1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event</a:t>
            </a:r>
            <a:r>
              <a:rPr sz="1800" spc="1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(low</a:t>
            </a:r>
            <a:r>
              <a:rPr sz="1800" spc="1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risk)</a:t>
            </a:r>
            <a:r>
              <a:rPr sz="1800" spc="1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or</a:t>
            </a:r>
            <a:r>
              <a:rPr sz="1800" spc="13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auto-</a:t>
            </a:r>
            <a:r>
              <a:rPr sz="1800" dirty="0">
                <a:latin typeface="Times New Roman"/>
                <a:cs typeface="Times New Roman"/>
              </a:rPr>
              <a:t>alerts</a:t>
            </a:r>
            <a:r>
              <a:rPr sz="1800" spc="1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12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RRT 	</a:t>
            </a:r>
            <a:r>
              <a:rPr sz="1800" dirty="0">
                <a:latin typeface="Times New Roman"/>
                <a:cs typeface="Times New Roman"/>
              </a:rPr>
              <a:t>app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nearby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villagers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(high/critical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risk).</a:t>
            </a:r>
            <a:endParaRPr sz="1800">
              <a:latin typeface="Times New Roman"/>
              <a:cs typeface="Times New Roman"/>
            </a:endParaRPr>
          </a:p>
          <a:p>
            <a:pPr marL="218440" marR="22860" indent="-206375">
              <a:lnSpc>
                <a:spcPct val="100000"/>
              </a:lnSpc>
              <a:spcBef>
                <a:spcPts val="1000"/>
              </a:spcBef>
              <a:buFont typeface="Arial MT"/>
              <a:buChar char="•"/>
              <a:tabLst>
                <a:tab pos="219710" algn="l"/>
              </a:tabLst>
            </a:pPr>
            <a:r>
              <a:rPr sz="1800" dirty="0">
                <a:latin typeface="Times New Roman"/>
                <a:cs typeface="Times New Roman"/>
              </a:rPr>
              <a:t>Villagers</a:t>
            </a:r>
            <a:r>
              <a:rPr sz="1800" spc="3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within</a:t>
            </a:r>
            <a:r>
              <a:rPr sz="1800" spc="3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range</a:t>
            </a:r>
            <a:r>
              <a:rPr sz="1800" spc="3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receive</a:t>
            </a:r>
            <a:r>
              <a:rPr sz="1800" spc="3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33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location-</a:t>
            </a:r>
            <a:r>
              <a:rPr sz="1800" dirty="0">
                <a:latin typeface="Times New Roman"/>
                <a:cs typeface="Times New Roman"/>
              </a:rPr>
              <a:t>based</a:t>
            </a:r>
            <a:r>
              <a:rPr sz="1800" spc="3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alert</a:t>
            </a:r>
            <a:r>
              <a:rPr sz="1800" spc="3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and,</a:t>
            </a:r>
            <a:r>
              <a:rPr sz="1800" spc="3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if</a:t>
            </a:r>
            <a:r>
              <a:rPr sz="1800" spc="3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relevant,</a:t>
            </a:r>
            <a:r>
              <a:rPr sz="1800" spc="3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3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Safe</a:t>
            </a:r>
            <a:r>
              <a:rPr sz="1800" spc="34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Route 	</a:t>
            </a:r>
            <a:r>
              <a:rPr sz="1800" dirty="0">
                <a:latin typeface="Times New Roman"/>
                <a:cs typeface="Times New Roman"/>
              </a:rPr>
              <a:t>suggestion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avoiding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danger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zone.</a:t>
            </a:r>
            <a:endParaRPr sz="1800">
              <a:latin typeface="Times New Roman"/>
              <a:cs typeface="Times New Roman"/>
            </a:endParaRPr>
          </a:p>
          <a:p>
            <a:pPr marL="218440" marR="6350" indent="-206375">
              <a:lnSpc>
                <a:spcPct val="100000"/>
              </a:lnSpc>
              <a:spcBef>
                <a:spcPts val="1000"/>
              </a:spcBef>
              <a:buFont typeface="Arial MT"/>
              <a:buChar char="•"/>
              <a:tabLst>
                <a:tab pos="219710" algn="l"/>
                <a:tab pos="1273810" algn="l"/>
                <a:tab pos="2237105" algn="l"/>
                <a:tab pos="3074670" algn="l"/>
                <a:tab pos="3620770" algn="l"/>
                <a:tab pos="4383405" algn="l"/>
                <a:tab pos="5779770" algn="l"/>
                <a:tab pos="6199505" algn="l"/>
                <a:tab pos="7373620" algn="l"/>
              </a:tabLst>
            </a:pPr>
            <a:r>
              <a:rPr sz="1800" spc="-10" dirty="0">
                <a:latin typeface="Times New Roman"/>
                <a:cs typeface="Times New Roman"/>
              </a:rPr>
              <a:t>Boundary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-10" dirty="0">
                <a:latin typeface="Times New Roman"/>
                <a:cs typeface="Times New Roman"/>
              </a:rPr>
              <a:t>deterrent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-10" dirty="0">
                <a:latin typeface="Times New Roman"/>
                <a:cs typeface="Times New Roman"/>
              </a:rPr>
              <a:t>devices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-25" dirty="0">
                <a:latin typeface="Times New Roman"/>
                <a:cs typeface="Times New Roman"/>
              </a:rPr>
              <a:t>may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-10" dirty="0">
                <a:latin typeface="Times New Roman"/>
                <a:cs typeface="Times New Roman"/>
              </a:rPr>
              <a:t>trigger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-10" dirty="0">
                <a:latin typeface="Times New Roman"/>
                <a:cs typeface="Times New Roman"/>
              </a:rPr>
              <a:t>automatically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-25" dirty="0">
                <a:latin typeface="Times New Roman"/>
                <a:cs typeface="Times New Roman"/>
              </a:rPr>
              <a:t>for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-10" dirty="0">
                <a:latin typeface="Times New Roman"/>
                <a:cs typeface="Times New Roman"/>
              </a:rPr>
              <a:t>immediate,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-20" dirty="0">
                <a:latin typeface="Times New Roman"/>
                <a:cs typeface="Times New Roman"/>
              </a:rPr>
              <a:t>non-</a:t>
            </a:r>
            <a:r>
              <a:rPr sz="1800" spc="-10" dirty="0">
                <a:latin typeface="Times New Roman"/>
                <a:cs typeface="Times New Roman"/>
              </a:rPr>
              <a:t>lethal 	deterrence.</a:t>
            </a:r>
            <a:endParaRPr sz="1800">
              <a:latin typeface="Times New Roman"/>
              <a:cs typeface="Times New Roman"/>
            </a:endParaRPr>
          </a:p>
          <a:p>
            <a:pPr marL="218440" marR="26034" indent="-206375">
              <a:lnSpc>
                <a:spcPct val="100000"/>
              </a:lnSpc>
              <a:spcBef>
                <a:spcPts val="1000"/>
              </a:spcBef>
              <a:buFont typeface="Arial MT"/>
              <a:buChar char="•"/>
              <a:tabLst>
                <a:tab pos="219710" algn="l"/>
              </a:tabLst>
            </a:pPr>
            <a:r>
              <a:rPr sz="1800" dirty="0">
                <a:latin typeface="Times New Roman"/>
                <a:cs typeface="Times New Roman"/>
              </a:rPr>
              <a:t>RRT</a:t>
            </a:r>
            <a:r>
              <a:rPr sz="1800" spc="1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members</a:t>
            </a:r>
            <a:r>
              <a:rPr sz="1800" spc="2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view</a:t>
            </a:r>
            <a:r>
              <a:rPr sz="1800" spc="19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incident</a:t>
            </a:r>
            <a:r>
              <a:rPr sz="1800" spc="2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details,</a:t>
            </a:r>
            <a:r>
              <a:rPr sz="1800" spc="2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accept</a:t>
            </a:r>
            <a:r>
              <a:rPr sz="1800" spc="2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2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navigate</a:t>
            </a:r>
            <a:r>
              <a:rPr sz="1800" spc="19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2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2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location,</a:t>
            </a:r>
            <a:r>
              <a:rPr sz="1800" spc="2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20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update 	</a:t>
            </a:r>
            <a:r>
              <a:rPr sz="1800" dirty="0">
                <a:latin typeface="Times New Roman"/>
                <a:cs typeface="Times New Roman"/>
              </a:rPr>
              <a:t>status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until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system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marks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it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resolved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archives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data.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486776" y="107104"/>
            <a:ext cx="6341110" cy="129984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95400" marR="5080" indent="-1283335">
              <a:lnSpc>
                <a:spcPts val="4750"/>
              </a:lnSpc>
              <a:spcBef>
                <a:spcPts val="700"/>
              </a:spcBef>
            </a:pPr>
            <a:r>
              <a:rPr spc="-10" dirty="0"/>
              <a:t>PROJECT</a:t>
            </a:r>
            <a:r>
              <a:rPr spc="-185" dirty="0"/>
              <a:t> </a:t>
            </a:r>
            <a:r>
              <a:rPr dirty="0"/>
              <a:t>PLANNING</a:t>
            </a:r>
            <a:r>
              <a:rPr spc="-110" dirty="0"/>
              <a:t> </a:t>
            </a:r>
            <a:r>
              <a:rPr spc="-50" dirty="0"/>
              <a:t>&amp; </a:t>
            </a:r>
            <a:r>
              <a:rPr spc="-10" dirty="0"/>
              <a:t>SCHEDULING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3547" y="1784068"/>
            <a:ext cx="576643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7325" indent="-17462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187325" algn="l"/>
              </a:tabLst>
            </a:pPr>
            <a:r>
              <a:rPr sz="2800" b="1" dirty="0">
                <a:solidFill>
                  <a:srgbClr val="0C0C0C"/>
                </a:solidFill>
                <a:latin typeface="Times New Roman"/>
                <a:cs typeface="Times New Roman"/>
              </a:rPr>
              <a:t>The</a:t>
            </a:r>
            <a:r>
              <a:rPr sz="2800" b="1" spc="-6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0C0C0C"/>
                </a:solidFill>
                <a:latin typeface="Times New Roman"/>
                <a:cs typeface="Times New Roman"/>
              </a:rPr>
              <a:t>Project</a:t>
            </a:r>
            <a:r>
              <a:rPr sz="2800" b="1" spc="-6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0C0C0C"/>
                </a:solidFill>
                <a:latin typeface="Times New Roman"/>
                <a:cs typeface="Times New Roman"/>
              </a:rPr>
              <a:t>Schedule</a:t>
            </a:r>
            <a:r>
              <a:rPr sz="2800" b="1" spc="-6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0C0C0C"/>
                </a:solidFill>
                <a:latin typeface="Times New Roman"/>
                <a:cs typeface="Times New Roman"/>
              </a:rPr>
              <a:t>(The</a:t>
            </a:r>
            <a:r>
              <a:rPr sz="2800" b="1" spc="-11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800" b="1" spc="-10" dirty="0">
                <a:solidFill>
                  <a:srgbClr val="0C0C0C"/>
                </a:solidFill>
                <a:latin typeface="Times New Roman"/>
                <a:cs typeface="Times New Roman"/>
              </a:rPr>
              <a:t>Timeline)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3250" y="2339556"/>
            <a:ext cx="8129799" cy="3936818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spc="-25" dirty="0"/>
              <a:t>35</a:t>
            </a:fld>
            <a:endParaRPr spc="-25" dirty="0"/>
          </a:p>
        </p:txBody>
      </p:sp>
      <p:sp>
        <p:nvSpPr>
          <p:cNvPr id="6" name="object 6"/>
          <p:cNvSpPr txBox="1"/>
          <p:nvPr/>
        </p:nvSpPr>
        <p:spPr>
          <a:xfrm>
            <a:off x="1164095" y="6488122"/>
            <a:ext cx="87630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spc="-25" dirty="0">
                <a:solidFill>
                  <a:srgbClr val="ED7D31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lang="en-US" smtClean="0"/>
              <a:t>CCD415 Project Phase I</a:t>
            </a:r>
            <a:endParaRPr spc="-50"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spc="-10" dirty="0"/>
              <a:t>2023-</a:t>
            </a:r>
            <a:r>
              <a:rPr dirty="0"/>
              <a:t>2027</a:t>
            </a:r>
            <a:r>
              <a:rPr spc="-5" dirty="0"/>
              <a:t> </a:t>
            </a:r>
            <a:r>
              <a:rPr spc="-10" dirty="0"/>
              <a:t>Batch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spc="-25" dirty="0"/>
              <a:t>36</a:t>
            </a:fld>
            <a:endParaRPr spc="-25" dirty="0"/>
          </a:p>
        </p:txBody>
      </p:sp>
      <p:sp>
        <p:nvSpPr>
          <p:cNvPr id="6" name="object 6"/>
          <p:cNvSpPr txBox="1"/>
          <p:nvPr/>
        </p:nvSpPr>
        <p:spPr>
          <a:xfrm>
            <a:off x="1164095" y="6488122"/>
            <a:ext cx="87630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spc="-25" dirty="0">
                <a:solidFill>
                  <a:srgbClr val="ED7D31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lang="en-US" smtClean="0"/>
              <a:t>CCD415 Project Phase I</a:t>
            </a:r>
            <a:endParaRPr spc="-50"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spc="-10" dirty="0"/>
              <a:t>2023-</a:t>
            </a:r>
            <a:r>
              <a:rPr dirty="0"/>
              <a:t>2027</a:t>
            </a:r>
            <a:r>
              <a:rPr spc="-5" dirty="0"/>
              <a:t> </a:t>
            </a:r>
            <a:r>
              <a:rPr spc="-10" dirty="0"/>
              <a:t>Batch</a:t>
            </a: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93623" y="175054"/>
            <a:ext cx="8332470" cy="1172210"/>
          </a:xfrm>
          <a:prstGeom prst="rect">
            <a:avLst/>
          </a:prstGeom>
        </p:spPr>
        <p:txBody>
          <a:bodyPr vert="horz" wrap="square" lIns="0" tIns="80645" rIns="0" bIns="0" rtlCol="0">
            <a:spAutoFit/>
          </a:bodyPr>
          <a:lstStyle/>
          <a:p>
            <a:pPr marL="12700" marR="5080" indent="2020570">
              <a:lnSpc>
                <a:spcPts val="4280"/>
              </a:lnSpc>
              <a:spcBef>
                <a:spcPts val="635"/>
              </a:spcBef>
            </a:pPr>
            <a:r>
              <a:rPr sz="3950" spc="-10" dirty="0"/>
              <a:t>RESOURCE/TASK IDENTIFICATION</a:t>
            </a:r>
            <a:r>
              <a:rPr sz="3950" spc="-200" dirty="0"/>
              <a:t> </a:t>
            </a:r>
            <a:r>
              <a:rPr sz="3950" dirty="0"/>
              <a:t>&amp;</a:t>
            </a:r>
            <a:r>
              <a:rPr sz="3950" spc="-245" dirty="0"/>
              <a:t> </a:t>
            </a:r>
            <a:r>
              <a:rPr sz="3950" spc="-20" dirty="0"/>
              <a:t>ALLOCATION</a:t>
            </a:r>
            <a:endParaRPr sz="3950"/>
          </a:p>
        </p:txBody>
      </p:sp>
      <p:sp>
        <p:nvSpPr>
          <p:cNvPr id="3" name="object 3"/>
          <p:cNvSpPr txBox="1"/>
          <p:nvPr/>
        </p:nvSpPr>
        <p:spPr>
          <a:xfrm>
            <a:off x="568334" y="1822270"/>
            <a:ext cx="826960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1295" marR="5080" indent="-18923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02565" algn="l"/>
              </a:tabLst>
            </a:pPr>
            <a:r>
              <a:rPr sz="2000" dirty="0">
                <a:solidFill>
                  <a:srgbClr val="0C0C0C"/>
                </a:solidFill>
                <a:latin typeface="Times New Roman"/>
                <a:cs typeface="Times New Roman"/>
              </a:rPr>
              <a:t>Systematic</a:t>
            </a:r>
            <a:r>
              <a:rPr sz="2000" spc="15" dirty="0">
                <a:solidFill>
                  <a:srgbClr val="0C0C0C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0C0C0C"/>
                </a:solidFill>
                <a:latin typeface="Times New Roman"/>
                <a:cs typeface="Times New Roman"/>
              </a:rPr>
              <a:t>distribution</a:t>
            </a:r>
            <a:r>
              <a:rPr sz="2000" spc="30" dirty="0">
                <a:solidFill>
                  <a:srgbClr val="0C0C0C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0C0C0C"/>
                </a:solidFill>
                <a:latin typeface="Times New Roman"/>
                <a:cs typeface="Times New Roman"/>
              </a:rPr>
              <a:t>of</a:t>
            </a:r>
            <a:r>
              <a:rPr sz="2000" spc="25" dirty="0">
                <a:solidFill>
                  <a:srgbClr val="0C0C0C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0C0C0C"/>
                </a:solidFill>
                <a:latin typeface="Times New Roman"/>
                <a:cs typeface="Times New Roman"/>
              </a:rPr>
              <a:t>project</a:t>
            </a:r>
            <a:r>
              <a:rPr sz="2000" spc="30" dirty="0">
                <a:solidFill>
                  <a:srgbClr val="0C0C0C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0C0C0C"/>
                </a:solidFill>
                <a:latin typeface="Times New Roman"/>
                <a:cs typeface="Times New Roman"/>
              </a:rPr>
              <a:t>workload,</a:t>
            </a:r>
            <a:r>
              <a:rPr sz="2000" spc="30" dirty="0">
                <a:solidFill>
                  <a:srgbClr val="0C0C0C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0C0C0C"/>
                </a:solidFill>
                <a:latin typeface="Times New Roman"/>
                <a:cs typeface="Times New Roman"/>
              </a:rPr>
              <a:t>software</a:t>
            </a:r>
            <a:r>
              <a:rPr sz="2000" spc="25" dirty="0">
                <a:solidFill>
                  <a:srgbClr val="0C0C0C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0C0C0C"/>
                </a:solidFill>
                <a:latin typeface="Times New Roman"/>
                <a:cs typeface="Times New Roman"/>
              </a:rPr>
              <a:t>tools,</a:t>
            </a:r>
            <a:r>
              <a:rPr sz="2000" spc="30" dirty="0">
                <a:solidFill>
                  <a:srgbClr val="0C0C0C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0C0C0C"/>
                </a:solidFill>
                <a:latin typeface="Times New Roman"/>
                <a:cs typeface="Times New Roman"/>
              </a:rPr>
              <a:t>and</a:t>
            </a:r>
            <a:r>
              <a:rPr sz="2000" spc="30" dirty="0">
                <a:solidFill>
                  <a:srgbClr val="0C0C0C"/>
                </a:solidFill>
                <a:latin typeface="Times New Roman"/>
                <a:cs typeface="Times New Roman"/>
              </a:rPr>
              <a:t>  </a:t>
            </a:r>
            <a:r>
              <a:rPr sz="2000" spc="-10" dirty="0">
                <a:solidFill>
                  <a:srgbClr val="0C0C0C"/>
                </a:solidFill>
                <a:latin typeface="Times New Roman"/>
                <a:cs typeface="Times New Roman"/>
              </a:rPr>
              <a:t>hardware 	assets</a:t>
            </a:r>
            <a:endParaRPr sz="200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22250" y="2540906"/>
          <a:ext cx="8830944" cy="36766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195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123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28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396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6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02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b="1" spc="-3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Task</a:t>
                      </a:r>
                      <a:r>
                        <a:rPr sz="14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2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ID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66484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b="1" spc="-3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Task</a:t>
                      </a:r>
                      <a:r>
                        <a:rPr sz="14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Description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397510" marR="390525" indent="279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Primary </a:t>
                      </a:r>
                      <a:r>
                        <a:rPr sz="1400" b="1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Resource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R="248920" algn="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b="1" spc="-2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Tools</a:t>
                      </a:r>
                      <a:r>
                        <a:rPr sz="1400" b="1" spc="-3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&amp;</a:t>
                      </a:r>
                      <a:r>
                        <a:rPr sz="1400" b="1" spc="-2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Infrastructure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Current</a:t>
                      </a:r>
                      <a:r>
                        <a:rPr sz="1400" b="1" spc="-8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Status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T1: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Requirements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E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230504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Literature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survey,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system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architecture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design,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feasibility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study.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All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Group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Members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E"/>
                    </a:solidFill>
                  </a:tcPr>
                </a:tc>
                <a:tc>
                  <a:txBody>
                    <a:bodyPr/>
                    <a:lstStyle/>
                    <a:p>
                      <a:pPr marR="267970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IEEE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Journals,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Google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scholar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100%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Completed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9445">
                <a:tc>
                  <a:txBody>
                    <a:bodyPr/>
                    <a:lstStyle/>
                    <a:p>
                      <a:pPr marL="214629" marR="131445" indent="-7620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T2: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Detection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&amp;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Backend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35941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Thermal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sensor/camera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integration, boundary-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monitoring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backend,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85725">
                        <a:lnSpc>
                          <a:spcPct val="10000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risk-scoring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APIs,</a:t>
                      </a:r>
                      <a:r>
                        <a:rPr sz="120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database</a:t>
                      </a:r>
                      <a:r>
                        <a:rPr sz="12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logic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 marL="450215" marR="44259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Arya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K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R &amp;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28575" algn="ctr">
                        <a:lnSpc>
                          <a:spcPct val="10000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Athira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1200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V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33210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Python,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Firebase/MongoDB,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Raspberry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Pi/microcontroller, GitHub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Not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started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E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T3: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UI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/</a:t>
                      </a:r>
                      <a:r>
                        <a:rPr sz="12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App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E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10350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RRT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mobile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app,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villager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alert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app,</a:t>
                      </a:r>
                      <a:r>
                        <a:rPr sz="12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Safe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Route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interface,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usability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mapping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Saniya</a:t>
                      </a:r>
                      <a:r>
                        <a:rPr sz="12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E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4089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React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Native/Flutter, Figma, Maps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API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Not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started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94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T4:AI/ML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core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33210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Animal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detection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&amp;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verification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(CNN),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risk-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scoring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model,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thermal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image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processing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Sreekumar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K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32131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Python,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TensorFlow/PyTorch,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OpenCV,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scikit-learn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Not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Started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E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0230">
                <a:tc>
                  <a:txBody>
                    <a:bodyPr/>
                    <a:lstStyle/>
                    <a:p>
                      <a:pPr marL="449580" marR="127000" indent="-31559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T5:</a:t>
                      </a:r>
                      <a:r>
                        <a:rPr sz="12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Testing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&amp;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QA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E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36957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System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integration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testing,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security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testing,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bug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fixing,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final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report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All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Group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Members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E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40513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Postman,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PyTest,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Selenium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,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Word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DOC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Not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Started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93623" y="175054"/>
            <a:ext cx="8332470" cy="1172210"/>
          </a:xfrm>
          <a:prstGeom prst="rect">
            <a:avLst/>
          </a:prstGeom>
        </p:spPr>
        <p:txBody>
          <a:bodyPr vert="horz" wrap="square" lIns="0" tIns="80645" rIns="0" bIns="0" rtlCol="0">
            <a:spAutoFit/>
          </a:bodyPr>
          <a:lstStyle/>
          <a:p>
            <a:pPr marL="12700" marR="5080" indent="2020570">
              <a:lnSpc>
                <a:spcPts val="4280"/>
              </a:lnSpc>
              <a:spcBef>
                <a:spcPts val="635"/>
              </a:spcBef>
            </a:pPr>
            <a:r>
              <a:rPr sz="3950" spc="-10" dirty="0"/>
              <a:t>RESOURCE/TASK IDENTIFICATION</a:t>
            </a:r>
            <a:r>
              <a:rPr sz="3950" spc="-200" dirty="0"/>
              <a:t> </a:t>
            </a:r>
            <a:r>
              <a:rPr sz="3950" dirty="0"/>
              <a:t>&amp;</a:t>
            </a:r>
            <a:r>
              <a:rPr sz="3950" spc="-245" dirty="0"/>
              <a:t> </a:t>
            </a:r>
            <a:r>
              <a:rPr sz="3950" spc="-20" dirty="0"/>
              <a:t>ALLOCATION</a:t>
            </a:r>
            <a:endParaRPr sz="3950"/>
          </a:p>
        </p:txBody>
      </p:sp>
      <p:sp>
        <p:nvSpPr>
          <p:cNvPr id="3" name="object 3"/>
          <p:cNvSpPr txBox="1"/>
          <p:nvPr/>
        </p:nvSpPr>
        <p:spPr>
          <a:xfrm>
            <a:off x="586262" y="1289711"/>
            <a:ext cx="45453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6375" indent="-19367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06375" algn="l"/>
              </a:tabLst>
            </a:pPr>
            <a:r>
              <a:rPr sz="1800" b="1" spc="-10" dirty="0">
                <a:solidFill>
                  <a:srgbClr val="0C0C0C"/>
                </a:solidFill>
                <a:latin typeface="Times New Roman"/>
                <a:cs typeface="Times New Roman"/>
              </a:rPr>
              <a:t>Resource</a:t>
            </a:r>
            <a:r>
              <a:rPr sz="1800" b="1" spc="-7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0C0C0C"/>
                </a:solidFill>
                <a:latin typeface="Times New Roman"/>
                <a:cs typeface="Times New Roman"/>
              </a:rPr>
              <a:t>Breakdown</a:t>
            </a:r>
            <a:r>
              <a:rPr sz="1800" b="1" spc="-7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0C0C0C"/>
                </a:solidFill>
                <a:latin typeface="Times New Roman"/>
                <a:cs typeface="Times New Roman"/>
              </a:rPr>
              <a:t>&amp;</a:t>
            </a:r>
            <a:r>
              <a:rPr sz="1800" b="1" spc="-6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0C0C0C"/>
                </a:solidFill>
                <a:latin typeface="Times New Roman"/>
                <a:cs typeface="Times New Roman"/>
              </a:rPr>
              <a:t>Project</a:t>
            </a:r>
            <a:r>
              <a:rPr sz="1800" b="1" spc="-6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0C0C0C"/>
                </a:solidFill>
                <a:latin typeface="Times New Roman"/>
                <a:cs typeface="Times New Roman"/>
              </a:rPr>
              <a:t>Governance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9612" y="1683413"/>
            <a:ext cx="2194560" cy="4247515"/>
            <a:chOff x="79612" y="1683413"/>
            <a:chExt cx="2194560" cy="4247515"/>
          </a:xfrm>
        </p:grpSpPr>
        <p:sp>
          <p:nvSpPr>
            <p:cNvPr id="5" name="object 5"/>
            <p:cNvSpPr/>
            <p:nvPr/>
          </p:nvSpPr>
          <p:spPr>
            <a:xfrm>
              <a:off x="84375" y="1688176"/>
              <a:ext cx="2185035" cy="4237990"/>
            </a:xfrm>
            <a:custGeom>
              <a:avLst/>
              <a:gdLst/>
              <a:ahLst/>
              <a:cxnLst/>
              <a:rect l="l" t="t" r="r" b="b"/>
              <a:pathLst>
                <a:path w="2185035" h="4237990">
                  <a:moveTo>
                    <a:pt x="0" y="364107"/>
                  </a:moveTo>
                  <a:lnTo>
                    <a:pt x="3323" y="314700"/>
                  </a:lnTo>
                  <a:lnTo>
                    <a:pt x="13006" y="267313"/>
                  </a:lnTo>
                  <a:lnTo>
                    <a:pt x="28613" y="222380"/>
                  </a:lnTo>
                  <a:lnTo>
                    <a:pt x="49711" y="180335"/>
                  </a:lnTo>
                  <a:lnTo>
                    <a:pt x="75866" y="141612"/>
                  </a:lnTo>
                  <a:lnTo>
                    <a:pt x="106644" y="106644"/>
                  </a:lnTo>
                  <a:lnTo>
                    <a:pt x="141612" y="75866"/>
                  </a:lnTo>
                  <a:lnTo>
                    <a:pt x="180335" y="49711"/>
                  </a:lnTo>
                  <a:lnTo>
                    <a:pt x="222380" y="28613"/>
                  </a:lnTo>
                  <a:lnTo>
                    <a:pt x="267313" y="13006"/>
                  </a:lnTo>
                  <a:lnTo>
                    <a:pt x="314700" y="3323"/>
                  </a:lnTo>
                  <a:lnTo>
                    <a:pt x="364107" y="0"/>
                  </a:lnTo>
                  <a:lnTo>
                    <a:pt x="1820492" y="0"/>
                  </a:lnTo>
                  <a:lnTo>
                    <a:pt x="1868352" y="3157"/>
                  </a:lnTo>
                  <a:lnTo>
                    <a:pt x="1914986" y="12474"/>
                  </a:lnTo>
                  <a:lnTo>
                    <a:pt x="1959830" y="27716"/>
                  </a:lnTo>
                  <a:lnTo>
                    <a:pt x="2002317" y="48647"/>
                  </a:lnTo>
                  <a:lnTo>
                    <a:pt x="2041880" y="75035"/>
                  </a:lnTo>
                  <a:lnTo>
                    <a:pt x="2077955" y="106644"/>
                  </a:lnTo>
                  <a:lnTo>
                    <a:pt x="2109564" y="142719"/>
                  </a:lnTo>
                  <a:lnTo>
                    <a:pt x="2135952" y="182282"/>
                  </a:lnTo>
                  <a:lnTo>
                    <a:pt x="2156883" y="224769"/>
                  </a:lnTo>
                  <a:lnTo>
                    <a:pt x="2172125" y="269612"/>
                  </a:lnTo>
                  <a:lnTo>
                    <a:pt x="2181442" y="316247"/>
                  </a:lnTo>
                  <a:lnTo>
                    <a:pt x="2184599" y="364107"/>
                  </a:lnTo>
                  <a:lnTo>
                    <a:pt x="2184599" y="3873692"/>
                  </a:lnTo>
                  <a:lnTo>
                    <a:pt x="2181276" y="3923100"/>
                  </a:lnTo>
                  <a:lnTo>
                    <a:pt x="2171593" y="3970486"/>
                  </a:lnTo>
                  <a:lnTo>
                    <a:pt x="2155986" y="4015419"/>
                  </a:lnTo>
                  <a:lnTo>
                    <a:pt x="2134888" y="4057464"/>
                  </a:lnTo>
                  <a:lnTo>
                    <a:pt x="2108733" y="4096187"/>
                  </a:lnTo>
                  <a:lnTo>
                    <a:pt x="2077955" y="4131155"/>
                  </a:lnTo>
                  <a:lnTo>
                    <a:pt x="2042987" y="4161933"/>
                  </a:lnTo>
                  <a:lnTo>
                    <a:pt x="2004264" y="4188088"/>
                  </a:lnTo>
                  <a:lnTo>
                    <a:pt x="1962219" y="4209186"/>
                  </a:lnTo>
                  <a:lnTo>
                    <a:pt x="1917286" y="4224793"/>
                  </a:lnTo>
                  <a:lnTo>
                    <a:pt x="1869899" y="4234476"/>
                  </a:lnTo>
                  <a:lnTo>
                    <a:pt x="1820492" y="4237799"/>
                  </a:lnTo>
                  <a:lnTo>
                    <a:pt x="364107" y="4237799"/>
                  </a:lnTo>
                  <a:lnTo>
                    <a:pt x="314700" y="4234476"/>
                  </a:lnTo>
                  <a:lnTo>
                    <a:pt x="267313" y="4224793"/>
                  </a:lnTo>
                  <a:lnTo>
                    <a:pt x="222380" y="4209186"/>
                  </a:lnTo>
                  <a:lnTo>
                    <a:pt x="180335" y="4188088"/>
                  </a:lnTo>
                  <a:lnTo>
                    <a:pt x="141612" y="4161933"/>
                  </a:lnTo>
                  <a:lnTo>
                    <a:pt x="106644" y="4131155"/>
                  </a:lnTo>
                  <a:lnTo>
                    <a:pt x="75866" y="4096187"/>
                  </a:lnTo>
                  <a:lnTo>
                    <a:pt x="49711" y="4057464"/>
                  </a:lnTo>
                  <a:lnTo>
                    <a:pt x="28613" y="4015419"/>
                  </a:lnTo>
                  <a:lnTo>
                    <a:pt x="13006" y="3970486"/>
                  </a:lnTo>
                  <a:lnTo>
                    <a:pt x="3323" y="3923100"/>
                  </a:lnTo>
                  <a:lnTo>
                    <a:pt x="0" y="3873692"/>
                  </a:lnTo>
                  <a:lnTo>
                    <a:pt x="0" y="364107"/>
                  </a:lnTo>
                  <a:close/>
                </a:path>
              </a:pathLst>
            </a:custGeom>
            <a:ln w="9524">
              <a:solidFill>
                <a:srgbClr val="35A2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1666" y="1910722"/>
              <a:ext cx="284633" cy="267890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289744" y="1881502"/>
            <a:ext cx="1657350" cy="3835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2260" marR="67310" indent="236854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102C57"/>
                </a:solidFill>
                <a:latin typeface="Arial"/>
                <a:cs typeface="Arial"/>
              </a:rPr>
              <a:t>Hardware Resources</a:t>
            </a:r>
            <a:endParaRPr sz="1800">
              <a:latin typeface="Arial"/>
              <a:cs typeface="Arial"/>
            </a:endParaRPr>
          </a:p>
          <a:p>
            <a:pPr marL="272415" marR="318770" indent="-260350">
              <a:lnSpc>
                <a:spcPct val="100000"/>
              </a:lnSpc>
              <a:spcBef>
                <a:spcPts val="1415"/>
              </a:spcBef>
              <a:buFont typeface="Arial"/>
              <a:buChar char="•"/>
              <a:tabLst>
                <a:tab pos="272415" algn="l"/>
              </a:tabLst>
            </a:pPr>
            <a:r>
              <a:rPr sz="1350" b="1" spc="-10" dirty="0">
                <a:solidFill>
                  <a:srgbClr val="282828"/>
                </a:solidFill>
                <a:latin typeface="Times New Roman"/>
                <a:cs typeface="Times New Roman"/>
              </a:rPr>
              <a:t>Development Stations (PCs/Laptops)</a:t>
            </a:r>
            <a:endParaRPr sz="1350">
              <a:latin typeface="Times New Roman"/>
              <a:cs typeface="Times New Roman"/>
            </a:endParaRPr>
          </a:p>
          <a:p>
            <a:pPr marL="272415" marR="5080" indent="-260350">
              <a:lnSpc>
                <a:spcPct val="100000"/>
              </a:lnSpc>
              <a:spcBef>
                <a:spcPts val="800"/>
              </a:spcBef>
              <a:buChar char="•"/>
              <a:tabLst>
                <a:tab pos="272415" algn="l"/>
                <a:tab pos="312420" algn="l"/>
              </a:tabLst>
            </a:pPr>
            <a:r>
              <a:rPr sz="1350" b="1" dirty="0">
                <a:solidFill>
                  <a:srgbClr val="282828"/>
                </a:solidFill>
                <a:latin typeface="Arial"/>
                <a:cs typeface="Arial"/>
              </a:rPr>
              <a:t>	</a:t>
            </a:r>
            <a:r>
              <a:rPr sz="1350" b="1" spc="-10" dirty="0">
                <a:solidFill>
                  <a:srgbClr val="282828"/>
                </a:solidFill>
                <a:latin typeface="Times New Roman"/>
                <a:cs typeface="Times New Roman"/>
              </a:rPr>
              <a:t>Thermal</a:t>
            </a:r>
            <a:r>
              <a:rPr sz="1350" b="1" spc="-2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1350" b="1" spc="-10" dirty="0">
                <a:solidFill>
                  <a:srgbClr val="282828"/>
                </a:solidFill>
                <a:latin typeface="Times New Roman"/>
                <a:cs typeface="Times New Roman"/>
              </a:rPr>
              <a:t>camera </a:t>
            </a:r>
            <a:r>
              <a:rPr sz="1350" b="1" dirty="0">
                <a:solidFill>
                  <a:srgbClr val="282828"/>
                </a:solidFill>
                <a:latin typeface="Times New Roman"/>
                <a:cs typeface="Times New Roman"/>
              </a:rPr>
              <a:t>modules</a:t>
            </a:r>
            <a:r>
              <a:rPr sz="1350" b="1" spc="-3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1350" b="1" dirty="0">
                <a:solidFill>
                  <a:srgbClr val="282828"/>
                </a:solidFill>
                <a:latin typeface="Times New Roman"/>
                <a:cs typeface="Times New Roman"/>
              </a:rPr>
              <a:t>&amp;</a:t>
            </a:r>
            <a:r>
              <a:rPr sz="1350" b="1" spc="-2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1350" b="1" spc="-10" dirty="0">
                <a:solidFill>
                  <a:srgbClr val="282828"/>
                </a:solidFill>
                <a:latin typeface="Times New Roman"/>
                <a:cs typeface="Times New Roman"/>
              </a:rPr>
              <a:t>sensors</a:t>
            </a:r>
            <a:endParaRPr sz="1350">
              <a:latin typeface="Times New Roman"/>
              <a:cs typeface="Times New Roman"/>
            </a:endParaRPr>
          </a:p>
          <a:p>
            <a:pPr marL="272415" marR="33020" indent="-260350">
              <a:lnSpc>
                <a:spcPct val="100000"/>
              </a:lnSpc>
              <a:spcBef>
                <a:spcPts val="800"/>
              </a:spcBef>
              <a:buChar char="•"/>
              <a:tabLst>
                <a:tab pos="272415" algn="l"/>
                <a:tab pos="314960" algn="l"/>
              </a:tabLst>
            </a:pPr>
            <a:r>
              <a:rPr sz="1350" b="1" dirty="0">
                <a:solidFill>
                  <a:srgbClr val="282828"/>
                </a:solidFill>
                <a:latin typeface="Arial"/>
                <a:cs typeface="Arial"/>
              </a:rPr>
              <a:t>	</a:t>
            </a:r>
            <a:r>
              <a:rPr sz="1350" b="1" spc="-10" dirty="0">
                <a:solidFill>
                  <a:srgbClr val="282828"/>
                </a:solidFill>
                <a:latin typeface="Times New Roman"/>
                <a:cs typeface="Times New Roman"/>
              </a:rPr>
              <a:t>Raspberry Pi/microcontroller </a:t>
            </a:r>
            <a:r>
              <a:rPr sz="1350" b="1" dirty="0">
                <a:solidFill>
                  <a:srgbClr val="282828"/>
                </a:solidFill>
                <a:latin typeface="Times New Roman"/>
                <a:cs typeface="Times New Roman"/>
              </a:rPr>
              <a:t>(field</a:t>
            </a:r>
            <a:r>
              <a:rPr sz="1350" b="1" spc="-6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1350" b="1" spc="-10" dirty="0">
                <a:solidFill>
                  <a:srgbClr val="282828"/>
                </a:solidFill>
                <a:latin typeface="Times New Roman"/>
                <a:cs typeface="Times New Roman"/>
              </a:rPr>
              <a:t>testing)</a:t>
            </a:r>
            <a:endParaRPr sz="1350">
              <a:latin typeface="Times New Roman"/>
              <a:cs typeface="Times New Roman"/>
            </a:endParaRPr>
          </a:p>
          <a:p>
            <a:pPr marL="272415" marR="490220" indent="-260350">
              <a:lnSpc>
                <a:spcPct val="100000"/>
              </a:lnSpc>
              <a:spcBef>
                <a:spcPts val="800"/>
              </a:spcBef>
              <a:buFont typeface="Arial"/>
              <a:buChar char="•"/>
              <a:tabLst>
                <a:tab pos="272415" algn="l"/>
              </a:tabLst>
            </a:pPr>
            <a:r>
              <a:rPr sz="1350" b="1" spc="-10" dirty="0">
                <a:solidFill>
                  <a:srgbClr val="282828"/>
                </a:solidFill>
                <a:latin typeface="Times New Roman"/>
                <a:cs typeface="Times New Roman"/>
              </a:rPr>
              <a:t>Internet connectivity</a:t>
            </a:r>
            <a:endParaRPr sz="1350">
              <a:latin typeface="Times New Roman"/>
              <a:cs typeface="Times New Roman"/>
            </a:endParaRPr>
          </a:p>
          <a:p>
            <a:pPr marL="272415" marR="248920" indent="-260350">
              <a:lnSpc>
                <a:spcPct val="100000"/>
              </a:lnSpc>
              <a:spcBef>
                <a:spcPts val="800"/>
              </a:spcBef>
              <a:buChar char="•"/>
              <a:tabLst>
                <a:tab pos="272415" algn="l"/>
                <a:tab pos="314960" algn="l"/>
              </a:tabLst>
            </a:pPr>
            <a:r>
              <a:rPr sz="1350" b="1" dirty="0">
                <a:solidFill>
                  <a:srgbClr val="282828"/>
                </a:solidFill>
                <a:latin typeface="Arial"/>
                <a:cs typeface="Arial"/>
              </a:rPr>
              <a:t>	</a:t>
            </a:r>
            <a:r>
              <a:rPr sz="1350" b="1" dirty="0">
                <a:solidFill>
                  <a:srgbClr val="282828"/>
                </a:solidFill>
                <a:latin typeface="Times New Roman"/>
                <a:cs typeface="Times New Roman"/>
              </a:rPr>
              <a:t>Storage</a:t>
            </a:r>
            <a:r>
              <a:rPr sz="1350" b="1" spc="-8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1350" b="1" spc="-25" dirty="0">
                <a:solidFill>
                  <a:srgbClr val="282828"/>
                </a:solidFill>
                <a:latin typeface="Times New Roman"/>
                <a:cs typeface="Times New Roman"/>
              </a:rPr>
              <a:t>for </a:t>
            </a:r>
            <a:r>
              <a:rPr sz="1350" b="1" spc="-10" dirty="0">
                <a:solidFill>
                  <a:srgbClr val="282828"/>
                </a:solidFill>
                <a:latin typeface="Times New Roman"/>
                <a:cs typeface="Times New Roman"/>
              </a:rPr>
              <a:t>Datasets </a:t>
            </a:r>
            <a:r>
              <a:rPr sz="1350" b="1" spc="-25" dirty="0">
                <a:solidFill>
                  <a:srgbClr val="282828"/>
                </a:solidFill>
                <a:latin typeface="Times New Roman"/>
                <a:cs typeface="Times New Roman"/>
              </a:rPr>
              <a:t>and </a:t>
            </a:r>
            <a:r>
              <a:rPr sz="1350" b="1" dirty="0">
                <a:solidFill>
                  <a:srgbClr val="282828"/>
                </a:solidFill>
                <a:latin typeface="Times New Roman"/>
                <a:cs typeface="Times New Roman"/>
              </a:rPr>
              <a:t>thermal</a:t>
            </a:r>
            <a:r>
              <a:rPr sz="1350" b="1" spc="-8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1350" b="1" spc="-10" dirty="0">
                <a:solidFill>
                  <a:srgbClr val="282828"/>
                </a:solidFill>
                <a:latin typeface="Times New Roman"/>
                <a:cs typeface="Times New Roman"/>
              </a:rPr>
              <a:t>images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311200" y="1656220"/>
            <a:ext cx="2185035" cy="4237990"/>
          </a:xfrm>
          <a:custGeom>
            <a:avLst/>
            <a:gdLst/>
            <a:ahLst/>
            <a:cxnLst/>
            <a:rect l="l" t="t" r="r" b="b"/>
            <a:pathLst>
              <a:path w="2185035" h="4237990">
                <a:moveTo>
                  <a:pt x="0" y="615292"/>
                </a:moveTo>
                <a:lnTo>
                  <a:pt x="1851" y="567207"/>
                </a:lnTo>
                <a:lnTo>
                  <a:pt x="7313" y="520135"/>
                </a:lnTo>
                <a:lnTo>
                  <a:pt x="16250" y="474211"/>
                </a:lnTo>
                <a:lnTo>
                  <a:pt x="28524" y="429573"/>
                </a:lnTo>
                <a:lnTo>
                  <a:pt x="43999" y="386358"/>
                </a:lnTo>
                <a:lnTo>
                  <a:pt x="62539" y="344702"/>
                </a:lnTo>
                <a:lnTo>
                  <a:pt x="84005" y="304742"/>
                </a:lnTo>
                <a:lnTo>
                  <a:pt x="108262" y="266615"/>
                </a:lnTo>
                <a:lnTo>
                  <a:pt x="135172" y="230458"/>
                </a:lnTo>
                <a:lnTo>
                  <a:pt x="164600" y="196407"/>
                </a:lnTo>
                <a:lnTo>
                  <a:pt x="196407" y="164600"/>
                </a:lnTo>
                <a:lnTo>
                  <a:pt x="230458" y="135172"/>
                </a:lnTo>
                <a:lnTo>
                  <a:pt x="266615" y="108262"/>
                </a:lnTo>
                <a:lnTo>
                  <a:pt x="304742" y="84005"/>
                </a:lnTo>
                <a:lnTo>
                  <a:pt x="344702" y="62539"/>
                </a:lnTo>
                <a:lnTo>
                  <a:pt x="386358" y="43999"/>
                </a:lnTo>
                <a:lnTo>
                  <a:pt x="429573" y="28524"/>
                </a:lnTo>
                <a:lnTo>
                  <a:pt x="474211" y="16250"/>
                </a:lnTo>
                <a:lnTo>
                  <a:pt x="520135" y="7313"/>
                </a:lnTo>
                <a:lnTo>
                  <a:pt x="567207" y="1851"/>
                </a:lnTo>
                <a:lnTo>
                  <a:pt x="615292" y="0"/>
                </a:lnTo>
                <a:lnTo>
                  <a:pt x="1569307" y="0"/>
                </a:lnTo>
                <a:lnTo>
                  <a:pt x="1618028" y="1930"/>
                </a:lnTo>
                <a:lnTo>
                  <a:pt x="1666141" y="7664"/>
                </a:lnTo>
                <a:lnTo>
                  <a:pt x="1713440" y="17117"/>
                </a:lnTo>
                <a:lnTo>
                  <a:pt x="1759718" y="30203"/>
                </a:lnTo>
                <a:lnTo>
                  <a:pt x="1804769" y="46836"/>
                </a:lnTo>
                <a:lnTo>
                  <a:pt x="1848386" y="66931"/>
                </a:lnTo>
                <a:lnTo>
                  <a:pt x="1890363" y="90401"/>
                </a:lnTo>
                <a:lnTo>
                  <a:pt x="1930492" y="117163"/>
                </a:lnTo>
                <a:lnTo>
                  <a:pt x="1968568" y="147129"/>
                </a:lnTo>
                <a:lnTo>
                  <a:pt x="2004384" y="180214"/>
                </a:lnTo>
                <a:lnTo>
                  <a:pt x="2037470" y="216030"/>
                </a:lnTo>
                <a:lnTo>
                  <a:pt x="2067436" y="254106"/>
                </a:lnTo>
                <a:lnTo>
                  <a:pt x="2094198" y="294236"/>
                </a:lnTo>
                <a:lnTo>
                  <a:pt x="2117668" y="336213"/>
                </a:lnTo>
                <a:lnTo>
                  <a:pt x="2137763" y="379830"/>
                </a:lnTo>
                <a:lnTo>
                  <a:pt x="2154396" y="424881"/>
                </a:lnTo>
                <a:lnTo>
                  <a:pt x="2167482" y="471159"/>
                </a:lnTo>
                <a:lnTo>
                  <a:pt x="2176934" y="518458"/>
                </a:lnTo>
                <a:lnTo>
                  <a:pt x="2182669" y="566571"/>
                </a:lnTo>
                <a:lnTo>
                  <a:pt x="2184599" y="615292"/>
                </a:lnTo>
                <a:lnTo>
                  <a:pt x="2184599" y="3622507"/>
                </a:lnTo>
                <a:lnTo>
                  <a:pt x="2182748" y="3670592"/>
                </a:lnTo>
                <a:lnTo>
                  <a:pt x="2177286" y="3717664"/>
                </a:lnTo>
                <a:lnTo>
                  <a:pt x="2168349" y="3763588"/>
                </a:lnTo>
                <a:lnTo>
                  <a:pt x="2156075" y="3808226"/>
                </a:lnTo>
                <a:lnTo>
                  <a:pt x="2140599" y="3851441"/>
                </a:lnTo>
                <a:lnTo>
                  <a:pt x="2122060" y="3893097"/>
                </a:lnTo>
                <a:lnTo>
                  <a:pt x="2100594" y="3933057"/>
                </a:lnTo>
                <a:lnTo>
                  <a:pt x="2076337" y="3971184"/>
                </a:lnTo>
                <a:lnTo>
                  <a:pt x="2049426" y="4007341"/>
                </a:lnTo>
                <a:lnTo>
                  <a:pt x="2019999" y="4041392"/>
                </a:lnTo>
                <a:lnTo>
                  <a:pt x="1988192" y="4073199"/>
                </a:lnTo>
                <a:lnTo>
                  <a:pt x="1954141" y="4102627"/>
                </a:lnTo>
                <a:lnTo>
                  <a:pt x="1917984" y="4129537"/>
                </a:lnTo>
                <a:lnTo>
                  <a:pt x="1879857" y="4153794"/>
                </a:lnTo>
                <a:lnTo>
                  <a:pt x="1839897" y="4175261"/>
                </a:lnTo>
                <a:lnTo>
                  <a:pt x="1798241" y="4193800"/>
                </a:lnTo>
                <a:lnTo>
                  <a:pt x="1755026" y="4209275"/>
                </a:lnTo>
                <a:lnTo>
                  <a:pt x="1710388" y="4221549"/>
                </a:lnTo>
                <a:lnTo>
                  <a:pt x="1664464" y="4230486"/>
                </a:lnTo>
                <a:lnTo>
                  <a:pt x="1617392" y="4235949"/>
                </a:lnTo>
                <a:lnTo>
                  <a:pt x="1569307" y="4237800"/>
                </a:lnTo>
                <a:lnTo>
                  <a:pt x="615292" y="4237800"/>
                </a:lnTo>
                <a:lnTo>
                  <a:pt x="567207" y="4235949"/>
                </a:lnTo>
                <a:lnTo>
                  <a:pt x="520135" y="4230486"/>
                </a:lnTo>
                <a:lnTo>
                  <a:pt x="474211" y="4221549"/>
                </a:lnTo>
                <a:lnTo>
                  <a:pt x="429573" y="4209275"/>
                </a:lnTo>
                <a:lnTo>
                  <a:pt x="386358" y="4193800"/>
                </a:lnTo>
                <a:lnTo>
                  <a:pt x="344702" y="4175261"/>
                </a:lnTo>
                <a:lnTo>
                  <a:pt x="304742" y="4153794"/>
                </a:lnTo>
                <a:lnTo>
                  <a:pt x="266615" y="4129537"/>
                </a:lnTo>
                <a:lnTo>
                  <a:pt x="230458" y="4102627"/>
                </a:lnTo>
                <a:lnTo>
                  <a:pt x="196407" y="4073199"/>
                </a:lnTo>
                <a:lnTo>
                  <a:pt x="164600" y="4041392"/>
                </a:lnTo>
                <a:lnTo>
                  <a:pt x="135172" y="4007341"/>
                </a:lnTo>
                <a:lnTo>
                  <a:pt x="108262" y="3971184"/>
                </a:lnTo>
                <a:lnTo>
                  <a:pt x="84005" y="3933057"/>
                </a:lnTo>
                <a:lnTo>
                  <a:pt x="62539" y="3893097"/>
                </a:lnTo>
                <a:lnTo>
                  <a:pt x="43999" y="3851441"/>
                </a:lnTo>
                <a:lnTo>
                  <a:pt x="28524" y="3808226"/>
                </a:lnTo>
                <a:lnTo>
                  <a:pt x="16250" y="3763588"/>
                </a:lnTo>
                <a:lnTo>
                  <a:pt x="7313" y="3717664"/>
                </a:lnTo>
                <a:lnTo>
                  <a:pt x="1851" y="3670592"/>
                </a:lnTo>
                <a:lnTo>
                  <a:pt x="0" y="3622507"/>
                </a:lnTo>
                <a:lnTo>
                  <a:pt x="0" y="615292"/>
                </a:lnTo>
                <a:close/>
              </a:path>
            </a:pathLst>
          </a:custGeom>
          <a:ln w="9524">
            <a:solidFill>
              <a:srgbClr val="35A2E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730825" y="2795188"/>
            <a:ext cx="1501775" cy="19456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2895" marR="6350" indent="-290830">
              <a:lnSpc>
                <a:spcPct val="100000"/>
              </a:lnSpc>
              <a:spcBef>
                <a:spcPts val="100"/>
              </a:spcBef>
              <a:buChar char="•"/>
              <a:tabLst>
                <a:tab pos="302895" algn="l"/>
              </a:tabLst>
            </a:pPr>
            <a:r>
              <a:rPr sz="1400" dirty="0">
                <a:latin typeface="Arial MT"/>
                <a:cs typeface="Arial MT"/>
              </a:rPr>
              <a:t>Python,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HTML, </a:t>
            </a:r>
            <a:r>
              <a:rPr sz="1400" spc="-20" dirty="0">
                <a:latin typeface="Arial MT"/>
                <a:cs typeface="Arial MT"/>
              </a:rPr>
              <a:t>CSS,</a:t>
            </a:r>
            <a:endParaRPr sz="1400">
              <a:latin typeface="Arial MT"/>
              <a:cs typeface="Arial MT"/>
            </a:endParaRPr>
          </a:p>
          <a:p>
            <a:pPr marL="302895">
              <a:lnSpc>
                <a:spcPct val="100000"/>
              </a:lnSpc>
            </a:pPr>
            <a:r>
              <a:rPr sz="1400" spc="-10" dirty="0">
                <a:latin typeface="Arial MT"/>
                <a:cs typeface="Arial MT"/>
              </a:rPr>
              <a:t>JavaScript</a:t>
            </a:r>
            <a:endParaRPr sz="1400">
              <a:latin typeface="Arial MT"/>
              <a:cs typeface="Arial MT"/>
            </a:endParaRPr>
          </a:p>
          <a:p>
            <a:pPr marL="302895" indent="-290195">
              <a:lnSpc>
                <a:spcPct val="100000"/>
              </a:lnSpc>
              <a:buChar char="•"/>
              <a:tabLst>
                <a:tab pos="302895" algn="l"/>
              </a:tabLst>
            </a:pPr>
            <a:r>
              <a:rPr sz="1400" spc="-10" dirty="0">
                <a:latin typeface="Arial MT"/>
                <a:cs typeface="Arial MT"/>
              </a:rPr>
              <a:t>Flask/Djang</a:t>
            </a:r>
            <a:endParaRPr sz="1400">
              <a:latin typeface="Arial MT"/>
              <a:cs typeface="Arial MT"/>
            </a:endParaRPr>
          </a:p>
          <a:p>
            <a:pPr marL="302895" marR="5080" indent="-290830">
              <a:lnSpc>
                <a:spcPct val="100000"/>
              </a:lnSpc>
              <a:buChar char="•"/>
              <a:tabLst>
                <a:tab pos="302895" algn="l"/>
              </a:tabLst>
            </a:pPr>
            <a:r>
              <a:rPr sz="1400" spc="-10" dirty="0">
                <a:latin typeface="Arial MT"/>
                <a:cs typeface="Arial MT"/>
              </a:rPr>
              <a:t>MySQL/Mongo DBGit/GitHub</a:t>
            </a:r>
            <a:endParaRPr sz="1400">
              <a:latin typeface="Arial MT"/>
              <a:cs typeface="Arial MT"/>
            </a:endParaRPr>
          </a:p>
          <a:p>
            <a:pPr marL="302895" marR="133350" indent="-290830">
              <a:lnSpc>
                <a:spcPct val="100000"/>
              </a:lnSpc>
              <a:buChar char="•"/>
              <a:tabLst>
                <a:tab pos="302895" algn="l"/>
              </a:tabLst>
            </a:pPr>
            <a:r>
              <a:rPr sz="1400" spc="-10" dirty="0">
                <a:latin typeface="Arial MT"/>
                <a:cs typeface="Arial MT"/>
              </a:rPr>
              <a:t>React Native/Flutter </a:t>
            </a:r>
            <a:r>
              <a:rPr sz="1400" dirty="0">
                <a:latin typeface="Arial MT"/>
                <a:cs typeface="Arial MT"/>
              </a:rPr>
              <a:t>(app</a:t>
            </a:r>
            <a:r>
              <a:rPr sz="1400" spc="-20" dirty="0">
                <a:latin typeface="Arial MT"/>
                <a:cs typeface="Arial MT"/>
              </a:rPr>
              <a:t> dev)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534236" y="1651462"/>
            <a:ext cx="1929130" cy="4247515"/>
            <a:chOff x="4534236" y="1651462"/>
            <a:chExt cx="1929130" cy="4247515"/>
          </a:xfrm>
        </p:grpSpPr>
        <p:sp>
          <p:nvSpPr>
            <p:cNvPr id="11" name="object 11"/>
            <p:cNvSpPr/>
            <p:nvPr/>
          </p:nvSpPr>
          <p:spPr>
            <a:xfrm>
              <a:off x="4538999" y="1656225"/>
              <a:ext cx="1919605" cy="4237990"/>
            </a:xfrm>
            <a:custGeom>
              <a:avLst/>
              <a:gdLst/>
              <a:ahLst/>
              <a:cxnLst/>
              <a:rect l="l" t="t" r="r" b="b"/>
              <a:pathLst>
                <a:path w="1919604" h="4237990">
                  <a:moveTo>
                    <a:pt x="0" y="319856"/>
                  </a:moveTo>
                  <a:lnTo>
                    <a:pt x="3468" y="272590"/>
                  </a:lnTo>
                  <a:lnTo>
                    <a:pt x="13542" y="227477"/>
                  </a:lnTo>
                  <a:lnTo>
                    <a:pt x="29728" y="185013"/>
                  </a:lnTo>
                  <a:lnTo>
                    <a:pt x="51530" y="145691"/>
                  </a:lnTo>
                  <a:lnTo>
                    <a:pt x="78455" y="110007"/>
                  </a:lnTo>
                  <a:lnTo>
                    <a:pt x="110007" y="78455"/>
                  </a:lnTo>
                  <a:lnTo>
                    <a:pt x="145691" y="51530"/>
                  </a:lnTo>
                  <a:lnTo>
                    <a:pt x="185013" y="29728"/>
                  </a:lnTo>
                  <a:lnTo>
                    <a:pt x="227477" y="13542"/>
                  </a:lnTo>
                  <a:lnTo>
                    <a:pt x="272590" y="3468"/>
                  </a:lnTo>
                  <a:lnTo>
                    <a:pt x="319856" y="0"/>
                  </a:lnTo>
                  <a:lnTo>
                    <a:pt x="1599243" y="0"/>
                  </a:lnTo>
                  <a:lnTo>
                    <a:pt x="1649582" y="3984"/>
                  </a:lnTo>
                  <a:lnTo>
                    <a:pt x="1698227" y="15701"/>
                  </a:lnTo>
                  <a:lnTo>
                    <a:pt x="1744321" y="34793"/>
                  </a:lnTo>
                  <a:lnTo>
                    <a:pt x="1787003" y="60906"/>
                  </a:lnTo>
                  <a:lnTo>
                    <a:pt x="1825416" y="93683"/>
                  </a:lnTo>
                  <a:lnTo>
                    <a:pt x="1858193" y="132096"/>
                  </a:lnTo>
                  <a:lnTo>
                    <a:pt x="1884306" y="174778"/>
                  </a:lnTo>
                  <a:lnTo>
                    <a:pt x="1903398" y="220872"/>
                  </a:lnTo>
                  <a:lnTo>
                    <a:pt x="1915115" y="269517"/>
                  </a:lnTo>
                  <a:lnTo>
                    <a:pt x="1919099" y="319856"/>
                  </a:lnTo>
                  <a:lnTo>
                    <a:pt x="1919099" y="3917943"/>
                  </a:lnTo>
                  <a:lnTo>
                    <a:pt x="1915631" y="3965209"/>
                  </a:lnTo>
                  <a:lnTo>
                    <a:pt x="1905557" y="4010322"/>
                  </a:lnTo>
                  <a:lnTo>
                    <a:pt x="1889371" y="4052786"/>
                  </a:lnTo>
                  <a:lnTo>
                    <a:pt x="1867569" y="4092108"/>
                  </a:lnTo>
                  <a:lnTo>
                    <a:pt x="1840644" y="4127792"/>
                  </a:lnTo>
                  <a:lnTo>
                    <a:pt x="1809092" y="4159344"/>
                  </a:lnTo>
                  <a:lnTo>
                    <a:pt x="1773408" y="4186269"/>
                  </a:lnTo>
                  <a:lnTo>
                    <a:pt x="1734086" y="4208071"/>
                  </a:lnTo>
                  <a:lnTo>
                    <a:pt x="1691622" y="4224257"/>
                  </a:lnTo>
                  <a:lnTo>
                    <a:pt x="1646509" y="4234331"/>
                  </a:lnTo>
                  <a:lnTo>
                    <a:pt x="1599243" y="4237799"/>
                  </a:lnTo>
                  <a:lnTo>
                    <a:pt x="319856" y="4237799"/>
                  </a:lnTo>
                  <a:lnTo>
                    <a:pt x="272590" y="4234331"/>
                  </a:lnTo>
                  <a:lnTo>
                    <a:pt x="227477" y="4224257"/>
                  </a:lnTo>
                  <a:lnTo>
                    <a:pt x="185013" y="4208071"/>
                  </a:lnTo>
                  <a:lnTo>
                    <a:pt x="145691" y="4186269"/>
                  </a:lnTo>
                  <a:lnTo>
                    <a:pt x="110007" y="4159344"/>
                  </a:lnTo>
                  <a:lnTo>
                    <a:pt x="78455" y="4127792"/>
                  </a:lnTo>
                  <a:lnTo>
                    <a:pt x="51530" y="4092108"/>
                  </a:lnTo>
                  <a:lnTo>
                    <a:pt x="29728" y="4052786"/>
                  </a:lnTo>
                  <a:lnTo>
                    <a:pt x="13542" y="4010322"/>
                  </a:lnTo>
                  <a:lnTo>
                    <a:pt x="3468" y="3965209"/>
                  </a:lnTo>
                  <a:lnTo>
                    <a:pt x="0" y="3917943"/>
                  </a:lnTo>
                  <a:lnTo>
                    <a:pt x="0" y="319856"/>
                  </a:lnTo>
                  <a:close/>
                </a:path>
              </a:pathLst>
            </a:custGeom>
            <a:ln w="9524">
              <a:solidFill>
                <a:srgbClr val="35A2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51351" y="1832609"/>
              <a:ext cx="284633" cy="267890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4938651" y="1803389"/>
            <a:ext cx="11944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8615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1F3764"/>
                </a:solidFill>
                <a:latin typeface="Arial"/>
                <a:cs typeface="Arial"/>
              </a:rPr>
              <a:t>AI/ML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b="1" spc="-10" dirty="0">
                <a:solidFill>
                  <a:srgbClr val="1F3764"/>
                </a:solidFill>
                <a:latin typeface="Arial"/>
                <a:cs typeface="Arial"/>
              </a:rPr>
              <a:t>Resources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790023" y="2870543"/>
            <a:ext cx="1360170" cy="1518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1145" indent="-258445">
              <a:lnSpc>
                <a:spcPct val="100000"/>
              </a:lnSpc>
              <a:spcBef>
                <a:spcPts val="100"/>
              </a:spcBef>
              <a:buChar char="•"/>
              <a:tabLst>
                <a:tab pos="271145" algn="l"/>
              </a:tabLst>
            </a:pPr>
            <a:r>
              <a:rPr sz="1400" spc="-10" dirty="0">
                <a:latin typeface="Arial MT"/>
                <a:cs typeface="Arial MT"/>
              </a:rPr>
              <a:t>Scikit-learn</a:t>
            </a:r>
            <a:endParaRPr sz="1400">
              <a:latin typeface="Arial MT"/>
              <a:cs typeface="Arial MT"/>
            </a:endParaRPr>
          </a:p>
          <a:p>
            <a:pPr marL="271145" marR="5080" indent="-259079">
              <a:lnSpc>
                <a:spcPct val="100000"/>
              </a:lnSpc>
              <a:buChar char="•"/>
              <a:tabLst>
                <a:tab pos="271145" algn="l"/>
              </a:tabLst>
            </a:pPr>
            <a:r>
              <a:rPr sz="1400" spc="-20" dirty="0">
                <a:latin typeface="Arial MT"/>
                <a:cs typeface="Arial MT"/>
              </a:rPr>
              <a:t>TensorFlow/P </a:t>
            </a:r>
            <a:r>
              <a:rPr sz="1400" spc="-10" dirty="0">
                <a:latin typeface="Arial MT"/>
                <a:cs typeface="Arial MT"/>
              </a:rPr>
              <a:t>yTorch</a:t>
            </a:r>
            <a:endParaRPr sz="1400">
              <a:latin typeface="Arial MT"/>
              <a:cs typeface="Arial MT"/>
            </a:endParaRPr>
          </a:p>
          <a:p>
            <a:pPr marL="271145" marR="72390" indent="-259079">
              <a:lnSpc>
                <a:spcPct val="100000"/>
              </a:lnSpc>
              <a:buChar char="•"/>
              <a:tabLst>
                <a:tab pos="271145" algn="l"/>
              </a:tabLst>
            </a:pPr>
            <a:r>
              <a:rPr sz="1400" dirty="0">
                <a:latin typeface="Arial MT"/>
                <a:cs typeface="Arial MT"/>
              </a:rPr>
              <a:t>OpenCV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spc="-50" dirty="0">
                <a:latin typeface="Arial MT"/>
                <a:cs typeface="Arial MT"/>
              </a:rPr>
              <a:t>&amp; </a:t>
            </a:r>
            <a:r>
              <a:rPr sz="1400" spc="-10" dirty="0">
                <a:latin typeface="Arial MT"/>
                <a:cs typeface="Arial MT"/>
              </a:rPr>
              <a:t>CNN-based animal classification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509860" y="1651462"/>
            <a:ext cx="2332355" cy="4247515"/>
            <a:chOff x="6509860" y="1651462"/>
            <a:chExt cx="2332355" cy="4247515"/>
          </a:xfrm>
        </p:grpSpPr>
        <p:sp>
          <p:nvSpPr>
            <p:cNvPr id="16" name="object 16"/>
            <p:cNvSpPr/>
            <p:nvPr/>
          </p:nvSpPr>
          <p:spPr>
            <a:xfrm>
              <a:off x="6514623" y="1656225"/>
              <a:ext cx="2322830" cy="4237990"/>
            </a:xfrm>
            <a:custGeom>
              <a:avLst/>
              <a:gdLst/>
              <a:ahLst/>
              <a:cxnLst/>
              <a:rect l="l" t="t" r="r" b="b"/>
              <a:pathLst>
                <a:path w="2322829" h="4237990">
                  <a:moveTo>
                    <a:pt x="0" y="387057"/>
                  </a:moveTo>
                  <a:lnTo>
                    <a:pt x="3015" y="338506"/>
                  </a:lnTo>
                  <a:lnTo>
                    <a:pt x="11821" y="291754"/>
                  </a:lnTo>
                  <a:lnTo>
                    <a:pt x="26053" y="247164"/>
                  </a:lnTo>
                  <a:lnTo>
                    <a:pt x="45349" y="205099"/>
                  </a:lnTo>
                  <a:lnTo>
                    <a:pt x="69347" y="165923"/>
                  </a:lnTo>
                  <a:lnTo>
                    <a:pt x="97684" y="129997"/>
                  </a:lnTo>
                  <a:lnTo>
                    <a:pt x="129997" y="97684"/>
                  </a:lnTo>
                  <a:lnTo>
                    <a:pt x="165923" y="69347"/>
                  </a:lnTo>
                  <a:lnTo>
                    <a:pt x="205100" y="45349"/>
                  </a:lnTo>
                  <a:lnTo>
                    <a:pt x="247164" y="26053"/>
                  </a:lnTo>
                  <a:lnTo>
                    <a:pt x="291754" y="11821"/>
                  </a:lnTo>
                  <a:lnTo>
                    <a:pt x="338506" y="3015"/>
                  </a:lnTo>
                  <a:lnTo>
                    <a:pt x="387057" y="0"/>
                  </a:lnTo>
                  <a:lnTo>
                    <a:pt x="1935241" y="0"/>
                  </a:lnTo>
                  <a:lnTo>
                    <a:pt x="1986118" y="3356"/>
                  </a:lnTo>
                  <a:lnTo>
                    <a:pt x="2035692" y="13260"/>
                  </a:lnTo>
                  <a:lnTo>
                    <a:pt x="2083362" y="29462"/>
                  </a:lnTo>
                  <a:lnTo>
                    <a:pt x="2128527" y="51714"/>
                  </a:lnTo>
                  <a:lnTo>
                    <a:pt x="2170584" y="79765"/>
                  </a:lnTo>
                  <a:lnTo>
                    <a:pt x="2208933" y="113366"/>
                  </a:lnTo>
                  <a:lnTo>
                    <a:pt x="2242535" y="151715"/>
                  </a:lnTo>
                  <a:lnTo>
                    <a:pt x="2270585" y="193772"/>
                  </a:lnTo>
                  <a:lnTo>
                    <a:pt x="2292837" y="238937"/>
                  </a:lnTo>
                  <a:lnTo>
                    <a:pt x="2309039" y="286607"/>
                  </a:lnTo>
                  <a:lnTo>
                    <a:pt x="2318943" y="336181"/>
                  </a:lnTo>
                  <a:lnTo>
                    <a:pt x="2322299" y="387057"/>
                  </a:lnTo>
                  <a:lnTo>
                    <a:pt x="2322299" y="3850742"/>
                  </a:lnTo>
                  <a:lnTo>
                    <a:pt x="2319284" y="3899293"/>
                  </a:lnTo>
                  <a:lnTo>
                    <a:pt x="2310478" y="3946045"/>
                  </a:lnTo>
                  <a:lnTo>
                    <a:pt x="2296246" y="3990635"/>
                  </a:lnTo>
                  <a:lnTo>
                    <a:pt x="2276950" y="4032699"/>
                  </a:lnTo>
                  <a:lnTo>
                    <a:pt x="2252952" y="4071876"/>
                  </a:lnTo>
                  <a:lnTo>
                    <a:pt x="2224615" y="4107802"/>
                  </a:lnTo>
                  <a:lnTo>
                    <a:pt x="2192302" y="4140115"/>
                  </a:lnTo>
                  <a:lnTo>
                    <a:pt x="2156376" y="4168452"/>
                  </a:lnTo>
                  <a:lnTo>
                    <a:pt x="2117200" y="4192450"/>
                  </a:lnTo>
                  <a:lnTo>
                    <a:pt x="2075135" y="4211746"/>
                  </a:lnTo>
                  <a:lnTo>
                    <a:pt x="2030545" y="4225978"/>
                  </a:lnTo>
                  <a:lnTo>
                    <a:pt x="1983793" y="4234784"/>
                  </a:lnTo>
                  <a:lnTo>
                    <a:pt x="1935241" y="4237799"/>
                  </a:lnTo>
                  <a:lnTo>
                    <a:pt x="387057" y="4237799"/>
                  </a:lnTo>
                  <a:lnTo>
                    <a:pt x="338506" y="4234784"/>
                  </a:lnTo>
                  <a:lnTo>
                    <a:pt x="291754" y="4225978"/>
                  </a:lnTo>
                  <a:lnTo>
                    <a:pt x="247164" y="4211746"/>
                  </a:lnTo>
                  <a:lnTo>
                    <a:pt x="205100" y="4192450"/>
                  </a:lnTo>
                  <a:lnTo>
                    <a:pt x="165923" y="4168452"/>
                  </a:lnTo>
                  <a:lnTo>
                    <a:pt x="129997" y="4140115"/>
                  </a:lnTo>
                  <a:lnTo>
                    <a:pt x="97684" y="4107802"/>
                  </a:lnTo>
                  <a:lnTo>
                    <a:pt x="69347" y="4071876"/>
                  </a:lnTo>
                  <a:lnTo>
                    <a:pt x="45349" y="4032699"/>
                  </a:lnTo>
                  <a:lnTo>
                    <a:pt x="26053" y="3990635"/>
                  </a:lnTo>
                  <a:lnTo>
                    <a:pt x="11821" y="3946045"/>
                  </a:lnTo>
                  <a:lnTo>
                    <a:pt x="3015" y="3899293"/>
                  </a:lnTo>
                  <a:lnTo>
                    <a:pt x="0" y="3850742"/>
                  </a:lnTo>
                  <a:lnTo>
                    <a:pt x="0" y="387057"/>
                  </a:lnTo>
                  <a:close/>
                </a:path>
              </a:pathLst>
            </a:custGeom>
            <a:ln w="9524">
              <a:solidFill>
                <a:srgbClr val="35A2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096622" y="1701710"/>
              <a:ext cx="569267" cy="267890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6645740" y="1672490"/>
            <a:ext cx="2042795" cy="33616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0850" marR="278130" indent="56896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1F3764"/>
                </a:solidFill>
                <a:latin typeface="Arial"/>
                <a:cs typeface="Arial"/>
              </a:rPr>
              <a:t>APIs</a:t>
            </a:r>
            <a:r>
              <a:rPr sz="1800" b="1" spc="-20" dirty="0">
                <a:solidFill>
                  <a:srgbClr val="1F3764"/>
                </a:solidFill>
                <a:latin typeface="Arial"/>
                <a:cs typeface="Arial"/>
              </a:rPr>
              <a:t> </a:t>
            </a:r>
            <a:r>
              <a:rPr sz="1800" b="1" spc="-50" dirty="0">
                <a:solidFill>
                  <a:srgbClr val="1F3764"/>
                </a:solidFill>
                <a:latin typeface="Arial"/>
                <a:cs typeface="Arial"/>
              </a:rPr>
              <a:t>&amp; </a:t>
            </a:r>
            <a:r>
              <a:rPr sz="1800" b="1" spc="-10" dirty="0">
                <a:solidFill>
                  <a:srgbClr val="1F3764"/>
                </a:solidFill>
                <a:latin typeface="Arial"/>
                <a:cs typeface="Arial"/>
              </a:rPr>
              <a:t>Services &amp;Data Resources</a:t>
            </a:r>
            <a:endParaRPr sz="1800">
              <a:latin typeface="Arial"/>
              <a:cs typeface="Arial"/>
            </a:endParaRPr>
          </a:p>
          <a:p>
            <a:pPr marL="271145" marR="5080" indent="-259079">
              <a:lnSpc>
                <a:spcPct val="100000"/>
              </a:lnSpc>
              <a:spcBef>
                <a:spcPts val="825"/>
              </a:spcBef>
              <a:buChar char="•"/>
              <a:tabLst>
                <a:tab pos="271145" algn="l"/>
              </a:tabLst>
            </a:pPr>
            <a:r>
              <a:rPr sz="1400" spc="-10" dirty="0">
                <a:latin typeface="Arial MT"/>
                <a:cs typeface="Arial MT"/>
              </a:rPr>
              <a:t>Maps/Geolocation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spc="-25" dirty="0">
                <a:latin typeface="Arial MT"/>
                <a:cs typeface="Arial MT"/>
              </a:rPr>
              <a:t>API </a:t>
            </a:r>
            <a:r>
              <a:rPr sz="1400" dirty="0">
                <a:latin typeface="Arial MT"/>
                <a:cs typeface="Arial MT"/>
              </a:rPr>
              <a:t>(Safe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Route)</a:t>
            </a:r>
            <a:endParaRPr sz="1400">
              <a:latin typeface="Arial MT"/>
              <a:cs typeface="Arial MT"/>
            </a:endParaRPr>
          </a:p>
          <a:p>
            <a:pPr marL="271145" marR="26670" indent="-259079">
              <a:lnSpc>
                <a:spcPct val="100000"/>
              </a:lnSpc>
              <a:buFont typeface="Arial"/>
              <a:buChar char="•"/>
              <a:tabLst>
                <a:tab pos="271145" algn="l"/>
              </a:tabLst>
            </a:pPr>
            <a:r>
              <a:rPr sz="1400" dirty="0">
                <a:latin typeface="Arial MT"/>
                <a:cs typeface="Arial MT"/>
              </a:rPr>
              <a:t>Push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notification/SMS </a:t>
            </a:r>
            <a:r>
              <a:rPr sz="1400" dirty="0">
                <a:latin typeface="Arial MT"/>
                <a:cs typeface="Arial MT"/>
              </a:rPr>
              <a:t>API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(villager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&amp;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spc="-25" dirty="0">
                <a:latin typeface="Arial MT"/>
                <a:cs typeface="Arial MT"/>
              </a:rPr>
              <a:t>RRT </a:t>
            </a:r>
            <a:r>
              <a:rPr sz="1400" spc="-10" dirty="0">
                <a:latin typeface="Arial MT"/>
                <a:cs typeface="Arial MT"/>
              </a:rPr>
              <a:t>alerts)</a:t>
            </a:r>
            <a:endParaRPr sz="1400">
              <a:latin typeface="Arial MT"/>
              <a:cs typeface="Arial MT"/>
            </a:endParaRPr>
          </a:p>
          <a:p>
            <a:pPr marL="269875" marR="410209" indent="-257810" algn="just">
              <a:lnSpc>
                <a:spcPct val="100000"/>
              </a:lnSpc>
              <a:buChar char="•"/>
              <a:tabLst>
                <a:tab pos="271145" algn="l"/>
              </a:tabLst>
            </a:pPr>
            <a:r>
              <a:rPr sz="1400" dirty="0">
                <a:latin typeface="Arial MT"/>
                <a:cs typeface="Arial MT"/>
              </a:rPr>
              <a:t>Thermal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image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spc="-50" dirty="0">
                <a:latin typeface="Arial MT"/>
                <a:cs typeface="Arial MT"/>
              </a:rPr>
              <a:t>&amp; 	</a:t>
            </a:r>
            <a:r>
              <a:rPr sz="1400" spc="-10" dirty="0">
                <a:latin typeface="Arial MT"/>
                <a:cs typeface="Arial MT"/>
              </a:rPr>
              <a:t>animal-detection 	datasets</a:t>
            </a:r>
            <a:endParaRPr sz="1400">
              <a:latin typeface="Arial MT"/>
              <a:cs typeface="Arial MT"/>
            </a:endParaRPr>
          </a:p>
          <a:p>
            <a:pPr marL="269875" marR="124460" indent="-257810" algn="just">
              <a:lnSpc>
                <a:spcPct val="100000"/>
              </a:lnSpc>
              <a:buChar char="•"/>
              <a:tabLst>
                <a:tab pos="271145" algn="l"/>
              </a:tabLst>
            </a:pPr>
            <a:r>
              <a:rPr sz="1400" dirty="0">
                <a:latin typeface="Arial MT"/>
                <a:cs typeface="Arial MT"/>
              </a:rPr>
              <a:t>Forest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Department 	</a:t>
            </a:r>
            <a:r>
              <a:rPr sz="1400" dirty="0">
                <a:latin typeface="Arial MT"/>
                <a:cs typeface="Arial MT"/>
              </a:rPr>
              <a:t>incident/hotspot</a:t>
            </a:r>
            <a:r>
              <a:rPr sz="1400" spc="-80" dirty="0">
                <a:latin typeface="Arial MT"/>
                <a:cs typeface="Arial MT"/>
              </a:rPr>
              <a:t> </a:t>
            </a:r>
            <a:r>
              <a:rPr sz="1400" spc="-20" dirty="0">
                <a:latin typeface="Arial MT"/>
                <a:cs typeface="Arial MT"/>
              </a:rPr>
              <a:t>data</a:t>
            </a:r>
            <a:endParaRPr sz="1400">
              <a:latin typeface="Arial MT"/>
              <a:cs typeface="Arial MT"/>
            </a:endParaRPr>
          </a:p>
        </p:txBody>
      </p:sp>
      <p:pic>
        <p:nvPicPr>
          <p:cNvPr id="19" name="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794425" y="1886051"/>
            <a:ext cx="284633" cy="267890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2781725" y="1856831"/>
            <a:ext cx="13385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47345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102C57"/>
                </a:solidFill>
                <a:latin typeface="Arial"/>
                <a:cs typeface="Arial"/>
              </a:rPr>
              <a:t>Software </a:t>
            </a:r>
            <a:r>
              <a:rPr sz="1800" b="1" dirty="0">
                <a:solidFill>
                  <a:srgbClr val="102C57"/>
                </a:solidFill>
                <a:latin typeface="Arial"/>
                <a:cs typeface="Arial"/>
              </a:rPr>
              <a:t>&amp;</a:t>
            </a:r>
            <a:r>
              <a:rPr sz="1800" b="1" spc="-25" dirty="0">
                <a:solidFill>
                  <a:srgbClr val="102C57"/>
                </a:solidFill>
                <a:latin typeface="Arial"/>
                <a:cs typeface="Arial"/>
              </a:rPr>
              <a:t> </a:t>
            </a:r>
            <a:r>
              <a:rPr sz="1800" b="1" spc="-20" dirty="0">
                <a:solidFill>
                  <a:srgbClr val="102C57"/>
                </a:solidFill>
                <a:latin typeface="Arial"/>
                <a:cs typeface="Arial"/>
              </a:rPr>
              <a:t>Tools</a:t>
            </a:r>
            <a:endParaRPr sz="1800">
              <a:latin typeface="Arial"/>
              <a:cs typeface="Arial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spc="-25" dirty="0"/>
              <a:t>37</a:t>
            </a:fld>
            <a:endParaRPr spc="-25" dirty="0"/>
          </a:p>
        </p:txBody>
      </p:sp>
      <p:sp>
        <p:nvSpPr>
          <p:cNvPr id="22" name="object 22"/>
          <p:cNvSpPr txBox="1"/>
          <p:nvPr/>
        </p:nvSpPr>
        <p:spPr>
          <a:xfrm>
            <a:off x="1164095" y="6488122"/>
            <a:ext cx="87630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spc="-25" dirty="0">
                <a:solidFill>
                  <a:srgbClr val="ED7D31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lang="en-US" smtClean="0"/>
              <a:t>CCD415 Project Phase I</a:t>
            </a:r>
            <a:endParaRPr spc="-50" dirty="0"/>
          </a:p>
        </p:txBody>
      </p:sp>
      <p:sp>
        <p:nvSpPr>
          <p:cNvPr id="24" name="object 2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spc="-10" dirty="0"/>
              <a:t>2023-</a:t>
            </a:r>
            <a:r>
              <a:rPr dirty="0"/>
              <a:t>2027</a:t>
            </a:r>
            <a:r>
              <a:rPr spc="-5" dirty="0"/>
              <a:t> </a:t>
            </a:r>
            <a:r>
              <a:rPr spc="-10" dirty="0"/>
              <a:t>Batch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spc="-25" dirty="0"/>
              <a:t>38</a:t>
            </a:fld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1164095" y="6488122"/>
            <a:ext cx="87630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spc="-25" dirty="0">
                <a:solidFill>
                  <a:srgbClr val="ED7D31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lang="en-US" smtClean="0"/>
              <a:t>CCD415 Project Phase I</a:t>
            </a:r>
            <a:endParaRPr spc="-50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spc="-10" dirty="0"/>
              <a:t>2023-</a:t>
            </a:r>
            <a:r>
              <a:rPr dirty="0"/>
              <a:t>2027</a:t>
            </a:r>
            <a:r>
              <a:rPr spc="-5" dirty="0"/>
              <a:t> </a:t>
            </a:r>
            <a:r>
              <a:rPr spc="-10" dirty="0"/>
              <a:t>Batch</a:t>
            </a: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754082" y="408856"/>
            <a:ext cx="381254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CONCLUSION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1420" y="1555820"/>
            <a:ext cx="8590915" cy="3429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2885" marR="404495" indent="-21018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24154" algn="l"/>
              </a:tabLst>
            </a:pPr>
            <a:r>
              <a:rPr sz="1900" spc="-25" dirty="0">
                <a:latin typeface="Times New Roman"/>
                <a:cs typeface="Times New Roman"/>
              </a:rPr>
              <a:t>WILDGUARD-</a:t>
            </a:r>
            <a:r>
              <a:rPr sz="1900" dirty="0">
                <a:latin typeface="Times New Roman"/>
                <a:cs typeface="Times New Roman"/>
              </a:rPr>
              <a:t>X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shifts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wildlife-intrusion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response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from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reactive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to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preventive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spc="-25" dirty="0">
                <a:latin typeface="Times New Roman"/>
                <a:cs typeface="Times New Roman"/>
              </a:rPr>
              <a:t>by 	</a:t>
            </a:r>
            <a:r>
              <a:rPr sz="1900" dirty="0">
                <a:latin typeface="Times New Roman"/>
                <a:cs typeface="Times New Roman"/>
              </a:rPr>
              <a:t>combining</a:t>
            </a:r>
            <a:r>
              <a:rPr sz="1900" spc="-1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thermal</a:t>
            </a:r>
            <a:r>
              <a:rPr sz="1900" spc="-1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sensing,</a:t>
            </a:r>
            <a:r>
              <a:rPr sz="1900" spc="-114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AI</a:t>
            </a:r>
            <a:r>
              <a:rPr sz="1900" spc="-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verification,</a:t>
            </a:r>
            <a:r>
              <a:rPr sz="1900" spc="-1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and</a:t>
            </a:r>
            <a:r>
              <a:rPr sz="1900" spc="-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risk-based</a:t>
            </a:r>
            <a:r>
              <a:rPr sz="1900" spc="-10" dirty="0">
                <a:latin typeface="Times New Roman"/>
                <a:cs typeface="Times New Roman"/>
              </a:rPr>
              <a:t> prioritization.</a:t>
            </a:r>
            <a:endParaRPr sz="1900">
              <a:latin typeface="Times New Roman"/>
              <a:cs typeface="Times New Roman"/>
            </a:endParaRPr>
          </a:p>
          <a:p>
            <a:pPr marL="222885" marR="220345" indent="-210185">
              <a:lnSpc>
                <a:spcPct val="100000"/>
              </a:lnSpc>
              <a:spcBef>
                <a:spcPts val="1000"/>
              </a:spcBef>
              <a:buFont typeface="Arial MT"/>
              <a:buChar char="•"/>
              <a:tabLst>
                <a:tab pos="224154" algn="l"/>
              </a:tabLst>
            </a:pPr>
            <a:r>
              <a:rPr sz="1900" dirty="0">
                <a:latin typeface="Times New Roman"/>
                <a:cs typeface="Times New Roman"/>
              </a:rPr>
              <a:t>It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reduces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unnecessary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spc="-35" dirty="0">
                <a:latin typeface="Times New Roman"/>
                <a:cs typeface="Times New Roman"/>
              </a:rPr>
              <a:t>RRT</a:t>
            </a:r>
            <a:r>
              <a:rPr sz="1900" spc="-6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deployments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and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response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delays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while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giving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villagers 	</a:t>
            </a:r>
            <a:r>
              <a:rPr sz="1900" dirty="0">
                <a:latin typeface="Times New Roman"/>
                <a:cs typeface="Times New Roman"/>
              </a:rPr>
              <a:t>earlier,</a:t>
            </a:r>
            <a:r>
              <a:rPr sz="1900" spc="-4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location-</a:t>
            </a:r>
            <a:r>
              <a:rPr sz="1900" dirty="0">
                <a:latin typeface="Times New Roman"/>
                <a:cs typeface="Times New Roman"/>
              </a:rPr>
              <a:t>specific</a:t>
            </a:r>
            <a:r>
              <a:rPr sz="1900" spc="-3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warnings.</a:t>
            </a:r>
            <a:endParaRPr sz="1900">
              <a:latin typeface="Times New Roman"/>
              <a:cs typeface="Times New Roman"/>
            </a:endParaRPr>
          </a:p>
          <a:p>
            <a:pPr marL="222885" marR="746760" indent="-210185">
              <a:lnSpc>
                <a:spcPct val="100000"/>
              </a:lnSpc>
              <a:spcBef>
                <a:spcPts val="1000"/>
              </a:spcBef>
              <a:buFont typeface="Arial MT"/>
              <a:buChar char="•"/>
              <a:tabLst>
                <a:tab pos="224154" algn="l"/>
              </a:tabLst>
            </a:pPr>
            <a:r>
              <a:rPr sz="1900" dirty="0">
                <a:latin typeface="Times New Roman"/>
                <a:cs typeface="Times New Roman"/>
              </a:rPr>
              <a:t>Safe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Route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guidance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and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automated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non-</a:t>
            </a:r>
            <a:r>
              <a:rPr sz="1900" dirty="0">
                <a:latin typeface="Times New Roman"/>
                <a:cs typeface="Times New Roman"/>
              </a:rPr>
              <a:t>lethal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deterrents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add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further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layer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spc="-25" dirty="0">
                <a:latin typeface="Times New Roman"/>
                <a:cs typeface="Times New Roman"/>
              </a:rPr>
              <a:t>of 	</a:t>
            </a:r>
            <a:r>
              <a:rPr sz="1900" dirty="0">
                <a:latin typeface="Times New Roman"/>
                <a:cs typeface="Times New Roman"/>
              </a:rPr>
              <a:t>protection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before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the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spc="-35" dirty="0">
                <a:latin typeface="Times New Roman"/>
                <a:cs typeface="Times New Roman"/>
              </a:rPr>
              <a:t>RRT</a:t>
            </a:r>
            <a:r>
              <a:rPr sz="1900" spc="-5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even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arrives.</a:t>
            </a:r>
            <a:endParaRPr sz="1900">
              <a:latin typeface="Times New Roman"/>
              <a:cs typeface="Times New Roman"/>
            </a:endParaRPr>
          </a:p>
          <a:p>
            <a:pPr marL="222885" marR="616585" indent="-210185">
              <a:lnSpc>
                <a:spcPct val="100000"/>
              </a:lnSpc>
              <a:spcBef>
                <a:spcPts val="1000"/>
              </a:spcBef>
              <a:buFont typeface="Arial MT"/>
              <a:buChar char="•"/>
              <a:tabLst>
                <a:tab pos="224154" algn="l"/>
              </a:tabLst>
            </a:pPr>
            <a:r>
              <a:rPr sz="1900" dirty="0">
                <a:latin typeface="Times New Roman"/>
                <a:cs typeface="Times New Roman"/>
              </a:rPr>
              <a:t>Continuous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incident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logging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supports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long-</a:t>
            </a:r>
            <a:r>
              <a:rPr sz="1900" dirty="0">
                <a:latin typeface="Times New Roman"/>
                <a:cs typeface="Times New Roman"/>
              </a:rPr>
              <a:t>term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hotspot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analysis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and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prevention 	planning.</a:t>
            </a:r>
            <a:endParaRPr sz="1900">
              <a:latin typeface="Times New Roman"/>
              <a:cs typeface="Times New Roman"/>
            </a:endParaRPr>
          </a:p>
          <a:p>
            <a:pPr marL="222885" marR="5080" indent="-210185">
              <a:lnSpc>
                <a:spcPct val="100000"/>
              </a:lnSpc>
              <a:spcBef>
                <a:spcPts val="1000"/>
              </a:spcBef>
              <a:buFont typeface="Arial MT"/>
              <a:buChar char="•"/>
              <a:tabLst>
                <a:tab pos="224154" algn="l"/>
              </a:tabLst>
            </a:pPr>
            <a:r>
              <a:rPr sz="1900" dirty="0">
                <a:latin typeface="Times New Roman"/>
                <a:cs typeface="Times New Roman"/>
              </a:rPr>
              <a:t>Overall,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the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system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aims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to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make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human-</a:t>
            </a:r>
            <a:r>
              <a:rPr sz="1900" dirty="0">
                <a:latin typeface="Times New Roman"/>
                <a:cs typeface="Times New Roman"/>
              </a:rPr>
              <a:t>wildlife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conflict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management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faster,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cheaper, 	</a:t>
            </a:r>
            <a:r>
              <a:rPr sz="1900" dirty="0">
                <a:latin typeface="Times New Roman"/>
                <a:cs typeface="Times New Roman"/>
              </a:rPr>
              <a:t>and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safer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for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both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villagers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and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response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teams.</a:t>
            </a:r>
            <a:endParaRPr sz="19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spc="-25" dirty="0"/>
              <a:t>39</a:t>
            </a:fld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1164095" y="6488122"/>
            <a:ext cx="87630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spc="-25" dirty="0">
                <a:solidFill>
                  <a:srgbClr val="ED7D31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lang="en-US" smtClean="0"/>
              <a:t>CCD415 Project Phase I</a:t>
            </a:r>
            <a:endParaRPr spc="-50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spc="-10" dirty="0"/>
              <a:t>2023-</a:t>
            </a:r>
            <a:r>
              <a:rPr dirty="0"/>
              <a:t>2027</a:t>
            </a:r>
            <a:r>
              <a:rPr spc="-5" dirty="0"/>
              <a:t> </a:t>
            </a:r>
            <a:r>
              <a:rPr spc="-10" dirty="0"/>
              <a:t>Batch</a:t>
            </a: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769496" y="408856"/>
            <a:ext cx="378206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REFERENCES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9014" y="1228650"/>
            <a:ext cx="8105140" cy="4030979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700" marR="66675" algn="just">
              <a:lnSpc>
                <a:spcPct val="80000"/>
              </a:lnSpc>
              <a:spcBef>
                <a:spcPts val="530"/>
              </a:spcBef>
            </a:pPr>
            <a:r>
              <a:rPr sz="1800" b="1" dirty="0">
                <a:solidFill>
                  <a:srgbClr val="0C0C0C"/>
                </a:solidFill>
                <a:latin typeface="Times New Roman"/>
                <a:cs typeface="Times New Roman"/>
              </a:rPr>
              <a:t>[1]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R.</a:t>
            </a:r>
            <a:r>
              <a:rPr sz="1800" spc="484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Jayadevan,</a:t>
            </a:r>
            <a:r>
              <a:rPr sz="1800" spc="49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S.</a:t>
            </a:r>
            <a:r>
              <a:rPr sz="1800" spc="484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M.</a:t>
            </a:r>
            <a:r>
              <a:rPr sz="1800" spc="49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Sebastian,</a:t>
            </a:r>
            <a:r>
              <a:rPr sz="1800" spc="39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A.</a:t>
            </a:r>
            <a:r>
              <a:rPr sz="1800" spc="484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Goutham,</a:t>
            </a:r>
            <a:r>
              <a:rPr sz="1800" spc="49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S.</a:t>
            </a:r>
            <a:r>
              <a:rPr sz="1800" spc="484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KV,</a:t>
            </a:r>
            <a:r>
              <a:rPr sz="1800" spc="49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S.</a:t>
            </a:r>
            <a:r>
              <a:rPr sz="1800" spc="45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T,</a:t>
            </a:r>
            <a:r>
              <a:rPr sz="1800" spc="49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and</a:t>
            </a:r>
            <a:r>
              <a:rPr sz="1800" spc="39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A.</a:t>
            </a:r>
            <a:r>
              <a:rPr sz="1800" spc="39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303030"/>
                </a:solidFill>
                <a:latin typeface="Times New Roman"/>
                <a:cs typeface="Times New Roman"/>
              </a:rPr>
              <a:t>Ananthan, "Edge-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Based,</a:t>
            </a:r>
            <a:r>
              <a:rPr sz="1800" spc="-6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303030"/>
                </a:solidFill>
                <a:latin typeface="Times New Roman"/>
                <a:cs typeface="Times New Roman"/>
              </a:rPr>
              <a:t>Power-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Efficient</a:t>
            </a:r>
            <a:r>
              <a:rPr sz="1800" spc="-3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303030"/>
                </a:solidFill>
                <a:latin typeface="Times New Roman"/>
                <a:cs typeface="Times New Roman"/>
              </a:rPr>
              <a:t>Real-</a:t>
            </a:r>
            <a:r>
              <a:rPr sz="1800" spc="-10" dirty="0">
                <a:solidFill>
                  <a:srgbClr val="303030"/>
                </a:solidFill>
                <a:latin typeface="Times New Roman"/>
                <a:cs typeface="Times New Roman"/>
              </a:rPr>
              <a:t>Time</a:t>
            </a:r>
            <a:r>
              <a:rPr sz="1800" spc="-6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303030"/>
                </a:solidFill>
                <a:latin typeface="Times New Roman"/>
                <a:cs typeface="Times New Roman"/>
              </a:rPr>
              <a:t>Wild</a:t>
            </a:r>
            <a:r>
              <a:rPr sz="1800" spc="-9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Animal</a:t>
            </a:r>
            <a:r>
              <a:rPr sz="1800" spc="-3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Detection</a:t>
            </a:r>
            <a:r>
              <a:rPr sz="1800" spc="-3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and</a:t>
            </a:r>
            <a:r>
              <a:rPr sz="1800" spc="-11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Alarm</a:t>
            </a:r>
            <a:r>
              <a:rPr sz="1800" spc="-3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System</a:t>
            </a:r>
            <a:r>
              <a:rPr sz="1800" spc="-3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303030"/>
                </a:solidFill>
                <a:latin typeface="Times New Roman"/>
                <a:cs typeface="Times New Roman"/>
              </a:rPr>
              <a:t>on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Raspberry</a:t>
            </a:r>
            <a:r>
              <a:rPr sz="1800" spc="-4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Pi</a:t>
            </a:r>
            <a:r>
              <a:rPr sz="1800" spc="-2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Using</a:t>
            </a:r>
            <a:r>
              <a:rPr sz="1800" spc="-9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303030"/>
                </a:solidFill>
                <a:latin typeface="Times New Roman"/>
                <a:cs typeface="Times New Roman"/>
              </a:rPr>
              <a:t>YOLO</a:t>
            </a:r>
            <a:r>
              <a:rPr sz="1800" spc="-10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303030"/>
                </a:solidFill>
                <a:latin typeface="Times New Roman"/>
                <a:cs typeface="Times New Roman"/>
              </a:rPr>
              <a:t>Architecture,"</a:t>
            </a:r>
            <a:r>
              <a:rPr sz="1800" spc="-2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303030"/>
                </a:solidFill>
                <a:latin typeface="Times New Roman"/>
                <a:cs typeface="Times New Roman"/>
              </a:rPr>
              <a:t>2025</a:t>
            </a:r>
            <a:endParaRPr sz="1800">
              <a:latin typeface="Times New Roman"/>
              <a:cs typeface="Times New Roman"/>
            </a:endParaRPr>
          </a:p>
          <a:p>
            <a:pPr marL="12700" marR="11430" algn="just">
              <a:lnSpc>
                <a:spcPct val="80000"/>
              </a:lnSpc>
              <a:spcBef>
                <a:spcPts val="1730"/>
              </a:spcBef>
            </a:pPr>
            <a:r>
              <a:rPr sz="1800" b="1" dirty="0">
                <a:solidFill>
                  <a:srgbClr val="0C0C0C"/>
                </a:solidFill>
                <a:latin typeface="Times New Roman"/>
                <a:cs typeface="Times New Roman"/>
              </a:rPr>
              <a:t>[2]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S.</a:t>
            </a:r>
            <a:r>
              <a:rPr sz="1800" spc="8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Naveen,</a:t>
            </a:r>
            <a:r>
              <a:rPr sz="1800" spc="8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R.</a:t>
            </a:r>
            <a:r>
              <a:rPr sz="1800" spc="8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Dhamotharan,</a:t>
            </a:r>
            <a:r>
              <a:rPr sz="1800" spc="8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et</a:t>
            </a:r>
            <a:r>
              <a:rPr sz="1800" spc="8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al.,</a:t>
            </a:r>
            <a:r>
              <a:rPr sz="1800" spc="8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303030"/>
                </a:solidFill>
                <a:latin typeface="Times New Roman"/>
                <a:cs typeface="Times New Roman"/>
              </a:rPr>
              <a:t>"ElephantGuardNet:</a:t>
            </a:r>
            <a:r>
              <a:rPr sz="1800" spc="-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A</a:t>
            </a:r>
            <a:r>
              <a:rPr sz="1800" spc="-1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Comprehensive</a:t>
            </a:r>
            <a:r>
              <a:rPr sz="1800" spc="8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303030"/>
                </a:solidFill>
                <a:latin typeface="Times New Roman"/>
                <a:cs typeface="Times New Roman"/>
              </a:rPr>
              <a:t>Solution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for</a:t>
            </a:r>
            <a:r>
              <a:rPr sz="1800" spc="15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Elephant</a:t>
            </a:r>
            <a:r>
              <a:rPr sz="1800" spc="15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Conservation</a:t>
            </a:r>
            <a:r>
              <a:rPr sz="1800" spc="15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and</a:t>
            </a:r>
            <a:r>
              <a:rPr sz="1800" spc="16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303030"/>
                </a:solidFill>
                <a:latin typeface="Times New Roman"/>
                <a:cs typeface="Times New Roman"/>
              </a:rPr>
              <a:t>Human-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Elephant</a:t>
            </a:r>
            <a:r>
              <a:rPr sz="1800" spc="15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Conflict</a:t>
            </a:r>
            <a:r>
              <a:rPr sz="1800" spc="15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Reduction,"</a:t>
            </a:r>
            <a:r>
              <a:rPr sz="1800" spc="16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Proc.</a:t>
            </a:r>
            <a:r>
              <a:rPr sz="1800" spc="15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303030"/>
                </a:solidFill>
                <a:latin typeface="Times New Roman"/>
                <a:cs typeface="Times New Roman"/>
              </a:rPr>
              <a:t>ICSADL,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ts val="1730"/>
              </a:lnSpc>
            </a:pP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pp. 1470–1477, </a:t>
            </a:r>
            <a:r>
              <a:rPr sz="1800" spc="-10" dirty="0">
                <a:solidFill>
                  <a:srgbClr val="303030"/>
                </a:solidFill>
                <a:latin typeface="Times New Roman"/>
                <a:cs typeface="Times New Roman"/>
              </a:rPr>
              <a:t>2025.</a:t>
            </a:r>
            <a:endParaRPr sz="1800">
              <a:latin typeface="Times New Roman"/>
              <a:cs typeface="Times New Roman"/>
            </a:endParaRPr>
          </a:p>
          <a:p>
            <a:pPr marL="12700" marR="20320" algn="just">
              <a:lnSpc>
                <a:spcPct val="80000"/>
              </a:lnSpc>
              <a:spcBef>
                <a:spcPts val="1725"/>
              </a:spcBef>
            </a:pPr>
            <a:r>
              <a:rPr sz="1800" b="1" dirty="0">
                <a:latin typeface="Times New Roman"/>
                <a:cs typeface="Times New Roman"/>
              </a:rPr>
              <a:t>[3]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D.</a:t>
            </a:r>
            <a:r>
              <a:rPr sz="1800" spc="8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Ma</a:t>
            </a:r>
            <a:r>
              <a:rPr sz="1800" spc="9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and</a:t>
            </a:r>
            <a:r>
              <a:rPr sz="1800" spc="9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J.</a:t>
            </a:r>
            <a:r>
              <a:rPr sz="1800" spc="3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Yang,</a:t>
            </a:r>
            <a:r>
              <a:rPr sz="1800" spc="8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303030"/>
                </a:solidFill>
                <a:latin typeface="Times New Roman"/>
                <a:cs typeface="Times New Roman"/>
              </a:rPr>
              <a:t>"YOLO-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Animal: An</a:t>
            </a:r>
            <a:r>
              <a:rPr sz="1800" spc="9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efficient</a:t>
            </a:r>
            <a:r>
              <a:rPr sz="1800" spc="9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wildlife</a:t>
            </a:r>
            <a:r>
              <a:rPr sz="1800" spc="8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detection</a:t>
            </a:r>
            <a:r>
              <a:rPr sz="1800" spc="9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network</a:t>
            </a:r>
            <a:r>
              <a:rPr sz="1800" spc="9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303030"/>
                </a:solidFill>
                <a:latin typeface="Times New Roman"/>
                <a:cs typeface="Times New Roman"/>
              </a:rPr>
              <a:t>based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on</a:t>
            </a:r>
            <a:r>
              <a:rPr sz="1800" spc="44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improved</a:t>
            </a:r>
            <a:r>
              <a:rPr sz="1800" spc="38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YOLOv5,"</a:t>
            </a:r>
            <a:r>
              <a:rPr sz="1800" spc="44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International</a:t>
            </a:r>
            <a:r>
              <a:rPr sz="1800" spc="44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Conference</a:t>
            </a:r>
            <a:r>
              <a:rPr sz="1800" spc="44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on</a:t>
            </a:r>
            <a:r>
              <a:rPr sz="1800" spc="44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Image</a:t>
            </a:r>
            <a:r>
              <a:rPr sz="1800" spc="44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Processing,</a:t>
            </a:r>
            <a:r>
              <a:rPr sz="1800" spc="44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303030"/>
                </a:solidFill>
                <a:latin typeface="Times New Roman"/>
                <a:cs typeface="Times New Roman"/>
              </a:rPr>
              <a:t>Computer Vision</a:t>
            </a:r>
            <a:r>
              <a:rPr sz="1800" spc="-7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and</a:t>
            </a:r>
            <a:r>
              <a:rPr sz="1800" spc="-6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Machine</a:t>
            </a:r>
            <a:r>
              <a:rPr sz="1800" spc="-7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Learning</a:t>
            </a:r>
            <a:r>
              <a:rPr sz="1800" spc="-6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(ICICML),</a:t>
            </a:r>
            <a:r>
              <a:rPr sz="1800" spc="-6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303030"/>
                </a:solidFill>
                <a:latin typeface="Times New Roman"/>
                <a:cs typeface="Times New Roman"/>
              </a:rPr>
              <a:t>2022</a:t>
            </a:r>
            <a:endParaRPr sz="1800">
              <a:latin typeface="Times New Roman"/>
              <a:cs typeface="Times New Roman"/>
            </a:endParaRPr>
          </a:p>
          <a:p>
            <a:pPr marL="12700" marR="81280" algn="just">
              <a:lnSpc>
                <a:spcPct val="80000"/>
              </a:lnSpc>
              <a:spcBef>
                <a:spcPts val="1730"/>
              </a:spcBef>
            </a:pPr>
            <a:r>
              <a:rPr sz="1800" b="1" dirty="0">
                <a:solidFill>
                  <a:srgbClr val="303030"/>
                </a:solidFill>
                <a:latin typeface="Times New Roman"/>
                <a:cs typeface="Times New Roman"/>
              </a:rPr>
              <a:t>[4]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V.</a:t>
            </a:r>
            <a:r>
              <a:rPr sz="1800" spc="19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Bharati,</a:t>
            </a:r>
            <a:r>
              <a:rPr sz="1800" spc="21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"A</a:t>
            </a:r>
            <a:r>
              <a:rPr sz="1800" spc="12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Deep</a:t>
            </a:r>
            <a:r>
              <a:rPr sz="1800" spc="21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Neural</a:t>
            </a:r>
            <a:r>
              <a:rPr sz="1800" spc="204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Network</a:t>
            </a:r>
            <a:r>
              <a:rPr sz="1800" spc="21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Machine</a:t>
            </a:r>
            <a:r>
              <a:rPr sz="1800" spc="17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Vision</a:t>
            </a:r>
            <a:r>
              <a:rPr sz="1800" spc="12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Application</a:t>
            </a:r>
            <a:r>
              <a:rPr sz="1800" spc="21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for</a:t>
            </a:r>
            <a:r>
              <a:rPr sz="1800" spc="21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303030"/>
                </a:solidFill>
                <a:latin typeface="Times New Roman"/>
                <a:cs typeface="Times New Roman"/>
              </a:rPr>
              <a:t>Preventing </a:t>
            </a:r>
            <a:r>
              <a:rPr sz="1800" spc="-25" dirty="0">
                <a:solidFill>
                  <a:srgbClr val="303030"/>
                </a:solidFill>
                <a:latin typeface="Times New Roman"/>
                <a:cs typeface="Times New Roman"/>
              </a:rPr>
              <a:t>Wildlife-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Human</a:t>
            </a:r>
            <a:r>
              <a:rPr sz="1800" spc="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303030"/>
                </a:solidFill>
                <a:latin typeface="Times New Roman"/>
                <a:cs typeface="Times New Roman"/>
              </a:rPr>
              <a:t>Conflicts,"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303030"/>
                </a:solidFill>
                <a:latin typeface="Times New Roman"/>
                <a:cs typeface="Times New Roman"/>
              </a:rPr>
              <a:t>2021</a:t>
            </a:r>
            <a:endParaRPr sz="1800">
              <a:latin typeface="Times New Roman"/>
              <a:cs typeface="Times New Roman"/>
            </a:endParaRPr>
          </a:p>
          <a:p>
            <a:pPr marL="12700" marR="5080" algn="just">
              <a:lnSpc>
                <a:spcPts val="1730"/>
              </a:lnSpc>
              <a:spcBef>
                <a:spcPts val="1710"/>
              </a:spcBef>
            </a:pPr>
            <a:r>
              <a:rPr sz="1700" b="1" dirty="0">
                <a:latin typeface="Arial"/>
                <a:cs typeface="Arial"/>
              </a:rPr>
              <a:t>[5]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S.</a:t>
            </a:r>
            <a:r>
              <a:rPr sz="1800" spc="210" dirty="0">
                <a:solidFill>
                  <a:srgbClr val="303030"/>
                </a:solidFill>
                <a:latin typeface="Times New Roman"/>
                <a:cs typeface="Times New Roman"/>
              </a:rPr>
              <a:t> 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Gunasekara,</a:t>
            </a:r>
            <a:r>
              <a:rPr sz="1800" spc="215" dirty="0">
                <a:solidFill>
                  <a:srgbClr val="303030"/>
                </a:solidFill>
                <a:latin typeface="Times New Roman"/>
                <a:cs typeface="Times New Roman"/>
              </a:rPr>
              <a:t> 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M.</a:t>
            </a:r>
            <a:r>
              <a:rPr sz="1800" spc="215" dirty="0">
                <a:solidFill>
                  <a:srgbClr val="303030"/>
                </a:solidFill>
                <a:latin typeface="Times New Roman"/>
                <a:cs typeface="Times New Roman"/>
              </a:rPr>
              <a:t> 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Jayasuriya,</a:t>
            </a:r>
            <a:r>
              <a:rPr sz="1800" spc="215" dirty="0">
                <a:solidFill>
                  <a:srgbClr val="303030"/>
                </a:solidFill>
                <a:latin typeface="Times New Roman"/>
                <a:cs typeface="Times New Roman"/>
              </a:rPr>
              <a:t> 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N.</a:t>
            </a:r>
            <a:r>
              <a:rPr sz="1800" spc="210" dirty="0">
                <a:solidFill>
                  <a:srgbClr val="303030"/>
                </a:solidFill>
                <a:latin typeface="Times New Roman"/>
                <a:cs typeface="Times New Roman"/>
              </a:rPr>
              <a:t> 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Harischandra,</a:t>
            </a:r>
            <a:r>
              <a:rPr sz="1800" spc="215" dirty="0">
                <a:solidFill>
                  <a:srgbClr val="303030"/>
                </a:solidFill>
                <a:latin typeface="Times New Roman"/>
                <a:cs typeface="Times New Roman"/>
              </a:rPr>
              <a:t> 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L.</a:t>
            </a:r>
            <a:r>
              <a:rPr sz="1800" spc="215" dirty="0">
                <a:solidFill>
                  <a:srgbClr val="303030"/>
                </a:solidFill>
                <a:latin typeface="Times New Roman"/>
                <a:cs typeface="Times New Roman"/>
              </a:rPr>
              <a:t> 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Samaranayake,</a:t>
            </a:r>
            <a:r>
              <a:rPr sz="1800" spc="215" dirty="0">
                <a:solidFill>
                  <a:srgbClr val="303030"/>
                </a:solidFill>
                <a:latin typeface="Times New Roman"/>
                <a:cs typeface="Times New Roman"/>
              </a:rPr>
              <a:t> 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and</a:t>
            </a:r>
            <a:r>
              <a:rPr sz="1800" spc="210" dirty="0">
                <a:solidFill>
                  <a:srgbClr val="303030"/>
                </a:solidFill>
                <a:latin typeface="Times New Roman"/>
                <a:cs typeface="Times New Roman"/>
              </a:rPr>
              <a:t>  </a:t>
            </a:r>
            <a:r>
              <a:rPr sz="1800" spc="-25" dirty="0">
                <a:solidFill>
                  <a:srgbClr val="303030"/>
                </a:solidFill>
                <a:latin typeface="Times New Roman"/>
                <a:cs typeface="Times New Roman"/>
              </a:rPr>
              <a:t>G.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Dissanayake,</a:t>
            </a:r>
            <a:r>
              <a:rPr sz="1800" spc="25" dirty="0">
                <a:solidFill>
                  <a:srgbClr val="303030"/>
                </a:solidFill>
                <a:latin typeface="Times New Roman"/>
                <a:cs typeface="Times New Roman"/>
              </a:rPr>
              <a:t> 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"A</a:t>
            </a:r>
            <a:r>
              <a:rPr sz="1800" spc="409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Convolutional</a:t>
            </a:r>
            <a:r>
              <a:rPr sz="1800" spc="25" dirty="0">
                <a:solidFill>
                  <a:srgbClr val="303030"/>
                </a:solidFill>
                <a:latin typeface="Times New Roman"/>
                <a:cs typeface="Times New Roman"/>
              </a:rPr>
              <a:t> 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Neural</a:t>
            </a:r>
            <a:r>
              <a:rPr sz="1800" spc="25" dirty="0">
                <a:solidFill>
                  <a:srgbClr val="303030"/>
                </a:solidFill>
                <a:latin typeface="Times New Roman"/>
                <a:cs typeface="Times New Roman"/>
              </a:rPr>
              <a:t> 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Network</a:t>
            </a:r>
            <a:r>
              <a:rPr sz="1800" spc="30" dirty="0">
                <a:solidFill>
                  <a:srgbClr val="303030"/>
                </a:solidFill>
                <a:latin typeface="Times New Roman"/>
                <a:cs typeface="Times New Roman"/>
              </a:rPr>
              <a:t> 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Based</a:t>
            </a:r>
            <a:r>
              <a:rPr sz="1800" spc="25" dirty="0">
                <a:solidFill>
                  <a:srgbClr val="303030"/>
                </a:solidFill>
                <a:latin typeface="Times New Roman"/>
                <a:cs typeface="Times New Roman"/>
              </a:rPr>
              <a:t> 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Early</a:t>
            </a:r>
            <a:r>
              <a:rPr sz="1800" spc="47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Warning</a:t>
            </a:r>
            <a:r>
              <a:rPr sz="1800" spc="25" dirty="0">
                <a:solidFill>
                  <a:srgbClr val="303030"/>
                </a:solidFill>
                <a:latin typeface="Times New Roman"/>
                <a:cs typeface="Times New Roman"/>
              </a:rPr>
              <a:t> 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System</a:t>
            </a:r>
            <a:r>
              <a:rPr sz="1800" spc="25" dirty="0">
                <a:solidFill>
                  <a:srgbClr val="303030"/>
                </a:solidFill>
                <a:latin typeface="Times New Roman"/>
                <a:cs typeface="Times New Roman"/>
              </a:rPr>
              <a:t>  </a:t>
            </a:r>
            <a:r>
              <a:rPr sz="1800" spc="-25" dirty="0">
                <a:solidFill>
                  <a:srgbClr val="303030"/>
                </a:solidFill>
                <a:latin typeface="Times New Roman"/>
                <a:cs typeface="Times New Roman"/>
              </a:rPr>
              <a:t>to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Prevent</a:t>
            </a:r>
            <a:r>
              <a:rPr sz="1800" spc="-6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303030"/>
                </a:solidFill>
                <a:latin typeface="Times New Roman"/>
                <a:cs typeface="Times New Roman"/>
              </a:rPr>
              <a:t>Elephant-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Train</a:t>
            </a:r>
            <a:r>
              <a:rPr sz="1800" spc="-5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Collisions,"</a:t>
            </a:r>
            <a:r>
              <a:rPr sz="1800" spc="-6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IEEE,</a:t>
            </a:r>
            <a:r>
              <a:rPr sz="1800" spc="-5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303030"/>
                </a:solidFill>
                <a:latin typeface="Times New Roman"/>
                <a:cs typeface="Times New Roman"/>
              </a:rPr>
              <a:t>2021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spc="-25" dirty="0"/>
              <a:t>40</a:t>
            </a:fld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1164095" y="6488122"/>
            <a:ext cx="87630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spc="-25" dirty="0">
                <a:solidFill>
                  <a:srgbClr val="ED7D31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lang="en-US" smtClean="0"/>
              <a:t>CCD415 Project Phase I</a:t>
            </a:r>
            <a:endParaRPr spc="-50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spc="-10" dirty="0"/>
              <a:t>2023-</a:t>
            </a:r>
            <a:r>
              <a:rPr dirty="0"/>
              <a:t>2027</a:t>
            </a:r>
            <a:r>
              <a:rPr spc="-5" dirty="0"/>
              <a:t> </a:t>
            </a:r>
            <a:r>
              <a:rPr spc="-10" dirty="0"/>
              <a:t>Batch</a:t>
            </a: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769507" y="408925"/>
            <a:ext cx="378206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REFERENCES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0225" y="1779394"/>
            <a:ext cx="8086090" cy="3591560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700" marR="40005" indent="266065" algn="just">
              <a:lnSpc>
                <a:spcPct val="80000"/>
              </a:lnSpc>
              <a:spcBef>
                <a:spcPts val="530"/>
              </a:spcBef>
              <a:buClr>
                <a:srgbClr val="0C0C0C"/>
              </a:buClr>
              <a:buSzPct val="94444"/>
              <a:buFont typeface="Times New Roman"/>
              <a:buAutoNum type="arabicPlain" startAt="6"/>
              <a:tabLst>
                <a:tab pos="278765" algn="l"/>
              </a:tabLst>
            </a:pPr>
            <a:r>
              <a:rPr sz="1800" dirty="0">
                <a:latin typeface="Times New Roman"/>
                <a:cs typeface="Times New Roman"/>
              </a:rPr>
              <a:t>Jayanthi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&amp;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K.V.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Kanimozhi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(2025).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"Enhancing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Identification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Wildlife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via </a:t>
            </a:r>
            <a:r>
              <a:rPr sz="1800" spc="-10" dirty="0">
                <a:latin typeface="Times New Roman"/>
                <a:cs typeface="Times New Roman"/>
              </a:rPr>
              <a:t>Self-</a:t>
            </a:r>
            <a:r>
              <a:rPr sz="1800" dirty="0">
                <a:latin typeface="Times New Roman"/>
                <a:cs typeface="Times New Roman"/>
              </a:rPr>
              <a:t>Supervised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Learning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on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Unlabelled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Camera</a:t>
            </a:r>
            <a:r>
              <a:rPr sz="1800" spc="-8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Trap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Information"</a:t>
            </a:r>
            <a:endParaRPr sz="1800">
              <a:latin typeface="Times New Roman"/>
              <a:cs typeface="Times New Roman"/>
            </a:endParaRPr>
          </a:p>
          <a:p>
            <a:pPr marL="12700" marR="17780" indent="266065" algn="just">
              <a:lnSpc>
                <a:spcPct val="80000"/>
              </a:lnSpc>
              <a:spcBef>
                <a:spcPts val="1730"/>
              </a:spcBef>
              <a:buClr>
                <a:srgbClr val="0C0C0C"/>
              </a:buClr>
              <a:buSzPct val="94444"/>
              <a:buFont typeface="Times New Roman"/>
              <a:buAutoNum type="arabicPlain" startAt="6"/>
              <a:tabLst>
                <a:tab pos="278765" algn="l"/>
              </a:tabLst>
            </a:pPr>
            <a:r>
              <a:rPr sz="1800" dirty="0">
                <a:latin typeface="Times New Roman"/>
                <a:cs typeface="Times New Roman"/>
              </a:rPr>
              <a:t>Supreet</a:t>
            </a:r>
            <a:r>
              <a:rPr sz="1800" spc="2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Parida,</a:t>
            </a:r>
            <a:r>
              <a:rPr sz="1800" spc="20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Suvam</a:t>
            </a:r>
            <a:r>
              <a:rPr sz="1800" spc="2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Nayak,</a:t>
            </a:r>
            <a:r>
              <a:rPr sz="1800" spc="1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Anjana</a:t>
            </a:r>
            <a:r>
              <a:rPr sz="1800" spc="20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Mishra,</a:t>
            </a:r>
            <a:r>
              <a:rPr sz="1800" spc="20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Nilamadhab</a:t>
            </a:r>
            <a:r>
              <a:rPr sz="1800" spc="20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Mishra,</a:t>
            </a:r>
            <a:r>
              <a:rPr sz="1800" spc="20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Bibhu</a:t>
            </a:r>
            <a:r>
              <a:rPr sz="1800" spc="204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Prasad </a:t>
            </a:r>
            <a:r>
              <a:rPr sz="1800" dirty="0">
                <a:latin typeface="Times New Roman"/>
                <a:cs typeface="Times New Roman"/>
              </a:rPr>
              <a:t>Sahoo,</a:t>
            </a:r>
            <a:r>
              <a:rPr sz="1800" spc="28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&amp;</a:t>
            </a:r>
            <a:r>
              <a:rPr sz="1800" spc="28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Bhabani</a:t>
            </a:r>
            <a:r>
              <a:rPr sz="1800" spc="28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Sankar</a:t>
            </a:r>
            <a:r>
              <a:rPr sz="1800" spc="29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Panda</a:t>
            </a:r>
            <a:r>
              <a:rPr sz="1800" spc="28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(2024).</a:t>
            </a:r>
            <a:r>
              <a:rPr sz="1800" spc="28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“Recognizing</a:t>
            </a:r>
            <a:r>
              <a:rPr sz="1800" spc="25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Wild</a:t>
            </a:r>
            <a:r>
              <a:rPr sz="1800" spc="19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Animals</a:t>
            </a:r>
            <a:r>
              <a:rPr sz="1800" spc="29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from</a:t>
            </a:r>
            <a:r>
              <a:rPr sz="1800" spc="28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Camera </a:t>
            </a:r>
            <a:r>
              <a:rPr sz="1800" dirty="0">
                <a:latin typeface="Times New Roman"/>
                <a:cs typeface="Times New Roman"/>
              </a:rPr>
              <a:t>Trap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Images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Using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Deep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Learning”.</a:t>
            </a:r>
            <a:endParaRPr sz="1800">
              <a:latin typeface="Times New Roman"/>
              <a:cs typeface="Times New Roman"/>
            </a:endParaRPr>
          </a:p>
          <a:p>
            <a:pPr marL="12700" marR="70485" indent="266065" algn="just">
              <a:lnSpc>
                <a:spcPct val="80000"/>
              </a:lnSpc>
              <a:spcBef>
                <a:spcPts val="1725"/>
              </a:spcBef>
              <a:buClr>
                <a:srgbClr val="0C0C0C"/>
              </a:buClr>
              <a:buSzPct val="94444"/>
              <a:buFont typeface="Times New Roman"/>
              <a:buAutoNum type="arabicPlain" startAt="6"/>
              <a:tabLst>
                <a:tab pos="278765" algn="l"/>
              </a:tabLst>
            </a:pPr>
            <a:r>
              <a:rPr sz="1800" spc="-10" dirty="0">
                <a:latin typeface="Times New Roman"/>
                <a:cs typeface="Times New Roman"/>
              </a:rPr>
              <a:t>Krishnaveni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&amp;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Arvinth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K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(2025).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"Smart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Animal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Monitoring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System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for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Farms </a:t>
            </a:r>
            <a:r>
              <a:rPr sz="1800" dirty="0">
                <a:latin typeface="Times New Roman"/>
                <a:cs typeface="Times New Roman"/>
              </a:rPr>
              <a:t>using</a:t>
            </a:r>
            <a:r>
              <a:rPr sz="1800" spc="-1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YOLO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OpenCV"</a:t>
            </a:r>
            <a:endParaRPr sz="1800">
              <a:latin typeface="Times New Roman"/>
              <a:cs typeface="Times New Roman"/>
            </a:endParaRPr>
          </a:p>
          <a:p>
            <a:pPr marL="12700" marR="5080" indent="266065" algn="just">
              <a:lnSpc>
                <a:spcPts val="1730"/>
              </a:lnSpc>
              <a:spcBef>
                <a:spcPts val="1715"/>
              </a:spcBef>
              <a:buClr>
                <a:srgbClr val="0C0C0C"/>
              </a:buClr>
              <a:buSzPct val="94444"/>
              <a:buFont typeface="Times New Roman"/>
              <a:buAutoNum type="arabicPlain" startAt="6"/>
              <a:tabLst>
                <a:tab pos="278765" algn="l"/>
              </a:tabLst>
            </a:pPr>
            <a:r>
              <a:rPr sz="1800" dirty="0">
                <a:latin typeface="Times New Roman"/>
                <a:cs typeface="Times New Roman"/>
              </a:rPr>
              <a:t>Gabriel</a:t>
            </a:r>
            <a:r>
              <a:rPr sz="1800" spc="75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S.</a:t>
            </a:r>
            <a:r>
              <a:rPr sz="1800" spc="75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Ferrante,</a:t>
            </a:r>
            <a:r>
              <a:rPr sz="1800" spc="80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Felipe</a:t>
            </a:r>
            <a:r>
              <a:rPr sz="1800" spc="75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M.</a:t>
            </a:r>
            <a:r>
              <a:rPr sz="1800" spc="80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Rodrigues,</a:t>
            </a:r>
            <a:r>
              <a:rPr sz="1800" spc="75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Fernando</a:t>
            </a:r>
            <a:r>
              <a:rPr sz="1800" spc="80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R.</a:t>
            </a:r>
            <a:r>
              <a:rPr sz="1800" spc="75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H.</a:t>
            </a:r>
            <a:r>
              <a:rPr sz="1800" spc="30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Andrade,</a:t>
            </a:r>
            <a:r>
              <a:rPr sz="1800" spc="80" dirty="0">
                <a:latin typeface="Times New Roman"/>
                <a:cs typeface="Times New Roman"/>
              </a:rPr>
              <a:t>  </a:t>
            </a:r>
            <a:r>
              <a:rPr sz="1800" spc="-10" dirty="0">
                <a:latin typeface="Times New Roman"/>
                <a:cs typeface="Times New Roman"/>
              </a:rPr>
              <a:t>Rudinei </a:t>
            </a:r>
            <a:r>
              <a:rPr sz="1800" dirty="0">
                <a:latin typeface="Times New Roman"/>
                <a:cs typeface="Times New Roman"/>
              </a:rPr>
              <a:t>Goularte,</a:t>
            </a:r>
            <a:r>
              <a:rPr sz="1800" spc="3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&amp;</a:t>
            </a:r>
            <a:r>
              <a:rPr sz="1800" spc="3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Rodolfo</a:t>
            </a:r>
            <a:r>
              <a:rPr sz="1800" spc="3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I.</a:t>
            </a:r>
            <a:r>
              <a:rPr sz="1800" spc="3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Meneguette</a:t>
            </a:r>
            <a:r>
              <a:rPr sz="1800" spc="3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(2021).</a:t>
            </a:r>
            <a:r>
              <a:rPr sz="1800" spc="3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"Understanding</a:t>
            </a:r>
            <a:r>
              <a:rPr sz="1800" spc="3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3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state</a:t>
            </a:r>
            <a:r>
              <a:rPr sz="1800" spc="3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3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27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Art</a:t>
            </a:r>
            <a:r>
              <a:rPr sz="1800" spc="37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in </a:t>
            </a:r>
            <a:r>
              <a:rPr sz="1800" dirty="0">
                <a:latin typeface="Times New Roman"/>
                <a:cs typeface="Times New Roman"/>
              </a:rPr>
              <a:t>Animal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detection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classification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using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computer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vision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technologies</a:t>
            </a:r>
            <a:endParaRPr sz="1800">
              <a:latin typeface="Times New Roman"/>
              <a:cs typeface="Times New Roman"/>
            </a:endParaRPr>
          </a:p>
          <a:p>
            <a:pPr marL="12700" marR="88900" indent="380365" algn="just">
              <a:lnSpc>
                <a:spcPts val="1730"/>
              </a:lnSpc>
              <a:spcBef>
                <a:spcPts val="1720"/>
              </a:spcBef>
              <a:buClr>
                <a:srgbClr val="0C0C0C"/>
              </a:buClr>
              <a:buSzPct val="94444"/>
              <a:buFont typeface="Times New Roman"/>
              <a:buAutoNum type="arabicPlain" startAt="6"/>
              <a:tabLst>
                <a:tab pos="393065" algn="l"/>
              </a:tabLst>
            </a:pPr>
            <a:r>
              <a:rPr sz="1800" dirty="0">
                <a:latin typeface="Times New Roman"/>
                <a:cs typeface="Times New Roman"/>
              </a:rPr>
              <a:t>Dr.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S.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65" dirty="0">
                <a:latin typeface="Times New Roman"/>
                <a:cs typeface="Times New Roman"/>
              </a:rPr>
              <a:t>V.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Viraktamath,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Jahnavi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R,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Vidya,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Abhay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Bhat,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&amp;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Sathvik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Nayak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(2021). "Wildlife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Monitoring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Surveillance"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spc="-25" dirty="0"/>
              <a:t>41</a:t>
            </a:fld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1164095" y="6488122"/>
            <a:ext cx="87630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spc="-25" dirty="0">
                <a:solidFill>
                  <a:srgbClr val="ED7D31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lang="en-US" smtClean="0"/>
              <a:t>CCD415 Project Phase I</a:t>
            </a:r>
            <a:endParaRPr spc="-50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spc="-10" dirty="0"/>
              <a:t>2023-</a:t>
            </a:r>
            <a:r>
              <a:rPr dirty="0"/>
              <a:t>2027</a:t>
            </a:r>
            <a:r>
              <a:rPr spc="-5" dirty="0"/>
              <a:t> </a:t>
            </a:r>
            <a:r>
              <a:rPr spc="-10" dirty="0"/>
              <a:t>Batch</a:t>
            </a: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769507" y="408925"/>
            <a:ext cx="378206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REFERENCES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0225" y="1787924"/>
            <a:ext cx="8084820" cy="4250055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2700" marR="81280">
              <a:lnSpc>
                <a:spcPts val="1939"/>
              </a:lnSpc>
              <a:spcBef>
                <a:spcPts val="345"/>
              </a:spcBef>
            </a:pPr>
            <a:r>
              <a:rPr sz="1800" b="1" dirty="0">
                <a:solidFill>
                  <a:srgbClr val="0C0C0C"/>
                </a:solidFill>
                <a:latin typeface="Times New Roman"/>
                <a:cs typeface="Times New Roman"/>
              </a:rPr>
              <a:t>[11]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Karthik</a:t>
            </a:r>
            <a:r>
              <a:rPr sz="1800" spc="8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303030"/>
                </a:solidFill>
                <a:latin typeface="Times New Roman"/>
                <a:cs typeface="Times New Roman"/>
              </a:rPr>
              <a:t>Vasu,</a:t>
            </a:r>
            <a:r>
              <a:rPr sz="1800" spc="3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Anitha</a:t>
            </a:r>
            <a:r>
              <a:rPr sz="1800" spc="11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Premkumar,</a:t>
            </a:r>
            <a:r>
              <a:rPr sz="1800" spc="9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T.</a:t>
            </a:r>
            <a:r>
              <a:rPr sz="1800" spc="114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Ramesh,</a:t>
            </a:r>
            <a:r>
              <a:rPr sz="1800" spc="12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and</a:t>
            </a:r>
            <a:r>
              <a:rPr sz="1800" spc="114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Rajesh</a:t>
            </a:r>
            <a:r>
              <a:rPr sz="1800" spc="12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Natarajan,</a:t>
            </a:r>
            <a:r>
              <a:rPr sz="1800" spc="114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303030"/>
                </a:solidFill>
                <a:latin typeface="Times New Roman"/>
                <a:cs typeface="Times New Roman"/>
              </a:rPr>
              <a:t>"Real-Time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Tiger</a:t>
            </a:r>
            <a:r>
              <a:rPr sz="1800" spc="-5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Intrusion</a:t>
            </a:r>
            <a:r>
              <a:rPr sz="1800" spc="-5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Detection</a:t>
            </a:r>
            <a:r>
              <a:rPr sz="1800" spc="-4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System</a:t>
            </a:r>
            <a:r>
              <a:rPr sz="1800" spc="-5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Using</a:t>
            </a:r>
            <a:r>
              <a:rPr sz="1800" spc="-4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Machine</a:t>
            </a:r>
            <a:r>
              <a:rPr sz="1800" spc="-5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Learning</a:t>
            </a:r>
            <a:r>
              <a:rPr sz="1800" spc="-5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and</a:t>
            </a:r>
            <a:r>
              <a:rPr sz="1800" spc="-4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IoT"</a:t>
            </a:r>
            <a:r>
              <a:rPr sz="1800" spc="-5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303030"/>
                </a:solidFill>
                <a:latin typeface="Times New Roman"/>
                <a:cs typeface="Times New Roman"/>
              </a:rPr>
              <a:t>(2026)</a:t>
            </a:r>
            <a:endParaRPr sz="1800">
              <a:latin typeface="Times New Roman"/>
              <a:cs typeface="Times New Roman"/>
            </a:endParaRPr>
          </a:p>
          <a:p>
            <a:pPr marL="12700" marR="19685">
              <a:lnSpc>
                <a:spcPts val="1939"/>
              </a:lnSpc>
              <a:spcBef>
                <a:spcPts val="1955"/>
              </a:spcBef>
              <a:tabLst>
                <a:tab pos="753110" algn="l"/>
                <a:tab pos="1818005" algn="l"/>
                <a:tab pos="2128520" algn="l"/>
                <a:tab pos="2423160" algn="l"/>
                <a:tab pos="2501900" algn="l"/>
                <a:tab pos="3155950" algn="l"/>
                <a:tab pos="3564254" algn="l"/>
                <a:tab pos="3928745" algn="l"/>
                <a:tab pos="4027170" algn="l"/>
                <a:tab pos="4730115" algn="l"/>
                <a:tab pos="5102860" algn="l"/>
                <a:tab pos="5607050" algn="l"/>
                <a:tab pos="6008370" algn="l"/>
                <a:tab pos="6262370" algn="l"/>
                <a:tab pos="6398260" algn="l"/>
                <a:tab pos="7121525" algn="l"/>
                <a:tab pos="7244715" algn="l"/>
                <a:tab pos="7574915" algn="l"/>
                <a:tab pos="7742555" algn="l"/>
              </a:tabLst>
            </a:pPr>
            <a:r>
              <a:rPr sz="1800" b="1" spc="-10" dirty="0">
                <a:solidFill>
                  <a:srgbClr val="0C0C0C"/>
                </a:solidFill>
                <a:latin typeface="Times New Roman"/>
                <a:cs typeface="Times New Roman"/>
              </a:rPr>
              <a:t>[12]</a:t>
            </a:r>
            <a:r>
              <a:rPr sz="1800" spc="-10" dirty="0">
                <a:solidFill>
                  <a:srgbClr val="0C0C0C"/>
                </a:solidFill>
                <a:latin typeface="Times New Roman"/>
                <a:cs typeface="Times New Roman"/>
              </a:rPr>
              <a:t>T.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	</a:t>
            </a:r>
            <a:r>
              <a:rPr sz="1800" spc="-10" dirty="0">
                <a:solidFill>
                  <a:srgbClr val="0C0C0C"/>
                </a:solidFill>
                <a:latin typeface="Times New Roman"/>
                <a:cs typeface="Times New Roman"/>
              </a:rPr>
              <a:t>Manikandan,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	</a:t>
            </a:r>
            <a:r>
              <a:rPr sz="1800" spc="-25" dirty="0">
                <a:solidFill>
                  <a:srgbClr val="0C0C0C"/>
                </a:solidFill>
                <a:latin typeface="Times New Roman"/>
                <a:cs typeface="Times New Roman"/>
              </a:rPr>
              <a:t>V.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		</a:t>
            </a:r>
            <a:r>
              <a:rPr sz="1800" spc="-10" dirty="0">
                <a:solidFill>
                  <a:srgbClr val="0C0C0C"/>
                </a:solidFill>
                <a:latin typeface="Times New Roman"/>
                <a:cs typeface="Times New Roman"/>
              </a:rPr>
              <a:t>Nandalal,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	</a:t>
            </a:r>
            <a:r>
              <a:rPr sz="1800" spc="-25" dirty="0">
                <a:solidFill>
                  <a:srgbClr val="0C0C0C"/>
                </a:solidFill>
                <a:latin typeface="Times New Roman"/>
                <a:cs typeface="Times New Roman"/>
              </a:rPr>
              <a:t>S.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	</a:t>
            </a:r>
            <a:r>
              <a:rPr sz="1800" spc="-10" dirty="0">
                <a:solidFill>
                  <a:srgbClr val="0C0C0C"/>
                </a:solidFill>
                <a:latin typeface="Times New Roman"/>
                <a:cs typeface="Times New Roman"/>
              </a:rPr>
              <a:t>Joshua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	</a:t>
            </a:r>
            <a:r>
              <a:rPr sz="1800" spc="-10" dirty="0">
                <a:solidFill>
                  <a:srgbClr val="0C0C0C"/>
                </a:solidFill>
                <a:latin typeface="Times New Roman"/>
                <a:cs typeface="Times New Roman"/>
              </a:rPr>
              <a:t>Kumaresan,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	</a:t>
            </a:r>
            <a:r>
              <a:rPr sz="1800" spc="-25" dirty="0">
                <a:solidFill>
                  <a:srgbClr val="0C0C0C"/>
                </a:solidFill>
                <a:latin typeface="Times New Roman"/>
                <a:cs typeface="Times New Roman"/>
              </a:rPr>
              <a:t>R.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		</a:t>
            </a:r>
            <a:r>
              <a:rPr sz="1800" spc="-10" dirty="0">
                <a:solidFill>
                  <a:srgbClr val="0C0C0C"/>
                </a:solidFill>
                <a:latin typeface="Times New Roman"/>
                <a:cs typeface="Times New Roman"/>
              </a:rPr>
              <a:t>Babuji,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		</a:t>
            </a:r>
            <a:r>
              <a:rPr sz="1800" spc="-25" dirty="0">
                <a:solidFill>
                  <a:srgbClr val="0C0C0C"/>
                </a:solidFill>
                <a:latin typeface="Times New Roman"/>
                <a:cs typeface="Times New Roman"/>
              </a:rPr>
              <a:t>and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	</a:t>
            </a:r>
            <a:r>
              <a:rPr sz="1800" spc="-25" dirty="0">
                <a:solidFill>
                  <a:srgbClr val="0C0C0C"/>
                </a:solidFill>
                <a:latin typeface="Times New Roman"/>
                <a:cs typeface="Times New Roman"/>
              </a:rPr>
              <a:t>A. </a:t>
            </a:r>
            <a:r>
              <a:rPr sz="1800" spc="-10" dirty="0">
                <a:solidFill>
                  <a:srgbClr val="0C0C0C"/>
                </a:solidFill>
                <a:latin typeface="Times New Roman"/>
                <a:cs typeface="Times New Roman"/>
              </a:rPr>
              <a:t>Muruganandham,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	</a:t>
            </a:r>
            <a:r>
              <a:rPr sz="1800" spc="-20" dirty="0">
                <a:solidFill>
                  <a:srgbClr val="0C0C0C"/>
                </a:solidFill>
                <a:latin typeface="Times New Roman"/>
                <a:cs typeface="Times New Roman"/>
              </a:rPr>
              <a:t>"IoT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	</a:t>
            </a:r>
            <a:r>
              <a:rPr sz="1800" spc="-10" dirty="0">
                <a:solidFill>
                  <a:srgbClr val="0C0C0C"/>
                </a:solidFill>
                <a:latin typeface="Times New Roman"/>
                <a:cs typeface="Times New Roman"/>
              </a:rPr>
              <a:t>Based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	</a:t>
            </a:r>
            <a:r>
              <a:rPr sz="1800" spc="-10" dirty="0">
                <a:solidFill>
                  <a:srgbClr val="0C0C0C"/>
                </a:solidFill>
                <a:latin typeface="Times New Roman"/>
                <a:cs typeface="Times New Roman"/>
              </a:rPr>
              <a:t>Animal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		</a:t>
            </a:r>
            <a:r>
              <a:rPr sz="1800" spc="-10" dirty="0">
                <a:solidFill>
                  <a:srgbClr val="0C0C0C"/>
                </a:solidFill>
                <a:latin typeface="Times New Roman"/>
                <a:cs typeface="Times New Roman"/>
              </a:rPr>
              <a:t>Detection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	</a:t>
            </a:r>
            <a:r>
              <a:rPr sz="1800" spc="-25" dirty="0">
                <a:solidFill>
                  <a:srgbClr val="0C0C0C"/>
                </a:solidFill>
                <a:latin typeface="Times New Roman"/>
                <a:cs typeface="Times New Roman"/>
              </a:rPr>
              <a:t>and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	</a:t>
            </a:r>
            <a:r>
              <a:rPr sz="1800" spc="-10" dirty="0">
                <a:solidFill>
                  <a:srgbClr val="0C0C0C"/>
                </a:solidFill>
                <a:latin typeface="Times New Roman"/>
                <a:cs typeface="Times New Roman"/>
              </a:rPr>
              <a:t>Alert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	</a:t>
            </a:r>
            <a:r>
              <a:rPr sz="1800" spc="-10" dirty="0">
                <a:solidFill>
                  <a:srgbClr val="0C0C0C"/>
                </a:solidFill>
                <a:latin typeface="Times New Roman"/>
                <a:cs typeface="Times New Roman"/>
              </a:rPr>
              <a:t>System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	</a:t>
            </a:r>
            <a:r>
              <a:rPr sz="1800" spc="-25" dirty="0">
                <a:solidFill>
                  <a:srgbClr val="0C0C0C"/>
                </a:solidFill>
                <a:latin typeface="Times New Roman"/>
                <a:cs typeface="Times New Roman"/>
              </a:rPr>
              <a:t>for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	</a:t>
            </a:r>
            <a:r>
              <a:rPr sz="1800" spc="-20" dirty="0">
                <a:solidFill>
                  <a:srgbClr val="0C0C0C"/>
                </a:solidFill>
                <a:latin typeface="Times New Roman"/>
                <a:cs typeface="Times New Roman"/>
              </a:rPr>
              <a:t>Farm </a:t>
            </a:r>
            <a:r>
              <a:rPr sz="1800" spc="-10" dirty="0">
                <a:solidFill>
                  <a:srgbClr val="0C0C0C"/>
                </a:solidFill>
                <a:latin typeface="Times New Roman"/>
                <a:cs typeface="Times New Roman"/>
              </a:rPr>
              <a:t>Fields",2024.</a:t>
            </a:r>
            <a:endParaRPr sz="1800">
              <a:latin typeface="Times New Roman"/>
              <a:cs typeface="Times New Roman"/>
            </a:endParaRPr>
          </a:p>
          <a:p>
            <a:pPr marL="12700" marR="32384">
              <a:lnSpc>
                <a:spcPts val="1939"/>
              </a:lnSpc>
              <a:spcBef>
                <a:spcPts val="1955"/>
              </a:spcBef>
            </a:pPr>
            <a:r>
              <a:rPr sz="1800" b="1" dirty="0">
                <a:solidFill>
                  <a:srgbClr val="0C0C0C"/>
                </a:solidFill>
                <a:latin typeface="Times New Roman"/>
                <a:cs typeface="Times New Roman"/>
              </a:rPr>
              <a:t>[13]</a:t>
            </a:r>
            <a:r>
              <a:rPr sz="1800" dirty="0">
                <a:latin typeface="Times New Roman"/>
                <a:cs typeface="Times New Roman"/>
              </a:rPr>
              <a:t>Sudharshan</a:t>
            </a:r>
            <a:r>
              <a:rPr sz="1800" spc="19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Duth</a:t>
            </a:r>
            <a:r>
              <a:rPr sz="1800" spc="19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P,</a:t>
            </a:r>
            <a:r>
              <a:rPr sz="1800" spc="19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Maneesha</a:t>
            </a:r>
            <a:r>
              <a:rPr sz="1800" spc="19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Shibu,</a:t>
            </a:r>
            <a:r>
              <a:rPr sz="1800" spc="19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19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Nithyashree</a:t>
            </a:r>
            <a:r>
              <a:rPr sz="1800" spc="19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M,</a:t>
            </a:r>
            <a:r>
              <a:rPr sz="1800" spc="19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"Animal</a:t>
            </a:r>
            <a:r>
              <a:rPr sz="1800" spc="19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Detection</a:t>
            </a:r>
            <a:r>
              <a:rPr sz="1800" spc="19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in </a:t>
            </a:r>
            <a:r>
              <a:rPr sz="1800" dirty="0">
                <a:latin typeface="Times New Roman"/>
                <a:cs typeface="Times New Roman"/>
              </a:rPr>
              <a:t>Night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Light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Videos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Using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Deep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Learning",2024</a:t>
            </a:r>
            <a:endParaRPr sz="1800">
              <a:latin typeface="Times New Roman"/>
              <a:cs typeface="Times New Roman"/>
            </a:endParaRPr>
          </a:p>
          <a:p>
            <a:pPr marL="12700" marR="26670" algn="just">
              <a:lnSpc>
                <a:spcPts val="1939"/>
              </a:lnSpc>
              <a:spcBef>
                <a:spcPts val="1950"/>
              </a:spcBef>
            </a:pPr>
            <a:r>
              <a:rPr sz="1800" b="1" dirty="0">
                <a:solidFill>
                  <a:srgbClr val="0C0C0C"/>
                </a:solidFill>
                <a:latin typeface="Times New Roman"/>
                <a:cs typeface="Times New Roman"/>
              </a:rPr>
              <a:t>[14]</a:t>
            </a:r>
            <a:r>
              <a:rPr sz="1800" dirty="0">
                <a:latin typeface="Times New Roman"/>
                <a:cs typeface="Times New Roman"/>
              </a:rPr>
              <a:t>Prabhat</a:t>
            </a:r>
            <a:r>
              <a:rPr sz="1800" spc="40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Kumar</a:t>
            </a:r>
            <a:r>
              <a:rPr sz="1800" spc="409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Panda,</a:t>
            </a:r>
            <a:r>
              <a:rPr sz="1800" spc="409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Cherlopalli</a:t>
            </a:r>
            <a:r>
              <a:rPr sz="1800" spc="40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Srujan</a:t>
            </a:r>
            <a:r>
              <a:rPr sz="1800" spc="409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Kumar,</a:t>
            </a:r>
            <a:r>
              <a:rPr sz="1800" spc="409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Bommu</a:t>
            </a:r>
            <a:r>
              <a:rPr sz="1800" spc="409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Sai</a:t>
            </a:r>
            <a:r>
              <a:rPr sz="1800" spc="3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Vivek,</a:t>
            </a:r>
            <a:r>
              <a:rPr sz="1800" spc="409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Masura </a:t>
            </a:r>
            <a:r>
              <a:rPr sz="1800" dirty="0">
                <a:latin typeface="Times New Roman"/>
                <a:cs typeface="Times New Roman"/>
              </a:rPr>
              <a:t>Balachandra,</a:t>
            </a:r>
            <a:r>
              <a:rPr sz="1800" spc="2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2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Shashi</a:t>
            </a:r>
            <a:r>
              <a:rPr sz="1800" spc="2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Kant</a:t>
            </a:r>
            <a:r>
              <a:rPr sz="1800" spc="2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Dargar,</a:t>
            </a:r>
            <a:r>
              <a:rPr sz="1800" spc="2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"Implementation</a:t>
            </a:r>
            <a:r>
              <a:rPr sz="1800" spc="27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2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2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Wild</a:t>
            </a:r>
            <a:r>
              <a:rPr sz="1800" spc="17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Animal</a:t>
            </a:r>
            <a:r>
              <a:rPr sz="1800" spc="26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Intrusion </a:t>
            </a:r>
            <a:r>
              <a:rPr sz="1800" dirty="0">
                <a:latin typeface="Times New Roman"/>
                <a:cs typeface="Times New Roman"/>
              </a:rPr>
              <a:t>Detection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Model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Based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on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Internet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8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Things",2022.</a:t>
            </a:r>
            <a:endParaRPr sz="1800">
              <a:latin typeface="Times New Roman"/>
              <a:cs typeface="Times New Roman"/>
            </a:endParaRPr>
          </a:p>
          <a:p>
            <a:pPr marL="12700" marR="5080" algn="just">
              <a:lnSpc>
                <a:spcPts val="1939"/>
              </a:lnSpc>
              <a:spcBef>
                <a:spcPts val="1955"/>
              </a:spcBef>
            </a:pPr>
            <a:r>
              <a:rPr sz="1800" b="1" dirty="0">
                <a:solidFill>
                  <a:srgbClr val="0C0C0C"/>
                </a:solidFill>
                <a:latin typeface="Times New Roman"/>
                <a:cs typeface="Times New Roman"/>
              </a:rPr>
              <a:t>[15]</a:t>
            </a:r>
            <a:r>
              <a:rPr sz="1800" dirty="0">
                <a:latin typeface="Times New Roman"/>
                <a:cs typeface="Times New Roman"/>
              </a:rPr>
              <a:t>K.</a:t>
            </a:r>
            <a:r>
              <a:rPr sz="1800" spc="3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S.</a:t>
            </a:r>
            <a:r>
              <a:rPr sz="1800" spc="3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P.</a:t>
            </a:r>
            <a:r>
              <a:rPr sz="1800" spc="3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Premarathna,</a:t>
            </a:r>
            <a:r>
              <a:rPr sz="1800" spc="3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R.</a:t>
            </a:r>
            <a:r>
              <a:rPr sz="1800" spc="3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M.</a:t>
            </a:r>
            <a:r>
              <a:rPr sz="1800" spc="3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K.</a:t>
            </a:r>
            <a:r>
              <a:rPr sz="1800" spc="3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T.</a:t>
            </a:r>
            <a:r>
              <a:rPr sz="1800" spc="3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Rathnayaka,</a:t>
            </a:r>
            <a:r>
              <a:rPr sz="1800" spc="3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3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J.</a:t>
            </a:r>
            <a:r>
              <a:rPr sz="1800" spc="3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Charles,</a:t>
            </a:r>
            <a:r>
              <a:rPr sz="1800" spc="3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"An</a:t>
            </a:r>
            <a:r>
              <a:rPr sz="1800" spc="35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Elephant </a:t>
            </a:r>
            <a:r>
              <a:rPr sz="1800" dirty="0">
                <a:latin typeface="Times New Roman"/>
                <a:cs typeface="Times New Roman"/>
              </a:rPr>
              <a:t>Detection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System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Prevent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Human-</a:t>
            </a:r>
            <a:r>
              <a:rPr sz="1800" dirty="0">
                <a:latin typeface="Times New Roman"/>
                <a:cs typeface="Times New Roman"/>
              </a:rPr>
              <a:t>Elephant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Conflict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Tracking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Elephant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Using </a:t>
            </a:r>
            <a:r>
              <a:rPr sz="1800" dirty="0">
                <a:latin typeface="Times New Roman"/>
                <a:cs typeface="Times New Roman"/>
              </a:rPr>
              <a:t>Deep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Learning"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,2020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spc="-25" dirty="0"/>
              <a:t>42</a:t>
            </a:fld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1164095" y="6488122"/>
            <a:ext cx="87630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spc="-25" dirty="0">
                <a:solidFill>
                  <a:srgbClr val="ED7D31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lang="en-US" smtClean="0"/>
              <a:t>CCD415 Project Phase I</a:t>
            </a:r>
            <a:endParaRPr spc="-50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spc="-10" dirty="0"/>
              <a:t>2023-</a:t>
            </a:r>
            <a:r>
              <a:rPr dirty="0"/>
              <a:t>2027</a:t>
            </a:r>
            <a:r>
              <a:rPr spc="-5" dirty="0"/>
              <a:t> </a:t>
            </a:r>
            <a:r>
              <a:rPr spc="-10" dirty="0"/>
              <a:t>Batch</a:t>
            </a: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769507" y="408925"/>
            <a:ext cx="378206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REFERENCES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0225" y="1801340"/>
            <a:ext cx="8082915" cy="35096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ts val="205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0C0C0C"/>
                </a:solidFill>
                <a:latin typeface="Times New Roman"/>
                <a:cs typeface="Times New Roman"/>
              </a:rPr>
              <a:t>[16]</a:t>
            </a:r>
            <a:r>
              <a:rPr sz="1800" spc="-10" dirty="0">
                <a:latin typeface="Times New Roman"/>
                <a:cs typeface="Times New Roman"/>
              </a:rPr>
              <a:t>AI-</a:t>
            </a:r>
            <a:r>
              <a:rPr sz="1800" dirty="0">
                <a:latin typeface="Times New Roman"/>
                <a:cs typeface="Times New Roman"/>
              </a:rPr>
              <a:t>Based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Smart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Surveillance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System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Using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Raspberry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Pi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Embedded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Vision</a:t>
            </a:r>
            <a:r>
              <a:rPr sz="1800" spc="409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B.</a:t>
            </a:r>
            <a:endParaRPr sz="1800">
              <a:latin typeface="Times New Roman"/>
              <a:cs typeface="Times New Roman"/>
            </a:endParaRPr>
          </a:p>
          <a:p>
            <a:pPr marL="12700" algn="just">
              <a:lnSpc>
                <a:spcPts val="2050"/>
              </a:lnSpc>
            </a:pPr>
            <a:r>
              <a:rPr sz="1800" dirty="0">
                <a:latin typeface="Times New Roman"/>
                <a:cs typeface="Times New Roman"/>
              </a:rPr>
              <a:t>Girirajan,</a:t>
            </a:r>
            <a:r>
              <a:rPr sz="1800" spc="-8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S.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Prabu,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125" dirty="0">
                <a:latin typeface="Times New Roman"/>
                <a:cs typeface="Times New Roman"/>
              </a:rPr>
              <a:t>V.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75" dirty="0">
                <a:latin typeface="Times New Roman"/>
                <a:cs typeface="Times New Roman"/>
              </a:rPr>
              <a:t>T.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Thangam,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M.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Sugumaran,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100" dirty="0">
                <a:latin typeface="Times New Roman"/>
                <a:cs typeface="Times New Roman"/>
              </a:rPr>
              <a:t>P.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Venkateshwaran,</a:t>
            </a:r>
            <a:r>
              <a:rPr sz="1800" spc="-1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A.</a:t>
            </a:r>
            <a:r>
              <a:rPr sz="1800" spc="-20" dirty="0">
                <a:latin typeface="Times New Roman"/>
                <a:cs typeface="Times New Roman"/>
              </a:rPr>
              <a:t> Kaur</a:t>
            </a:r>
            <a:endParaRPr sz="1800">
              <a:latin typeface="Times New Roman"/>
              <a:cs typeface="Times New Roman"/>
            </a:endParaRPr>
          </a:p>
          <a:p>
            <a:pPr marL="12700" marR="15240" algn="just">
              <a:lnSpc>
                <a:spcPts val="1939"/>
              </a:lnSpc>
              <a:spcBef>
                <a:spcPts val="1975"/>
              </a:spcBef>
            </a:pPr>
            <a:r>
              <a:rPr sz="1800" b="1" dirty="0">
                <a:solidFill>
                  <a:srgbClr val="0C0C0C"/>
                </a:solidFill>
                <a:latin typeface="Times New Roman"/>
                <a:cs typeface="Times New Roman"/>
              </a:rPr>
              <a:t>[17]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D.</a:t>
            </a:r>
            <a:r>
              <a:rPr sz="1800" spc="30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Slutskiy,</a:t>
            </a:r>
            <a:r>
              <a:rPr sz="1800" spc="32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Z.</a:t>
            </a:r>
            <a:r>
              <a:rPr sz="1800" spc="31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Jacques,</a:t>
            </a:r>
            <a:r>
              <a:rPr sz="1800" spc="32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N.</a:t>
            </a:r>
            <a:r>
              <a:rPr sz="1800" spc="32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Bazarian,</a:t>
            </a:r>
            <a:r>
              <a:rPr sz="1800" spc="31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S.</a:t>
            </a:r>
            <a:r>
              <a:rPr sz="1800" spc="32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Basnet,</a:t>
            </a:r>
            <a:r>
              <a:rPr sz="1800" spc="22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A.</a:t>
            </a:r>
            <a:r>
              <a:rPr sz="1800" spc="31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Poudel</a:t>
            </a:r>
            <a:r>
              <a:rPr sz="1800" spc="32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and</a:t>
            </a:r>
            <a:r>
              <a:rPr sz="1800" spc="32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P.</a:t>
            </a:r>
            <a:r>
              <a:rPr sz="1800" spc="31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0C0C0C"/>
                </a:solidFill>
                <a:latin typeface="Times New Roman"/>
                <a:cs typeface="Times New Roman"/>
              </a:rPr>
              <a:t>Manandhar, “Non-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human</a:t>
            </a:r>
            <a:r>
              <a:rPr sz="1800" spc="14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Primate</a:t>
            </a:r>
            <a:r>
              <a:rPr sz="1800" spc="14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Monitoring</a:t>
            </a:r>
            <a:r>
              <a:rPr sz="1800" spc="14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System:</a:t>
            </a:r>
            <a:r>
              <a:rPr sz="1800" spc="14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Early</a:t>
            </a:r>
            <a:r>
              <a:rPr sz="1800" spc="5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Alert</a:t>
            </a:r>
            <a:r>
              <a:rPr sz="1800" spc="15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System</a:t>
            </a:r>
            <a:r>
              <a:rPr sz="1800" spc="5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Against</a:t>
            </a:r>
            <a:r>
              <a:rPr sz="1800" spc="14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Crop</a:t>
            </a:r>
            <a:r>
              <a:rPr sz="1800" spc="14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Raids</a:t>
            </a:r>
            <a:r>
              <a:rPr sz="1800" spc="14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0C0C0C"/>
                </a:solidFill>
                <a:latin typeface="Times New Roman"/>
                <a:cs typeface="Times New Roman"/>
              </a:rPr>
              <a:t>for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Farms</a:t>
            </a:r>
            <a:r>
              <a:rPr sz="1800" spc="-3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in</a:t>
            </a:r>
            <a:r>
              <a:rPr sz="1800" spc="-3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Nepal,”</a:t>
            </a:r>
            <a:r>
              <a:rPr sz="1800" spc="-3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2024</a:t>
            </a:r>
            <a:r>
              <a:rPr sz="1800" spc="-3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IEEE</a:t>
            </a:r>
            <a:r>
              <a:rPr sz="1800" spc="-3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Global</a:t>
            </a:r>
            <a:r>
              <a:rPr sz="1800" spc="-3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0C0C0C"/>
                </a:solidFill>
                <a:latin typeface="Times New Roman"/>
                <a:cs typeface="Times New Roman"/>
              </a:rPr>
              <a:t>Humanitarian</a:t>
            </a:r>
            <a:r>
              <a:rPr sz="1800" spc="-6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0C0C0C"/>
                </a:solidFill>
                <a:latin typeface="Times New Roman"/>
                <a:cs typeface="Times New Roman"/>
              </a:rPr>
              <a:t>Technology</a:t>
            </a:r>
            <a:r>
              <a:rPr sz="1800" spc="-3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0C0C0C"/>
                </a:solidFill>
                <a:latin typeface="Times New Roman"/>
                <a:cs typeface="Times New Roman"/>
              </a:rPr>
              <a:t>Conference</a:t>
            </a:r>
            <a:r>
              <a:rPr sz="1800" spc="-3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0C0C0C"/>
                </a:solidFill>
                <a:latin typeface="Times New Roman"/>
                <a:cs typeface="Times New Roman"/>
              </a:rPr>
              <a:t>(GHTC).</a:t>
            </a:r>
            <a:endParaRPr sz="1800">
              <a:latin typeface="Times New Roman"/>
              <a:cs typeface="Times New Roman"/>
            </a:endParaRPr>
          </a:p>
          <a:p>
            <a:pPr marL="12700" marR="5080" indent="380365" algn="just">
              <a:lnSpc>
                <a:spcPts val="1939"/>
              </a:lnSpc>
              <a:spcBef>
                <a:spcPts val="1955"/>
              </a:spcBef>
              <a:buSzPct val="94444"/>
              <a:buFont typeface="Times New Roman"/>
              <a:buAutoNum type="arabicPlain" startAt="18"/>
              <a:tabLst>
                <a:tab pos="393065" algn="l"/>
              </a:tabLst>
            </a:pP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Diery</a:t>
            </a:r>
            <a:r>
              <a:rPr sz="1800" spc="13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NGOM,</a:t>
            </a:r>
            <a:r>
              <a:rPr sz="1800" spc="4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Alla</a:t>
            </a:r>
            <a:r>
              <a:rPr sz="1800" spc="13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LO,</a:t>
            </a:r>
            <a:r>
              <a:rPr sz="1800" spc="13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Serigne</a:t>
            </a:r>
            <a:r>
              <a:rPr sz="1800" spc="13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Mbacké</a:t>
            </a:r>
            <a:r>
              <a:rPr sz="1800" spc="13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GUEYE,</a:t>
            </a:r>
            <a:r>
              <a:rPr sz="1800" spc="4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Absa</a:t>
            </a:r>
            <a:r>
              <a:rPr sz="1800" spc="13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LECOR,</a:t>
            </a:r>
            <a:r>
              <a:rPr sz="1800" spc="13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"An</a:t>
            </a:r>
            <a:r>
              <a:rPr sz="1800" spc="13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0C0C0C"/>
                </a:solidFill>
                <a:latin typeface="Times New Roman"/>
                <a:cs typeface="Times New Roman"/>
              </a:rPr>
              <a:t>Intelligent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IoT</a:t>
            </a:r>
            <a:r>
              <a:rPr sz="1800" spc="-2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and</a:t>
            </a:r>
            <a:r>
              <a:rPr sz="1800" spc="-7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0C0C0C"/>
                </a:solidFill>
                <a:latin typeface="Times New Roman"/>
                <a:cs typeface="Times New Roman"/>
              </a:rPr>
              <a:t>AI-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Based</a:t>
            </a:r>
            <a:r>
              <a:rPr sz="1800" spc="1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Surveillance</a:t>
            </a:r>
            <a:r>
              <a:rPr sz="1800" spc="1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System</a:t>
            </a:r>
            <a:r>
              <a:rPr sz="1800" spc="1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for</a:t>
            </a:r>
            <a:r>
              <a:rPr sz="1800" spc="1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the</a:t>
            </a:r>
            <a:r>
              <a:rPr sz="1800" spc="1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Detection</a:t>
            </a:r>
            <a:r>
              <a:rPr sz="1800" spc="1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and</a:t>
            </a:r>
            <a:r>
              <a:rPr sz="1800" spc="1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Recognition</a:t>
            </a:r>
            <a:r>
              <a:rPr sz="1800" spc="1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of</a:t>
            </a:r>
            <a:r>
              <a:rPr sz="1800" spc="1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Pest</a:t>
            </a:r>
            <a:r>
              <a:rPr sz="1800" spc="1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0C0C0C"/>
                </a:solidFill>
                <a:latin typeface="Times New Roman"/>
                <a:cs typeface="Times New Roman"/>
              </a:rPr>
              <a:t>Birds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in</a:t>
            </a:r>
            <a:r>
              <a:rPr sz="1800" spc="-4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Rice</a:t>
            </a:r>
            <a:r>
              <a:rPr sz="1800" spc="-3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Crops</a:t>
            </a:r>
            <a:r>
              <a:rPr sz="1800" spc="-4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of</a:t>
            </a:r>
            <a:r>
              <a:rPr sz="1800" spc="-3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the</a:t>
            </a:r>
            <a:r>
              <a:rPr sz="1800" spc="-4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Senegal</a:t>
            </a:r>
            <a:r>
              <a:rPr sz="1800" spc="-4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River</a:t>
            </a:r>
            <a:r>
              <a:rPr sz="1800" spc="-7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0C0C0C"/>
                </a:solidFill>
                <a:latin typeface="Times New Roman"/>
                <a:cs typeface="Times New Roman"/>
              </a:rPr>
              <a:t>Valley"</a:t>
            </a:r>
            <a:endParaRPr sz="1800">
              <a:latin typeface="Times New Roman"/>
              <a:cs typeface="Times New Roman"/>
            </a:endParaRPr>
          </a:p>
          <a:p>
            <a:pPr marL="393065" indent="-380365" algn="just">
              <a:lnSpc>
                <a:spcPct val="100000"/>
              </a:lnSpc>
              <a:spcBef>
                <a:spcPts val="1710"/>
              </a:spcBef>
              <a:buSzPct val="94444"/>
              <a:buFont typeface="Times New Roman"/>
              <a:buAutoNum type="arabicPlain" startAt="18"/>
              <a:tabLst>
                <a:tab pos="393065" algn="l"/>
              </a:tabLst>
            </a:pPr>
            <a:r>
              <a:rPr sz="1800" spc="-10" dirty="0">
                <a:solidFill>
                  <a:srgbClr val="0C0C0C"/>
                </a:solidFill>
                <a:latin typeface="Times New Roman"/>
                <a:cs typeface="Times New Roman"/>
              </a:rPr>
              <a:t>Kathir,</a:t>
            </a:r>
            <a:r>
              <a:rPr sz="1800" spc="-6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Balaji</a:t>
            </a:r>
            <a:r>
              <a:rPr sz="1800" spc="-3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&amp;</a:t>
            </a:r>
            <a:r>
              <a:rPr sz="1800" spc="-114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Ashwini,</a:t>
            </a:r>
            <a:r>
              <a:rPr sz="1800" spc="-3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2024</a:t>
            </a:r>
            <a:r>
              <a:rPr sz="1800" spc="-3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—</a:t>
            </a:r>
            <a:r>
              <a:rPr sz="1800" spc="-11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Animal</a:t>
            </a:r>
            <a:r>
              <a:rPr sz="1800" spc="-3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Intrusion</a:t>
            </a:r>
            <a:r>
              <a:rPr sz="1800" spc="-3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Detection</a:t>
            </a:r>
            <a:r>
              <a:rPr sz="1800" spc="-3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Using</a:t>
            </a:r>
            <a:r>
              <a:rPr sz="1800" spc="-10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YOLO</a:t>
            </a:r>
            <a:r>
              <a:rPr sz="1800" spc="-3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0C0C0C"/>
                </a:solidFill>
                <a:latin typeface="Times New Roman"/>
                <a:cs typeface="Times New Roman"/>
              </a:rPr>
              <a:t>v8</a:t>
            </a:r>
            <a:endParaRPr sz="1800">
              <a:latin typeface="Times New Roman"/>
              <a:cs typeface="Times New Roman"/>
            </a:endParaRPr>
          </a:p>
          <a:p>
            <a:pPr marL="393065" indent="-380365" algn="just">
              <a:lnSpc>
                <a:spcPct val="100000"/>
              </a:lnSpc>
              <a:spcBef>
                <a:spcPts val="1725"/>
              </a:spcBef>
              <a:buSzPct val="94444"/>
              <a:buFont typeface="Times New Roman"/>
              <a:buAutoNum type="arabicPlain" startAt="18"/>
              <a:tabLst>
                <a:tab pos="393065" algn="l"/>
              </a:tabLst>
            </a:pPr>
            <a:r>
              <a:rPr sz="1800" spc="-20" dirty="0">
                <a:solidFill>
                  <a:srgbClr val="0C0C0C"/>
                </a:solidFill>
                <a:latin typeface="Times New Roman"/>
                <a:cs typeface="Times New Roman"/>
              </a:rPr>
              <a:t>Curry,</a:t>
            </a:r>
            <a:r>
              <a:rPr sz="1800" spc="-6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0C0C0C"/>
                </a:solidFill>
                <a:latin typeface="Times New Roman"/>
                <a:cs typeface="Times New Roman"/>
              </a:rPr>
              <a:t>Trotter</a:t>
            </a:r>
            <a:r>
              <a:rPr sz="1800" spc="-2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&amp;</a:t>
            </a:r>
            <a:r>
              <a:rPr sz="1800" spc="-3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McGough,</a:t>
            </a:r>
            <a:r>
              <a:rPr sz="1800" spc="-2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2021</a:t>
            </a:r>
            <a:r>
              <a:rPr sz="1800" spc="-2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–</a:t>
            </a:r>
            <a:r>
              <a:rPr sz="1800" spc="-2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camera</a:t>
            </a:r>
            <a:r>
              <a:rPr sz="1800" spc="-3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trap</a:t>
            </a:r>
            <a:r>
              <a:rPr sz="1800" spc="-2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deep</a:t>
            </a:r>
            <a:r>
              <a:rPr sz="1800" spc="-2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learning</a:t>
            </a:r>
            <a:r>
              <a:rPr sz="1800" spc="-2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for</a:t>
            </a:r>
            <a:r>
              <a:rPr sz="1800" spc="-2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Scottish</a:t>
            </a:r>
            <a:r>
              <a:rPr sz="1800" spc="-2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0C0C0C"/>
                </a:solidFill>
                <a:latin typeface="Times New Roman"/>
                <a:cs typeface="Times New Roman"/>
              </a:rPr>
              <a:t>wildcat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spc="-25" dirty="0"/>
              <a:t>43</a:t>
            </a:fld>
            <a:endParaRPr spc="-25" dirty="0"/>
          </a:p>
        </p:txBody>
      </p:sp>
      <p:sp>
        <p:nvSpPr>
          <p:cNvPr id="4" name="object 4"/>
          <p:cNvSpPr txBox="1"/>
          <p:nvPr/>
        </p:nvSpPr>
        <p:spPr>
          <a:xfrm>
            <a:off x="1164095" y="6488122"/>
            <a:ext cx="87630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spc="-25" dirty="0">
                <a:solidFill>
                  <a:srgbClr val="ED7D31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lang="en-US" smtClean="0"/>
              <a:t>CCD415 Project Phase I</a:t>
            </a:r>
            <a:endParaRPr spc="-50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spc="-10" dirty="0"/>
              <a:t>2023-</a:t>
            </a:r>
            <a:r>
              <a:rPr dirty="0"/>
              <a:t>2027</a:t>
            </a:r>
            <a:r>
              <a:rPr spc="-5" dirty="0"/>
              <a:t> </a:t>
            </a:r>
            <a:r>
              <a:rPr spc="-10" dirty="0"/>
              <a:t>Batch</a:t>
            </a: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258332" y="3007261"/>
            <a:ext cx="445325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dirty="0"/>
              <a:t>Thank</a:t>
            </a:r>
            <a:r>
              <a:rPr sz="4000" spc="-170" dirty="0"/>
              <a:t> </a:t>
            </a:r>
            <a:r>
              <a:rPr sz="4000" spc="-60" dirty="0"/>
              <a:t>You…………</a:t>
            </a:r>
            <a:endParaRPr sz="4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30303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</TotalTime>
  <Words>8231</Words>
  <Application>Microsoft Office PowerPoint</Application>
  <PresentationFormat>On-screen Show (4:3)</PresentationFormat>
  <Paragraphs>872</Paragraphs>
  <Slides>43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8" baseType="lpstr">
      <vt:lpstr>Arial</vt:lpstr>
      <vt:lpstr>Arial MT</vt:lpstr>
      <vt:lpstr>Calibri</vt:lpstr>
      <vt:lpstr>Times New Roman</vt:lpstr>
      <vt:lpstr>Office Theme</vt:lpstr>
      <vt:lpstr>CCD 415 Project Phase I</vt:lpstr>
      <vt:lpstr>OUTLINE</vt:lpstr>
      <vt:lpstr>ABSTRACT</vt:lpstr>
      <vt:lpstr>INTRODUCTION</vt:lpstr>
      <vt:lpstr>PROBLEM DEFINITION</vt:lpstr>
      <vt:lpstr>OBJECTIVES</vt:lpstr>
      <vt:lpstr>BACKGROUND</vt:lpstr>
      <vt:lpstr>BACKGROUND</vt:lpstr>
      <vt:lpstr>LITERATURE SURVEY</vt:lpstr>
      <vt:lpstr>LITERATURE SURVEY</vt:lpstr>
      <vt:lpstr>LITERATURE SURVEY</vt:lpstr>
      <vt:lpstr>LITERATURE SURVEY</vt:lpstr>
      <vt:lpstr>LITERATURE SURVEY</vt:lpstr>
      <vt:lpstr>LITERATURE SURVEY</vt:lpstr>
      <vt:lpstr>LITERATURE SURVEY</vt:lpstr>
      <vt:lpstr>LITERATURE SURVEY</vt:lpstr>
      <vt:lpstr>LITERATURE SURVEY</vt:lpstr>
      <vt:lpstr>LITERATURE SURVEY</vt:lpstr>
      <vt:lpstr>LITERATURE SURVEY</vt:lpstr>
      <vt:lpstr>LITERATURE SURVEY</vt:lpstr>
      <vt:lpstr>LITERATURE SURVEY</vt:lpstr>
      <vt:lpstr>LITERATURE SURVEY</vt:lpstr>
      <vt:lpstr>LITERATURE SURVEY</vt:lpstr>
      <vt:lpstr>LITERATURE SURVEY</vt:lpstr>
      <vt:lpstr>LITERATURE SURVEY</vt:lpstr>
      <vt:lpstr>LITERATURE SURVEY</vt:lpstr>
      <vt:lpstr>LITERATURE SURVEY</vt:lpstr>
      <vt:lpstr>LITERATURE SURVEY</vt:lpstr>
      <vt:lpstr>COMPARATIVE ANALYSIS</vt:lpstr>
      <vt:lpstr>COMPARATIVE ANALYSIS</vt:lpstr>
      <vt:lpstr>PROPOSED SYSTEM</vt:lpstr>
      <vt:lpstr>PROPOSED SYSTEM: ADVANTAGES</vt:lpstr>
      <vt:lpstr>PROJECT PLANNING &amp; SCHEDULING</vt:lpstr>
      <vt:lpstr>Methodology:</vt:lpstr>
      <vt:lpstr>PROJECT PLANNING &amp; SCHEDULING</vt:lpstr>
      <vt:lpstr>RESOURCE/TASK IDENTIFICATION &amp; ALLOCATION</vt:lpstr>
      <vt:lpstr>RESOURCE/TASK IDENTIFICATION &amp; ALLOCATION</vt:lpstr>
      <vt:lpstr>CONCLUSION</vt:lpstr>
      <vt:lpstr>REFERENCES</vt:lpstr>
      <vt:lpstr>REFERENCES</vt:lpstr>
      <vt:lpstr>REFERENCES</vt:lpstr>
      <vt:lpstr>REFERENCES</vt:lpstr>
      <vt:lpstr>Thank You…………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wildguard....pptx</dc:title>
  <dc:creator>Akshay N</dc:creator>
  <cp:lastModifiedBy>Akshay N</cp:lastModifiedBy>
  <cp:revision>5</cp:revision>
  <dcterms:created xsi:type="dcterms:W3CDTF">2026-09-15T04:45:46Z</dcterms:created>
  <dcterms:modified xsi:type="dcterms:W3CDTF">2026-09-15T16:50:12Z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2026-09-15T00:00:00Z</vt:filetime>
  </property>
  <property fmtid="{D5CDD505-2E9C-101B-9397-08002B2CF9AE}" pid="4" name="Creator">
    <vt:lpwstr>Google</vt:lpwstr>
  </property>
  <property fmtid="{D5CDD505-2E9C-101B-9397-08002B2CF9AE}" pid="5" name="LastSaved">
    <vt:filetime>2026-09-15T00:00:00Z</vt:filetime>
  </property>
</Properties>
</file>