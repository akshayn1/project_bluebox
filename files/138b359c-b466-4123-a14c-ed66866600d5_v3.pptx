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660"/>
  </p:normalViewPr>
  <p:slideViewPr>
    <p:cSldViewPr>
      <p:cViewPr varScale="1">
        <p:scale>
          <a:sx n="85" d="100"/>
          <a:sy n="85" d="100"/>
        </p:scale>
        <p:origin x="155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46A89-743C-441C-8687-38D0DB6B7666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60D0B-C203-419D-B38C-2EDFD2BAF3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73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781800" y="6443562"/>
            <a:ext cx="1348418" cy="356272"/>
          </a:xfrm>
        </p:spPr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29000" y="6437570"/>
            <a:ext cx="1979136" cy="184128"/>
          </a:xfrm>
        </p:spPr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dirty="0" smtClean="0"/>
              <a:t>CCD415 Project Phase I</a:t>
            </a:r>
            <a:endParaRPr spc="-5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3000" y="-80949"/>
            <a:ext cx="6437999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4331" y="1441306"/>
            <a:ext cx="8599805" cy="470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705600" y="6445272"/>
            <a:ext cx="1348418" cy="3562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057400" y="6445272"/>
            <a:ext cx="1905471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ED7D31"/>
                </a:solidFill>
                <a:latin typeface="Times New Roman"/>
                <a:cs typeface="Times New Roman"/>
              </a:defRPr>
            </a:lvl1pPr>
          </a:lstStyle>
          <a:p>
            <a:pPr marL="255904">
              <a:lnSpc>
                <a:spcPts val="1410"/>
              </a:lnSpc>
            </a:pPr>
            <a:r>
              <a:rPr lang="en-US" dirty="0" smtClean="0"/>
              <a:t>CCD415 Project Phase I</a:t>
            </a:r>
            <a:endParaRPr spc="-50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39125" y="6445272"/>
            <a:ext cx="291275" cy="3562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375523"/>
                </a:solidFill>
                <a:latin typeface="Times New Roman"/>
                <a:cs typeface="Times New Roman"/>
              </a:defRPr>
            </a:lvl1pPr>
          </a:lstStyle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hf hdr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mAP@0.5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mAP@0.5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923" y="18974"/>
            <a:ext cx="8705888" cy="103849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033116" y="1075549"/>
            <a:ext cx="5291455" cy="3048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20"/>
              </a:lnSpc>
            </a:pP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Department</a:t>
            </a:r>
            <a:r>
              <a:rPr sz="2000" b="1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000" b="1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Computer</a:t>
            </a:r>
            <a:r>
              <a:rPr sz="2000" b="1" spc="-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Science</a:t>
            </a:r>
            <a:r>
              <a:rPr sz="2000" b="1" spc="-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0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 Engineering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3124200" y="1525619"/>
            <a:ext cx="331852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 smtClean="0">
                <a:solidFill>
                  <a:srgbClr val="0C0C0C"/>
                </a:solidFill>
              </a:rPr>
              <a:t>C</a:t>
            </a:r>
            <a:r>
              <a:rPr lang="en-US" sz="2400" dirty="0" smtClean="0">
                <a:solidFill>
                  <a:srgbClr val="0C0C0C"/>
                </a:solidFill>
              </a:rPr>
              <a:t>C</a:t>
            </a:r>
            <a:r>
              <a:rPr sz="2400" dirty="0" smtClean="0">
                <a:solidFill>
                  <a:srgbClr val="0C0C0C"/>
                </a:solidFill>
              </a:rPr>
              <a:t>D</a:t>
            </a:r>
            <a:r>
              <a:rPr sz="2400" spc="-40" dirty="0" smtClean="0">
                <a:solidFill>
                  <a:srgbClr val="0C0C0C"/>
                </a:solidFill>
              </a:rPr>
              <a:t> </a:t>
            </a:r>
            <a:r>
              <a:rPr sz="2400" dirty="0">
                <a:solidFill>
                  <a:srgbClr val="0C0C0C"/>
                </a:solidFill>
              </a:rPr>
              <a:t>415</a:t>
            </a:r>
            <a:r>
              <a:rPr sz="2400" spc="-35" dirty="0">
                <a:solidFill>
                  <a:srgbClr val="0C0C0C"/>
                </a:solidFill>
              </a:rPr>
              <a:t> </a:t>
            </a:r>
            <a:r>
              <a:rPr sz="2400" dirty="0">
                <a:solidFill>
                  <a:srgbClr val="0C0C0C"/>
                </a:solidFill>
              </a:rPr>
              <a:t>Project</a:t>
            </a:r>
            <a:r>
              <a:rPr sz="2400" spc="-30" dirty="0">
                <a:solidFill>
                  <a:srgbClr val="0C0C0C"/>
                </a:solidFill>
              </a:rPr>
              <a:t> </a:t>
            </a:r>
            <a:r>
              <a:rPr sz="2400" dirty="0">
                <a:solidFill>
                  <a:srgbClr val="0C0C0C"/>
                </a:solidFill>
              </a:rPr>
              <a:t>Phase</a:t>
            </a:r>
            <a:r>
              <a:rPr sz="2400" spc="-40" dirty="0">
                <a:solidFill>
                  <a:srgbClr val="0C0C0C"/>
                </a:solidFill>
              </a:rPr>
              <a:t> </a:t>
            </a:r>
            <a:r>
              <a:rPr sz="2400" spc="-60" dirty="0">
                <a:solidFill>
                  <a:srgbClr val="0C0C0C"/>
                </a:solidFill>
              </a:rPr>
              <a:t>I</a:t>
            </a:r>
            <a:endParaRPr sz="2400" dirty="0"/>
          </a:p>
        </p:txBody>
      </p:sp>
      <p:sp>
        <p:nvSpPr>
          <p:cNvPr id="5" name="object 5"/>
          <p:cNvSpPr txBox="1"/>
          <p:nvPr/>
        </p:nvSpPr>
        <p:spPr>
          <a:xfrm>
            <a:off x="1224927" y="1613252"/>
            <a:ext cx="7217409" cy="1525931"/>
          </a:xfrm>
          <a:prstGeom prst="rect">
            <a:avLst/>
          </a:prstGeom>
        </p:spPr>
        <p:txBody>
          <a:bodyPr vert="horz" wrap="square" lIns="0" tIns="20002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575"/>
              </a:spcBef>
            </a:pPr>
            <a:r>
              <a:rPr sz="2200" b="1" dirty="0">
                <a:solidFill>
                  <a:srgbClr val="0C0C0C"/>
                </a:solidFill>
                <a:latin typeface="Times New Roman"/>
                <a:cs typeface="Times New Roman"/>
              </a:rPr>
              <a:t>First</a:t>
            </a:r>
            <a:r>
              <a:rPr sz="2200" b="1" spc="-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2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Review</a:t>
            </a:r>
            <a:endParaRPr sz="2200" dirty="0">
              <a:latin typeface="Times New Roman"/>
              <a:cs typeface="Times New Roman"/>
            </a:endParaRPr>
          </a:p>
          <a:p>
            <a:pPr marL="12065" marR="5080" indent="635" algn="ctr">
              <a:lnSpc>
                <a:spcPct val="80000"/>
              </a:lnSpc>
              <a:spcBef>
                <a:spcPts val="2455"/>
              </a:spcBef>
            </a:pPr>
            <a:r>
              <a:rPr lang="en-US" sz="27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SECURE REMOTE NETWORK ACCESS USING TWIN GATE AND RASPBERRY PI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98312" y="4485749"/>
            <a:ext cx="2026285" cy="11285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0"/>
              </a:lnSpc>
              <a:spcBef>
                <a:spcPts val="100"/>
              </a:spcBef>
            </a:pPr>
            <a:r>
              <a:rPr sz="2000" b="1" dirty="0">
                <a:solidFill>
                  <a:srgbClr val="0C0C0C"/>
                </a:solidFill>
                <a:latin typeface="Times New Roman"/>
                <a:cs typeface="Times New Roman"/>
              </a:rPr>
              <a:t>Guided</a:t>
            </a:r>
            <a:r>
              <a:rPr sz="2000" b="1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By,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ts val="1820"/>
              </a:lnSpc>
            </a:pPr>
            <a:r>
              <a:rPr sz="1700" dirty="0" smtClean="0">
                <a:solidFill>
                  <a:srgbClr val="0C0C0C"/>
                </a:solidFill>
                <a:latin typeface="Times New Roman"/>
                <a:cs typeface="Times New Roman"/>
              </a:rPr>
              <a:t>M</a:t>
            </a:r>
            <a:r>
              <a:rPr lang="en-US" sz="1700" dirty="0" smtClean="0">
                <a:solidFill>
                  <a:srgbClr val="0C0C0C"/>
                </a:solidFill>
                <a:latin typeface="Times New Roman"/>
                <a:cs typeface="Times New Roman"/>
              </a:rPr>
              <a:t>s</a:t>
            </a:r>
            <a:r>
              <a:rPr sz="170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r>
              <a:rPr sz="1700" spc="-70" dirty="0" smtClean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1700" dirty="0" smtClean="0">
                <a:solidFill>
                  <a:srgbClr val="0C0C0C"/>
                </a:solidFill>
                <a:latin typeface="Times New Roman"/>
                <a:cs typeface="Times New Roman"/>
              </a:rPr>
              <a:t>FARBEENA</a:t>
            </a:r>
            <a:r>
              <a:rPr sz="1700" spc="-60" dirty="0" smtClean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1700" spc="-50" dirty="0">
                <a:solidFill>
                  <a:srgbClr val="0C0C0C"/>
                </a:solidFill>
                <a:latin typeface="Times New Roman"/>
                <a:cs typeface="Times New Roman"/>
              </a:rPr>
              <a:t>N</a:t>
            </a:r>
            <a:endParaRPr sz="1700" dirty="0">
              <a:latin typeface="Times New Roman"/>
              <a:cs typeface="Times New Roman"/>
            </a:endParaRPr>
          </a:p>
          <a:p>
            <a:pPr marL="12700" marR="5080">
              <a:lnSpc>
                <a:spcPts val="2160"/>
              </a:lnSpc>
              <a:spcBef>
                <a:spcPts val="150"/>
              </a:spcBef>
            </a:pP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Assistant</a:t>
            </a:r>
            <a:r>
              <a:rPr sz="2000" spc="-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Professor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Department</a:t>
            </a:r>
            <a:r>
              <a:rPr sz="20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000" spc="-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spc="-25" dirty="0">
                <a:solidFill>
                  <a:srgbClr val="0C0C0C"/>
                </a:solidFill>
                <a:latin typeface="Times New Roman"/>
                <a:cs typeface="Times New Roman"/>
              </a:rPr>
              <a:t>CSE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2651" y="4480467"/>
            <a:ext cx="1480820" cy="261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b="1" dirty="0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1550" b="1" spc="-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Members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03513" y="4716687"/>
            <a:ext cx="3119120" cy="962443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18770" indent="-306070">
              <a:lnSpc>
                <a:spcPct val="100000"/>
              </a:lnSpc>
              <a:spcBef>
                <a:spcPts val="725"/>
              </a:spcBef>
              <a:buClr>
                <a:srgbClr val="4472C4"/>
              </a:buClr>
              <a:buAutoNum type="arabicPeriod"/>
              <a:tabLst>
                <a:tab pos="318770" algn="l"/>
              </a:tabLst>
            </a:pPr>
            <a:r>
              <a:rPr lang="en-US" sz="1550" spc="-85" dirty="0" smtClean="0">
                <a:solidFill>
                  <a:srgbClr val="0C0C0C"/>
                </a:solidFill>
                <a:latin typeface="Times New Roman"/>
                <a:cs typeface="Times New Roman"/>
              </a:rPr>
              <a:t>AKSHAY</a:t>
            </a:r>
            <a:r>
              <a:rPr sz="1550" spc="-90" dirty="0" smtClean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lang="en-US" sz="1550" spc="-90" dirty="0" smtClean="0">
                <a:solidFill>
                  <a:srgbClr val="0C0C0C"/>
                </a:solidFill>
                <a:latin typeface="Times New Roman"/>
                <a:cs typeface="Times New Roman"/>
              </a:rPr>
              <a:t>N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(JCE23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CC008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630"/>
              </a:spcBef>
              <a:buClr>
                <a:srgbClr val="4472C4"/>
              </a:buClr>
              <a:buAutoNum type="arabicPeriod"/>
              <a:tabLst>
                <a:tab pos="318770" algn="l"/>
              </a:tabLst>
            </a:pPr>
            <a:r>
              <a:rPr lang="en-US" sz="1550" spc="-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ABHISHEK KB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(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L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JCE23C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C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0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34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  <a:p>
            <a:pPr marL="318770" indent="-306070">
              <a:lnSpc>
                <a:spcPct val="100000"/>
              </a:lnSpc>
              <a:spcBef>
                <a:spcPts val="630"/>
              </a:spcBef>
              <a:buClr>
                <a:srgbClr val="4472C4"/>
              </a:buClr>
              <a:buAutoNum type="arabicPeriod"/>
              <a:tabLst>
                <a:tab pos="318770" algn="l"/>
              </a:tabLst>
            </a:pPr>
            <a:r>
              <a:rPr sz="1550" spc="-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S</a:t>
            </a:r>
            <a:r>
              <a:rPr lang="en-US" sz="1550" spc="-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HANID ALI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(JCE23C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C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0</a:t>
            </a:r>
            <a:r>
              <a:rPr lang="en-US"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27</a:t>
            </a:r>
            <a:r>
              <a:rPr sz="15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)</a:t>
            </a:r>
            <a:endParaRPr sz="1550" dirty="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" y="6231004"/>
            <a:ext cx="8915399" cy="62699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-6350" y="-6350"/>
            <a:ext cx="134620" cy="6870700"/>
            <a:chOff x="-6350" y="-6350"/>
            <a:chExt cx="134620" cy="6870700"/>
          </a:xfrm>
        </p:grpSpPr>
        <p:sp>
          <p:nvSpPr>
            <p:cNvPr id="11" name="object 11"/>
            <p:cNvSpPr/>
            <p:nvPr/>
          </p:nvSpPr>
          <p:spPr>
            <a:xfrm>
              <a:off x="0" y="0"/>
              <a:ext cx="121920" cy="6858000"/>
            </a:xfrm>
            <a:custGeom>
              <a:avLst/>
              <a:gdLst/>
              <a:ahLst/>
              <a:cxnLst/>
              <a:rect l="l" t="t" r="r" b="b"/>
              <a:pathLst>
                <a:path w="121920" h="6858000">
                  <a:moveTo>
                    <a:pt x="12191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" y="0"/>
                  </a:lnTo>
                  <a:lnTo>
                    <a:pt x="121919" y="6857999"/>
                  </a:lnTo>
                  <a:close/>
                </a:path>
              </a:pathLst>
            </a:custGeom>
            <a:solidFill>
              <a:srgbClr val="ED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0"/>
              <a:ext cx="121920" cy="6858000"/>
            </a:xfrm>
            <a:custGeom>
              <a:avLst/>
              <a:gdLst/>
              <a:ahLst/>
              <a:cxnLst/>
              <a:rect l="l" t="t" r="r" b="b"/>
              <a:pathLst>
                <a:path w="121920" h="6858000">
                  <a:moveTo>
                    <a:pt x="121919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121919" y="6857999"/>
                  </a:lnTo>
                  <a:lnTo>
                    <a:pt x="121919" y="0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4603513" y="4111135"/>
            <a:ext cx="2560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Group No. :08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lang="en-IN" spc="-50" smtClean="0"/>
              <a:t>1</a:t>
            </a:fld>
            <a:endParaRPr lang="en-IN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262012" y="644527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2135664" y="6445272"/>
            <a:ext cx="190293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</a:pPr>
            <a:r>
              <a:rPr lang="en-US" dirty="0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76559" y="39762"/>
            <a:ext cx="25990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0989" y="690019"/>
            <a:ext cx="6094730" cy="533908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91770" indent="-179070">
              <a:lnSpc>
                <a:spcPct val="100000"/>
              </a:lnSpc>
              <a:spcBef>
                <a:spcPts val="4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Abstract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Introduction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dirty="0">
                <a:solidFill>
                  <a:srgbClr val="0C0C0C"/>
                </a:solidFill>
                <a:latin typeface="Times New Roman"/>
                <a:cs typeface="Times New Roman"/>
              </a:rPr>
              <a:t>Problem</a:t>
            </a:r>
            <a:r>
              <a:rPr sz="2600" b="1" spc="-1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Definition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Objectives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Background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Literature</a:t>
            </a:r>
            <a:r>
              <a:rPr sz="2600" b="1" spc="-114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Survey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Comparative</a:t>
            </a:r>
            <a:r>
              <a:rPr sz="2600" b="1" spc="-7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Analysis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Proposed</a:t>
            </a:r>
            <a:r>
              <a:rPr sz="2600" b="1" spc="-1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70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dirty="0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2600" b="1" spc="-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C0C0C"/>
                </a:solidFill>
                <a:latin typeface="Times New Roman"/>
                <a:cs typeface="Times New Roman"/>
              </a:rPr>
              <a:t>Planning</a:t>
            </a:r>
            <a:r>
              <a:rPr sz="2600" b="1" spc="-9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600" b="1" spc="-9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Scheduling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35" dirty="0">
                <a:solidFill>
                  <a:srgbClr val="0C0C0C"/>
                </a:solidFill>
                <a:latin typeface="Times New Roman"/>
                <a:cs typeface="Times New Roman"/>
              </a:rPr>
              <a:t>Resource/Task</a:t>
            </a:r>
            <a:r>
              <a:rPr sz="2600" b="1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Identification</a:t>
            </a:r>
            <a:r>
              <a:rPr sz="2600" b="1" spc="-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30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600" b="1" spc="-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Allocation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Conclusion</a:t>
            </a:r>
            <a:endParaRPr sz="2600" dirty="0">
              <a:latin typeface="Times New Roman"/>
              <a:cs typeface="Times New Roman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"/>
              <a:buChar char="•"/>
              <a:tabLst>
                <a:tab pos="191770" algn="l"/>
              </a:tabLst>
            </a:pPr>
            <a:r>
              <a:rPr sz="26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References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90600" y="6445272"/>
            <a:ext cx="1147712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-C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2135664" y="6445272"/>
            <a:ext cx="1902936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</a:pPr>
            <a:r>
              <a:rPr lang="en-US" dirty="0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5904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26458" y="408856"/>
            <a:ext cx="306451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6384" y="1344858"/>
            <a:ext cx="8409940" cy="44903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9075" marR="51435" indent="-207010">
              <a:lnSpc>
                <a:spcPct val="152300"/>
              </a:lnSpc>
              <a:spcBef>
                <a:spcPts val="95"/>
              </a:spcBef>
              <a:buFont typeface="Arial MT"/>
              <a:buChar char="•"/>
              <a:tabLst>
                <a:tab pos="21907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Secure remote network access is essential for connecting users to private network resources while maintaining strong security and access control.</a:t>
            </a:r>
            <a:endParaRPr sz="1750" dirty="0" smtClean="0">
              <a:latin typeface="Times New Roman"/>
              <a:cs typeface="Times New Roman"/>
            </a:endParaRPr>
          </a:p>
          <a:p>
            <a:pPr marL="219075" marR="473709" indent="-207010">
              <a:lnSpc>
                <a:spcPct val="152300"/>
              </a:lnSpc>
              <a:spcBef>
                <a:spcPts val="1000"/>
              </a:spcBef>
              <a:buFont typeface="Arial MT"/>
              <a:buChar char="•"/>
              <a:tabLst>
                <a:tab pos="21907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Traditional remote access methods such as Virtual Private Networks (VPNs) may require firewall modifications, port forwarding, public IP addresses, and complex network configurations, increasing deployment complexity and potential security risks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 smtClean="0">
              <a:latin typeface="Times New Roman"/>
              <a:cs typeface="Times New Roman"/>
            </a:endParaRPr>
          </a:p>
          <a:p>
            <a:pPr marL="219075" marR="5080" indent="-207010">
              <a:lnSpc>
                <a:spcPct val="152300"/>
              </a:lnSpc>
              <a:spcBef>
                <a:spcPts val="1000"/>
              </a:spcBef>
              <a:buFont typeface="Arial MT"/>
              <a:buChar char="•"/>
              <a:tabLst>
                <a:tab pos="21907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A Raspberry Pi is configured as a network connector for Twingate, enabling remote devices to securely access authorized internal resources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9075" marR="414020" indent="-207010">
              <a:lnSpc>
                <a:spcPct val="152300"/>
              </a:lnSpc>
              <a:spcBef>
                <a:spcPts val="1000"/>
              </a:spcBef>
              <a:buFont typeface="Arial MT"/>
              <a:buChar char="•"/>
              <a:tabLst>
                <a:tab pos="21907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Twingate provides cloud-based management, authentication, device verification, granular access policies, and activity logging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12681" y="130319"/>
            <a:ext cx="44958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1100" y="973112"/>
            <a:ext cx="8606155" cy="522354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3995" marR="226060" indent="-201930">
              <a:lnSpc>
                <a:spcPct val="121800"/>
              </a:lnSpc>
              <a:spcBef>
                <a:spcPts val="95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Secure remote access enables users to connect to private network resources from different locations while maintaining confidentiality and controlled access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3995" marR="655955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Traditional network access methods often provide broad connectivity once a user enters the network. Zero Trust improves security by continuously verifying users and devices before granting access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3995" marR="290830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Twingate provides a Zero Trust Network Access approach that uses identity-based authentication and least-privilege policies to provide access only to authorized resources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3995" marR="414020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A Raspberry Pi can function as a lightweight network connector, linking internal network resources with the Twingate platform without requiring complex network infrastructure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3995" marR="5080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Cloud-based management, device verification, access policies, and activity logging help administrators control and monitor remote access securely</a:t>
            </a:r>
            <a:r>
              <a:rPr sz="1750" spc="-10" dirty="0" smtClean="0">
                <a:latin typeface="Times New Roman"/>
                <a:cs typeface="Times New Roman"/>
              </a:rPr>
              <a:t>.</a:t>
            </a:r>
            <a:endParaRPr sz="1750" dirty="0">
              <a:latin typeface="Times New Roman"/>
              <a:cs typeface="Times New Roman"/>
            </a:endParaRPr>
          </a:p>
          <a:p>
            <a:pPr marL="213995" marR="588010" indent="-201930">
              <a:lnSpc>
                <a:spcPct val="121800"/>
              </a:lnSpc>
              <a:spcBef>
                <a:spcPts val="1000"/>
              </a:spcBef>
              <a:buFont typeface="Arial MT"/>
              <a:buChar char="•"/>
              <a:tabLst>
                <a:tab pos="213995" algn="l"/>
              </a:tabLst>
            </a:pPr>
            <a:r>
              <a:rPr lang="en-US" sz="1750" dirty="0" smtClean="0">
                <a:latin typeface="Times New Roman"/>
                <a:cs typeface="Times New Roman"/>
              </a:rPr>
              <a:t>Integration with the Twingate API and Python-based automation can reduce manual configuration, support dynamic resource registration, and simplify network administration.</a:t>
            </a:r>
            <a:endParaRPr sz="1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73681" y="408856"/>
            <a:ext cx="637095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60" dirty="0"/>
              <a:t> </a:t>
            </a:r>
            <a:r>
              <a:rPr spc="-10" dirty="0"/>
              <a:t>DEFINITION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64331" y="1441306"/>
            <a:ext cx="8599805" cy="5104801"/>
          </a:xfrm>
          <a:prstGeom prst="rect">
            <a:avLst/>
          </a:prstGeom>
        </p:spPr>
        <p:txBody>
          <a:bodyPr vert="horz" wrap="square" lIns="0" tIns="110560" rIns="0" bIns="0" rtlCol="0">
            <a:spAutoFit/>
          </a:bodyPr>
          <a:lstStyle/>
          <a:p>
            <a:pPr marL="209550" marR="16510" indent="-189230">
              <a:lnSpc>
                <a:spcPct val="100699"/>
              </a:lnSpc>
              <a:spcBef>
                <a:spcPts val="95"/>
              </a:spcBef>
              <a:buFont typeface="Arial MT"/>
              <a:buChar char="•"/>
              <a:tabLst>
                <a:tab pos="210820" algn="l"/>
              </a:tabLst>
            </a:pPr>
            <a:r>
              <a:rPr lang="en-US" dirty="0"/>
              <a:t>Traditional VPN-based remote access often requires firewall modifications, port forwarding, public IP addresses, and complex network configurations, making deployment difficult</a:t>
            </a:r>
            <a:r>
              <a:rPr spc="-10" dirty="0" smtClean="0"/>
              <a:t>.</a:t>
            </a:r>
            <a:endParaRPr spc="-10" dirty="0"/>
          </a:p>
          <a:p>
            <a:pPr marL="209550" marR="24765" indent="-189230">
              <a:lnSpc>
                <a:spcPct val="100699"/>
              </a:lnSpc>
              <a:spcBef>
                <a:spcPts val="1005"/>
              </a:spcBef>
              <a:buFont typeface="Arial MT"/>
              <a:buChar char="•"/>
              <a:tabLst>
                <a:tab pos="210820" algn="l"/>
              </a:tabLst>
            </a:pPr>
            <a:r>
              <a:rPr lang="en-US" dirty="0"/>
              <a:t>Conventional remote access methods may provide users with wider network access than necessary, increasing the risk of unauthorized access to internal resources</a:t>
            </a:r>
            <a:r>
              <a:rPr spc="-10" dirty="0" smtClean="0"/>
              <a:t>.</a:t>
            </a:r>
            <a:endParaRPr spc="-10" dirty="0"/>
          </a:p>
          <a:p>
            <a:pPr marL="209550" marR="23495" indent="-189230">
              <a:lnSpc>
                <a:spcPct val="100699"/>
              </a:lnSpc>
              <a:spcBef>
                <a:spcPts val="1000"/>
              </a:spcBef>
              <a:buFont typeface="Arial MT"/>
              <a:buChar char="•"/>
              <a:tabLst>
                <a:tab pos="210820" algn="l"/>
              </a:tabLst>
            </a:pPr>
            <a:r>
              <a:rPr dirty="0"/>
              <a:t>Villagers</a:t>
            </a:r>
            <a:r>
              <a:rPr spc="130" dirty="0"/>
              <a:t> </a:t>
            </a:r>
            <a:r>
              <a:rPr dirty="0"/>
              <a:t>have</a:t>
            </a:r>
            <a:r>
              <a:rPr spc="130" dirty="0"/>
              <a:t> </a:t>
            </a:r>
            <a:r>
              <a:rPr dirty="0"/>
              <a:t>no</a:t>
            </a:r>
            <a:r>
              <a:rPr spc="135" dirty="0"/>
              <a:t> </a:t>
            </a:r>
            <a:r>
              <a:rPr dirty="0"/>
              <a:t>advance,</a:t>
            </a:r>
            <a:r>
              <a:rPr spc="130" dirty="0"/>
              <a:t> </a:t>
            </a:r>
            <a:r>
              <a:rPr dirty="0"/>
              <a:t>location-specific</a:t>
            </a:r>
            <a:r>
              <a:rPr spc="135" dirty="0"/>
              <a:t> </a:t>
            </a:r>
            <a:r>
              <a:rPr dirty="0"/>
              <a:t>warning,</a:t>
            </a:r>
            <a:r>
              <a:rPr spc="130" dirty="0"/>
              <a:t> </a:t>
            </a:r>
            <a:r>
              <a:rPr dirty="0"/>
              <a:t>so</a:t>
            </a:r>
            <a:r>
              <a:rPr spc="135" dirty="0"/>
              <a:t> </a:t>
            </a:r>
            <a:r>
              <a:rPr dirty="0"/>
              <a:t>unfamiliar</a:t>
            </a:r>
            <a:r>
              <a:rPr spc="130" dirty="0"/>
              <a:t> </a:t>
            </a:r>
            <a:r>
              <a:rPr dirty="0"/>
              <a:t>or</a:t>
            </a:r>
            <a:r>
              <a:rPr spc="130" dirty="0"/>
              <a:t> </a:t>
            </a:r>
            <a:r>
              <a:rPr spc="-10" dirty="0"/>
              <a:t>nighttime 	</a:t>
            </a:r>
            <a:r>
              <a:rPr dirty="0"/>
              <a:t>routes</a:t>
            </a:r>
            <a:r>
              <a:rPr spc="5" dirty="0"/>
              <a:t> </a:t>
            </a:r>
            <a:r>
              <a:rPr dirty="0"/>
              <a:t>can</a:t>
            </a:r>
            <a:r>
              <a:rPr spc="10" dirty="0"/>
              <a:t> </a:t>
            </a:r>
            <a:r>
              <a:rPr dirty="0"/>
              <a:t>pass</a:t>
            </a:r>
            <a:r>
              <a:rPr spc="10" dirty="0"/>
              <a:t> </a:t>
            </a:r>
            <a:r>
              <a:rPr dirty="0"/>
              <a:t>directly</a:t>
            </a:r>
            <a:r>
              <a:rPr spc="10" dirty="0"/>
              <a:t> </a:t>
            </a:r>
            <a:r>
              <a:rPr dirty="0"/>
              <a:t>through</a:t>
            </a:r>
            <a:r>
              <a:rPr spc="10" dirty="0"/>
              <a:t> </a:t>
            </a:r>
            <a:r>
              <a:rPr dirty="0"/>
              <a:t>a</a:t>
            </a:r>
            <a:r>
              <a:rPr spc="10" dirty="0"/>
              <a:t> </a:t>
            </a:r>
            <a:r>
              <a:rPr dirty="0"/>
              <a:t>danger</a:t>
            </a:r>
            <a:r>
              <a:rPr spc="10" dirty="0"/>
              <a:t> </a:t>
            </a:r>
            <a:r>
              <a:rPr spc="-10" dirty="0"/>
              <a:t>zone.</a:t>
            </a:r>
          </a:p>
          <a:p>
            <a:pPr marL="209550" marR="24130" indent="-189230">
              <a:lnSpc>
                <a:spcPct val="100699"/>
              </a:lnSpc>
              <a:spcBef>
                <a:spcPts val="1000"/>
              </a:spcBef>
              <a:buFont typeface="Arial MT"/>
              <a:buChar char="•"/>
              <a:tabLst>
                <a:tab pos="210820" algn="l"/>
              </a:tabLst>
            </a:pPr>
            <a:r>
              <a:rPr dirty="0"/>
              <a:t>RRT</a:t>
            </a:r>
            <a:r>
              <a:rPr spc="100" dirty="0"/>
              <a:t>  </a:t>
            </a:r>
            <a:r>
              <a:rPr dirty="0"/>
              <a:t>members</a:t>
            </a:r>
            <a:r>
              <a:rPr spc="120" dirty="0"/>
              <a:t>  </a:t>
            </a:r>
            <a:r>
              <a:rPr dirty="0"/>
              <a:t>currently</a:t>
            </a:r>
            <a:r>
              <a:rPr spc="125" dirty="0"/>
              <a:t>  </a:t>
            </a:r>
            <a:r>
              <a:rPr dirty="0"/>
              <a:t>have</a:t>
            </a:r>
            <a:r>
              <a:rPr spc="120" dirty="0"/>
              <a:t>  </a:t>
            </a:r>
            <a:r>
              <a:rPr dirty="0"/>
              <a:t>no</a:t>
            </a:r>
            <a:r>
              <a:rPr spc="120" dirty="0"/>
              <a:t>  </a:t>
            </a:r>
            <a:r>
              <a:rPr dirty="0"/>
              <a:t>prior</a:t>
            </a:r>
            <a:r>
              <a:rPr spc="125" dirty="0"/>
              <a:t>  </a:t>
            </a:r>
            <a:r>
              <a:rPr dirty="0"/>
              <a:t>information</a:t>
            </a:r>
            <a:r>
              <a:rPr spc="120" dirty="0"/>
              <a:t>  </a:t>
            </a:r>
            <a:r>
              <a:rPr dirty="0"/>
              <a:t>(animal</a:t>
            </a:r>
            <a:r>
              <a:rPr spc="120" dirty="0"/>
              <a:t>  </a:t>
            </a:r>
            <a:r>
              <a:rPr dirty="0"/>
              <a:t>type,</a:t>
            </a:r>
            <a:r>
              <a:rPr spc="125" dirty="0"/>
              <a:t>  </a:t>
            </a:r>
            <a:r>
              <a:rPr spc="-10" dirty="0"/>
              <a:t>distance, 	</a:t>
            </a:r>
            <a:r>
              <a:rPr dirty="0"/>
              <a:t>movement</a:t>
            </a:r>
            <a:r>
              <a:rPr spc="10" dirty="0"/>
              <a:t> </a:t>
            </a:r>
            <a:r>
              <a:rPr dirty="0"/>
              <a:t>direction)</a:t>
            </a:r>
            <a:r>
              <a:rPr spc="15" dirty="0"/>
              <a:t> </a:t>
            </a:r>
            <a:r>
              <a:rPr dirty="0"/>
              <a:t>before</a:t>
            </a:r>
            <a:r>
              <a:rPr spc="10" dirty="0"/>
              <a:t> </a:t>
            </a:r>
            <a:r>
              <a:rPr dirty="0"/>
              <a:t>reaching</a:t>
            </a:r>
            <a:r>
              <a:rPr spc="15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site,</a:t>
            </a:r>
            <a:r>
              <a:rPr spc="15" dirty="0"/>
              <a:t> </a:t>
            </a:r>
            <a:r>
              <a:rPr dirty="0"/>
              <a:t>delaying</a:t>
            </a:r>
            <a:r>
              <a:rPr spc="10" dirty="0"/>
              <a:t> </a:t>
            </a:r>
            <a:r>
              <a:rPr dirty="0"/>
              <a:t>an</a:t>
            </a:r>
            <a:r>
              <a:rPr spc="15" dirty="0"/>
              <a:t> </a:t>
            </a:r>
            <a:r>
              <a:rPr dirty="0"/>
              <a:t>informed</a:t>
            </a:r>
            <a:r>
              <a:rPr spc="10" dirty="0"/>
              <a:t> </a:t>
            </a:r>
            <a:r>
              <a:rPr spc="-10" dirty="0"/>
              <a:t>response.</a:t>
            </a:r>
          </a:p>
          <a:p>
            <a:pPr marL="209550" marR="5080" indent="-189230">
              <a:lnSpc>
                <a:spcPct val="100800"/>
              </a:lnSpc>
              <a:spcBef>
                <a:spcPts val="1000"/>
              </a:spcBef>
              <a:buFont typeface="Arial MT"/>
              <a:buChar char="•"/>
              <a:tabLst>
                <a:tab pos="210820" algn="l"/>
              </a:tabLst>
            </a:pPr>
            <a:r>
              <a:rPr dirty="0"/>
              <a:t>There</a:t>
            </a:r>
            <a:r>
              <a:rPr spc="375" dirty="0"/>
              <a:t> </a:t>
            </a:r>
            <a:r>
              <a:rPr dirty="0"/>
              <a:t>is</a:t>
            </a:r>
            <a:r>
              <a:rPr spc="380" dirty="0"/>
              <a:t> </a:t>
            </a:r>
            <a:r>
              <a:rPr dirty="0"/>
              <a:t>no</a:t>
            </a:r>
            <a:r>
              <a:rPr spc="375" dirty="0"/>
              <a:t> </a:t>
            </a:r>
            <a:r>
              <a:rPr dirty="0"/>
              <a:t>historical</a:t>
            </a:r>
            <a:r>
              <a:rPr spc="380" dirty="0"/>
              <a:t> </a:t>
            </a:r>
            <a:r>
              <a:rPr dirty="0"/>
              <a:t>record</a:t>
            </a:r>
            <a:r>
              <a:rPr spc="380" dirty="0"/>
              <a:t> </a:t>
            </a:r>
            <a:r>
              <a:rPr dirty="0"/>
              <a:t>of</a:t>
            </a:r>
            <a:r>
              <a:rPr spc="375" dirty="0"/>
              <a:t> </a:t>
            </a:r>
            <a:r>
              <a:rPr dirty="0"/>
              <a:t>intrusion</a:t>
            </a:r>
            <a:r>
              <a:rPr spc="380" dirty="0"/>
              <a:t> </a:t>
            </a:r>
            <a:r>
              <a:rPr dirty="0"/>
              <a:t>patterns,</a:t>
            </a:r>
            <a:r>
              <a:rPr spc="380" dirty="0"/>
              <a:t> </a:t>
            </a:r>
            <a:r>
              <a:rPr dirty="0"/>
              <a:t>so</a:t>
            </a:r>
            <a:r>
              <a:rPr spc="375" dirty="0"/>
              <a:t> </a:t>
            </a:r>
            <a:r>
              <a:rPr dirty="0"/>
              <a:t>hotspots</a:t>
            </a:r>
            <a:r>
              <a:rPr spc="380" dirty="0"/>
              <a:t> </a:t>
            </a:r>
            <a:r>
              <a:rPr dirty="0"/>
              <a:t>and</a:t>
            </a:r>
            <a:r>
              <a:rPr spc="375" dirty="0"/>
              <a:t> </a:t>
            </a:r>
            <a:r>
              <a:rPr dirty="0"/>
              <a:t>risk</a:t>
            </a:r>
            <a:r>
              <a:rPr spc="380" dirty="0"/>
              <a:t> </a:t>
            </a:r>
            <a:r>
              <a:rPr spc="-10" dirty="0"/>
              <a:t>trends 	</a:t>
            </a:r>
            <a:r>
              <a:rPr dirty="0"/>
              <a:t>cannot</a:t>
            </a:r>
            <a:r>
              <a:rPr spc="5" dirty="0"/>
              <a:t> </a:t>
            </a:r>
            <a:r>
              <a:rPr dirty="0"/>
              <a:t>be</a:t>
            </a:r>
            <a:r>
              <a:rPr spc="10" dirty="0"/>
              <a:t> </a:t>
            </a:r>
            <a:r>
              <a:rPr dirty="0"/>
              <a:t>identified</a:t>
            </a:r>
            <a:r>
              <a:rPr spc="10" dirty="0"/>
              <a:t> </a:t>
            </a:r>
            <a:r>
              <a:rPr dirty="0"/>
              <a:t>or</a:t>
            </a:r>
            <a:r>
              <a:rPr spc="10" dirty="0"/>
              <a:t> </a:t>
            </a:r>
            <a:r>
              <a:rPr dirty="0"/>
              <a:t>planned</a:t>
            </a:r>
            <a:r>
              <a:rPr spc="10" dirty="0"/>
              <a:t> </a:t>
            </a:r>
            <a:r>
              <a:rPr spc="-20" dirty="0"/>
              <a:t>for.</a:t>
            </a:r>
          </a:p>
          <a:p>
            <a:pPr marL="209550" marR="5080" indent="-189230">
              <a:lnSpc>
                <a:spcPct val="100699"/>
              </a:lnSpc>
              <a:spcBef>
                <a:spcPts val="1000"/>
              </a:spcBef>
              <a:buFont typeface="Arial MT"/>
              <a:buChar char="•"/>
              <a:tabLst>
                <a:tab pos="210820" algn="l"/>
              </a:tabLst>
            </a:pPr>
            <a:r>
              <a:rPr dirty="0"/>
              <a:t>Hence,</a:t>
            </a:r>
            <a:r>
              <a:rPr spc="300" dirty="0"/>
              <a:t> </a:t>
            </a:r>
            <a:r>
              <a:rPr dirty="0"/>
              <a:t>there</a:t>
            </a:r>
            <a:r>
              <a:rPr spc="305" dirty="0"/>
              <a:t> </a:t>
            </a:r>
            <a:r>
              <a:rPr dirty="0"/>
              <a:t>is</a:t>
            </a:r>
            <a:r>
              <a:rPr spc="305" dirty="0"/>
              <a:t> </a:t>
            </a:r>
            <a:r>
              <a:rPr dirty="0"/>
              <a:t>a</a:t>
            </a:r>
            <a:r>
              <a:rPr spc="305" dirty="0"/>
              <a:t> </a:t>
            </a:r>
            <a:r>
              <a:rPr dirty="0"/>
              <a:t>need</a:t>
            </a:r>
            <a:r>
              <a:rPr spc="305" dirty="0"/>
              <a:t> </a:t>
            </a:r>
            <a:r>
              <a:rPr dirty="0"/>
              <a:t>for</a:t>
            </a:r>
            <a:r>
              <a:rPr spc="305" dirty="0"/>
              <a:t> </a:t>
            </a:r>
            <a:r>
              <a:rPr dirty="0"/>
              <a:t>a</a:t>
            </a:r>
            <a:r>
              <a:rPr spc="300" dirty="0"/>
              <a:t> </a:t>
            </a:r>
            <a:r>
              <a:rPr dirty="0"/>
              <a:t>system</a:t>
            </a:r>
            <a:r>
              <a:rPr spc="305" dirty="0"/>
              <a:t> </a:t>
            </a:r>
            <a:r>
              <a:rPr dirty="0"/>
              <a:t>that</a:t>
            </a:r>
            <a:r>
              <a:rPr spc="305" dirty="0"/>
              <a:t> </a:t>
            </a:r>
            <a:r>
              <a:rPr dirty="0"/>
              <a:t>automatically</a:t>
            </a:r>
            <a:r>
              <a:rPr spc="305" dirty="0"/>
              <a:t> </a:t>
            </a:r>
            <a:r>
              <a:rPr dirty="0"/>
              <a:t>detects,</a:t>
            </a:r>
            <a:r>
              <a:rPr spc="305" dirty="0"/>
              <a:t> </a:t>
            </a:r>
            <a:r>
              <a:rPr dirty="0"/>
              <a:t>verifies,</a:t>
            </a:r>
            <a:r>
              <a:rPr spc="305" dirty="0"/>
              <a:t> </a:t>
            </a:r>
            <a:r>
              <a:rPr spc="-10" dirty="0"/>
              <a:t>scores, 	</a:t>
            </a:r>
            <a:r>
              <a:rPr dirty="0"/>
              <a:t>and</a:t>
            </a:r>
            <a:r>
              <a:rPr spc="15" dirty="0"/>
              <a:t> </a:t>
            </a:r>
            <a:r>
              <a:rPr dirty="0"/>
              <a:t>routes</a:t>
            </a:r>
            <a:r>
              <a:rPr spc="20" dirty="0"/>
              <a:t> </a:t>
            </a:r>
            <a:r>
              <a:rPr dirty="0"/>
              <a:t>wildlife-intrusion</a:t>
            </a:r>
            <a:r>
              <a:rPr spc="15" dirty="0"/>
              <a:t> </a:t>
            </a:r>
            <a:r>
              <a:rPr dirty="0"/>
              <a:t>alerts</a:t>
            </a:r>
            <a:r>
              <a:rPr spc="2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right</a:t>
            </a:r>
            <a:r>
              <a:rPr spc="20" dirty="0"/>
              <a:t> </a:t>
            </a:r>
            <a:r>
              <a:rPr dirty="0"/>
              <a:t>people</a:t>
            </a:r>
            <a:r>
              <a:rPr spc="15" dirty="0"/>
              <a:t> </a:t>
            </a:r>
            <a:r>
              <a:rPr dirty="0"/>
              <a:t>at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right</a:t>
            </a:r>
            <a:r>
              <a:rPr spc="20" dirty="0"/>
              <a:t> </a:t>
            </a:r>
            <a:r>
              <a:rPr spc="-10" dirty="0"/>
              <a:t>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16678" y="272332"/>
            <a:ext cx="356489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1648" y="1319468"/>
            <a:ext cx="860996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4629" indent="-20193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14629" algn="l"/>
                <a:tab pos="660400" algn="l"/>
                <a:tab pos="1502410" algn="l"/>
                <a:tab pos="1794510" algn="l"/>
                <a:tab pos="3482340" algn="l"/>
                <a:tab pos="4493260" algn="l"/>
                <a:tab pos="5052695" algn="l"/>
                <a:tab pos="6543040" algn="l"/>
                <a:tab pos="7624445" algn="l"/>
              </a:tabLst>
            </a:pP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design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Times New Roman"/>
                <a:cs typeface="Times New Roman"/>
              </a:rPr>
              <a:t>	thermal-</a:t>
            </a:r>
            <a:r>
              <a:rPr sz="2000" spc="-10" dirty="0">
                <a:latin typeface="Times New Roman"/>
                <a:cs typeface="Times New Roman"/>
              </a:rPr>
              <a:t>sensor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network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0" dirty="0">
                <a:latin typeface="Times New Roman"/>
                <a:cs typeface="Times New Roman"/>
              </a:rPr>
              <a:t>that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continuously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monitors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identified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648" y="1496887"/>
            <a:ext cx="8609330" cy="2987356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095"/>
              </a:spcBef>
            </a:pPr>
            <a:r>
              <a:rPr sz="2000" dirty="0">
                <a:latin typeface="Times New Roman"/>
                <a:cs typeface="Times New Roman"/>
              </a:rPr>
              <a:t>wildlife-intrusion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hotspots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along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village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boundaries.</a:t>
            </a:r>
            <a:endParaRPr sz="2000" dirty="0">
              <a:latin typeface="Times New Roman"/>
              <a:cs typeface="Times New Roman"/>
            </a:endParaRPr>
          </a:p>
          <a:p>
            <a:pPr marL="213995" marR="26670" indent="-20193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6535" algn="l"/>
              </a:tabLst>
            </a:pP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develop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AI/computer-</a:t>
            </a:r>
            <a:r>
              <a:rPr sz="2000" dirty="0">
                <a:latin typeface="Times New Roman"/>
                <a:cs typeface="Times New Roman"/>
              </a:rPr>
              <a:t>vision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module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verifies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genuine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animal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detections 	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filters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false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alarms.</a:t>
            </a:r>
            <a:endParaRPr sz="2000" dirty="0">
              <a:latin typeface="Times New Roman"/>
              <a:cs typeface="Times New Roman"/>
            </a:endParaRPr>
          </a:p>
          <a:p>
            <a:pPr marL="213995" marR="5080" indent="-201930">
              <a:lnSpc>
                <a:spcPct val="100000"/>
              </a:lnSpc>
              <a:spcBef>
                <a:spcPts val="990"/>
              </a:spcBef>
              <a:buFont typeface="Arial MT"/>
              <a:buChar char="•"/>
              <a:tabLst>
                <a:tab pos="216535" algn="l"/>
              </a:tabLst>
            </a:pPr>
            <a:r>
              <a:rPr lang="en-US" sz="2000" dirty="0" smtClean="0">
                <a:latin typeface="Times New Roman"/>
                <a:cs typeface="Times New Roman"/>
              </a:rPr>
              <a:t>Internal network services may need to be exposed or made reachable from the internet, increasing the potential attack surface and security risks</a:t>
            </a:r>
            <a:r>
              <a:rPr sz="2000" spc="-10" dirty="0" smtClean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213995" marR="29209" indent="-201930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216535" algn="l"/>
              </a:tabLst>
            </a:pPr>
            <a:r>
              <a:rPr lang="en-US" sz="2000" dirty="0" smtClean="0">
                <a:latin typeface="Times New Roman"/>
                <a:cs typeface="Times New Roman"/>
              </a:rPr>
              <a:t>Managing users, devices, permissions, and network resources manually can become complex, especially when multiple users require different levels of access</a:t>
            </a:r>
            <a:r>
              <a:rPr sz="2000" spc="-10" dirty="0" smtClean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280" y="4478111"/>
            <a:ext cx="8602345" cy="1063753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13995" marR="5080" indent="-201930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6535" algn="l"/>
              </a:tabLst>
            </a:pPr>
            <a:r>
              <a:rPr lang="en-US" sz="2000" dirty="0" smtClean="0">
                <a:latin typeface="Times New Roman"/>
                <a:cs typeface="Times New Roman"/>
              </a:rPr>
              <a:t>Traditional approaches may lack simple centralized mechanisms for authentication, access policies, device verification, and monitoring of remote connections</a:t>
            </a:r>
            <a:r>
              <a:rPr sz="2000" spc="-10" dirty="0" smtClean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99142" y="216044"/>
            <a:ext cx="41224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BACKGROUND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5077" y="1164911"/>
            <a:ext cx="8143240" cy="53108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10185" indent="-190500" algn="just">
              <a:lnSpc>
                <a:spcPct val="100000"/>
              </a:lnSpc>
              <a:spcBef>
                <a:spcPts val="120"/>
              </a:spcBef>
              <a:buFont typeface="Arial"/>
              <a:buChar char="•"/>
              <a:tabLst>
                <a:tab pos="210185" algn="l"/>
              </a:tabLst>
            </a:pPr>
            <a:r>
              <a:rPr sz="225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Background</a:t>
            </a:r>
            <a:endParaRPr sz="2250" dirty="0">
              <a:latin typeface="Times New Roman"/>
              <a:cs typeface="Times New Roman"/>
            </a:endParaRPr>
          </a:p>
          <a:p>
            <a:pPr marL="211454" marR="12700" indent="-187325" algn="just">
              <a:lnSpc>
                <a:spcPts val="2100"/>
              </a:lnSpc>
              <a:spcBef>
                <a:spcPts val="235"/>
              </a:spcBef>
              <a:buSzPct val="116216"/>
              <a:buFont typeface="Arial"/>
              <a:buChar char="•"/>
              <a:tabLst>
                <a:tab pos="211454" algn="l"/>
              </a:tabLst>
            </a:pPr>
            <a:r>
              <a:rPr lang="en-US" sz="18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The increasing need to access private network resources remotely has created a demand for secure and reliable remote connectivity solutions</a:t>
            </a:r>
            <a:r>
              <a:rPr sz="18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 dirty="0">
              <a:latin typeface="Times New Roman"/>
              <a:cs typeface="Times New Roman"/>
            </a:endParaRPr>
          </a:p>
          <a:p>
            <a:pPr marL="210185" marR="5715" indent="-198120" algn="just">
              <a:lnSpc>
                <a:spcPct val="122100"/>
              </a:lnSpc>
              <a:spcBef>
                <a:spcPts val="445"/>
              </a:spcBef>
              <a:buFont typeface="Arial MT"/>
              <a:buChar char="•"/>
              <a:tabLst>
                <a:tab pos="211454" algn="l"/>
              </a:tabLst>
            </a:pPr>
            <a:r>
              <a:rPr lang="en-US" sz="18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VPN-based solutions commonly depend on firewall configuration, port forwarding, public IP addresses, and other network settings that can make deployment more complex</a:t>
            </a:r>
            <a:r>
              <a:rPr sz="18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 dirty="0">
              <a:latin typeface="Times New Roman"/>
              <a:cs typeface="Times New Roman"/>
            </a:endParaRPr>
          </a:p>
          <a:p>
            <a:pPr marL="210185" marR="5715" indent="-198120" algn="just">
              <a:lnSpc>
                <a:spcPct val="122100"/>
              </a:lnSpc>
              <a:spcBef>
                <a:spcPts val="1000"/>
              </a:spcBef>
              <a:buFont typeface="Arial MT"/>
              <a:buChar char="•"/>
              <a:tabLst>
                <a:tab pos="211454" algn="l"/>
              </a:tabLst>
            </a:pPr>
            <a:r>
              <a:rPr lang="en-US" sz="18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Zero Trust follows the principle of verifying users and devices before granting access rather than automatically trusting devices within a network</a:t>
            </a:r>
            <a:r>
              <a:rPr sz="18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 dirty="0">
              <a:latin typeface="Times New Roman"/>
              <a:cs typeface="Times New Roman"/>
            </a:endParaRPr>
          </a:p>
          <a:p>
            <a:pPr marL="210185" marR="5080" indent="-198120" algn="just">
              <a:lnSpc>
                <a:spcPct val="122100"/>
              </a:lnSpc>
              <a:spcBef>
                <a:spcPts val="1000"/>
              </a:spcBef>
              <a:buFont typeface="Arial MT"/>
              <a:buChar char="•"/>
              <a:tabLst>
                <a:tab pos="211454" algn="l"/>
              </a:tabLst>
            </a:pPr>
            <a:r>
              <a:rPr lang="en-US" sz="18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Twingate applies identity-based authentication and least-privilege access to ensure that users are provided access only to authorized network resources</a:t>
            </a:r>
            <a:r>
              <a:rPr sz="18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 dirty="0">
              <a:latin typeface="Times New Roman"/>
              <a:cs typeface="Times New Roman"/>
            </a:endParaRPr>
          </a:p>
          <a:p>
            <a:pPr marL="210185" marR="5715" indent="-198120" algn="just">
              <a:lnSpc>
                <a:spcPct val="122100"/>
              </a:lnSpc>
              <a:spcBef>
                <a:spcPts val="1005"/>
              </a:spcBef>
              <a:buFont typeface="Arial MT"/>
              <a:buChar char="•"/>
              <a:tabLst>
                <a:tab pos="211454" algn="l"/>
              </a:tabLst>
            </a:pPr>
            <a:r>
              <a:rPr lang="en-US" sz="1850" dirty="0" smtClean="0">
                <a:solidFill>
                  <a:srgbClr val="0C0C0C"/>
                </a:solidFill>
                <a:latin typeface="Times New Roman"/>
                <a:cs typeface="Times New Roman"/>
              </a:rPr>
              <a:t>The Raspberry Pi provides a low-cost and lightweight platform that can connect internal network resources to the Twingate environment</a:t>
            </a:r>
            <a:r>
              <a:rPr sz="1850" spc="-10" dirty="0" smtClean="0">
                <a:solidFill>
                  <a:srgbClr val="0C0C0C"/>
                </a:solidFill>
                <a:latin typeface="Times New Roman"/>
                <a:cs typeface="Times New Roman"/>
              </a:rPr>
              <a:t>.</a:t>
            </a:r>
            <a:endParaRPr sz="1850" dirty="0">
              <a:latin typeface="Times New Roman"/>
              <a:cs typeface="Times New Roman"/>
            </a:endParaRPr>
          </a:p>
          <a:p>
            <a:pPr marL="210185" marR="6350" indent="-198120" algn="just">
              <a:lnSpc>
                <a:spcPct val="122100"/>
              </a:lnSpc>
              <a:spcBef>
                <a:spcPts val="1000"/>
              </a:spcBef>
              <a:buFont typeface="Arial MT"/>
              <a:buChar char="•"/>
              <a:tabLst>
                <a:tab pos="211454" algn="l"/>
              </a:tabLst>
            </a:pP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Non-lethal</a:t>
            </a:r>
            <a:r>
              <a:rPr sz="1850" spc="9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deterrents</a:t>
            </a:r>
            <a:r>
              <a:rPr sz="1850" spc="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(lights,</a:t>
            </a:r>
            <a:r>
              <a:rPr sz="1850" spc="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sound)</a:t>
            </a:r>
            <a:r>
              <a:rPr sz="1850" spc="9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are</a:t>
            </a:r>
            <a:r>
              <a:rPr sz="1850" spc="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an</a:t>
            </a:r>
            <a:r>
              <a:rPr sz="1850" spc="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accepted,</a:t>
            </a:r>
            <a:r>
              <a:rPr sz="1850" spc="9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Forest-Department-</a:t>
            </a:r>
            <a:r>
              <a:rPr sz="1850" spc="-10" dirty="0">
                <a:solidFill>
                  <a:srgbClr val="0C0C0C"/>
                </a:solidFill>
                <a:latin typeface="Times New Roman"/>
                <a:cs typeface="Times New Roman"/>
              </a:rPr>
              <a:t>approved 	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method</a:t>
            </a:r>
            <a:r>
              <a:rPr sz="1850" spc="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850" spc="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discouraging</a:t>
            </a:r>
            <a:r>
              <a:rPr sz="1850" spc="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animals</a:t>
            </a:r>
            <a:r>
              <a:rPr sz="1850" spc="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0C0C0C"/>
                </a:solidFill>
                <a:latin typeface="Times New Roman"/>
                <a:cs typeface="Times New Roman"/>
              </a:rPr>
              <a:t>without</a:t>
            </a:r>
            <a:r>
              <a:rPr sz="1850" spc="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0C0C0C"/>
                </a:solidFill>
                <a:latin typeface="Times New Roman"/>
                <a:cs typeface="Times New Roman"/>
              </a:rPr>
              <a:t>harm.</a:t>
            </a:r>
            <a:endParaRPr sz="18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99130" y="408856"/>
            <a:ext cx="412242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BACKGROUND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8957" y="1053982"/>
            <a:ext cx="7860030" cy="5196935"/>
          </a:xfrm>
          <a:prstGeom prst="rect">
            <a:avLst/>
          </a:prstGeom>
        </p:spPr>
        <p:txBody>
          <a:bodyPr vert="horz" wrap="square" lIns="0" tIns="193675" rIns="0" bIns="0" rtlCol="0">
            <a:spAutoFit/>
          </a:bodyPr>
          <a:lstStyle/>
          <a:p>
            <a:pPr marL="203835" indent="-174625">
              <a:lnSpc>
                <a:spcPct val="100000"/>
              </a:lnSpc>
              <a:spcBef>
                <a:spcPts val="1525"/>
              </a:spcBef>
              <a:buFont typeface="Arial"/>
              <a:buChar char="•"/>
              <a:tabLst>
                <a:tab pos="203835" algn="l"/>
              </a:tabLst>
            </a:pPr>
            <a:r>
              <a:rPr sz="2800" b="1" dirty="0">
                <a:solidFill>
                  <a:srgbClr val="0C0C0C"/>
                </a:solidFill>
                <a:latin typeface="Times New Roman"/>
                <a:cs typeface="Times New Roman"/>
              </a:rPr>
              <a:t>Existing </a:t>
            </a:r>
            <a:r>
              <a:rPr sz="2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endParaRPr sz="2800" dirty="0">
              <a:latin typeface="Times New Roman"/>
              <a:cs typeface="Times New Roman"/>
            </a:endParaRPr>
          </a:p>
          <a:p>
            <a:pPr marL="203835" marR="153035" indent="-191135">
              <a:lnSpc>
                <a:spcPct val="100000"/>
              </a:lnSpc>
              <a:spcBef>
                <a:spcPts val="969"/>
              </a:spcBef>
              <a:buFont typeface="Arial MT"/>
              <a:buChar char="•"/>
              <a:tabLst>
                <a:tab pos="205104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Remote users commonly rely on VPNs to connect to private network resources from outside the organization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03835" marR="65405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5104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VPN deployment may require firewall changes, port forwarding, public IP addresses, and additional network configuration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03835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3835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Once connected through a traditional VPN, users may receive access to a larger portion of the internal network than actually required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03835" marR="226060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5104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Exposing network services or opening ports for remote access can increase the possibility of unauthorized access and security threats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03835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3835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Managing users, devices, permissions, and network resources can require considerable manual configuration and administration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03835" marR="5080" indent="-19113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05104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Traditional solutions may make it difficult to implement centralized identity verification, granular access policies, device verification, and activity monitoring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62000" y="6488122"/>
            <a:ext cx="12783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749" y="718559"/>
            <a:ext cx="879983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lr>
                <a:srgbClr val="0C0C0C"/>
              </a:buClr>
              <a:buChar char="•"/>
              <a:tabLst>
                <a:tab pos="210185" algn="l"/>
              </a:tabLst>
            </a:pP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R.</a:t>
            </a:r>
            <a:r>
              <a:rPr sz="1500" spc="2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Jayadevan,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M.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Sebastian,</a:t>
            </a:r>
            <a:r>
              <a:rPr sz="1500" spc="1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A.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Goutham,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KV,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500" spc="2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T,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17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A.</a:t>
            </a:r>
            <a:r>
              <a:rPr sz="1500" spc="1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Ananthan,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"Edge-Based,</a:t>
            </a:r>
            <a:r>
              <a:rPr sz="1500" spc="25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Power-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Efficient Real-Time</a:t>
            </a:r>
            <a:r>
              <a:rPr sz="15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Wild</a:t>
            </a:r>
            <a:r>
              <a:rPr sz="1500" spc="-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Animal</a:t>
            </a:r>
            <a:r>
              <a:rPr sz="1500" spc="-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500" spc="-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-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Alarm</a:t>
            </a:r>
            <a:r>
              <a:rPr sz="1500" spc="-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on</a:t>
            </a:r>
            <a:r>
              <a:rPr sz="1500" spc="-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Raspberry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Pi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Using</a:t>
            </a:r>
            <a:r>
              <a:rPr sz="1500" spc="-7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YOLO</a:t>
            </a:r>
            <a:r>
              <a:rPr sz="1500" spc="-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Architecture,"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2025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2431" y="1441306"/>
          <a:ext cx="8510905" cy="4860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3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2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610870" marR="119380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14984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530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4008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1325">
                <a:tc>
                  <a:txBody>
                    <a:bodyPr/>
                    <a:lstStyle/>
                    <a:p>
                      <a:pPr marL="542290" indent="-32766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YOLOv8n: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Lightweight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90805" algn="just">
                        <a:lnSpc>
                          <a:spcPct val="100000"/>
                        </a:lnSpc>
                      </a:pP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anchor-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free</a:t>
                      </a:r>
                      <a:r>
                        <a:rPr sz="1300" spc="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nano</a:t>
                      </a:r>
                      <a:r>
                        <a:rPr sz="1300" spc="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model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deployed on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Raspberry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5.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9080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Trigger: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HC-SR501</a:t>
                      </a:r>
                      <a:r>
                        <a:rPr sz="1300" spc="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300" spc="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(3–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7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range)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activates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USB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recording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FPS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60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1125" indent="-328295">
                        <a:lnSpc>
                          <a:spcPct val="100000"/>
                        </a:lnSpc>
                        <a:buChar char="●"/>
                        <a:tabLst>
                          <a:tab pos="542925" algn="l"/>
                          <a:tab pos="57467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Arial MT"/>
                          <a:cs typeface="Arial MT"/>
                        </a:rPr>
                        <a:t>	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Audio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Warning: Species-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specific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buzzer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tones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(continuous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tiger,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rapid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beeps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monkey).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27495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Dataset:</a:t>
                      </a:r>
                      <a:r>
                        <a:rPr sz="13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6,000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augmented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Tiger, Monkey,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Human classe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07950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Power-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Efficient: Hardware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remain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idle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until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detected,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preserving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battery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life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remote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off-grid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environments.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7145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Reaches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0.948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  <a:hlinkClick r:id="rId2"/>
                        </a:rPr>
                        <a:t>mAP@0.5</a:t>
                      </a:r>
                      <a:r>
                        <a:rPr sz="13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98.7%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unseen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3.2M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parameters.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6002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Offline: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Fully operational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without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requiring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internet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access,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infrastructure,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cellular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coverage.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89535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Restricted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Sensing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Range: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by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(300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700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cm).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4097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Rate: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300" spc="-6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recording</a:t>
                      </a:r>
                      <a:r>
                        <a:rPr sz="1300" spc="-6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rate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constrained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frames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USB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 setup.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430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Only: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Relies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exclusively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acoustic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buzzers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remote mobile/SMS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 capabilities.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91135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Objective: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Addresses escalating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278130">
                        <a:lnSpc>
                          <a:spcPct val="100000"/>
                        </a:lnSpc>
                      </a:pP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wildlife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conflict</a:t>
                      </a:r>
                      <a:r>
                        <a:rPr sz="1300" spc="-6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incidents</a:t>
                      </a:r>
                      <a:r>
                        <a:rPr sz="13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Wayanad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district, Kerala.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46926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Mechanism: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Implements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edge-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based, motion-triggered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YOLOv8n</a:t>
                      </a:r>
                      <a:r>
                        <a:rPr sz="13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5.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8354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Output: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Generates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distinct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6700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acoustic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buzzer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warnings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with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zero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dependency and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battery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efficiency.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914400" y="6509553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749" y="718559"/>
            <a:ext cx="885380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lr>
                <a:srgbClr val="0C0C0C"/>
              </a:buClr>
              <a:buChar char="•"/>
              <a:tabLst>
                <a:tab pos="210185" algn="l"/>
              </a:tabLst>
            </a:pP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Naveen,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R.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Dhamotharan,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et</a:t>
            </a:r>
            <a:r>
              <a:rPr sz="15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al.,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"ElephantGuardNet:</a:t>
            </a:r>
            <a:r>
              <a:rPr sz="1500" spc="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</a:t>
            </a:r>
            <a:r>
              <a:rPr sz="1500" spc="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Comprehensive</a:t>
            </a:r>
            <a:r>
              <a:rPr sz="15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Solution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for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Elephant</a:t>
            </a:r>
            <a:r>
              <a:rPr sz="15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Conservation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Human-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Elephant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Conflict</a:t>
            </a:r>
            <a:r>
              <a:rPr sz="15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Reduction,"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Proc.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ICSADL,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pp.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1470–1477,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2025.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6706" y="1366297"/>
          <a:ext cx="8650605" cy="5088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7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8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4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0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862330" marR="371475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308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997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95934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9925">
                <a:tc>
                  <a:txBody>
                    <a:bodyPr/>
                    <a:lstStyle/>
                    <a:p>
                      <a:pPr marL="542925" marR="508634" indent="-32067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Multi-Modal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AI:</a:t>
                      </a:r>
                      <a:r>
                        <a:rPr sz="1200" spc="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Fuses EfficientNet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B7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(image),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YOLOv5 on Jetson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Nano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(real-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edge),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3D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CNNs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(video),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GRU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(movement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542925" marR="271145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prediction),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XGBoost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(risk classification).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542925" marR="182880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Source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Ingestion: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Ingests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trap,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drone,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satellite,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(IR,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seismic,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GPS)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custom ElephantMovementTracker dataset.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542925" marR="8826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Signal</a:t>
                      </a:r>
                      <a:r>
                        <a:rPr sz="12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Preprocessing: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Applies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224x224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resizing,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Canny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Detection,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Kalman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Filtering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tracking,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Median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Filtering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noise.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542925" marR="10477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Active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Deterrents: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Deploys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ESP32/Jetson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Nano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boards</a:t>
                      </a:r>
                      <a:r>
                        <a:rPr sz="12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AWS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Cloud/Lambda,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triggering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sound emitters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drones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[&lt;5s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 delay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]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02235" indent="-32067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2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Accuracy: Reaches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97.85%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(EfficientNet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B7),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96.20%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video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(3D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CNN),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forecast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error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(GRU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RMSE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0.25).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9715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Rapid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Alerts: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Pushes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SMS,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email,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dashboard notifications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5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seconds.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223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Active</a:t>
                      </a:r>
                      <a:r>
                        <a:rPr sz="1200" spc="-6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Deterrence: Dispatches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drones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sound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emitters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guide elephants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away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before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conflicts happen.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61290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Scalable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Area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Coverage: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Tracks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75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150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km²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zone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hybrid</a:t>
                      </a:r>
                      <a:r>
                        <a:rPr sz="1200" spc="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cloud-edge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network.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13664" indent="-32067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System Complexity: Requires extensive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hardware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(drones,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Jetson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Nano,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sensors,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sound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emitters)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 infrastructure.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0010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Connectivity Dependency: Depends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active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LoRaWAN,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5G,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Wi-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Fi, or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cellular networks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sync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IoT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 services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remote forests.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78105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Night Operations: Performance depends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 diversity,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requiring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thermal</a:t>
                      </a:r>
                      <a:r>
                        <a:rPr sz="12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imaging</a:t>
                      </a:r>
                      <a:r>
                        <a:rPr sz="12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enhanced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night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vision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4830" indent="-322580" algn="just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4830" algn="l"/>
                        </a:tabLst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Objective: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542925" algn="just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Establishes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542925" marR="85725" algn="just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end-to-end</a:t>
                      </a:r>
                      <a:r>
                        <a:rPr sz="12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AI,</a:t>
                      </a:r>
                      <a:r>
                        <a:rPr sz="1200" spc="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IoT,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prevent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542925" marR="319405">
                        <a:lnSpc>
                          <a:spcPct val="100000"/>
                        </a:lnSpc>
                      </a:pP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 conflicts.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542290" indent="-32004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Mechanism: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Ingests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542925" marR="199390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2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learning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2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Jetson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Nano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AWS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542925" marR="262890" indent="-32067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Output:</a:t>
                      </a:r>
                      <a:r>
                        <a:rPr sz="12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Pushes real-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within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12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seconds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dispatches 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sound emitters</a:t>
                      </a:r>
                      <a:r>
                        <a:rPr sz="12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drones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762000" y="6509553"/>
            <a:ext cx="12783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 of CSE-CC</a:t>
            </a:r>
            <a:endParaRPr lang="en-IN" sz="1200" b="1" dirty="0">
              <a:solidFill>
                <a:srgbClr val="ED7D31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749" y="718559"/>
            <a:ext cx="882904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lr>
                <a:srgbClr val="0C0C0C"/>
              </a:buClr>
              <a:buChar char="•"/>
              <a:tabLst>
                <a:tab pos="210185" algn="l"/>
              </a:tabLst>
            </a:pP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D.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Ma</a:t>
            </a:r>
            <a:r>
              <a:rPr sz="1500" spc="20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J.</a:t>
            </a:r>
            <a:r>
              <a:rPr sz="1500" spc="1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Yang,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"YOLO-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Animal:</a:t>
            </a:r>
            <a:r>
              <a:rPr sz="1500" spc="1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efficient</a:t>
            </a:r>
            <a:r>
              <a:rPr sz="1500" spc="20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wildlife</a:t>
            </a:r>
            <a:r>
              <a:rPr sz="1500" spc="20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500" spc="2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based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on</a:t>
            </a:r>
            <a:r>
              <a:rPr sz="15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improved</a:t>
            </a:r>
            <a:r>
              <a:rPr sz="1500" spc="1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YOLOv5,"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International</a:t>
            </a:r>
            <a:r>
              <a:rPr sz="15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Conference</a:t>
            </a:r>
            <a:r>
              <a:rPr sz="15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on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Image</a:t>
            </a:r>
            <a:r>
              <a:rPr sz="15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Processing,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Computer</a:t>
            </a:r>
            <a:r>
              <a:rPr sz="15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Vision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5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Learning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(ICICML),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2022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2431" y="1402559"/>
          <a:ext cx="8512174" cy="48907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085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6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1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807720" marR="316865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45134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810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1805">
                <a:tc>
                  <a:txBody>
                    <a:bodyPr/>
                    <a:lstStyle/>
                    <a:p>
                      <a:pPr marL="542925" marR="84455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Architectural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Upgrades: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Upgrades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baseline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YOLOv5s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'YOLO-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Animal'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ECA-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attention,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BiFPN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fusion,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Depthwise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Separable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Convolutions.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6700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ECA-Net</a:t>
                      </a:r>
                      <a:r>
                        <a:rPr sz="125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Attention:</a:t>
                      </a:r>
                      <a:r>
                        <a:rPr sz="1250" spc="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Employs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1D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convolution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adaptive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kernel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cross-channel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interaction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without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dimensionality</a:t>
                      </a:r>
                      <a:r>
                        <a:rPr sz="125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reduction.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9398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BiFPN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Fusion: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Replaces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PANet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weighted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Bidirectional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Pyramid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deeper multi-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fusion.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1811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Reserve</a:t>
                      </a:r>
                      <a:r>
                        <a:rPr sz="125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Dataset:</a:t>
                      </a:r>
                      <a:r>
                        <a:rPr sz="125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on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3,500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labeled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covering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8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national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nature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reserve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206375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Superior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Accuracy: Outperforms baseline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YOLOv5s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+3.2%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mAP,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363220">
                        <a:lnSpc>
                          <a:spcPct val="100000"/>
                        </a:lnSpc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reaching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95.5%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  <a:hlinkClick r:id="rId2"/>
                        </a:rPr>
                        <a:t>mAP@0.5</a:t>
                      </a:r>
                      <a:r>
                        <a:rPr sz="125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92.6%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precision.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0223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Small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Blurred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Handling: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Effectively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identifies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small,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occluded,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blurred, and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distant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targets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complex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natural terrain.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5303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Optimized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Memory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Draw: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Depthwise separable convolutions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reduce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parameter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overhead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fast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execution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00965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Slow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Convergence: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iterative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training,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converging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late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epoch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619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1000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iterations.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295910" indent="-324485" algn="just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  <a:tab pos="54419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	Limited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Volume: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3,500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84455">
                        <a:lnSpc>
                          <a:spcPct val="100000"/>
                        </a:lnSpc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8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limits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broad field</a:t>
                      </a:r>
                      <a:r>
                        <a:rPr sz="1250" spc="5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generalization.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2827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Lower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Class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Recall: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Lower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recall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observed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heavily camouflaged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classes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fewer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training samples.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00330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Objective: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Proposes 'YOLO-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Animal'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50" spc="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wildlife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25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ecological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restoration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nature reserves.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8986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Mechanism: Combines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ECA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channel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attention,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BiFPN</a:t>
                      </a:r>
                      <a:r>
                        <a:rPr sz="125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pyramids,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depthwise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separable convolutions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into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YOLOv5s.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4414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Output: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Achieves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95.5%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mAP</a:t>
                      </a:r>
                      <a:r>
                        <a:rPr sz="125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8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while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maintaining</a:t>
                      </a:r>
                      <a:r>
                        <a:rPr sz="125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fast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inference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speed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deployment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914400" y="6509553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78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749" y="643550"/>
            <a:ext cx="880872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lr>
                <a:srgbClr val="0C0C0C"/>
              </a:buClr>
              <a:buChar char="•"/>
              <a:tabLst>
                <a:tab pos="210185" algn="l"/>
              </a:tabLst>
            </a:pP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V.</a:t>
            </a:r>
            <a:r>
              <a:rPr sz="1500" spc="1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Bharati,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"A</a:t>
            </a:r>
            <a:r>
              <a:rPr sz="1500" spc="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Deep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Neural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Vision</a:t>
            </a:r>
            <a:r>
              <a:rPr sz="1500" spc="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Application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for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Preventing</a:t>
            </a:r>
            <a:r>
              <a:rPr sz="1500" spc="1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Wildlife-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Human</a:t>
            </a:r>
            <a:r>
              <a:rPr sz="15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Conflicts,"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2021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05991" y="1194847"/>
          <a:ext cx="8595992" cy="5058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74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16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9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690880" marR="200025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5753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480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657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9445">
                <a:tc>
                  <a:txBody>
                    <a:bodyPr/>
                    <a:lstStyle/>
                    <a:p>
                      <a:pPr marL="542925" marR="120014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Two-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Pipeline:</a:t>
                      </a:r>
                      <a:r>
                        <a:rPr sz="1300" spc="5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TensorFlow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MobileNet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SSD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v2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(320x320);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classifier.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8989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Design: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repeating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5557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pooling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units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(32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3x3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kernels)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Dense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layer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0.5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dropout.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5049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Setup: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Deployed on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Raspberry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(8GB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RAM)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OV5647</a:t>
                      </a:r>
                      <a:r>
                        <a:rPr sz="1300" spc="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5MP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IR-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cut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3845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8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AWS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SNS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notifications.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indent="-327660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Human Feedback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Loop: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Incorporates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44780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crowd-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sourced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user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validation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("Correct"</a:t>
                      </a:r>
                      <a:r>
                        <a:rPr sz="13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vs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"False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Alarm")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model retraining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229235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Ultra-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Compact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Model: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footprint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675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kB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19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and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9687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~3-second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mobile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latency.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467359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Modular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 Adaptability: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201930">
                        <a:lnSpc>
                          <a:spcPct val="100000"/>
                        </a:lnSpc>
                      </a:pP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Two-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setup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allows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adapting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wildlife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species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retraining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only.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2065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Redundant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Channels: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Pushes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SMS, 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Push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notifications,</a:t>
                      </a:r>
                      <a:r>
                        <a:rPr sz="130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local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audio alarms,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home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automation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voice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prevent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failure.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88900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Loss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Color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Details: Preprocessing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converts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100x100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grayscale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Stage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classification.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05410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Network Dependency: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Delivering</a:t>
                      </a:r>
                      <a:r>
                        <a:rPr sz="130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SMS/Push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relies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cellular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connectivity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8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AWS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SNS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cloud services.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239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Synthetic</a:t>
                      </a:r>
                      <a:r>
                        <a:rPr sz="130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Ratio: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Relies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heavily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augmented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(8,306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generated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12,737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total)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limited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raw</a:t>
                      </a:r>
                      <a:r>
                        <a:rPr sz="130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samples.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87630" indent="-328295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Objective: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Proposes 'WildlifeNet'</a:t>
                      </a:r>
                      <a:r>
                        <a:rPr sz="130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protect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communities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dangerous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wildlife</a:t>
                      </a:r>
                      <a:r>
                        <a:rPr sz="1300" spc="-8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encounters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(e.g.,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coyotes).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252729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Mechanism:</a:t>
                      </a:r>
                      <a:r>
                        <a:rPr sz="130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Pairs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MobileNet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SSD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compact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custom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CNN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classifier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15176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Raspberry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hardware.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150495" indent="-32829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Output:</a:t>
                      </a:r>
                      <a:r>
                        <a:rPr sz="130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Delivers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rapid</a:t>
                      </a:r>
                      <a:r>
                        <a:rPr sz="130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mobile notifications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within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30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seconds</a:t>
                      </a:r>
                      <a:r>
                        <a:rPr sz="130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utilizes</a:t>
                      </a:r>
                      <a:r>
                        <a:rPr sz="130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recipient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feedback </a:t>
                      </a:r>
                      <a:r>
                        <a:rPr sz="130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ongoing</a:t>
                      </a:r>
                      <a:r>
                        <a:rPr sz="130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model optimization.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3565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838200" y="6509553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428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2554" y="-7591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4749" y="718559"/>
            <a:ext cx="8867775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lr>
                <a:srgbClr val="0C0C0C"/>
              </a:buClr>
              <a:buChar char="•"/>
              <a:tabLst>
                <a:tab pos="210185" algn="l"/>
              </a:tabLst>
            </a:pP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500" spc="-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Gunasekara,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M.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Jayasuriya,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N.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Harischandra,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L.</a:t>
            </a:r>
            <a:r>
              <a:rPr sz="1500" spc="-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Samaranayake,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G.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Dissanayake,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"A</a:t>
            </a:r>
            <a:r>
              <a:rPr sz="1500" spc="-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Convolutional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 Neural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Based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Early</a:t>
            </a:r>
            <a:r>
              <a:rPr sz="15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Warning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to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Prevent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303030"/>
                </a:solidFill>
                <a:latin typeface="Times New Roman"/>
                <a:cs typeface="Times New Roman"/>
              </a:rPr>
              <a:t>Elephant-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Train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Collisions,"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303030"/>
                </a:solidFill>
                <a:latin typeface="Times New Roman"/>
                <a:cs typeface="Times New Roman"/>
              </a:rPr>
              <a:t>IEEE,</a:t>
            </a:r>
            <a:r>
              <a:rPr sz="15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2021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02431" y="1441306"/>
          <a:ext cx="8509634" cy="47002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5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2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2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8965">
                <a:tc>
                  <a:txBody>
                    <a:bodyPr/>
                    <a:lstStyle/>
                    <a:p>
                      <a:pPr marL="776605" marR="285750" indent="-4845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667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838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91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1304">
                <a:tc>
                  <a:txBody>
                    <a:bodyPr/>
                    <a:lstStyle/>
                    <a:p>
                      <a:pPr marL="542925" marR="198755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YOLOv3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Architecture: Employs</a:t>
                      </a:r>
                      <a:r>
                        <a:rPr sz="1250" spc="-5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YOLOv3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106-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layer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Darknet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backbone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operating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scales.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9525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Hardware: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Reolink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RLC-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423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RGB/IR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motorized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360° pan-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tilt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coverage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150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day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60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night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vision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26479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Power: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Powered by an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NVIDIA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Jetson</a:t>
                      </a:r>
                      <a:r>
                        <a:rPr sz="125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AGX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Xavier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board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(~10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FPS)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backed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100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solar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panel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battery.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0096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Warning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System: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Arduino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SIM800L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sends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Android driver map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app</a:t>
                      </a:r>
                      <a:r>
                        <a:rPr sz="1250" spc="-2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571500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Off-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Grid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Deployment: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Weatherized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201930">
                        <a:lnSpc>
                          <a:spcPct val="100000"/>
                        </a:lnSpc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self-sufficient</a:t>
                      </a:r>
                      <a:r>
                        <a:rPr sz="1250" spc="-6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unit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suitable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remote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railway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hotspot corridors.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0033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Multi-Scale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Detection: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Identifies far-distance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elephants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they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appear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small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video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1938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Extended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Driver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Range: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Extends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warning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range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beyond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headlights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(~300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m)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provide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adequate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stopping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(600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10-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minute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warning).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00330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Nighttime False Positives: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Displays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higher</a:t>
                      </a:r>
                      <a:r>
                        <a:rPr sz="1250" spc="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false-positive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during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infrared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night operations.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1811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Capped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Frame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Rate: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Processing speed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capped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50" spc="-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~10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FPS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computational</a:t>
                      </a:r>
                      <a:r>
                        <a:rPr sz="1250" spc="-6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load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of 106 deep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layers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hardware.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9080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Interrupted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Field Trials: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On-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site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deployment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along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Palugaswewa</a:t>
                      </a:r>
                      <a:r>
                        <a:rPr sz="1250" spc="50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line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was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prematurely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dismantled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COVID-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19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</a:pP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restrictions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62560" indent="-32448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Objective: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Mitigates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severe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elephant-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train collisions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Sri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Lanka</a:t>
                      </a:r>
                      <a:r>
                        <a:rPr sz="1250" spc="-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maim/kill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Asian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disrupt</a:t>
                      </a:r>
                      <a:r>
                        <a:rPr sz="1250" spc="-7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railway services.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86360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Mechanism:</a:t>
                      </a:r>
                      <a:r>
                        <a:rPr sz="1250" spc="-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Positions solar-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powered</a:t>
                      </a:r>
                      <a:r>
                        <a:rPr sz="1250" spc="3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vision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units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50" spc="-3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known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collision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hotspots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where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elephant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corridors</a:t>
                      </a:r>
                      <a:r>
                        <a:rPr sz="1250" spc="-4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intersect tracks.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542925" marR="117475" indent="-324485">
                        <a:lnSpc>
                          <a:spcPct val="100000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Output:</a:t>
                      </a:r>
                      <a:r>
                        <a:rPr sz="1250" spc="-7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Fuses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YOLOv3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object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360°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IR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video and 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GSM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250" spc="-2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provide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drivers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50" spc="-15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50" spc="-2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25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250" spc="-4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50" spc="-10" dirty="0">
                          <a:solidFill>
                            <a:srgbClr val="303030"/>
                          </a:solidFill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25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314500" y="6535234"/>
            <a:ext cx="1778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spc="-25" dirty="0">
                <a:solidFill>
                  <a:srgbClr val="375523"/>
                </a:solidFill>
                <a:latin typeface="Times New Roman"/>
                <a:cs typeface="Times New Roman"/>
              </a:rPr>
              <a:t>14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8200" y="6581784"/>
            <a:ext cx="124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6512" rIns="0" bIns="0" rtlCol="0">
            <a:spAutoFit/>
          </a:bodyPr>
          <a:lstStyle/>
          <a:p>
            <a:pPr marL="19812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6512" rIns="0" bIns="0" rtlCol="0">
            <a:spAutoFit/>
          </a:bodyPr>
          <a:lstStyle/>
          <a:p>
            <a:pPr marL="19812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9371" y="631460"/>
            <a:ext cx="8495030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0185" marR="5080" indent="-198120">
              <a:lnSpc>
                <a:spcPct val="114999"/>
              </a:lnSpc>
              <a:spcBef>
                <a:spcPts val="100"/>
              </a:spcBef>
              <a:buChar char="•"/>
              <a:tabLst>
                <a:tab pos="210185" algn="l"/>
              </a:tabLst>
            </a:pPr>
            <a:r>
              <a:rPr sz="1500" dirty="0">
                <a:latin typeface="Times New Roman"/>
                <a:cs typeface="Times New Roman"/>
              </a:rPr>
              <a:t>Jayanthi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&amp;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K.V.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Kanimozhi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(2025).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"Enhancing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Identification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3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Wildlife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via</a:t>
            </a:r>
            <a:r>
              <a:rPr sz="1500" spc="3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Self-</a:t>
            </a:r>
            <a:r>
              <a:rPr sz="1500" spc="-10" dirty="0">
                <a:latin typeface="Times New Roman"/>
                <a:cs typeface="Times New Roman"/>
              </a:rPr>
              <a:t>Supervised </a:t>
            </a:r>
            <a:r>
              <a:rPr sz="1500" dirty="0">
                <a:latin typeface="Times New Roman"/>
                <a:cs typeface="Times New Roman"/>
              </a:rPr>
              <a:t>Learning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Unlabelled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Camera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Trap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Information"</a:t>
            </a:r>
            <a:endParaRPr sz="15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9239" y="1285547"/>
          <a:ext cx="8537574" cy="50412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2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77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869950" marR="37401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029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4991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2145">
                <a:tc>
                  <a:txBody>
                    <a:bodyPr/>
                    <a:lstStyle/>
                    <a:p>
                      <a:pPr marL="542925" marR="28003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Self-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Supervised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Learning: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Automatically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finds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patterns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trap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without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needing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humans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label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them.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7432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Encoder: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ResNet-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extract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important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from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2446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Metadata Integration: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Metadata-Conditioned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Adaptive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Projection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Head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(MCPH)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combine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information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ID,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time,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lighting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conditions.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9080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Domain-Aware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Sampling: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Uses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consecutive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different ecological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zones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negative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pairs.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8763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Labeling: Removes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time-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consuming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costly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labeling.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2192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Across Ecosystems: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different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environments,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forests,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grasslands,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deserts.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23622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Accuracy: Achieves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96.4%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93.0%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classification accuracy,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F1-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score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0.94.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8318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Slight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Processing Overhead: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Shows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slightly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longer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(64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image)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than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ResNet-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(52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ms)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adding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metadata layers.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4795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Dependency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Data: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Peak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classification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relies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having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reliable, accurate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environmental metadata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9652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System: WSSC-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automatically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wildlife images.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9019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Combines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trap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along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environmental information.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7937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Across Habitats: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accurately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efficiently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unlabelled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wildlife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different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natural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114300">
              <a:lnSpc>
                <a:spcPts val="1410"/>
              </a:lnSpc>
            </a:pPr>
            <a:fld id="{81D60167-4931-47E6-BA6A-407CBD079E47}" type="slidenum">
              <a:rPr lang="en-IN" spc="-50" smtClean="0"/>
              <a:t>14</a:t>
            </a:fld>
            <a:endParaRPr lang="en-IN" spc="-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85800" y="6607234"/>
            <a:ext cx="1208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281" y="727023"/>
            <a:ext cx="8515350" cy="48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660" marR="5080" indent="-188595">
              <a:lnSpc>
                <a:spcPct val="114999"/>
              </a:lnSpc>
              <a:spcBef>
                <a:spcPts val="100"/>
              </a:spcBef>
              <a:buChar char="•"/>
              <a:tabLst>
                <a:tab pos="200660" algn="l"/>
              </a:tabLst>
            </a:pPr>
            <a:r>
              <a:rPr sz="1300" dirty="0">
                <a:latin typeface="Times New Roman"/>
                <a:cs typeface="Times New Roman"/>
              </a:rPr>
              <a:t>Supreet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Parida,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Suvam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Nayak,</a:t>
            </a:r>
            <a:r>
              <a:rPr sz="1300" spc="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Anjana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Mishra,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Nilamadhab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Mishra,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Bibhu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Prasad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Sahoo,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&amp;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Bhabani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Sankar</a:t>
            </a:r>
            <a:r>
              <a:rPr sz="1300" spc="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Panda</a:t>
            </a:r>
            <a:r>
              <a:rPr sz="1300" spc="7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(2024). </a:t>
            </a:r>
            <a:r>
              <a:rPr sz="1300" dirty="0">
                <a:latin typeface="Times New Roman"/>
                <a:cs typeface="Times New Roman"/>
              </a:rPr>
              <a:t>“Recognizing</a:t>
            </a:r>
            <a:r>
              <a:rPr sz="1300" spc="-60" dirty="0">
                <a:latin typeface="Times New Roman"/>
                <a:cs typeface="Times New Roman"/>
              </a:rPr>
              <a:t> </a:t>
            </a:r>
            <a:r>
              <a:rPr sz="1300" spc="-25" dirty="0">
                <a:latin typeface="Times New Roman"/>
                <a:cs typeface="Times New Roman"/>
              </a:rPr>
              <a:t>Wild</a:t>
            </a:r>
            <a:r>
              <a:rPr sz="1300" spc="-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Animals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from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Camera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Trap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Images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Using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Deep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Learning”.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9239" y="1355522"/>
          <a:ext cx="8537574" cy="5156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22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2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5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78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869950" marR="37401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029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1023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5496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7080">
                <a:tc>
                  <a:txBody>
                    <a:bodyPr/>
                    <a:lstStyle/>
                    <a:p>
                      <a:pPr marL="542925" marR="17208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Convolutional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Network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(CNN):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convolutional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automatically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extract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spatial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directly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pixel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40767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(VGG16):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Adapts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VGG16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 pre-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millions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ImageNet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photos,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leveraging pre-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weights.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8288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Standardized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Preprocessing: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Resizes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224x224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pixels,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converts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RGB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colors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BGR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format,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zero-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centering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color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balance.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3718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Augmentation: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Increases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diversity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prevents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overfitting.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4478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Classification Accuracy: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Achieves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98.67%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13664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(buffalo,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elephant,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rhino,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zebra,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giraffe,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lion).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9494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Resource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Efficiency: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Significantly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cuts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down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size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computational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leveraging pre-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weights.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8890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 Extraction: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Hierarchically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extracts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patterns automatically.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9334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Fixed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Categories: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Restricted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strictly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6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defined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classes,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failing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rare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unrepresented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wild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572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Sensitivity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Visual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Noise: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drops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challenging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4139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world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trap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conditions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low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lighting,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partial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plant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occlusion,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blur.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9367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Lacks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Object Localization: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Cannot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draw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bounding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boxes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around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instance segmentation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75260" indent="-320675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VGG16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CNN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2573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transfer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wild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98.67%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offering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training efficiency while remaining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fixed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lack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spatial bounding-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box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localization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62000" y="6607234"/>
            <a:ext cx="11327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3852" y="756236"/>
            <a:ext cx="81800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5104" indent="-192405">
              <a:lnSpc>
                <a:spcPct val="100000"/>
              </a:lnSpc>
              <a:spcBef>
                <a:spcPts val="100"/>
              </a:spcBef>
              <a:buChar char="•"/>
              <a:tabLst>
                <a:tab pos="205104" algn="l"/>
              </a:tabLst>
            </a:pPr>
            <a:r>
              <a:rPr sz="1400" spc="-20" dirty="0">
                <a:latin typeface="Times New Roman"/>
                <a:cs typeface="Times New Roman"/>
              </a:rPr>
              <a:t>Krishnaveni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A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&amp;</a:t>
            </a:r>
            <a:r>
              <a:rPr sz="1400" spc="-9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Arvinth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K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-20" dirty="0">
                <a:latin typeface="Times New Roman"/>
                <a:cs typeface="Times New Roman"/>
              </a:rPr>
              <a:t>A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(2025). </a:t>
            </a:r>
            <a:r>
              <a:rPr sz="1400" spc="-10" dirty="0">
                <a:latin typeface="Times New Roman"/>
                <a:cs typeface="Times New Roman"/>
              </a:rPr>
              <a:t>"Smart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Animal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Monitoring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System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for Farms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using</a:t>
            </a:r>
            <a:r>
              <a:rPr sz="1400" spc="-60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YOLO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and</a:t>
            </a:r>
            <a:r>
              <a:rPr sz="1400" spc="-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OpenCV"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9239" y="1154909"/>
          <a:ext cx="8538844" cy="53079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02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2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5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8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760095" marR="264160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8326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251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02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8845">
                <a:tc>
                  <a:txBody>
                    <a:bodyPr/>
                    <a:lstStyle/>
                    <a:p>
                      <a:pPr marL="542925" marR="14986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YOLO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YOLO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identify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frames.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6383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Frame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Processing: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OpenCV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capture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video,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frame,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display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bounding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boxes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around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350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Maximum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Suppression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(NMS)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Removes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duplicate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overlapping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bounding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boxes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keeps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highest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confidence.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1557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Alert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Automatically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visual pop-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messages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sound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alarms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whenever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detected.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2700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Single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Pass Efficiency: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Analyzes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full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pass,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delivering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high-speed,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3271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Superior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Accuracy: Achieves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overall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98%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significantly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outperforming traditional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checking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(70%)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hardware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sensor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(85%).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9017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Farm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Protection: Enhances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farm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security,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assists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livestock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health,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early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warning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prevent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damage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 attacks.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26364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Regular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Retraining: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retrained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adapt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changing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farm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conditions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 behaviors.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0129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Hardware Requirements: Requires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powerful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computing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resources,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GPUs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TPUs,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4139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Possible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False Positives: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May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sometimes identify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objects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incorrectly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due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background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noise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partly hidden.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391795" indent="-320675">
                        <a:lnSpc>
                          <a:spcPct val="100000"/>
                        </a:lnSpc>
                        <a:spcBef>
                          <a:spcPts val="250"/>
                        </a:spcBef>
                        <a:buChar char="●"/>
                        <a:tabLst>
                          <a:tab pos="542925" algn="l"/>
                          <a:tab pos="580390" algn="l"/>
                        </a:tabLst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Combines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YOLO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763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object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OpenCV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frame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handling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build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automated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farm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surveillance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382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early-warning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alert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reaching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98%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video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streams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protect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livestock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reduce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9855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wildlife conflict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85800" y="6607234"/>
            <a:ext cx="1208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710" y="622345"/>
            <a:ext cx="8510905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 marR="5080" indent="-184785">
              <a:lnSpc>
                <a:spcPct val="114999"/>
              </a:lnSpc>
              <a:spcBef>
                <a:spcPts val="100"/>
              </a:spcBef>
              <a:buChar char="•"/>
              <a:tabLst>
                <a:tab pos="196850" algn="l"/>
              </a:tabLst>
            </a:pPr>
            <a:r>
              <a:rPr sz="1200" dirty="0">
                <a:latin typeface="Times New Roman"/>
                <a:cs typeface="Times New Roman"/>
              </a:rPr>
              <a:t>Gabriel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Ferrante,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Felipe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Rodrigues,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Fernando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H.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Andrade,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Rudinei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Goularte,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&amp;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Rodolfo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Meneguette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(2021).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"Understanding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the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Animal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classification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technologies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83264" y="1310609"/>
          <a:ext cx="8540115" cy="5173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2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2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5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774700" marR="27876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930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549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4225">
                <a:tc>
                  <a:txBody>
                    <a:bodyPr/>
                    <a:lstStyle/>
                    <a:p>
                      <a:pPr marL="542925" marR="16510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Systematic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Literature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Survey: Analyzes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20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studies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selected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146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candidate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papers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published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between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2017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2021.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3812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Method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Taxonomy: Categorizes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vision techniques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traditional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extractors/classifiers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(SVM,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HOG,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SIFT,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PCA,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445134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DFDL)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modern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(CNNs).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3081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Architecture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Evaluation: Evaluates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prominent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backbones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(MobileNet,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ResNet,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Inception,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Darknet/YOLO)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edge/IoT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deployments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6764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Comprehensive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Domain Mapping: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structured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mapping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state-of-the-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visual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extractors,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evaluation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metrics,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benchmark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763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Transportation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(ITS):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Explores practical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applications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highway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Transportation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prevent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animal-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vehicle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collisions.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8953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Lack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Urban Architectures: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major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literature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gap—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lack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specialized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computer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vision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architectures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designed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complex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urban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9494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Benchmark Deficit: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Highlights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absence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dedicated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urban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edge-processing performance benchmarks across different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city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sizes.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9271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Main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Takeaway: Conducts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systematic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survey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20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vision animal classification studies,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establishing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clear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dominance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CNNs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learning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identifying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crucial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research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gaps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smart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city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traffic management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urban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collision prevention.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62000" y="6607234"/>
            <a:ext cx="11327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8281" y="649269"/>
            <a:ext cx="824547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660" indent="-187960">
              <a:lnSpc>
                <a:spcPct val="100000"/>
              </a:lnSpc>
              <a:spcBef>
                <a:spcPts val="100"/>
              </a:spcBef>
              <a:buChar char="•"/>
              <a:tabLst>
                <a:tab pos="200660" algn="l"/>
              </a:tabLst>
            </a:pPr>
            <a:r>
              <a:rPr sz="1300" spc="-10" dirty="0">
                <a:latin typeface="Times New Roman"/>
                <a:cs typeface="Times New Roman"/>
              </a:rPr>
              <a:t>Dr.</a:t>
            </a:r>
            <a:r>
              <a:rPr sz="1300" spc="-4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S.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-90" dirty="0">
                <a:latin typeface="Times New Roman"/>
                <a:cs typeface="Times New Roman"/>
              </a:rPr>
              <a:t>V.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Viraktamath,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Jahnavi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R,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Vidya,</a:t>
            </a:r>
            <a:r>
              <a:rPr sz="1300" spc="-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Abhay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Bhat,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&amp;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Sathvik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Nayak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(2021).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"Wildlife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Monitoring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Surveillance"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9239" y="966009"/>
          <a:ext cx="8540114" cy="55943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2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7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8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8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1040130" marR="54419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905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78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15230">
                <a:tc>
                  <a:txBody>
                    <a:bodyPr/>
                    <a:lstStyle/>
                    <a:p>
                      <a:pPr marL="542925" marR="11493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Convolutional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Neural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(CNN):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2D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convolutional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extraction,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max-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pooling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spatial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dimension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reduction,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dense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fully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connected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final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classification.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8478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Preprocessing: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Loads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input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channel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RGB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format,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resizes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them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50x50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pixel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resolution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OpenCV,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randomly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shuffles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remove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ordering bias.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9050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Configuration: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Employs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ReLU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activation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hidden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layers,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Softmax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output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probabilities,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Sparse Categorical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Cross-Entropy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loss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function,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Adam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optimizer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adjust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weights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1620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Reduces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Human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Labor: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Cuts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manual night-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sentry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guards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labor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roughly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70%.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3652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Safe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Alternative: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Offers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affordable,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intrusive alternative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hazardous electric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fencing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managing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wildlife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conflicts.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1620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Strong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Training Accuracy: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Achieves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reaching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94.46%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(at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batch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size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across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5176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Moderate Validation Accuracy: Reaches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peak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testing/validation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only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99695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~62–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65%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because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validation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loss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fails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decrease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linearly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alongside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loss.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5240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 Resolution: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Resizing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down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50x50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pixel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resolution restricts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network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extracting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fine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subtle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details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0858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Demonstrates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CNN-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based animal classification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across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10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wild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reduce manual surveillance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labor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70%,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though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its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real-world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reliability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78740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low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input resolution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(50x50)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peak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validation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~65%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85800" y="6607234"/>
            <a:ext cx="1208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266" y="659576"/>
            <a:ext cx="8301355" cy="481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indent="-286385">
              <a:lnSpc>
                <a:spcPct val="114999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Karthik</a:t>
            </a:r>
            <a:r>
              <a:rPr sz="1300" spc="-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35" dirty="0">
                <a:solidFill>
                  <a:srgbClr val="303030"/>
                </a:solidFill>
                <a:latin typeface="Times New Roman"/>
                <a:cs typeface="Times New Roman"/>
              </a:rPr>
              <a:t>Vasu,</a:t>
            </a:r>
            <a:r>
              <a:rPr sz="1300" spc="-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Anitha</a:t>
            </a:r>
            <a:r>
              <a:rPr sz="13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03030"/>
                </a:solidFill>
                <a:latin typeface="Times New Roman"/>
                <a:cs typeface="Times New Roman"/>
              </a:rPr>
              <a:t>Premkumar,</a:t>
            </a:r>
            <a:r>
              <a:rPr sz="1300" spc="-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30" dirty="0">
                <a:solidFill>
                  <a:srgbClr val="303030"/>
                </a:solidFill>
                <a:latin typeface="Times New Roman"/>
                <a:cs typeface="Times New Roman"/>
              </a:rPr>
              <a:t>T.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Ramesh,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Rajesh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Natarajan,</a:t>
            </a:r>
            <a:r>
              <a:rPr sz="1300" spc="-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03030"/>
                </a:solidFill>
                <a:latin typeface="Times New Roman"/>
                <a:cs typeface="Times New Roman"/>
              </a:rPr>
              <a:t>"Real-Time</a:t>
            </a:r>
            <a:r>
              <a:rPr sz="1300" spc="-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Tiger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Intrusion</a:t>
            </a:r>
            <a:r>
              <a:rPr sz="13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300" spc="-1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3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03030"/>
                </a:solidFill>
                <a:latin typeface="Times New Roman"/>
                <a:cs typeface="Times New Roman"/>
              </a:rPr>
              <a:t>Using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300" spc="-3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Learning</a:t>
            </a:r>
            <a:r>
              <a:rPr sz="13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3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03030"/>
                </a:solidFill>
                <a:latin typeface="Times New Roman"/>
                <a:cs typeface="Times New Roman"/>
              </a:rPr>
              <a:t>IoT"</a:t>
            </a:r>
            <a:r>
              <a:rPr sz="1300" spc="-3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300" spc="-10" dirty="0">
                <a:solidFill>
                  <a:srgbClr val="303030"/>
                </a:solidFill>
                <a:latin typeface="Times New Roman"/>
                <a:cs typeface="Times New Roman"/>
              </a:rPr>
              <a:t>(2026)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3876" y="1244559"/>
          <a:ext cx="8623934" cy="5179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4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4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932815" marR="436880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362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35609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7594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9940">
                <a:tc>
                  <a:txBody>
                    <a:bodyPr/>
                    <a:lstStyle/>
                    <a:p>
                      <a:pPr marL="542925" marR="79375" indent="-328295">
                        <a:lnSpc>
                          <a:spcPct val="114999"/>
                        </a:lnSpc>
                        <a:spcBef>
                          <a:spcPts val="1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3B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HD/thermal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cameras,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motion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sensors,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acoustic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sensors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6446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Datasets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collected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COCO,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Serengeti,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ImageNet,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annotated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bounding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boxes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239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MobileNet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depth-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wise</a:t>
                      </a:r>
                      <a:r>
                        <a:rPr sz="13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separable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convolutions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Random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Forest classification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3718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Transmits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LoRaWAN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networks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Flask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backend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UI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for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alerts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indent="-32766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94.6%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467359">
                        <a:lnSpc>
                          <a:spcPct val="114999"/>
                        </a:lnSpc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classification accuracy.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07314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false-positive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3.8%.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4300" indent="-328295">
                        <a:lnSpc>
                          <a:spcPct val="114999"/>
                        </a:lnSpc>
                        <a:buChar char="●"/>
                        <a:tabLst>
                          <a:tab pos="542925" algn="l"/>
                          <a:tab pos="574675" algn="l"/>
                        </a:tabLst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Average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2.3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seconds.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396240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MobileNet requires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low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computational resources.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0489" indent="-328295">
                        <a:lnSpc>
                          <a:spcPct val="114999"/>
                        </a:lnSpc>
                        <a:buChar char="●"/>
                        <a:tabLst>
                          <a:tab pos="542925" algn="l"/>
                          <a:tab pos="583565" algn="l"/>
                        </a:tabLst>
                      </a:pPr>
                      <a:r>
                        <a:rPr sz="13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harmful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approach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that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allows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natural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movement.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58115" indent="-328295">
                        <a:lnSpc>
                          <a:spcPct val="114999"/>
                        </a:lnSpc>
                        <a:spcBef>
                          <a:spcPts val="1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may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decrease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in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161925">
                        <a:lnSpc>
                          <a:spcPct val="114999"/>
                        </a:lnSpc>
                      </a:pP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light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bad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weather.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129539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Improper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camera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placement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can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blind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spots.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 marR="17970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reliable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power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and LoRaWAN/GSM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2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connectivity.</a:t>
                      </a:r>
                      <a:r>
                        <a:rPr sz="13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indent="-327660">
                        <a:lnSpc>
                          <a:spcPct val="100000"/>
                        </a:lnSpc>
                        <a:spcBef>
                          <a:spcPts val="24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80340">
                        <a:lnSpc>
                          <a:spcPct val="114999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ML-based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system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detecting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tiger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intrusion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Raspberry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Pi,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MobileNet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CNN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multiple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sensors.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provides real-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alerts through LoRaWAN/GSM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217804">
                        <a:lnSpc>
                          <a:spcPct val="114999"/>
                        </a:lnSpc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aims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reduce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human–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wildlife conflict.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62000" y="6607234"/>
            <a:ext cx="11327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395" y="662370"/>
            <a:ext cx="8471535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340" marR="5080" indent="-168275">
              <a:lnSpc>
                <a:spcPct val="114999"/>
              </a:lnSpc>
              <a:spcBef>
                <a:spcPts val="100"/>
              </a:spcBef>
              <a:buChar char="•"/>
              <a:tabLst>
                <a:tab pos="180340" algn="l"/>
              </a:tabLst>
            </a:pPr>
            <a:r>
              <a:rPr sz="1200" spc="-30" dirty="0">
                <a:solidFill>
                  <a:srgbClr val="0C0C0C"/>
                </a:solidFill>
                <a:latin typeface="Times New Roman"/>
                <a:cs typeface="Times New Roman"/>
              </a:rPr>
              <a:t>T.</a:t>
            </a:r>
            <a:r>
              <a:rPr sz="1200" spc="-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Manikandan,</a:t>
            </a:r>
            <a:r>
              <a:rPr sz="1200" spc="-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80" dirty="0">
                <a:solidFill>
                  <a:srgbClr val="0C0C0C"/>
                </a:solidFill>
                <a:latin typeface="Times New Roman"/>
                <a:cs typeface="Times New Roman"/>
              </a:rPr>
              <a:t>V.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 Nandalal,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S.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Joshua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Kumaresan,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R.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Babuji,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20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A.</a:t>
            </a:r>
            <a:r>
              <a:rPr sz="12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Muruganandham,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"IoT</a:t>
            </a:r>
            <a:r>
              <a:rPr sz="12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Based</a:t>
            </a:r>
            <a:r>
              <a:rPr sz="120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Animal</a:t>
            </a:r>
            <a:r>
              <a:rPr sz="1200" spc="-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 and</a:t>
            </a:r>
            <a:r>
              <a:rPr sz="120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Alert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System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2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Farm</a:t>
            </a:r>
            <a:r>
              <a:rPr sz="12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Fields",2024.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3876" y="1177684"/>
          <a:ext cx="8622027" cy="5238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39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5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828675" marR="332740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997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4958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9630">
                <a:tc>
                  <a:txBody>
                    <a:bodyPr/>
                    <a:lstStyle/>
                    <a:p>
                      <a:pPr marL="542925" marR="296545" indent="-328295">
                        <a:lnSpc>
                          <a:spcPct val="114999"/>
                        </a:lnSpc>
                        <a:spcBef>
                          <a:spcPts val="1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Connects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3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Arduino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UNO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central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NodeMCU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Adafruit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cloud integration.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2890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high-frequency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ultrasonic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detect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proximity.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40970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Triggers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audio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(animal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sounds),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fog/smoke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generators,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LED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lights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scare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off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intruders.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13664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SMS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Telegram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bot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photo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transmission.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56210" indent="-328295">
                        <a:lnSpc>
                          <a:spcPct val="114999"/>
                        </a:lnSpc>
                        <a:spcBef>
                          <a:spcPts val="1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sensory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deterrents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(audio,</a:t>
                      </a:r>
                      <a:r>
                        <a:rPr sz="13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fog,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LED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lights)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actively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drive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animals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away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rather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just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recording intrusion.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88900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Supports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both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 automatic sensor-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triggered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defense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remote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3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control via</a:t>
                      </a:r>
                      <a:r>
                        <a:rPr sz="13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Adafruit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 and</a:t>
                      </a:r>
                      <a:r>
                        <a:rPr sz="13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Telegram.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69545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Sends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GSM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SMS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text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phones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Telegram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photo notifications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smart devices.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29539" indent="-328295">
                        <a:lnSpc>
                          <a:spcPct val="114999"/>
                        </a:lnSpc>
                        <a:spcBef>
                          <a:spcPts val="1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Requires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continuous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Wi-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Fi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GSM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coverage,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which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3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unreliable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rural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farmlands.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542925" marR="139700" indent="-32829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Ultrasonic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sensors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need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precise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positioning,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audio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deterrents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require</a:t>
                      </a:r>
                      <a:r>
                        <a:rPr sz="13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3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server-matched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sound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selection.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9535">
                        <a:lnSpc>
                          <a:spcPct val="114999"/>
                        </a:lnSpc>
                        <a:spcBef>
                          <a:spcPts val="15"/>
                        </a:spcBef>
                      </a:pPr>
                      <a:r>
                        <a:rPr sz="1300" dirty="0">
                          <a:latin typeface="Times New Roman"/>
                          <a:cs typeface="Times New Roman"/>
                        </a:rPr>
                        <a:t>Implements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smart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farm</a:t>
                      </a:r>
                      <a:r>
                        <a:rPr sz="13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protection</a:t>
                      </a:r>
                      <a:r>
                        <a:rPr sz="13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3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Arduino,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NodeMCU,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ultrasonic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sensors,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GSM,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Telegram,</a:t>
                      </a:r>
                      <a:r>
                        <a:rPr sz="13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fog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machines,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LED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lighting,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scary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sound playback 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actively</a:t>
                      </a:r>
                      <a:r>
                        <a:rPr sz="13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repel</a:t>
                      </a:r>
                      <a:r>
                        <a:rPr sz="13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wild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animals</a:t>
                      </a:r>
                      <a:r>
                        <a:rPr sz="13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3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300" spc="-10" dirty="0">
                          <a:latin typeface="Times New Roman"/>
                          <a:cs typeface="Times New Roman"/>
                        </a:rPr>
                        <a:t>notify farmers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62000" y="6607234"/>
            <a:ext cx="11327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9885" y="689802"/>
            <a:ext cx="80467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215" indent="-183515">
              <a:lnSpc>
                <a:spcPct val="100000"/>
              </a:lnSpc>
              <a:spcBef>
                <a:spcPts val="100"/>
              </a:spcBef>
              <a:buChar char="•"/>
              <a:tabLst>
                <a:tab pos="196215" algn="l"/>
              </a:tabLst>
            </a:pPr>
            <a:r>
              <a:rPr sz="1200" dirty="0">
                <a:latin typeface="Times New Roman"/>
                <a:cs typeface="Times New Roman"/>
              </a:rPr>
              <a:t>Sudharshan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Duth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65" dirty="0">
                <a:latin typeface="Times New Roman"/>
                <a:cs typeface="Times New Roman"/>
              </a:rPr>
              <a:t>P,</a:t>
            </a:r>
            <a:r>
              <a:rPr sz="1200" spc="-10" dirty="0">
                <a:latin typeface="Times New Roman"/>
                <a:cs typeface="Times New Roman"/>
              </a:rPr>
              <a:t> Maneesha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Shibu,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Nithyashree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"Animal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Detection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Night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Light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Videos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Deep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Learning",2024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6076" y="1105934"/>
          <a:ext cx="8540113" cy="53047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2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7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78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3725">
                <a:tc>
                  <a:txBody>
                    <a:bodyPr/>
                    <a:lstStyle/>
                    <a:p>
                      <a:pPr marL="774700" marR="27876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7302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61009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065">
                <a:tc>
                  <a:txBody>
                    <a:bodyPr/>
                    <a:lstStyle/>
                    <a:p>
                      <a:pPr marL="542925" marR="9969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YOLOv8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Model: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anchor-free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YOLOv8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nocturnal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animals accurately.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4139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Comparison: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Compares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YOLOv8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four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other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models: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Faster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CNN,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RetinaNet,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SSD,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MobileNet.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6891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Processing: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Resizes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640×640,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improves brightness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contrast,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combines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color,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texture,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shape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3017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Nighttime Dataset: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10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nocturnal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species,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500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collected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YouTube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using Roboflow.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04139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Nighttime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overall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87.50%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(Precision: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98.7%,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Recall: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67005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98.5%)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Elephant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reaching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87.49%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(Precision: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99.2%,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Recall: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100%).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4605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 Surveillance: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Demonstrates efficient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processing capabilities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suited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nighttime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monitoring,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overcoming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low-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light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conditions,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blur,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background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occlusion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116839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Poor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Baseline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Models: Alternative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baseline architectures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suffered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major performance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drops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nocturnal conditions.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8572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Heavy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Preprocessing Requirement: Highly dependent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extensive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229870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vision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 enhancement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handle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dark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shadows,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shifting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illumination,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plant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clutter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7907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Evaluates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learning architectures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nighttime wildlife surveillance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10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species, demonstrating that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YOLOv8 achieves superior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492125" algn="just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 accuracy (87.5%)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91440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compared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traditional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detectors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685800" y="6607234"/>
            <a:ext cx="1208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6395" y="662370"/>
            <a:ext cx="8341359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340" marR="5080" indent="-168275">
              <a:lnSpc>
                <a:spcPct val="114999"/>
              </a:lnSpc>
              <a:spcBef>
                <a:spcPts val="100"/>
              </a:spcBef>
              <a:buChar char="•"/>
              <a:tabLst>
                <a:tab pos="180340" algn="l"/>
              </a:tabLst>
            </a:pPr>
            <a:r>
              <a:rPr sz="1200" dirty="0">
                <a:latin typeface="Times New Roman"/>
                <a:cs typeface="Times New Roman"/>
              </a:rPr>
              <a:t>Prabhat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Kumar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Panda,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Cherlopalli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Srujan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Kumar,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Bommu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Sai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Vivek,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Masura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Balachandra,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Shashi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Dargar,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"Implementation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Wild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Animal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Intrusion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Internet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Things",2022.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7066" y="1331631"/>
            <a:ext cx="49530" cy="1549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0"/>
              </a:lnSpc>
            </a:pPr>
            <a:r>
              <a:rPr sz="1100" spc="-50" dirty="0">
                <a:latin typeface="Times New Roman"/>
                <a:cs typeface="Times New Roman"/>
              </a:rPr>
              <a:t>•</a:t>
            </a:r>
            <a:endParaRPr sz="11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6076" y="1240734"/>
          <a:ext cx="8540113" cy="5186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32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2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1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875030" marR="37909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613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14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6925">
                <a:tc>
                  <a:txBody>
                    <a:bodyPr/>
                    <a:lstStyle/>
                    <a:p>
                      <a:pPr marL="542925" marR="13144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Dual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Microcontrollers: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Links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two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Arduino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UNOs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wirelessly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NRF24L01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RF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transceiver modules.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4351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Boundary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Sensing: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Deploys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four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ultrasonic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field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corners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animal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6954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Patrol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Robot: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Operates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line-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following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robot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equipped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ESP32-CAM,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path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sensors,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L298N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driver,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RTC,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servo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motor.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7368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Deterrents: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Captures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photos,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activates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buzzer,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instant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push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notifications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Blynk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app.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marR="8445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Patrol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Coverage: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Covers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large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perimeter boundaries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dynamically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needing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costly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static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camera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network.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0223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Hardware: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Built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affordable, low-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power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components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(Arduino,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ESP32-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CAM,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ultrasonic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sensors, NRF24L01).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marR="116839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Instant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Alerts: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intruder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photos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notifications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directly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user's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phone.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33401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Restricted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Pathway Movement: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53365">
                        <a:lnSpc>
                          <a:spcPct val="114999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vehicle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physical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black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line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ground,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making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difficult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operate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rough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uneven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terrain.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86690" indent="-320675" algn="just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  <a:tab pos="54483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	Fixed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Motion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Timer: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Vehicle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movement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restricted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2-minute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run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cycles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trigger.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160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 Classification: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Lacks on-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board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learning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automatically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type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4986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Implements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farm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security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 where boundary ultrasonic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trigger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mobile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85725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line-following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vehicle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ESP32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capture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intruder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photos,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sound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alarm buzzer,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notify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farmers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Blynk.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62000" y="6607234"/>
            <a:ext cx="11327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710" y="622345"/>
            <a:ext cx="8484870" cy="446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 marR="5080" indent="-184785">
              <a:lnSpc>
                <a:spcPct val="114999"/>
              </a:lnSpc>
              <a:spcBef>
                <a:spcPts val="100"/>
              </a:spcBef>
              <a:buChar char="•"/>
              <a:tabLst>
                <a:tab pos="196850" algn="l"/>
              </a:tabLst>
            </a:pPr>
            <a:r>
              <a:rPr sz="1200" dirty="0">
                <a:latin typeface="Times New Roman"/>
                <a:cs typeface="Times New Roman"/>
              </a:rPr>
              <a:t>K.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65" dirty="0">
                <a:latin typeface="Times New Roman"/>
                <a:cs typeface="Times New Roman"/>
              </a:rPr>
              <a:t>P.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Premarathna,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K.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Times New Roman"/>
                <a:cs typeface="Times New Roman"/>
              </a:rPr>
              <a:t>T.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Rathnayaka,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Charles,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Elephant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Detection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System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Prevent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Human-</a:t>
            </a:r>
            <a:r>
              <a:rPr sz="1200" spc="-10" dirty="0">
                <a:latin typeface="Times New Roman"/>
                <a:cs typeface="Times New Roman"/>
              </a:rPr>
              <a:t>Elephant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Conflict</a:t>
            </a:r>
            <a:r>
              <a:rPr sz="1200" spc="-25" dirty="0">
                <a:latin typeface="Times New Roman"/>
                <a:cs typeface="Times New Roman"/>
              </a:rPr>
              <a:t> and </a:t>
            </a:r>
            <a:r>
              <a:rPr sz="1200" spc="-10" dirty="0">
                <a:latin typeface="Times New Roman"/>
                <a:cs typeface="Times New Roman"/>
              </a:rPr>
              <a:t>Tracking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Elephant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Deep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Learning"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,2020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6089" y="1152009"/>
          <a:ext cx="8538843" cy="5173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9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7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82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854710" marR="358775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508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029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4225">
                <a:tc>
                  <a:txBody>
                    <a:bodyPr/>
                    <a:lstStyle/>
                    <a:p>
                      <a:pPr marL="542925" marR="27876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Architecture: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Employs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Conv2D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ReLU,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Max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Pooling,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Dropout,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Softmax.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3241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Scale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Localization: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Uses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Gaussian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Pyramids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Sliding Windows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locate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varying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sizes.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2829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Matching: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Applies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Template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Color-Based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Matching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 identification.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2639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Bounding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Box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Cleanup: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Uses Non-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Maximum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Suppression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(NMS)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eliminate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duplicate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boxes.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56769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on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8,250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annotated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7145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 Accuracy: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Reached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94%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detecting elephants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training epochs.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29539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Invasive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Early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Warning: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Offers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safe,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monitoring alternative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dangerous electric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fences,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expensive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seismic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sensors,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ineffective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chasing methods.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0035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Border Surveillance: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Leverages camera-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based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visual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enhance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69875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intrusion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along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forest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boundary zones.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8509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Low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 Accuracy: Demonstrates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significantly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lower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rates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(Deer: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50%,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Bear: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60%,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Hen: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45%,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Tiger: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55%,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Fox: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60%).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541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Environmental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Maintenance Vulnerability: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Scalability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operational performance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are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constrained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by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maintenance requirements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severe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weather conditions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heavy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rain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strong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winds.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indent="-32004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Proposes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6045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6-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layer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CNN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computer vision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pipeline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automatically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track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Asian elephants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along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Sri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Lankan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forest boundaries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mitigate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conflict (HEC),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39065">
                        <a:lnSpc>
                          <a:spcPct val="1149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protect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crops,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prevent casualties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762000" y="6607234"/>
            <a:ext cx="11327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61962" rIns="0" bIns="0" rtlCol="0">
            <a:spAutoFit/>
          </a:bodyPr>
          <a:lstStyle/>
          <a:p>
            <a:pPr marL="87630">
              <a:lnSpc>
                <a:spcPts val="141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6266" y="659576"/>
            <a:ext cx="8204200" cy="4813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334"/>
              </a:spcBef>
              <a:buChar char="•"/>
              <a:tabLst>
                <a:tab pos="298450" algn="l"/>
              </a:tabLst>
            </a:pPr>
            <a:r>
              <a:rPr sz="1300" dirty="0">
                <a:latin typeface="Times New Roman"/>
                <a:cs typeface="Times New Roman"/>
              </a:rPr>
              <a:t>AI-Based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Smart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Surveillance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System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Using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Raspberry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Pi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and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Embedded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Vision</a:t>
            </a:r>
            <a:r>
              <a:rPr sz="1300" spc="28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B.</a:t>
            </a:r>
            <a:r>
              <a:rPr sz="1300" spc="-1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Girirajan,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S.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Prabu,</a:t>
            </a:r>
            <a:r>
              <a:rPr sz="1300" spc="-40" dirty="0">
                <a:latin typeface="Times New Roman"/>
                <a:cs typeface="Times New Roman"/>
              </a:rPr>
              <a:t> </a:t>
            </a:r>
            <a:r>
              <a:rPr sz="1300" spc="-90" dirty="0">
                <a:latin typeface="Times New Roman"/>
                <a:cs typeface="Times New Roman"/>
              </a:rPr>
              <a:t>V.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55" dirty="0">
                <a:latin typeface="Times New Roman"/>
                <a:cs typeface="Times New Roman"/>
              </a:rPr>
              <a:t>T.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Thangam,</a:t>
            </a:r>
            <a:endParaRPr sz="1300">
              <a:latin typeface="Times New Roman"/>
              <a:cs typeface="Times New Roman"/>
            </a:endParaRPr>
          </a:p>
          <a:p>
            <a:pPr marL="298450">
              <a:lnSpc>
                <a:spcPct val="100000"/>
              </a:lnSpc>
              <a:spcBef>
                <a:spcPts val="229"/>
              </a:spcBef>
            </a:pPr>
            <a:r>
              <a:rPr sz="1300" dirty="0">
                <a:latin typeface="Times New Roman"/>
                <a:cs typeface="Times New Roman"/>
              </a:rPr>
              <a:t>M.</a:t>
            </a:r>
            <a:r>
              <a:rPr sz="1300" spc="-3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Sugumaran,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80" dirty="0">
                <a:latin typeface="Times New Roman"/>
                <a:cs typeface="Times New Roman"/>
              </a:rPr>
              <a:t>P.</a:t>
            </a:r>
            <a:r>
              <a:rPr sz="1300" spc="-25" dirty="0">
                <a:latin typeface="Times New Roman"/>
                <a:cs typeface="Times New Roman"/>
              </a:rPr>
              <a:t> </a:t>
            </a:r>
            <a:r>
              <a:rPr sz="1300" spc="-10" dirty="0">
                <a:latin typeface="Times New Roman"/>
                <a:cs typeface="Times New Roman"/>
              </a:rPr>
              <a:t>Venkateshwaran,</a:t>
            </a:r>
            <a:r>
              <a:rPr sz="1300" spc="-7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A.</a:t>
            </a:r>
            <a:r>
              <a:rPr sz="1300" spc="-10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Kaur</a:t>
            </a:r>
            <a:endParaRPr sz="13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53876" y="1244559"/>
          <a:ext cx="8623934" cy="5179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17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58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7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967105" marR="471170" indent="-48895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</a:t>
                      </a:r>
                      <a:r>
                        <a:rPr sz="1600" b="1" spc="-4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0960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0068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40259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9940">
                <a:tc>
                  <a:txBody>
                    <a:bodyPr/>
                    <a:lstStyle/>
                    <a:p>
                      <a:pPr marL="542925" marR="46799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sensor, ultrasonic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 together.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7399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YOLOv5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CNN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7907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resizing,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normalization,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noise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removal.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6192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Processes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locally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cloud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support.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40386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buzzer,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LED,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LCD.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0416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Tested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DCSASS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16,853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videos.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290" indent="-32004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.High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accuracy: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96.8%.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290" indent="-320040">
                        <a:lnSpc>
                          <a:spcPct val="100000"/>
                        </a:lnSpc>
                        <a:spcBef>
                          <a:spcPts val="215"/>
                        </a:spcBef>
                        <a:buFont typeface="Arial MT"/>
                        <a:buChar char="●"/>
                        <a:tabLst>
                          <a:tab pos="5422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Fast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74015">
                        <a:lnSpc>
                          <a:spcPct val="1149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0.15-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response time.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25463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under different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lighting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background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conditions.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2448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scalable system.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38989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independently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cloud.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163830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Processing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speed decreases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0.82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FPS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during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heavy computation.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47320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humans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objects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less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accurate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complex backgrounds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changing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lighting.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542925" marR="377825" indent="-320675">
                        <a:lnSpc>
                          <a:spcPct val="114999"/>
                        </a:lnSpc>
                        <a:spcBef>
                          <a:spcPts val="35"/>
                        </a:spcBef>
                        <a:buChar char="●"/>
                        <a:tabLst>
                          <a:tab pos="542925" algn="l"/>
                          <a:tab pos="580390" algn="l"/>
                        </a:tabLst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	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low-cost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Raspberry Pi-based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AI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surveillance system.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0604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YOLOv5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multiple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sensors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 humans,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vehicles,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animals.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42925" marR="177165" indent="-320675">
                        <a:lnSpc>
                          <a:spcPct val="114999"/>
                        </a:lnSpc>
                        <a:buFont typeface="Arial MT"/>
                        <a:buChar char="●"/>
                        <a:tabLst>
                          <a:tab pos="5429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fast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accurate real-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monitoring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914400" y="6445272"/>
            <a:ext cx="112594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78498" y="181526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199" y="914552"/>
            <a:ext cx="8770620" cy="52768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97485" indent="-18478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197485" algn="l"/>
              </a:tabLst>
            </a:pP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D.</a:t>
            </a:r>
            <a:r>
              <a:rPr sz="1200" spc="1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Slutskiy,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Z.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Jacques,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N.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Bazarian,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S.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Basnet,</a:t>
            </a:r>
            <a:r>
              <a:rPr sz="1200" spc="1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A.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Poudel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P.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Manandhar,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“Non-human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Primate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Monitoring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System:</a:t>
            </a:r>
            <a:r>
              <a:rPr sz="1200" spc="2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Early</a:t>
            </a:r>
            <a:r>
              <a:rPr sz="1200" spc="1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Alert</a:t>
            </a:r>
            <a:endParaRPr sz="1200">
              <a:latin typeface="Times New Roman"/>
              <a:cs typeface="Times New Roman"/>
            </a:endParaRPr>
          </a:p>
          <a:p>
            <a:pPr marL="197485">
              <a:lnSpc>
                <a:spcPct val="100000"/>
              </a:lnSpc>
              <a:spcBef>
                <a:spcPts val="1045"/>
              </a:spcBef>
            </a:pP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200" spc="-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Against</a:t>
            </a:r>
            <a:r>
              <a:rPr sz="12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Crop</a:t>
            </a:r>
            <a:r>
              <a:rPr sz="1200" spc="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Raids</a:t>
            </a:r>
            <a:r>
              <a:rPr sz="12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200" spc="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Farms</a:t>
            </a:r>
            <a:r>
              <a:rPr sz="12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sz="1200" spc="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Nepal,”</a:t>
            </a:r>
            <a:r>
              <a:rPr sz="12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2024</a:t>
            </a:r>
            <a:r>
              <a:rPr sz="12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IEEE</a:t>
            </a:r>
            <a:r>
              <a:rPr sz="12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Global</a:t>
            </a:r>
            <a:r>
              <a:rPr sz="12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Humanitarian</a:t>
            </a:r>
            <a:r>
              <a:rPr sz="1200" spc="-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Technology</a:t>
            </a:r>
            <a:r>
              <a:rPr sz="12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C0C0C"/>
                </a:solidFill>
                <a:latin typeface="Times New Roman"/>
                <a:cs typeface="Times New Roman"/>
              </a:rPr>
              <a:t>Conference</a:t>
            </a:r>
            <a:r>
              <a:rPr sz="12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Times New Roman"/>
                <a:cs typeface="Times New Roman"/>
              </a:rPr>
              <a:t>(GHTC).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11439" y="1612896"/>
          <a:ext cx="8286749" cy="4687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4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5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6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5650">
                <a:tc>
                  <a:txBody>
                    <a:bodyPr/>
                    <a:lstStyle/>
                    <a:p>
                      <a:pPr marL="497205" marR="182245" indent="-3092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71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6400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0">
                <a:tc>
                  <a:txBody>
                    <a:bodyPr/>
                    <a:lstStyle/>
                    <a:p>
                      <a:pPr marL="85725" marR="160655" indent="106045">
                        <a:lnSpc>
                          <a:spcPct val="100000"/>
                        </a:lnSpc>
                        <a:spcBef>
                          <a:spcPts val="244"/>
                        </a:spcBef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camera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microphone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706120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OpenCV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motion detection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201930" indent="102870">
                        <a:lnSpc>
                          <a:spcPct val="100000"/>
                        </a:lnSpc>
                        <a:buChar char="•"/>
                        <a:tabLst>
                          <a:tab pos="188595" algn="l"/>
                        </a:tabLst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TensorFlow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Lite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EfficientDet-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Lite0</a:t>
                      </a:r>
                      <a:r>
                        <a:rPr sz="14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object detection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508634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IoT-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alerts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Arduino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MKR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NB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1500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69405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sz="14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time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processing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84810" indent="106045">
                        <a:lnSpc>
                          <a:spcPct val="100000"/>
                        </a:lnSpc>
                        <a:spcBef>
                          <a:spcPts val="244"/>
                        </a:spcBef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cost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suitable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remote areas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30162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monkey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detection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alerts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194310" indent="102870">
                        <a:lnSpc>
                          <a:spcPct val="100000"/>
                        </a:lnSpc>
                        <a:buChar char="•"/>
                        <a:tabLst>
                          <a:tab pos="188595" algn="l"/>
                        </a:tabLst>
                      </a:pP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Works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existing cellular/internet connectivity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49974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lethal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crop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protection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52895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Lightweight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AI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low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latency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99085" indent="106045">
                        <a:lnSpc>
                          <a:spcPct val="100000"/>
                        </a:lnSpc>
                        <a:spcBef>
                          <a:spcPts val="244"/>
                        </a:spcBef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Device</a:t>
                      </a:r>
                      <a:r>
                        <a:rPr sz="14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overheating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during field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testing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113664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Limited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audio</a:t>
                      </a:r>
                      <a:r>
                        <a:rPr sz="14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monkey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recognition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10350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Some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classes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showed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sz="1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detection confidence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324485" indent="106045">
                        <a:lnSpc>
                          <a:spcPct val="100000"/>
                        </a:lnSpc>
                        <a:buChar char="•"/>
                        <a:tabLst>
                          <a:tab pos="191770" algn="l"/>
                        </a:tabLst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4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has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limited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coverage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0223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4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combines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AI,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sz="14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vision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IoT</a:t>
                      </a:r>
                      <a:r>
                        <a:rPr sz="14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rhesus</a:t>
                      </a:r>
                      <a:r>
                        <a:rPr sz="14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macaques</a:t>
                      </a:r>
                      <a:r>
                        <a:rPr sz="14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alert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farmers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time.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85725" marR="144145">
                        <a:lnSpc>
                          <a:spcPct val="100000"/>
                        </a:lnSpc>
                      </a:pPr>
                      <a:r>
                        <a:rPr sz="14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monkey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detection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average confidence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85%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Further improvements</a:t>
                      </a:r>
                      <a:r>
                        <a:rPr sz="14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needed</a:t>
                      </a:r>
                      <a:r>
                        <a:rPr sz="1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cooling,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audio</a:t>
                      </a:r>
                      <a:r>
                        <a:rPr sz="14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recognition </a:t>
                      </a:r>
                      <a:r>
                        <a:rPr sz="14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4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10" dirty="0">
                          <a:latin typeface="Times New Roman"/>
                          <a:cs typeface="Times New Roman"/>
                        </a:rPr>
                        <a:t>scalability.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38200" y="6445272"/>
            <a:ext cx="120214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54698" y="181526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8273" y="801928"/>
            <a:ext cx="8208009" cy="1082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marR="5080" indent="-271780" algn="just">
              <a:lnSpc>
                <a:spcPct val="149000"/>
              </a:lnSpc>
              <a:spcBef>
                <a:spcPts val="100"/>
              </a:spcBef>
              <a:buSzPct val="64516"/>
              <a:buChar char="•"/>
              <a:tabLst>
                <a:tab pos="285115" algn="l"/>
              </a:tabLst>
            </a:pP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Diery</a:t>
            </a:r>
            <a:r>
              <a:rPr sz="155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NGOM,</a:t>
            </a:r>
            <a:r>
              <a:rPr sz="1550" spc="-8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Alla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LO,</a:t>
            </a:r>
            <a:r>
              <a:rPr sz="15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Serigne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Mbacké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spc="-20" dirty="0">
                <a:solidFill>
                  <a:srgbClr val="0C0C0C"/>
                </a:solidFill>
                <a:latin typeface="Times New Roman"/>
                <a:cs typeface="Times New Roman"/>
              </a:rPr>
              <a:t>GUEYE,</a:t>
            </a:r>
            <a:r>
              <a:rPr sz="1550" spc="-7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Absa</a:t>
            </a:r>
            <a:r>
              <a:rPr sz="15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LECOR,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"An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Intelligent</a:t>
            </a:r>
            <a:r>
              <a:rPr sz="15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IoT</a:t>
            </a:r>
            <a:r>
              <a:rPr sz="155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550" spc="-8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AI-Based 	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Surveillance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Recognition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Pest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Birds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Rice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Crops</a:t>
            </a:r>
            <a:r>
              <a:rPr sz="1550" spc="8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1550" spc="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Senegal 	</a:t>
            </a:r>
            <a:r>
              <a:rPr sz="1550" dirty="0">
                <a:solidFill>
                  <a:srgbClr val="0C0C0C"/>
                </a:solidFill>
                <a:latin typeface="Times New Roman"/>
                <a:cs typeface="Times New Roman"/>
              </a:rPr>
              <a:t>River</a:t>
            </a:r>
            <a:r>
              <a:rPr sz="155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0C0C0C"/>
                </a:solidFill>
                <a:latin typeface="Times New Roman"/>
                <a:cs typeface="Times New Roman"/>
              </a:rPr>
              <a:t>Valley</a:t>
            </a:r>
            <a:endParaRPr sz="155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9963" y="1962146"/>
          <a:ext cx="8229599" cy="43853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7870">
                <a:tc>
                  <a:txBody>
                    <a:bodyPr/>
                    <a:lstStyle/>
                    <a:p>
                      <a:pPr marL="499745" marR="184785" indent="-3092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454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177165" indent="-9144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Times New Roman"/>
                        <a:buChar char="•"/>
                        <a:tabLst>
                          <a:tab pos="177165" algn="l"/>
                        </a:tabLst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Architecture: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176530" indent="-91440">
                        <a:lnSpc>
                          <a:spcPct val="100000"/>
                        </a:lnSpc>
                        <a:spcBef>
                          <a:spcPts val="250"/>
                        </a:spcBef>
                        <a:buFont typeface="Times New Roman"/>
                        <a:buChar char="•"/>
                        <a:tabLst>
                          <a:tab pos="176530" algn="l"/>
                        </a:tabLst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Rapid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Response: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710"/>
                        </a:lnSpc>
                        <a:spcBef>
                          <a:spcPts val="24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Moderate</a:t>
                      </a:r>
                      <a:r>
                        <a:rPr sz="15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overfitting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F7D6CC"/>
                    </a:solidFill>
                  </a:tcPr>
                </a:tc>
                <a:tc rowSpan="8">
                  <a:txBody>
                    <a:bodyPr/>
                    <a:lstStyle/>
                    <a:p>
                      <a:pPr marL="85725" marR="20827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Integrates</a:t>
                      </a:r>
                      <a:r>
                        <a:rPr sz="15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PIR</a:t>
                      </a:r>
                      <a:r>
                        <a:rPr sz="15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sensors,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Raspberry Pi, 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MobileNetV2 to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detect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pest</a:t>
                      </a:r>
                      <a:r>
                        <a:rPr sz="15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birds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(Quelea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quelea,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ducks,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snipes)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and trigger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automated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deterrence</a:t>
                      </a:r>
                      <a:r>
                        <a:rPr sz="15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within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second, protecting 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rice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crops.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0915">
                <a:tc>
                  <a:txBody>
                    <a:bodyPr/>
                    <a:lstStyle/>
                    <a:p>
                      <a:pPr marL="85725">
                        <a:lnSpc>
                          <a:spcPts val="129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Sensor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$\rightarrow$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IP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$\rightarrow$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Raspberry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(Edge)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$\rightarrow$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Ultrasonic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Deterrent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API.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Sub-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(&lt;1s)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detection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090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deterrence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loop.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090" marR="171450">
                        <a:lnSpc>
                          <a:spcPct val="114999"/>
                        </a:lnSpc>
                        <a:spcBef>
                          <a:spcPts val="120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Edge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Execution: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Operates offline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cloud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525145">
                        <a:lnSpc>
                          <a:spcPts val="2070"/>
                        </a:lnSpc>
                        <a:spcBef>
                          <a:spcPts val="10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due to</a:t>
                      </a:r>
                      <a:r>
                        <a:rPr sz="15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inter-class similarity.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CUB-200-</a:t>
                      </a:r>
                      <a:r>
                        <a:rPr sz="1500" spc="-20" dirty="0">
                          <a:latin typeface="Times New Roman"/>
                          <a:cs typeface="Times New Roman"/>
                        </a:rPr>
                        <a:t>2011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410">
                <a:tc>
                  <a:txBody>
                    <a:bodyPr/>
                    <a:lstStyle/>
                    <a:p>
                      <a:pPr marL="1238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Model: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MobileNetV2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latency.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710"/>
                        </a:lnSpc>
                        <a:spcBef>
                          <a:spcPts val="2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5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lacks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545">
                <a:tc>
                  <a:txBody>
                    <a:bodyPr/>
                    <a:lstStyle/>
                    <a:p>
                      <a:pPr marL="85725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Transfer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CUB-200-2011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308610" indent="38100">
                        <a:lnSpc>
                          <a:spcPct val="114999"/>
                        </a:lnSpc>
                        <a:spcBef>
                          <a:spcPts val="84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Targeted: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Prevents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bird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habituation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avoids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066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42900">
                        <a:lnSpc>
                          <a:spcPts val="2070"/>
                        </a:lnSpc>
                        <a:spcBef>
                          <a:spcPts val="95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field-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captured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Senegalese</a:t>
                      </a:r>
                      <a:r>
                        <a:rPr sz="15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images.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785">
                <a:tc>
                  <a:txBody>
                    <a:bodyPr/>
                    <a:lstStyle/>
                    <a:p>
                      <a:pPr marL="123825">
                        <a:lnSpc>
                          <a:spcPts val="1325"/>
                        </a:lnSpc>
                        <a:spcBef>
                          <a:spcPts val="3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Optimization:</a:t>
                      </a:r>
                      <a:r>
                        <a:rPr sz="12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ts val="1325"/>
                        </a:lnSpc>
                        <a:spcBef>
                          <a:spcPts val="3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chemical/harmful methods.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augmentation,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Adam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optimizer,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605"/>
                        </a:lnSpc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5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solar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2410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ReduceLROnPlateau,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Early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1710"/>
                        </a:lnSpc>
                        <a:spcBef>
                          <a:spcPts val="20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integration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 remote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81075">
                <a:tc>
                  <a:txBody>
                    <a:bodyPr/>
                    <a:lstStyle/>
                    <a:p>
                      <a:pPr marL="85725">
                        <a:lnSpc>
                          <a:spcPts val="129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Stopping.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00" dirty="0">
                          <a:latin typeface="Times New Roman"/>
                          <a:cs typeface="Times New Roman"/>
                        </a:rPr>
                        <a:t>field </a:t>
                      </a: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power.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164041" y="6445272"/>
            <a:ext cx="8763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sz="1200" b="1" spc="-5" dirty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sz="1200" b="1" spc="-25" dirty="0">
                <a:solidFill>
                  <a:srgbClr val="ED7D31"/>
                </a:solidFill>
                <a:latin typeface="Times New Roman"/>
                <a:cs typeface="Times New Roman"/>
              </a:rPr>
              <a:t>CSE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54698" y="181526"/>
            <a:ext cx="609409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LITERATURE</a:t>
            </a:r>
            <a:r>
              <a:rPr spc="-195" dirty="0"/>
              <a:t> </a:t>
            </a:r>
            <a:r>
              <a:rPr spc="-10" dirty="0"/>
              <a:t>SURVEY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919" y="1021801"/>
            <a:ext cx="8703310" cy="88582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240029" algn="l"/>
              </a:tabLst>
            </a:pP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Curry,</a:t>
            </a:r>
            <a:r>
              <a:rPr sz="2150" spc="18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Trotter</a:t>
            </a:r>
            <a:r>
              <a:rPr sz="2150" spc="229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McGough,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2021</a:t>
            </a:r>
            <a:r>
              <a:rPr sz="2150" spc="229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–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camera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trap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deep</a:t>
            </a:r>
            <a:r>
              <a:rPr sz="2150" spc="229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learning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215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150" spc="-10" dirty="0">
                <a:solidFill>
                  <a:srgbClr val="0C0C0C"/>
                </a:solidFill>
                <a:latin typeface="Times New Roman"/>
                <a:cs typeface="Times New Roman"/>
              </a:rPr>
              <a:t>Scottish</a:t>
            </a:r>
            <a:endParaRPr sz="2150">
              <a:latin typeface="Times New Roman"/>
              <a:cs typeface="Times New Roman"/>
            </a:endParaRPr>
          </a:p>
          <a:p>
            <a:pPr marL="239395">
              <a:lnSpc>
                <a:spcPct val="100000"/>
              </a:lnSpc>
              <a:spcBef>
                <a:spcPts val="1585"/>
              </a:spcBef>
            </a:pPr>
            <a:r>
              <a:rPr sz="2150" spc="-10" dirty="0">
                <a:solidFill>
                  <a:srgbClr val="0C0C0C"/>
                </a:solidFill>
                <a:latin typeface="Times New Roman"/>
                <a:cs typeface="Times New Roman"/>
              </a:rPr>
              <a:t>wildcat</a:t>
            </a:r>
            <a:endParaRPr sz="215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9963" y="2216196"/>
          <a:ext cx="8068944" cy="4139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94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8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83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73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476884" marR="161925" indent="-3092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676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740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257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120">
                <a:tc>
                  <a:txBody>
                    <a:bodyPr/>
                    <a:lstStyle/>
                    <a:p>
                      <a:pPr marL="85725" marR="952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Ensemble</a:t>
                      </a:r>
                      <a:r>
                        <a:rPr sz="1800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MegaDetector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(detection),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DeepMAC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(segmentation),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CNN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classifiers (DenseNet201, MobileNet,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ResNet152V2)</a:t>
                      </a:r>
                      <a:r>
                        <a:rPr sz="18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vote-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two-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class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(Wildcat/Not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Wildcat) output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850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Novel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captive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imagery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train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rare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species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 wild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training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data;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ensemble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+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segmentation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improved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results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235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Poor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generalisation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captivity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wild —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accuracy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dropped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from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~90%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20–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45%;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725" marR="32639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best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8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only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54.8%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wildcat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wild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Shows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725" marR="206375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captivity-to-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wild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feasible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yet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reliable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enough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replace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manual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ecologist review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838200" y="6445272"/>
            <a:ext cx="1202141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05491" y="128401"/>
            <a:ext cx="548703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spc="-20" dirty="0"/>
              <a:t>LITERATURE</a:t>
            </a:r>
            <a:r>
              <a:rPr sz="3950" spc="-150" dirty="0"/>
              <a:t> </a:t>
            </a:r>
            <a:r>
              <a:rPr sz="3950" spc="-10" dirty="0"/>
              <a:t>SURVEY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291862" y="841067"/>
            <a:ext cx="8232140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110"/>
              </a:spcBef>
              <a:buSzPct val="64102"/>
              <a:buChar char="•"/>
              <a:tabLst>
                <a:tab pos="297180" algn="l"/>
              </a:tabLst>
            </a:pP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Kathir,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Balaji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1950" spc="-1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Ashwini,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2024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—</a:t>
            </a:r>
            <a:r>
              <a:rPr sz="1950" spc="-1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Animal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Intrusion</a:t>
            </a:r>
            <a:r>
              <a:rPr sz="195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9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Using</a:t>
            </a:r>
            <a:r>
              <a:rPr sz="1950" spc="-8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dirty="0">
                <a:solidFill>
                  <a:srgbClr val="0C0C0C"/>
                </a:solidFill>
                <a:latin typeface="Times New Roman"/>
                <a:cs typeface="Times New Roman"/>
              </a:rPr>
              <a:t>YOLO</a:t>
            </a:r>
            <a:r>
              <a:rPr sz="195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950" spc="-25" dirty="0">
                <a:solidFill>
                  <a:srgbClr val="0C0C0C"/>
                </a:solidFill>
                <a:latin typeface="Times New Roman"/>
                <a:cs typeface="Times New Roman"/>
              </a:rPr>
              <a:t>v8</a:t>
            </a:r>
            <a:endParaRPr sz="195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39963" y="1458627"/>
          <a:ext cx="8229599" cy="4879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40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pPr marL="499745" marR="184785" indent="-30924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800" b="1" spc="-9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Methodologies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b="1" spc="-9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8608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Advantages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3924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Limitations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54610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Summary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ED7D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6865">
                <a:tc>
                  <a:txBody>
                    <a:bodyPr/>
                    <a:lstStyle/>
                    <a:p>
                      <a:pPr marL="85725" marR="12827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YOLO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v8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(anchor-free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object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detector)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trained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100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epochs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4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classes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(buffalo,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elephant,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rhino,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zebra);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split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so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training/validation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images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have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725" marR="255904">
                        <a:lnSpc>
                          <a:spcPct val="100000"/>
                        </a:lnSpc>
                      </a:pP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single-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objects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harder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set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class images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090" marR="21018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—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mAP50-95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0.964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(train)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090" marR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0.845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(validation);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anchor-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free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design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mosaic augmentation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improve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speed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generalizability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earlier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YOLO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versions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6750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small,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85725" marR="236854">
                        <a:lnSpc>
                          <a:spcPct val="100000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web-scraped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(~376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images/class)</a:t>
                      </a:r>
                      <a:r>
                        <a:rPr sz="18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only 4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South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African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species;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field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deployment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or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alert-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system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shown;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tested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GTX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1050,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low-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end GPU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498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Demonstrates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YOLOv8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can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accurately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detect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intruding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wildlife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crop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protection,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strong precision/recall,</a:t>
                      </a:r>
                      <a:r>
                        <a:rPr sz="18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but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needs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real-world deployment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broader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species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coverage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practical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farm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use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7D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14400" y="6578165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6104" y="32355"/>
            <a:ext cx="71043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COMPARATIVE</a:t>
            </a:r>
            <a:r>
              <a:rPr spc="-190" dirty="0"/>
              <a:t> </a:t>
            </a:r>
            <a:r>
              <a:rPr spc="-35" dirty="0"/>
              <a:t>ANALYSIS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65023" y="698222"/>
          <a:ext cx="8256269" cy="5758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8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8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4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38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09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168910" marR="161290" indent="-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Paper/ Year/ Authors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39433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220979" indent="2641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Tool/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774065" marR="316230" indent="-4508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Observations/Key Findings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[2]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04139" marR="97790" indent="-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 AI+IoTframework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 tracking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440" marR="86360" algn="ctr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human-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elephantconfl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ict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prediction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882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detection,video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analytics,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movement prediction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98780" marR="39243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andconflict-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risk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classification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86360" marR="78740" indent="-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EfficientNet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B7,YOLO,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3D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CNN,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GRU,XGBoost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30810" marR="12573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EfficientNet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B7: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97.85%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accuracy; GRUgave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lowest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RMSE(0.25)for conflictprediction;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JetsonNano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98475" marR="490855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+AWSdeploymentwith SMS/dronealerts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[19]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08585" marR="103505" indent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Single-stage deepobject detectionforcrop-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fiel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intrusion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02870" marR="95250" indent="-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identification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intrudinganimalstotrigger farmerwarnings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448309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98425" marR="908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mAP@0.5=0.994(train)/0.959(val)o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buffalo,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elephant,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rhino,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zebra classes;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nolive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alertsystem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implemented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yet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[20]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99695" marR="9461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Ensembleobject-dete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ction+ segmentation+ classification pipeline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84455" indent="-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Testswhethercaptivity-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tra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modelsgeneraliseto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wild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camera-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trap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imagery(Scottish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wildcat)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23825" marR="1162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MegaDetector,Deep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MAC,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4300" marR="108585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DenseNet201/Mobil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eNet/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ResNet152V2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Best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2-classmodel:81.6%overall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 marR="106680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/54.8%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wildcat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onwildtest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set;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concludes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captivity-to-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wild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generalisation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still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lim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[10]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03505" marR="9779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Multi-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sensor(PIR+ul trasonic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+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vision)adaptive surveillance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76530" marR="16954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Motion-gated detectionwith dynamicthresholds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hierarchical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YOLOv5+CNN(Ada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9700" marR="132080" indent="-1905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ptive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Object RecognitionModel)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257175" marR="249554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96.8%detectionaccuracy,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0.15s latency,95%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reliability; embeddedFPSonly≈0.82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[18]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382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Architecture-improv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ed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YOLOv5sfornature-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eserve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 detection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51130" marR="145415" indent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Improvedetectionof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small,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lurred, andoccludedanimal targets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via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attention+feature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fusion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21285" marR="1155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YOLOv5s+BiFPN+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ECA+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00" marR="248285" algn="ctr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depth-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separable convolution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mAP95.5%vsYOLOv5sbaseline93.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3%,SSD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91.2%,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Faster-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RCNN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94.7%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(+3.2%over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baseline)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62000" y="6578165"/>
            <a:ext cx="12783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2893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106104" y="32355"/>
            <a:ext cx="71043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COMPARATIVE</a:t>
            </a:r>
            <a:r>
              <a:rPr spc="-190" dirty="0"/>
              <a:t> </a:t>
            </a:r>
            <a:r>
              <a:rPr spc="-35" dirty="0"/>
              <a:t>ANALYSIS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65662" y="786826"/>
          <a:ext cx="8465182" cy="5441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3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2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6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9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228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64565">
                <a:tc>
                  <a:txBody>
                    <a:bodyPr/>
                    <a:lstStyle/>
                    <a:p>
                      <a:pPr marL="161290" marR="153670" indent="-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Paper/ Year/ Authors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4210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Approach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116839" marR="109220" indent="26416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Tool/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Algorithm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marL="935355" marR="477520" indent="-45085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Observations/Key Findings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[4]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IoT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3980" marR="8890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+AIpipelineforautoma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ted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pest-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bird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deterrence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04139" marR="9652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Motion-triggereddetection followedbyautomatic ultrasonic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deterrent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+farmeralert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97485" marR="90170" indent="-10223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MobileNetV2(tra nsferlearning)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276225" marR="269875" indent="-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75%validationaccuracy;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&lt;1s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detection-to-deterrence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response;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trainedon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non-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local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CUB-200-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2011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[5]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12395" marR="107314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Two-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stagelightweight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DNN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optimised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edgedevices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277495" marR="270510" indent="-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Object detectionthenspecies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classification,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86055" marR="178435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user-feedbackretraining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loop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MobileNet/SSD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7790" marR="9144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+custom lightweight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CNN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65735" marR="158115" indent="-31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~78%validationaccuracy;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675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KBmodel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size;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demonstrated oncoyotedetectionwith</a:t>
                      </a:r>
                      <a:r>
                        <a:rPr sz="12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SMS/pushalerts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5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[17]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00330" marR="9461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Solar-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poweredIR-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cam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era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+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87960" marR="18034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CNNearly-warning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field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unit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rail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hotspots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305435" marR="109855" indent="-1905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elephantsday/night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near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tracks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andalert traindrivers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directly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YOLOv3(YOLO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93040" marR="18542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v2preliminary tests)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00330" marR="9779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Reliable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day/night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detectionqualitatively;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higher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false-positive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night;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real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field-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tested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hardwareinSri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Lanka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[1]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88265" marR="81915" indent="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Motion-triggered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edgedetection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withIoT alertingforcrop-raidin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macaques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12395" marR="10541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Detect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monkey/wildboar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/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porcupine/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humanclasses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SMS-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alert farmersinNepal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9588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TensorFlowLite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EfficientDet-Lite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tc>
                  <a:txBody>
                    <a:bodyPr/>
                    <a:lstStyle/>
                    <a:p>
                      <a:pPr marL="119380" marR="11176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Monkeyclass85%confidence,Porcupine8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1%,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42240" marR="134620"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Human78%;deviceoverheatingobserved duringfieldtest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1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3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[3]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11760" marR="104139" indent="33591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PIR-gated, power-efficient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edge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detectionfortiger/mon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2161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conflict zones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159385" marR="1543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Motion-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triggeredcapture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species-specific buzzeralarm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(tiger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vs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monkey)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YOLOv8n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tc>
                  <a:txBody>
                    <a:bodyPr/>
                    <a:lstStyle/>
                    <a:p>
                      <a:pPr marL="94615" marR="91440" indent="-63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mAP@0.5=94.8%,testaccuracy98.7%;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outperformsYOLOv7-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Tiny</a:t>
                      </a:r>
                      <a:r>
                        <a:rPr sz="1200" spc="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/v5n/v3-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Tiny/ SSDontheaccuracy-vs-computetrade-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off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1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08119" y="408856"/>
            <a:ext cx="55022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PROPOSED</a:t>
            </a:r>
            <a:r>
              <a:rPr spc="-200" dirty="0"/>
              <a:t> </a:t>
            </a:r>
            <a:r>
              <a:rPr spc="-1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6885" y="1117157"/>
            <a:ext cx="8249284" cy="45699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5104" marR="553085" indent="-193040">
              <a:lnSpc>
                <a:spcPct val="101099"/>
              </a:lnSpc>
              <a:spcBef>
                <a:spcPts val="95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SECURE REMOTE NETWORK ACCESS USING TWIN GATE AND RASPBERRY PI – Develop a secure and cost-effective remote network access system using Raspberry Pi and Twingate ZTNA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104" marR="521334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Implement Zero Trust security with identity verification, device authentication, and least-privilege access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104" marR="5080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Use Raspberry Pi as a lightweight network connector to securely connect internal resources to the Twingate platform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104" marR="107314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Provide secure remote access to authorized users without port forwarding, public IP addresses, or direct exposure of internal services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104" marR="133350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Integrate the Twingate API with Python automation to discover and dynamically register network resources with minimal manual configuration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104" marR="424815" indent="-193040">
              <a:lnSpc>
                <a:spcPct val="101099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Support centralized management, DNS aliasing, temporary access, service accounts, activity logging, and network monitoring for secure administration and maintenance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15094" y="107104"/>
            <a:ext cx="5691505" cy="1299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946150" marR="5080" indent="-934085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PROPOSED</a:t>
            </a:r>
            <a:r>
              <a:rPr spc="-200" dirty="0"/>
              <a:t> </a:t>
            </a:r>
            <a:r>
              <a:rPr spc="-10" dirty="0"/>
              <a:t>SYSTEM: </a:t>
            </a:r>
            <a:r>
              <a:rPr spc="80" dirty="0"/>
              <a:t>AD</a:t>
            </a:r>
            <a:r>
              <a:rPr spc="-480" dirty="0"/>
              <a:t>V</a:t>
            </a:r>
            <a:r>
              <a:rPr spc="80" dirty="0"/>
              <a:t>AN</a:t>
            </a:r>
            <a:r>
              <a:rPr spc="-250" dirty="0"/>
              <a:t>T</a:t>
            </a:r>
            <a:r>
              <a:rPr spc="80" dirty="0"/>
              <a:t>A</a:t>
            </a:r>
            <a:r>
              <a:rPr spc="75" dirty="0"/>
              <a:t>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8549" y="1423478"/>
            <a:ext cx="8362315" cy="36374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7010" marR="1027430" indent="-194945">
              <a:lnSpc>
                <a:spcPct val="120000"/>
              </a:lnSpc>
              <a:spcBef>
                <a:spcPts val="100"/>
              </a:spcBef>
              <a:buChar char="•"/>
              <a:tabLst>
                <a:tab pos="2070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Provides secure remote network access using Zero Trust Network Access (ZTNA)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740" marR="234950" indent="-192405">
              <a:lnSpc>
                <a:spcPct val="120000"/>
              </a:lnSpc>
              <a:spcBef>
                <a:spcPts val="1000"/>
              </a:spcBef>
              <a:buFont typeface="Arial MT"/>
              <a:buChar char="•"/>
              <a:tabLst>
                <a:tab pos="2070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Eliminates the need for port forwarding, public IP addresses, and complex firewall configurations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740" marR="65405" indent="-192405">
              <a:lnSpc>
                <a:spcPct val="120000"/>
              </a:lnSpc>
              <a:spcBef>
                <a:spcPts val="1000"/>
              </a:spcBef>
              <a:buFont typeface="Arial MT"/>
              <a:buChar char="•"/>
              <a:tabLst>
                <a:tab pos="2070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Offers low-cost and energy-efficient deployment using Raspberry Pi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6375" indent="-192405">
              <a:lnSpc>
                <a:spcPct val="100000"/>
              </a:lnSpc>
              <a:spcBef>
                <a:spcPts val="1430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Provides least-privilege access control so users can access only authorized resources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6375" indent="-192405">
              <a:lnSpc>
                <a:spcPct val="100000"/>
              </a:lnSpc>
              <a:spcBef>
                <a:spcPts val="1435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spc="-10" dirty="0" smtClean="0">
                <a:latin typeface="Times New Roman"/>
                <a:cs typeface="Times New Roman"/>
              </a:rPr>
              <a:t>Enables centralized management and monitoring through the Twingate platform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740" marR="802640" indent="-192405">
              <a:lnSpc>
                <a:spcPct val="120000"/>
              </a:lnSpc>
              <a:spcBef>
                <a:spcPts val="1000"/>
              </a:spcBef>
              <a:buFont typeface="Arial MT"/>
              <a:buChar char="•"/>
              <a:tabLst>
                <a:tab pos="207010" algn="l"/>
              </a:tabLst>
            </a:pPr>
            <a:r>
              <a:rPr lang="en-US" sz="1800" spc="-10" dirty="0" smtClean="0">
                <a:latin typeface="Times New Roman"/>
                <a:cs typeface="Times New Roman"/>
              </a:rPr>
              <a:t>Reduces manual configuration through Python-based API automation, improving scalability and efficiency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sp>
        <p:nvSpPr>
          <p:cNvPr id="7" name="object 7"/>
          <p:cNvSpPr txBox="1"/>
          <p:nvPr/>
        </p:nvSpPr>
        <p:spPr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86776" y="107104"/>
            <a:ext cx="6341110" cy="1299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95400" marR="5080" indent="-1283335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PROJECT</a:t>
            </a:r>
            <a:r>
              <a:rPr spc="-185" dirty="0"/>
              <a:t> </a:t>
            </a:r>
            <a:r>
              <a:rPr dirty="0"/>
              <a:t>PLANNING</a:t>
            </a:r>
            <a:r>
              <a:rPr spc="-110" dirty="0"/>
              <a:t> </a:t>
            </a:r>
            <a:r>
              <a:rPr spc="-50" dirty="0"/>
              <a:t>&amp; </a:t>
            </a:r>
            <a:r>
              <a:rPr spc="-10" dirty="0"/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9575" y="1429725"/>
            <a:ext cx="3927475" cy="3244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b="1" dirty="0">
                <a:latin typeface="Times New Roman"/>
                <a:cs typeface="Times New Roman"/>
              </a:rPr>
              <a:t>Work</a:t>
            </a:r>
            <a:r>
              <a:rPr sz="1950" b="1" spc="-8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Breakdown</a:t>
            </a:r>
            <a:r>
              <a:rPr sz="1950" b="1" spc="-65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Structure</a:t>
            </a:r>
            <a:r>
              <a:rPr sz="1950" b="1" spc="-7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(WBS)</a:t>
            </a:r>
            <a:r>
              <a:rPr sz="1950" b="1" spc="-65" dirty="0">
                <a:latin typeface="Times New Roman"/>
                <a:cs typeface="Times New Roman"/>
              </a:rPr>
              <a:t> </a:t>
            </a:r>
            <a:r>
              <a:rPr sz="1950" b="1" spc="-50" dirty="0">
                <a:latin typeface="Times New Roman"/>
                <a:cs typeface="Times New Roman"/>
              </a:rPr>
              <a:t>: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9575" y="1776986"/>
            <a:ext cx="8547100" cy="439607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205104" marR="6985" indent="-193040">
              <a:lnSpc>
                <a:spcPct val="111200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Requirement Analysis – Study the existing remote access methods, identify security limitations, and define project requirements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740" indent="-193040">
              <a:lnSpc>
                <a:spcPct val="100000"/>
              </a:lnSpc>
              <a:spcBef>
                <a:spcPts val="1245"/>
              </a:spcBef>
              <a:buFont typeface="Arial MT"/>
              <a:buChar char="•"/>
              <a:tabLst>
                <a:tab pos="20574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System Design – Design the architecture integrating Raspberry Pi, Twingate, remote users, and internal network resources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740" indent="-193040">
              <a:lnSpc>
                <a:spcPct val="100000"/>
              </a:lnSpc>
              <a:spcBef>
                <a:spcPts val="1240"/>
              </a:spcBef>
              <a:buFont typeface="Arial MT"/>
              <a:buChar char="•"/>
              <a:tabLst>
                <a:tab pos="20574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Raspberry Pi Setup – Install and configure the required operating system, networking components, and Twingate connector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104" marR="5080" indent="-193040">
              <a:lnSpc>
                <a:spcPct val="111200"/>
              </a:lnSpc>
              <a:spcBef>
                <a:spcPts val="1005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IN" sz="1800" dirty="0" smtClean="0">
                <a:latin typeface="Times New Roman"/>
                <a:cs typeface="Times New Roman"/>
              </a:rPr>
              <a:t>Twingate Configuration – Configure users, devices, resources, authentication, and access-control policies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104" marR="7620" indent="-193040">
              <a:lnSpc>
                <a:spcPct val="111200"/>
              </a:lnSpc>
              <a:spcBef>
                <a:spcPts val="1000"/>
              </a:spcBef>
              <a:buFont typeface="Arial MT"/>
              <a:buChar char="•"/>
              <a:tabLst>
                <a:tab pos="206375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Python Automation – Develop and integrate the Twingate API with Python for resource discovery and automated configuration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05740" indent="-193040">
              <a:lnSpc>
                <a:spcPct val="100000"/>
              </a:lnSpc>
              <a:spcBef>
                <a:spcPts val="1240"/>
              </a:spcBef>
              <a:buFont typeface="Arial MT"/>
              <a:buChar char="•"/>
              <a:tabLst>
                <a:tab pos="20574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Testing and Documentation – Test security, connectivity, access control, automation, and performance, then prepare the final documentation and project demonstration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2768" y="370236"/>
            <a:ext cx="198818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10" dirty="0">
                <a:solidFill>
                  <a:srgbClr val="000000"/>
                </a:solidFill>
              </a:rPr>
              <a:t>Methodology:</a:t>
            </a:r>
            <a:endParaRPr sz="2600"/>
          </a:p>
        </p:txBody>
      </p:sp>
      <p:sp>
        <p:nvSpPr>
          <p:cNvPr id="3" name="object 3"/>
          <p:cNvSpPr txBox="1"/>
          <p:nvPr/>
        </p:nvSpPr>
        <p:spPr>
          <a:xfrm>
            <a:off x="484335" y="1246232"/>
            <a:ext cx="8313420" cy="462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 marR="5715" indent="-20637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197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Design a Zero Trust architecture using Raspberry Pi as the network connector and Twingate for secure remote access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18440" marR="1651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Configure the Raspberry Pi and establish a secure connection with the Twingate platform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18440" marR="508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Configure users, devices, network resources, authentication, and least-privilege access policies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18440" marR="2286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Develop a Python-based automation module using the Twingate API for resource discovery and management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18440" marR="2286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Test the system for connectivity, security, access control, performance, and reliability, followed by documentation and evaluation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18440" marR="6350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  <a:tab pos="1273810" algn="l"/>
                <a:tab pos="2237105" algn="l"/>
                <a:tab pos="3074670" algn="l"/>
                <a:tab pos="3620770" algn="l"/>
                <a:tab pos="4383405" algn="l"/>
                <a:tab pos="5779770" algn="l"/>
                <a:tab pos="6199505" algn="l"/>
                <a:tab pos="7373620" algn="l"/>
              </a:tabLst>
            </a:pPr>
            <a:r>
              <a:rPr lang="en-US" sz="1800" spc="-10" dirty="0" smtClean="0">
                <a:latin typeface="Times New Roman"/>
                <a:cs typeface="Times New Roman"/>
              </a:rPr>
              <a:t>Implement DNS aliasing and temporary access permissions for flexible and controlled resource access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  <a:p>
            <a:pPr marL="218440" marR="26034" indent="-20637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19710" algn="l"/>
              </a:tabLst>
            </a:pPr>
            <a:r>
              <a:rPr lang="en-US" sz="1800" dirty="0" smtClean="0">
                <a:latin typeface="Times New Roman"/>
                <a:cs typeface="Times New Roman"/>
              </a:rPr>
              <a:t>Enable activity logging and network monitoring to track access, identify issues, and support secure administration</a:t>
            </a:r>
            <a:r>
              <a:rPr sz="1800" spc="-10" dirty="0" smtClean="0">
                <a:latin typeface="Times New Roman"/>
                <a:cs typeface="Times New Roman"/>
              </a:rPr>
              <a:t>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86776" y="107104"/>
            <a:ext cx="6341110" cy="129984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95400" marR="5080" indent="-1283335">
              <a:lnSpc>
                <a:spcPts val="4750"/>
              </a:lnSpc>
              <a:spcBef>
                <a:spcPts val="700"/>
              </a:spcBef>
            </a:pPr>
            <a:r>
              <a:rPr spc="-10" dirty="0"/>
              <a:t>PROJECT</a:t>
            </a:r>
            <a:r>
              <a:rPr spc="-185" dirty="0"/>
              <a:t> </a:t>
            </a:r>
            <a:r>
              <a:rPr dirty="0"/>
              <a:t>PLANNING</a:t>
            </a:r>
            <a:r>
              <a:rPr spc="-110" dirty="0"/>
              <a:t> </a:t>
            </a:r>
            <a:r>
              <a:rPr spc="-50" dirty="0"/>
              <a:t>&amp; </a:t>
            </a:r>
            <a:r>
              <a:rPr spc="-10" dirty="0"/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83547" y="1784068"/>
            <a:ext cx="57664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7325" algn="l"/>
              </a:tabLst>
            </a:pPr>
            <a:r>
              <a:rPr sz="2800" b="1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2800" b="1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2800" b="1" spc="-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C0C0C"/>
                </a:solidFill>
                <a:latin typeface="Times New Roman"/>
                <a:cs typeface="Times New Roman"/>
              </a:rPr>
              <a:t>Schedule</a:t>
            </a:r>
            <a:r>
              <a:rPr sz="2800" b="1" spc="-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C0C0C"/>
                </a:solidFill>
                <a:latin typeface="Times New Roman"/>
                <a:cs typeface="Times New Roman"/>
              </a:rPr>
              <a:t>(The</a:t>
            </a:r>
            <a:r>
              <a:rPr sz="2800" b="1" spc="-1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Timeline)</a:t>
            </a:r>
            <a:endParaRPr sz="2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700" y="2339556"/>
            <a:ext cx="7584898" cy="393681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3623" y="175054"/>
            <a:ext cx="8332470" cy="117221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 indent="2020570">
              <a:lnSpc>
                <a:spcPts val="4280"/>
              </a:lnSpc>
              <a:spcBef>
                <a:spcPts val="635"/>
              </a:spcBef>
            </a:pPr>
            <a:r>
              <a:rPr sz="3950" spc="-10" dirty="0"/>
              <a:t>RESOURCE/TASK IDENTIFICATION</a:t>
            </a:r>
            <a:r>
              <a:rPr sz="3950" spc="-200" dirty="0"/>
              <a:t> </a:t>
            </a:r>
            <a:r>
              <a:rPr sz="3950" dirty="0"/>
              <a:t>&amp;</a:t>
            </a:r>
            <a:r>
              <a:rPr sz="3950" spc="-245" dirty="0"/>
              <a:t> </a:t>
            </a:r>
            <a:r>
              <a:rPr sz="3950" spc="-20" dirty="0"/>
              <a:t>ALLOCATION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568334" y="1822270"/>
            <a:ext cx="82696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1295" marR="5080" indent="-18923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02565" algn="l"/>
              </a:tabLst>
            </a:pP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Systematic</a:t>
            </a:r>
            <a:r>
              <a:rPr sz="2000" spc="15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distribution</a:t>
            </a:r>
            <a:r>
              <a:rPr sz="2000" spc="30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000" spc="25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2000" spc="30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workload,</a:t>
            </a:r>
            <a:r>
              <a:rPr sz="2000" spc="30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software</a:t>
            </a:r>
            <a:r>
              <a:rPr sz="2000" spc="25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tools,</a:t>
            </a:r>
            <a:r>
              <a:rPr sz="2000" spc="30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2000" spc="30" dirty="0">
                <a:solidFill>
                  <a:srgbClr val="0C0C0C"/>
                </a:solidFill>
                <a:latin typeface="Times New Roman"/>
                <a:cs typeface="Times New Roman"/>
              </a:rPr>
              <a:t>  </a:t>
            </a:r>
            <a:r>
              <a:rPr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hardware 	assets</a:t>
            </a:r>
            <a:endParaRPr sz="20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647443"/>
              </p:ext>
            </p:extLst>
          </p:nvPr>
        </p:nvGraphicFramePr>
        <p:xfrm>
          <a:off x="222250" y="2540906"/>
          <a:ext cx="8830944" cy="3676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9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2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2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96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6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02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6648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Description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L="397510" marR="390525" indent="279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Primary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Resource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marR="248920" algn="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Tools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Infrastructure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400" b="1" spc="-8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Status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5B9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T1: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Requirements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23050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200" spc="-10" dirty="0" smtClean="0">
                          <a:latin typeface="Times New Roman"/>
                          <a:cs typeface="Times New Roman"/>
                        </a:rPr>
                        <a:t>Literature survey and system architecture design.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Group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R="26797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IEEE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Journals,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scholar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Completed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214629" marR="131445" indent="-762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 smtClean="0">
                          <a:latin typeface="Times New Roman"/>
                          <a:cs typeface="Times New Roman"/>
                        </a:rPr>
                        <a:t>T2:</a:t>
                      </a:r>
                      <a:r>
                        <a:rPr lang="en-IN" sz="1200" spc="-10" dirty="0" smtClean="0">
                          <a:latin typeface="Times New Roman"/>
                          <a:cs typeface="Times New Roman"/>
                        </a:rPr>
                        <a:t>Connector &amp; Network Setup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594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200" spc="-10" dirty="0" smtClean="0">
                          <a:latin typeface="Times New Roman"/>
                          <a:cs typeface="Times New Roman"/>
                        </a:rPr>
                        <a:t>Raspberry Pi setup and Twingate Connector configuration.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450215" marR="4425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 smtClean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lang="en-IN" sz="1200" dirty="0" err="1" smtClean="0">
                          <a:latin typeface="Times New Roman"/>
                          <a:cs typeface="Times New Roman"/>
                        </a:rPr>
                        <a:t>kshay</a:t>
                      </a:r>
                      <a:r>
                        <a:rPr lang="en-IN" sz="1200" baseline="0" dirty="0" smtClean="0">
                          <a:latin typeface="Times New Roman"/>
                          <a:cs typeface="Times New Roman"/>
                        </a:rPr>
                        <a:t> N</a:t>
                      </a:r>
                      <a:r>
                        <a:rPr sz="1200" spc="-50" dirty="0" smtClean="0">
                          <a:latin typeface="Times New Roman"/>
                          <a:cs typeface="Times New Roman"/>
                        </a:rPr>
                        <a:t>&amp;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28575" algn="ctr">
                        <a:lnSpc>
                          <a:spcPct val="100000"/>
                        </a:lnSpc>
                      </a:pPr>
                      <a:r>
                        <a:rPr lang="en-IN" sz="1200" dirty="0" err="1" smtClean="0">
                          <a:latin typeface="Times New Roman"/>
                          <a:cs typeface="Times New Roman"/>
                        </a:rPr>
                        <a:t>Shanid</a:t>
                      </a:r>
                      <a:r>
                        <a:rPr lang="en-IN" sz="1200" baseline="0" dirty="0" smtClean="0">
                          <a:latin typeface="Times New Roman"/>
                          <a:cs typeface="Times New Roman"/>
                        </a:rPr>
                        <a:t> Ali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321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IN" sz="1200" dirty="0" smtClean="0">
                          <a:latin typeface="Times New Roman"/>
                          <a:cs typeface="Times New Roman"/>
                        </a:rPr>
                        <a:t>Raspberry Pi, Twingate, Linux, SSH, Local Network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T3: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1200" dirty="0" smtClean="0">
                          <a:latin typeface="Times New Roman"/>
                          <a:cs typeface="Times New Roman"/>
                        </a:rPr>
                        <a:t> API Automation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1035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200" spc="-20" dirty="0" smtClean="0">
                          <a:latin typeface="Times New Roman"/>
                          <a:cs typeface="Times New Roman"/>
                        </a:rPr>
                        <a:t>Python API integration and resource automation.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IN" sz="1200" dirty="0" err="1" smtClean="0">
                          <a:latin typeface="Times New Roman"/>
                          <a:cs typeface="Times New Roman"/>
                        </a:rPr>
                        <a:t>Akshay</a:t>
                      </a:r>
                      <a:r>
                        <a:rPr lang="en-IN" sz="1200" dirty="0" smtClean="0">
                          <a:latin typeface="Times New Roman"/>
                          <a:cs typeface="Times New Roman"/>
                        </a:rPr>
                        <a:t> N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089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IN" sz="1200" dirty="0" smtClean="0">
                          <a:latin typeface="Times New Roman"/>
                          <a:cs typeface="Times New Roman"/>
                        </a:rPr>
                        <a:t>Python, Twingate API, REST API, GitHub, VS Code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started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10" dirty="0" smtClean="0">
                          <a:latin typeface="Times New Roman"/>
                          <a:cs typeface="Times New Roman"/>
                        </a:rPr>
                        <a:t>T4:</a:t>
                      </a:r>
                      <a:r>
                        <a:rPr lang="en-IN" sz="1200" spc="-10" dirty="0" smtClean="0">
                          <a:latin typeface="Times New Roman"/>
                          <a:cs typeface="Times New Roman"/>
                        </a:rPr>
                        <a:t> Security Implementation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3210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200" dirty="0" smtClean="0">
                          <a:latin typeface="Times New Roman"/>
                          <a:cs typeface="Times New Roman"/>
                        </a:rPr>
                        <a:t>Configure authentication and least-privilege access.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IN" sz="1200" dirty="0" smtClean="0">
                          <a:latin typeface="Times New Roman"/>
                          <a:cs typeface="Times New Roman"/>
                        </a:rPr>
                        <a:t>Abhishek</a:t>
                      </a:r>
                      <a:r>
                        <a:rPr lang="en-IN" sz="1200" baseline="0" dirty="0" smtClean="0">
                          <a:latin typeface="Times New Roman"/>
                          <a:cs typeface="Times New Roman"/>
                        </a:rPr>
                        <a:t> KB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213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IN" sz="1200" dirty="0" smtClean="0">
                          <a:latin typeface="Times New Roman"/>
                          <a:cs typeface="Times New Roman"/>
                        </a:rPr>
                        <a:t>Twingate Admin Console, ZTNA Policies, DNS, Authentication &amp; Logging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Started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E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0230">
                <a:tc>
                  <a:txBody>
                    <a:bodyPr/>
                    <a:lstStyle/>
                    <a:p>
                      <a:pPr marL="449580" marR="127000" indent="-31559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T5: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QA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3695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US" sz="1200" dirty="0" smtClean="0">
                          <a:latin typeface="Times New Roman"/>
                          <a:cs typeface="Times New Roman"/>
                        </a:rPr>
                        <a:t>System testing, bug fixing, and final documentation.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Group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Members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4051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lang="en-IN" sz="1200" dirty="0" smtClean="0">
                          <a:latin typeface="Times New Roman"/>
                          <a:cs typeface="Times New Roman"/>
                        </a:rPr>
                        <a:t>Postman, Twingate Logs, Word/Docs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Started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93623" y="175054"/>
            <a:ext cx="8332470" cy="1172210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 indent="2020570">
              <a:lnSpc>
                <a:spcPts val="4280"/>
              </a:lnSpc>
              <a:spcBef>
                <a:spcPts val="635"/>
              </a:spcBef>
            </a:pPr>
            <a:r>
              <a:rPr sz="3950" spc="-10" dirty="0"/>
              <a:t>RESOURCE/TASK IDENTIFICATION</a:t>
            </a:r>
            <a:r>
              <a:rPr sz="3950" spc="-200" dirty="0"/>
              <a:t> </a:t>
            </a:r>
            <a:r>
              <a:rPr sz="3950" dirty="0"/>
              <a:t>&amp;</a:t>
            </a:r>
            <a:r>
              <a:rPr sz="3950" spc="-245" dirty="0"/>
              <a:t> </a:t>
            </a:r>
            <a:r>
              <a:rPr sz="3950" spc="-20" dirty="0"/>
              <a:t>ALLOCATION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586262" y="1289711"/>
            <a:ext cx="4545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9367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06375" algn="l"/>
              </a:tabLst>
            </a:pP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Resource</a:t>
            </a:r>
            <a:r>
              <a:rPr sz="1800" b="1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Breakdown</a:t>
            </a:r>
            <a:r>
              <a:rPr sz="1800" b="1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1800" b="1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Project</a:t>
            </a:r>
            <a:r>
              <a:rPr sz="1800" b="1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Governance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93623" y="1677820"/>
            <a:ext cx="2194560" cy="4247515"/>
            <a:chOff x="79612" y="1683413"/>
            <a:chExt cx="2194560" cy="4247515"/>
          </a:xfrm>
        </p:grpSpPr>
        <p:sp>
          <p:nvSpPr>
            <p:cNvPr id="5" name="object 5"/>
            <p:cNvSpPr/>
            <p:nvPr/>
          </p:nvSpPr>
          <p:spPr>
            <a:xfrm>
              <a:off x="84375" y="1688176"/>
              <a:ext cx="2185035" cy="4237990"/>
            </a:xfrm>
            <a:custGeom>
              <a:avLst/>
              <a:gdLst/>
              <a:ahLst/>
              <a:cxnLst/>
              <a:rect l="l" t="t" r="r" b="b"/>
              <a:pathLst>
                <a:path w="2185035" h="4237990">
                  <a:moveTo>
                    <a:pt x="0" y="364107"/>
                  </a:moveTo>
                  <a:lnTo>
                    <a:pt x="3323" y="314700"/>
                  </a:lnTo>
                  <a:lnTo>
                    <a:pt x="13006" y="267313"/>
                  </a:lnTo>
                  <a:lnTo>
                    <a:pt x="28613" y="222380"/>
                  </a:lnTo>
                  <a:lnTo>
                    <a:pt x="49711" y="180335"/>
                  </a:lnTo>
                  <a:lnTo>
                    <a:pt x="75866" y="141612"/>
                  </a:lnTo>
                  <a:lnTo>
                    <a:pt x="106644" y="106644"/>
                  </a:lnTo>
                  <a:lnTo>
                    <a:pt x="141612" y="75866"/>
                  </a:lnTo>
                  <a:lnTo>
                    <a:pt x="180335" y="49711"/>
                  </a:lnTo>
                  <a:lnTo>
                    <a:pt x="222380" y="28613"/>
                  </a:lnTo>
                  <a:lnTo>
                    <a:pt x="267313" y="13006"/>
                  </a:lnTo>
                  <a:lnTo>
                    <a:pt x="314700" y="3323"/>
                  </a:lnTo>
                  <a:lnTo>
                    <a:pt x="364107" y="0"/>
                  </a:lnTo>
                  <a:lnTo>
                    <a:pt x="1820492" y="0"/>
                  </a:lnTo>
                  <a:lnTo>
                    <a:pt x="1868352" y="3157"/>
                  </a:lnTo>
                  <a:lnTo>
                    <a:pt x="1914986" y="12474"/>
                  </a:lnTo>
                  <a:lnTo>
                    <a:pt x="1959830" y="27716"/>
                  </a:lnTo>
                  <a:lnTo>
                    <a:pt x="2002317" y="48647"/>
                  </a:lnTo>
                  <a:lnTo>
                    <a:pt x="2041880" y="75035"/>
                  </a:lnTo>
                  <a:lnTo>
                    <a:pt x="2077955" y="106644"/>
                  </a:lnTo>
                  <a:lnTo>
                    <a:pt x="2109564" y="142719"/>
                  </a:lnTo>
                  <a:lnTo>
                    <a:pt x="2135952" y="182282"/>
                  </a:lnTo>
                  <a:lnTo>
                    <a:pt x="2156883" y="224769"/>
                  </a:lnTo>
                  <a:lnTo>
                    <a:pt x="2172125" y="269612"/>
                  </a:lnTo>
                  <a:lnTo>
                    <a:pt x="2181442" y="316247"/>
                  </a:lnTo>
                  <a:lnTo>
                    <a:pt x="2184599" y="364107"/>
                  </a:lnTo>
                  <a:lnTo>
                    <a:pt x="2184599" y="3873692"/>
                  </a:lnTo>
                  <a:lnTo>
                    <a:pt x="2181276" y="3923100"/>
                  </a:lnTo>
                  <a:lnTo>
                    <a:pt x="2171593" y="3970486"/>
                  </a:lnTo>
                  <a:lnTo>
                    <a:pt x="2155986" y="4015419"/>
                  </a:lnTo>
                  <a:lnTo>
                    <a:pt x="2134888" y="4057464"/>
                  </a:lnTo>
                  <a:lnTo>
                    <a:pt x="2108733" y="4096187"/>
                  </a:lnTo>
                  <a:lnTo>
                    <a:pt x="2077955" y="4131155"/>
                  </a:lnTo>
                  <a:lnTo>
                    <a:pt x="2042987" y="4161933"/>
                  </a:lnTo>
                  <a:lnTo>
                    <a:pt x="2004264" y="4188088"/>
                  </a:lnTo>
                  <a:lnTo>
                    <a:pt x="1962219" y="4209186"/>
                  </a:lnTo>
                  <a:lnTo>
                    <a:pt x="1917286" y="4224793"/>
                  </a:lnTo>
                  <a:lnTo>
                    <a:pt x="1869899" y="4234476"/>
                  </a:lnTo>
                  <a:lnTo>
                    <a:pt x="1820492" y="4237799"/>
                  </a:lnTo>
                  <a:lnTo>
                    <a:pt x="364107" y="4237799"/>
                  </a:lnTo>
                  <a:lnTo>
                    <a:pt x="314700" y="4234476"/>
                  </a:lnTo>
                  <a:lnTo>
                    <a:pt x="267313" y="4224793"/>
                  </a:lnTo>
                  <a:lnTo>
                    <a:pt x="222380" y="4209186"/>
                  </a:lnTo>
                  <a:lnTo>
                    <a:pt x="180335" y="4188088"/>
                  </a:lnTo>
                  <a:lnTo>
                    <a:pt x="141612" y="4161933"/>
                  </a:lnTo>
                  <a:lnTo>
                    <a:pt x="106644" y="4131155"/>
                  </a:lnTo>
                  <a:lnTo>
                    <a:pt x="75866" y="4096187"/>
                  </a:lnTo>
                  <a:lnTo>
                    <a:pt x="49711" y="4057464"/>
                  </a:lnTo>
                  <a:lnTo>
                    <a:pt x="28613" y="4015419"/>
                  </a:lnTo>
                  <a:lnTo>
                    <a:pt x="13006" y="3970486"/>
                  </a:lnTo>
                  <a:lnTo>
                    <a:pt x="3323" y="3923100"/>
                  </a:lnTo>
                  <a:lnTo>
                    <a:pt x="0" y="3873692"/>
                  </a:lnTo>
                  <a:lnTo>
                    <a:pt x="0" y="364107"/>
                  </a:lnTo>
                  <a:close/>
                </a:path>
              </a:pathLst>
            </a:custGeom>
            <a:ln w="9524">
              <a:solidFill>
                <a:srgbClr val="35A2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1666" y="1910722"/>
              <a:ext cx="284633" cy="26789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03755" y="1875909"/>
            <a:ext cx="1657350" cy="36497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260" marR="67310" indent="236854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02C57"/>
                </a:solidFill>
                <a:latin typeface="Arial"/>
                <a:cs typeface="Arial"/>
              </a:rPr>
              <a:t>Hardware Resources</a:t>
            </a:r>
            <a:endParaRPr sz="1800" dirty="0">
              <a:latin typeface="Arial"/>
              <a:cs typeface="Arial"/>
            </a:endParaRPr>
          </a:p>
          <a:p>
            <a:pPr marL="272415" marR="318770" indent="-260350">
              <a:lnSpc>
                <a:spcPct val="100000"/>
              </a:lnSpc>
              <a:spcBef>
                <a:spcPts val="1415"/>
              </a:spcBef>
              <a:buFont typeface="Arial"/>
              <a:buChar char="•"/>
              <a:tabLst>
                <a:tab pos="272415" algn="l"/>
              </a:tabLst>
            </a:pPr>
            <a:r>
              <a:rPr lang="en-IN" sz="1350" b="1" spc="-10" dirty="0" smtClean="0">
                <a:solidFill>
                  <a:srgbClr val="282828"/>
                </a:solidFill>
                <a:latin typeface="Times New Roman"/>
                <a:cs typeface="Times New Roman"/>
              </a:rPr>
              <a:t>Raspberry Pi</a:t>
            </a:r>
            <a:r>
              <a:rPr sz="1350" b="1" spc="-10" dirty="0" smtClean="0">
                <a:solidFill>
                  <a:srgbClr val="282828"/>
                </a:solidFill>
                <a:latin typeface="Times New Roman"/>
                <a:cs typeface="Times New Roman"/>
              </a:rPr>
              <a:t>(</a:t>
            </a:r>
            <a:r>
              <a:rPr lang="en-IN" sz="1350" b="1" spc="-10" dirty="0" smtClean="0">
                <a:solidFill>
                  <a:srgbClr val="282828"/>
                </a:solidFill>
                <a:latin typeface="Times New Roman"/>
                <a:cs typeface="Times New Roman"/>
              </a:rPr>
              <a:t>Mini Computing Chip</a:t>
            </a:r>
            <a:r>
              <a:rPr sz="1350" b="1" spc="-10" dirty="0" smtClean="0">
                <a:solidFill>
                  <a:srgbClr val="282828"/>
                </a:solidFill>
                <a:latin typeface="Times New Roman"/>
                <a:cs typeface="Times New Roman"/>
              </a:rPr>
              <a:t>)</a:t>
            </a:r>
            <a:endParaRPr sz="1350" dirty="0">
              <a:latin typeface="Times New Roman"/>
              <a:cs typeface="Times New Roman"/>
            </a:endParaRPr>
          </a:p>
          <a:p>
            <a:pPr marL="272415" marR="5080" indent="-260350">
              <a:lnSpc>
                <a:spcPct val="100000"/>
              </a:lnSpc>
              <a:spcBef>
                <a:spcPts val="800"/>
              </a:spcBef>
              <a:buChar char="•"/>
              <a:tabLst>
                <a:tab pos="272415" algn="l"/>
                <a:tab pos="312420" algn="l"/>
              </a:tabLst>
            </a:pPr>
            <a:r>
              <a:rPr sz="1350" b="1" dirty="0">
                <a:solidFill>
                  <a:srgbClr val="282828"/>
                </a:solidFill>
                <a:latin typeface="Arial"/>
                <a:cs typeface="Arial"/>
              </a:rPr>
              <a:t>	</a:t>
            </a:r>
            <a:r>
              <a:rPr lang="en-IN" sz="1350" b="1" spc="-10" dirty="0" smtClean="0">
                <a:solidFill>
                  <a:srgbClr val="282828"/>
                </a:solidFill>
                <a:latin typeface="Times New Roman"/>
                <a:cs typeface="Times New Roman"/>
              </a:rPr>
              <a:t>SD Card</a:t>
            </a:r>
            <a:endParaRPr sz="1350" dirty="0" smtClean="0">
              <a:latin typeface="Times New Roman"/>
              <a:cs typeface="Times New Roman"/>
            </a:endParaRPr>
          </a:p>
          <a:p>
            <a:pPr marL="272415" marR="33020" indent="-260350">
              <a:lnSpc>
                <a:spcPct val="100000"/>
              </a:lnSpc>
              <a:spcBef>
                <a:spcPts val="800"/>
              </a:spcBef>
              <a:buChar char="•"/>
              <a:tabLst>
                <a:tab pos="272415" algn="l"/>
                <a:tab pos="314960" algn="l"/>
              </a:tabLst>
            </a:pPr>
            <a:r>
              <a:rPr lang="en-IN" sz="1350" b="1" dirty="0" smtClean="0">
                <a:solidFill>
                  <a:srgbClr val="282828"/>
                </a:solidFill>
                <a:latin typeface="Arial"/>
                <a:cs typeface="Arial"/>
              </a:rPr>
              <a:t>Ethernet/Wi-Fi Router</a:t>
            </a:r>
            <a:endParaRPr sz="1350" dirty="0" smtClean="0">
              <a:latin typeface="Times New Roman"/>
              <a:cs typeface="Times New Roman"/>
            </a:endParaRPr>
          </a:p>
          <a:p>
            <a:pPr marL="272415" marR="490220" indent="-26035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72415" algn="l"/>
              </a:tabLst>
            </a:pPr>
            <a:r>
              <a:rPr sz="1350" b="1" spc="-10" dirty="0" smtClean="0">
                <a:solidFill>
                  <a:srgbClr val="282828"/>
                </a:solidFill>
                <a:latin typeface="Times New Roman"/>
                <a:cs typeface="Times New Roman"/>
              </a:rPr>
              <a:t>Internet </a:t>
            </a:r>
            <a:r>
              <a:rPr sz="1350" b="1" spc="-10" dirty="0">
                <a:solidFill>
                  <a:srgbClr val="282828"/>
                </a:solidFill>
                <a:latin typeface="Times New Roman"/>
                <a:cs typeface="Times New Roman"/>
              </a:rPr>
              <a:t>connectivity</a:t>
            </a:r>
            <a:endParaRPr sz="1350" dirty="0">
              <a:latin typeface="Times New Roman"/>
              <a:cs typeface="Times New Roman"/>
            </a:endParaRPr>
          </a:p>
          <a:p>
            <a:pPr marL="272415" marR="248920" indent="-260350">
              <a:lnSpc>
                <a:spcPct val="100000"/>
              </a:lnSpc>
              <a:spcBef>
                <a:spcPts val="800"/>
              </a:spcBef>
              <a:buChar char="•"/>
              <a:tabLst>
                <a:tab pos="272415" algn="l"/>
                <a:tab pos="314960" algn="l"/>
              </a:tabLst>
            </a:pPr>
            <a:r>
              <a:rPr lang="en-IN" sz="1350" b="1" dirty="0" smtClean="0">
                <a:solidFill>
                  <a:srgbClr val="282828"/>
                </a:solidFill>
                <a:latin typeface="Times New Roman"/>
                <a:cs typeface="Times New Roman"/>
              </a:rPr>
              <a:t>Client Computer/Laptop</a:t>
            </a:r>
            <a:endParaRPr sz="135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06504" y="1652338"/>
            <a:ext cx="2185035" cy="4237990"/>
          </a:xfrm>
          <a:custGeom>
            <a:avLst/>
            <a:gdLst/>
            <a:ahLst/>
            <a:cxnLst/>
            <a:rect l="l" t="t" r="r" b="b"/>
            <a:pathLst>
              <a:path w="2185035" h="4237990">
                <a:moveTo>
                  <a:pt x="0" y="615292"/>
                </a:moveTo>
                <a:lnTo>
                  <a:pt x="1851" y="567207"/>
                </a:lnTo>
                <a:lnTo>
                  <a:pt x="7313" y="520135"/>
                </a:lnTo>
                <a:lnTo>
                  <a:pt x="16250" y="474211"/>
                </a:lnTo>
                <a:lnTo>
                  <a:pt x="28524" y="429573"/>
                </a:lnTo>
                <a:lnTo>
                  <a:pt x="43999" y="386358"/>
                </a:lnTo>
                <a:lnTo>
                  <a:pt x="62539" y="344702"/>
                </a:lnTo>
                <a:lnTo>
                  <a:pt x="84005" y="304742"/>
                </a:lnTo>
                <a:lnTo>
                  <a:pt x="108262" y="266615"/>
                </a:lnTo>
                <a:lnTo>
                  <a:pt x="135172" y="230458"/>
                </a:lnTo>
                <a:lnTo>
                  <a:pt x="164600" y="196407"/>
                </a:lnTo>
                <a:lnTo>
                  <a:pt x="196407" y="164600"/>
                </a:lnTo>
                <a:lnTo>
                  <a:pt x="230458" y="135172"/>
                </a:lnTo>
                <a:lnTo>
                  <a:pt x="266615" y="108262"/>
                </a:lnTo>
                <a:lnTo>
                  <a:pt x="304742" y="84005"/>
                </a:lnTo>
                <a:lnTo>
                  <a:pt x="344702" y="62539"/>
                </a:lnTo>
                <a:lnTo>
                  <a:pt x="386358" y="43999"/>
                </a:lnTo>
                <a:lnTo>
                  <a:pt x="429573" y="28524"/>
                </a:lnTo>
                <a:lnTo>
                  <a:pt x="474211" y="16250"/>
                </a:lnTo>
                <a:lnTo>
                  <a:pt x="520135" y="7313"/>
                </a:lnTo>
                <a:lnTo>
                  <a:pt x="567207" y="1851"/>
                </a:lnTo>
                <a:lnTo>
                  <a:pt x="615292" y="0"/>
                </a:lnTo>
                <a:lnTo>
                  <a:pt x="1569307" y="0"/>
                </a:lnTo>
                <a:lnTo>
                  <a:pt x="1618028" y="1930"/>
                </a:lnTo>
                <a:lnTo>
                  <a:pt x="1666141" y="7664"/>
                </a:lnTo>
                <a:lnTo>
                  <a:pt x="1713440" y="17117"/>
                </a:lnTo>
                <a:lnTo>
                  <a:pt x="1759718" y="30203"/>
                </a:lnTo>
                <a:lnTo>
                  <a:pt x="1804769" y="46836"/>
                </a:lnTo>
                <a:lnTo>
                  <a:pt x="1848386" y="66931"/>
                </a:lnTo>
                <a:lnTo>
                  <a:pt x="1890363" y="90401"/>
                </a:lnTo>
                <a:lnTo>
                  <a:pt x="1930492" y="117163"/>
                </a:lnTo>
                <a:lnTo>
                  <a:pt x="1968568" y="147129"/>
                </a:lnTo>
                <a:lnTo>
                  <a:pt x="2004384" y="180214"/>
                </a:lnTo>
                <a:lnTo>
                  <a:pt x="2037470" y="216030"/>
                </a:lnTo>
                <a:lnTo>
                  <a:pt x="2067436" y="254106"/>
                </a:lnTo>
                <a:lnTo>
                  <a:pt x="2094198" y="294236"/>
                </a:lnTo>
                <a:lnTo>
                  <a:pt x="2117668" y="336213"/>
                </a:lnTo>
                <a:lnTo>
                  <a:pt x="2137763" y="379830"/>
                </a:lnTo>
                <a:lnTo>
                  <a:pt x="2154396" y="424881"/>
                </a:lnTo>
                <a:lnTo>
                  <a:pt x="2167482" y="471159"/>
                </a:lnTo>
                <a:lnTo>
                  <a:pt x="2176934" y="518458"/>
                </a:lnTo>
                <a:lnTo>
                  <a:pt x="2182669" y="566571"/>
                </a:lnTo>
                <a:lnTo>
                  <a:pt x="2184599" y="615292"/>
                </a:lnTo>
                <a:lnTo>
                  <a:pt x="2184599" y="3622507"/>
                </a:lnTo>
                <a:lnTo>
                  <a:pt x="2182748" y="3670592"/>
                </a:lnTo>
                <a:lnTo>
                  <a:pt x="2177286" y="3717664"/>
                </a:lnTo>
                <a:lnTo>
                  <a:pt x="2168349" y="3763588"/>
                </a:lnTo>
                <a:lnTo>
                  <a:pt x="2156075" y="3808226"/>
                </a:lnTo>
                <a:lnTo>
                  <a:pt x="2140599" y="3851441"/>
                </a:lnTo>
                <a:lnTo>
                  <a:pt x="2122060" y="3893097"/>
                </a:lnTo>
                <a:lnTo>
                  <a:pt x="2100594" y="3933057"/>
                </a:lnTo>
                <a:lnTo>
                  <a:pt x="2076337" y="3971184"/>
                </a:lnTo>
                <a:lnTo>
                  <a:pt x="2049426" y="4007341"/>
                </a:lnTo>
                <a:lnTo>
                  <a:pt x="2019999" y="4041392"/>
                </a:lnTo>
                <a:lnTo>
                  <a:pt x="1988192" y="4073199"/>
                </a:lnTo>
                <a:lnTo>
                  <a:pt x="1954141" y="4102627"/>
                </a:lnTo>
                <a:lnTo>
                  <a:pt x="1917984" y="4129537"/>
                </a:lnTo>
                <a:lnTo>
                  <a:pt x="1879857" y="4153794"/>
                </a:lnTo>
                <a:lnTo>
                  <a:pt x="1839897" y="4175261"/>
                </a:lnTo>
                <a:lnTo>
                  <a:pt x="1798241" y="4193800"/>
                </a:lnTo>
                <a:lnTo>
                  <a:pt x="1755026" y="4209275"/>
                </a:lnTo>
                <a:lnTo>
                  <a:pt x="1710388" y="4221549"/>
                </a:lnTo>
                <a:lnTo>
                  <a:pt x="1664464" y="4230486"/>
                </a:lnTo>
                <a:lnTo>
                  <a:pt x="1617392" y="4235949"/>
                </a:lnTo>
                <a:lnTo>
                  <a:pt x="1569307" y="4237800"/>
                </a:lnTo>
                <a:lnTo>
                  <a:pt x="615292" y="4237800"/>
                </a:lnTo>
                <a:lnTo>
                  <a:pt x="567207" y="4235949"/>
                </a:lnTo>
                <a:lnTo>
                  <a:pt x="520135" y="4230486"/>
                </a:lnTo>
                <a:lnTo>
                  <a:pt x="474211" y="4221549"/>
                </a:lnTo>
                <a:lnTo>
                  <a:pt x="429573" y="4209275"/>
                </a:lnTo>
                <a:lnTo>
                  <a:pt x="386358" y="4193800"/>
                </a:lnTo>
                <a:lnTo>
                  <a:pt x="344702" y="4175261"/>
                </a:lnTo>
                <a:lnTo>
                  <a:pt x="304742" y="4153794"/>
                </a:lnTo>
                <a:lnTo>
                  <a:pt x="266615" y="4129537"/>
                </a:lnTo>
                <a:lnTo>
                  <a:pt x="230458" y="4102627"/>
                </a:lnTo>
                <a:lnTo>
                  <a:pt x="196407" y="4073199"/>
                </a:lnTo>
                <a:lnTo>
                  <a:pt x="164600" y="4041392"/>
                </a:lnTo>
                <a:lnTo>
                  <a:pt x="135172" y="4007341"/>
                </a:lnTo>
                <a:lnTo>
                  <a:pt x="108262" y="3971184"/>
                </a:lnTo>
                <a:lnTo>
                  <a:pt x="84005" y="3933057"/>
                </a:lnTo>
                <a:lnTo>
                  <a:pt x="62539" y="3893097"/>
                </a:lnTo>
                <a:lnTo>
                  <a:pt x="43999" y="3851441"/>
                </a:lnTo>
                <a:lnTo>
                  <a:pt x="28524" y="3808226"/>
                </a:lnTo>
                <a:lnTo>
                  <a:pt x="16250" y="3763588"/>
                </a:lnTo>
                <a:lnTo>
                  <a:pt x="7313" y="3717664"/>
                </a:lnTo>
                <a:lnTo>
                  <a:pt x="1851" y="3670592"/>
                </a:lnTo>
                <a:lnTo>
                  <a:pt x="0" y="3622507"/>
                </a:lnTo>
                <a:lnTo>
                  <a:pt x="0" y="615292"/>
                </a:lnTo>
                <a:close/>
              </a:path>
            </a:pathLst>
          </a:custGeom>
          <a:ln w="9524">
            <a:solidFill>
              <a:srgbClr val="35A2E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926129" y="2791306"/>
            <a:ext cx="1501775" cy="1318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895" marR="6350" indent="-290830">
              <a:lnSpc>
                <a:spcPct val="100000"/>
              </a:lnSpc>
              <a:spcBef>
                <a:spcPts val="100"/>
              </a:spcBef>
              <a:buChar char="•"/>
              <a:tabLst>
                <a:tab pos="302895" algn="l"/>
              </a:tabLst>
            </a:pPr>
            <a:r>
              <a:rPr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en-IN"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2895" marR="6350" indent="-290830">
              <a:lnSpc>
                <a:spcPct val="100000"/>
              </a:lnSpc>
              <a:spcBef>
                <a:spcPts val="100"/>
              </a:spcBef>
              <a:buChar char="•"/>
              <a:tabLst>
                <a:tab pos="302895" algn="l"/>
              </a:tabLst>
            </a:pPr>
            <a:r>
              <a:rPr lang="en-IN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endParaRPr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2895" indent="-290195">
              <a:lnSpc>
                <a:spcPct val="100000"/>
              </a:lnSpc>
              <a:buChar char="•"/>
              <a:tabLst>
                <a:tab pos="302895" algn="l"/>
              </a:tabLst>
            </a:pPr>
            <a:r>
              <a:rPr lang="en-IN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</a:p>
          <a:p>
            <a:pPr marL="302895" indent="-290195">
              <a:lnSpc>
                <a:spcPct val="100000"/>
              </a:lnSpc>
              <a:buChar char="•"/>
              <a:tabLst>
                <a:tab pos="302895" algn="l"/>
              </a:tabLst>
            </a:pPr>
            <a:r>
              <a:rPr sz="1400" b="1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sz="1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2895" marR="133350" indent="-290830">
              <a:lnSpc>
                <a:spcPct val="100000"/>
              </a:lnSpc>
              <a:buChar char="•"/>
              <a:tabLst>
                <a:tab pos="302895" algn="l"/>
              </a:tabLst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en-IN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</a:p>
          <a:p>
            <a:pPr marL="302895" marR="133350" indent="-290830">
              <a:lnSpc>
                <a:spcPct val="100000"/>
              </a:lnSpc>
              <a:buChar char="•"/>
              <a:tabLst>
                <a:tab pos="302895" algn="l"/>
              </a:tabLst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Twingate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09860" y="1651462"/>
            <a:ext cx="2332355" cy="4247515"/>
            <a:chOff x="6509860" y="1651462"/>
            <a:chExt cx="2332355" cy="4247515"/>
          </a:xfrm>
        </p:grpSpPr>
        <p:sp>
          <p:nvSpPr>
            <p:cNvPr id="16" name="object 16"/>
            <p:cNvSpPr/>
            <p:nvPr/>
          </p:nvSpPr>
          <p:spPr>
            <a:xfrm>
              <a:off x="6514623" y="1656225"/>
              <a:ext cx="2322830" cy="4237990"/>
            </a:xfrm>
            <a:custGeom>
              <a:avLst/>
              <a:gdLst/>
              <a:ahLst/>
              <a:cxnLst/>
              <a:rect l="l" t="t" r="r" b="b"/>
              <a:pathLst>
                <a:path w="2322829" h="4237990">
                  <a:moveTo>
                    <a:pt x="0" y="387057"/>
                  </a:moveTo>
                  <a:lnTo>
                    <a:pt x="3015" y="338506"/>
                  </a:lnTo>
                  <a:lnTo>
                    <a:pt x="11821" y="291754"/>
                  </a:lnTo>
                  <a:lnTo>
                    <a:pt x="26053" y="247164"/>
                  </a:lnTo>
                  <a:lnTo>
                    <a:pt x="45349" y="205099"/>
                  </a:lnTo>
                  <a:lnTo>
                    <a:pt x="69347" y="165923"/>
                  </a:lnTo>
                  <a:lnTo>
                    <a:pt x="97684" y="129997"/>
                  </a:lnTo>
                  <a:lnTo>
                    <a:pt x="129997" y="97684"/>
                  </a:lnTo>
                  <a:lnTo>
                    <a:pt x="165923" y="69347"/>
                  </a:lnTo>
                  <a:lnTo>
                    <a:pt x="205100" y="45349"/>
                  </a:lnTo>
                  <a:lnTo>
                    <a:pt x="247164" y="26053"/>
                  </a:lnTo>
                  <a:lnTo>
                    <a:pt x="291754" y="11821"/>
                  </a:lnTo>
                  <a:lnTo>
                    <a:pt x="338506" y="3015"/>
                  </a:lnTo>
                  <a:lnTo>
                    <a:pt x="387057" y="0"/>
                  </a:lnTo>
                  <a:lnTo>
                    <a:pt x="1935241" y="0"/>
                  </a:lnTo>
                  <a:lnTo>
                    <a:pt x="1986118" y="3356"/>
                  </a:lnTo>
                  <a:lnTo>
                    <a:pt x="2035692" y="13260"/>
                  </a:lnTo>
                  <a:lnTo>
                    <a:pt x="2083362" y="29462"/>
                  </a:lnTo>
                  <a:lnTo>
                    <a:pt x="2128527" y="51714"/>
                  </a:lnTo>
                  <a:lnTo>
                    <a:pt x="2170584" y="79765"/>
                  </a:lnTo>
                  <a:lnTo>
                    <a:pt x="2208933" y="113366"/>
                  </a:lnTo>
                  <a:lnTo>
                    <a:pt x="2242535" y="151715"/>
                  </a:lnTo>
                  <a:lnTo>
                    <a:pt x="2270585" y="193772"/>
                  </a:lnTo>
                  <a:lnTo>
                    <a:pt x="2292837" y="238937"/>
                  </a:lnTo>
                  <a:lnTo>
                    <a:pt x="2309039" y="286607"/>
                  </a:lnTo>
                  <a:lnTo>
                    <a:pt x="2318943" y="336181"/>
                  </a:lnTo>
                  <a:lnTo>
                    <a:pt x="2322299" y="387057"/>
                  </a:lnTo>
                  <a:lnTo>
                    <a:pt x="2322299" y="3850742"/>
                  </a:lnTo>
                  <a:lnTo>
                    <a:pt x="2319284" y="3899293"/>
                  </a:lnTo>
                  <a:lnTo>
                    <a:pt x="2310478" y="3946045"/>
                  </a:lnTo>
                  <a:lnTo>
                    <a:pt x="2296246" y="3990635"/>
                  </a:lnTo>
                  <a:lnTo>
                    <a:pt x="2276950" y="4032699"/>
                  </a:lnTo>
                  <a:lnTo>
                    <a:pt x="2252952" y="4071876"/>
                  </a:lnTo>
                  <a:lnTo>
                    <a:pt x="2224615" y="4107802"/>
                  </a:lnTo>
                  <a:lnTo>
                    <a:pt x="2192302" y="4140115"/>
                  </a:lnTo>
                  <a:lnTo>
                    <a:pt x="2156376" y="4168452"/>
                  </a:lnTo>
                  <a:lnTo>
                    <a:pt x="2117200" y="4192450"/>
                  </a:lnTo>
                  <a:lnTo>
                    <a:pt x="2075135" y="4211746"/>
                  </a:lnTo>
                  <a:lnTo>
                    <a:pt x="2030545" y="4225978"/>
                  </a:lnTo>
                  <a:lnTo>
                    <a:pt x="1983793" y="4234784"/>
                  </a:lnTo>
                  <a:lnTo>
                    <a:pt x="1935241" y="4237799"/>
                  </a:lnTo>
                  <a:lnTo>
                    <a:pt x="387057" y="4237799"/>
                  </a:lnTo>
                  <a:lnTo>
                    <a:pt x="338506" y="4234784"/>
                  </a:lnTo>
                  <a:lnTo>
                    <a:pt x="291754" y="4225978"/>
                  </a:lnTo>
                  <a:lnTo>
                    <a:pt x="247164" y="4211746"/>
                  </a:lnTo>
                  <a:lnTo>
                    <a:pt x="205100" y="4192450"/>
                  </a:lnTo>
                  <a:lnTo>
                    <a:pt x="165923" y="4168452"/>
                  </a:lnTo>
                  <a:lnTo>
                    <a:pt x="129997" y="4140115"/>
                  </a:lnTo>
                  <a:lnTo>
                    <a:pt x="97684" y="4107802"/>
                  </a:lnTo>
                  <a:lnTo>
                    <a:pt x="69347" y="4071876"/>
                  </a:lnTo>
                  <a:lnTo>
                    <a:pt x="45349" y="4032699"/>
                  </a:lnTo>
                  <a:lnTo>
                    <a:pt x="26053" y="3990635"/>
                  </a:lnTo>
                  <a:lnTo>
                    <a:pt x="11821" y="3946045"/>
                  </a:lnTo>
                  <a:lnTo>
                    <a:pt x="3015" y="3899293"/>
                  </a:lnTo>
                  <a:lnTo>
                    <a:pt x="0" y="3850742"/>
                  </a:lnTo>
                  <a:lnTo>
                    <a:pt x="0" y="387057"/>
                  </a:lnTo>
                  <a:close/>
                </a:path>
              </a:pathLst>
            </a:custGeom>
            <a:ln w="9524">
              <a:solidFill>
                <a:srgbClr val="35A2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96622" y="1701710"/>
              <a:ext cx="569267" cy="26789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645740" y="1672490"/>
            <a:ext cx="2042795" cy="25160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0" marR="278130" indent="56896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1F3764"/>
                </a:solidFill>
                <a:latin typeface="Arial"/>
                <a:cs typeface="Arial"/>
              </a:rPr>
              <a:t>APIs</a:t>
            </a:r>
            <a:r>
              <a:rPr sz="1800" b="1" spc="-20" dirty="0">
                <a:solidFill>
                  <a:srgbClr val="1F3764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1F3764"/>
                </a:solidFill>
                <a:latin typeface="Arial"/>
                <a:cs typeface="Arial"/>
              </a:rPr>
              <a:t>&amp; </a:t>
            </a:r>
            <a:r>
              <a:rPr sz="1800" b="1" spc="-10" dirty="0">
                <a:solidFill>
                  <a:srgbClr val="1F3764"/>
                </a:solidFill>
                <a:latin typeface="Arial"/>
                <a:cs typeface="Arial"/>
              </a:rPr>
              <a:t>Services &amp;Data Resources</a:t>
            </a:r>
            <a:endParaRPr sz="1800" dirty="0">
              <a:latin typeface="Arial"/>
              <a:cs typeface="Arial"/>
            </a:endParaRPr>
          </a:p>
          <a:p>
            <a:pPr marL="271145" marR="5080" indent="-259079">
              <a:lnSpc>
                <a:spcPct val="100000"/>
              </a:lnSpc>
              <a:spcBef>
                <a:spcPts val="825"/>
              </a:spcBef>
              <a:buChar char="•"/>
              <a:tabLst>
                <a:tab pos="271145" algn="l"/>
              </a:tabLst>
            </a:pPr>
            <a:r>
              <a:rPr lang="en-IN" sz="1400" b="1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Twingate API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145" marR="26670" indent="-259079">
              <a:lnSpc>
                <a:spcPct val="100000"/>
              </a:lnSpc>
              <a:buFont typeface="Arial"/>
              <a:buChar char="•"/>
              <a:tabLst>
                <a:tab pos="271145" algn="l"/>
              </a:tabLst>
            </a:pPr>
            <a:r>
              <a:rPr lang="en-IN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9875" marR="410209" indent="-257810" algn="just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sz="1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DNS</a:t>
            </a:r>
          </a:p>
          <a:p>
            <a:pPr marL="269875" marR="410209" indent="-257810" algn="just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9875" marR="124460" indent="-257810" algn="just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lang="en-IN" sz="1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Logs</a:t>
            </a:r>
          </a:p>
          <a:p>
            <a:pPr marL="269875" marR="124460" indent="-257810" algn="just">
              <a:lnSpc>
                <a:spcPct val="100000"/>
              </a:lnSpc>
              <a:buChar char="•"/>
              <a:tabLst>
                <a:tab pos="271145" algn="l"/>
              </a:tabLst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Data</a:t>
            </a:r>
            <a:endParaRPr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89729" y="1882169"/>
            <a:ext cx="284633" cy="267890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977029" y="1852949"/>
            <a:ext cx="13385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4734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102C57"/>
                </a:solidFill>
                <a:latin typeface="Arial"/>
                <a:cs typeface="Arial"/>
              </a:rPr>
              <a:t>Software </a:t>
            </a:r>
            <a:r>
              <a:rPr sz="1800" b="1" dirty="0">
                <a:solidFill>
                  <a:srgbClr val="102C57"/>
                </a:solidFill>
                <a:latin typeface="Arial"/>
                <a:cs typeface="Arial"/>
              </a:rPr>
              <a:t>&amp;</a:t>
            </a:r>
            <a:r>
              <a:rPr sz="1800" b="1" spc="-25" dirty="0">
                <a:solidFill>
                  <a:srgbClr val="102C57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102C57"/>
                </a:solidFill>
                <a:latin typeface="Arial"/>
                <a:cs typeface="Arial"/>
              </a:rPr>
              <a:t>Tools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sp>
        <p:nvSpPr>
          <p:cNvPr id="22" name="object 22"/>
          <p:cNvSpPr txBox="1"/>
          <p:nvPr/>
        </p:nvSpPr>
        <p:spPr>
          <a:xfrm>
            <a:off x="895677" y="6488122"/>
            <a:ext cx="1144718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54082" y="408856"/>
            <a:ext cx="38125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1420" y="1555820"/>
            <a:ext cx="8590915" cy="3413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885" marR="404495" indent="-2101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24154" algn="l"/>
              </a:tabLst>
            </a:pPr>
            <a:r>
              <a:rPr lang="en-US" sz="1900" spc="-25" dirty="0" smtClean="0">
                <a:latin typeface="Times New Roman"/>
                <a:cs typeface="Times New Roman"/>
              </a:rPr>
              <a:t>SECURE REMOTE NETWORK ACCESS USING TWIN GATE AND RASPBERRY PI provides secure and reliable remote network connectivity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22885" marR="220345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Raspberry Pi acts as a low-cost and lightweight network connector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22885" marR="746760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Twingate enables Zero Trust-based remote access without exposing internal services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22885" marR="616585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Identity verification and least-privilege access enhance network security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sz="1900" dirty="0">
              <a:latin typeface="Times New Roman"/>
              <a:cs typeface="Times New Roman"/>
            </a:endParaRPr>
          </a:p>
          <a:p>
            <a:pPr marL="222885" marR="5080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</a:pPr>
            <a:r>
              <a:rPr lang="en-IN" sz="1900" dirty="0" smtClean="0">
                <a:latin typeface="Times New Roman"/>
                <a:cs typeface="Times New Roman"/>
              </a:rPr>
              <a:t>Python API automation simplifies resource management and configuration</a:t>
            </a:r>
            <a:r>
              <a:rPr sz="1900" spc="-10" dirty="0" smtClean="0">
                <a:latin typeface="Times New Roman"/>
                <a:cs typeface="Times New Roman"/>
              </a:rPr>
              <a:t>.</a:t>
            </a:r>
            <a:endParaRPr lang="en-IN" sz="1900" spc="-10" dirty="0" smtClean="0">
              <a:latin typeface="Times New Roman"/>
              <a:cs typeface="Times New Roman"/>
            </a:endParaRPr>
          </a:p>
          <a:p>
            <a:pPr marL="222885" marR="5080" indent="-210185"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</a:pPr>
            <a:r>
              <a:rPr lang="en-US" sz="1900" dirty="0" smtClean="0">
                <a:latin typeface="Times New Roman"/>
                <a:cs typeface="Times New Roman"/>
              </a:rPr>
              <a:t>The proposed system is scalable, cost-effective, and easy to manage</a:t>
            </a:r>
            <a:r>
              <a:rPr lang="en-IN" sz="1900" spc="-10" dirty="0" smtClean="0">
                <a:latin typeface="Times New Roman"/>
                <a:cs typeface="Times New Roman"/>
              </a:rPr>
              <a:t>.</a:t>
            </a:r>
            <a:endParaRPr lang="en-IN" sz="1900" dirty="0" smtClean="0">
              <a:latin typeface="Times New Roman"/>
              <a:cs typeface="Times New Roman"/>
            </a:endParaRPr>
          </a:p>
          <a:p>
            <a:pPr marL="222885" marR="5080" indent="-2101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224154" algn="l"/>
              </a:tabLst>
            </a:pPr>
            <a:endParaRPr sz="1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69496" y="408856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9014" y="1228650"/>
            <a:ext cx="8105140" cy="4030979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66675" algn="just">
              <a:lnSpc>
                <a:spcPct val="80000"/>
              </a:lnSpc>
              <a:spcBef>
                <a:spcPts val="530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R.</a:t>
            </a:r>
            <a:r>
              <a:rPr sz="1800" spc="48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Jayadevan,</a:t>
            </a:r>
            <a:r>
              <a:rPr sz="1800" spc="4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48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M.</a:t>
            </a:r>
            <a:r>
              <a:rPr sz="1800" spc="4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Sebastian,</a:t>
            </a:r>
            <a:r>
              <a:rPr sz="1800" spc="39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A.</a:t>
            </a:r>
            <a:r>
              <a:rPr sz="1800" spc="48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Goutham,</a:t>
            </a:r>
            <a:r>
              <a:rPr sz="1800" spc="4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48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KV,</a:t>
            </a:r>
            <a:r>
              <a:rPr sz="1800" spc="4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4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T,</a:t>
            </a:r>
            <a:r>
              <a:rPr sz="1800" spc="4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3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A.</a:t>
            </a:r>
            <a:r>
              <a:rPr sz="1800" spc="39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Ananthan, "Edge-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Based,</a:t>
            </a:r>
            <a:r>
              <a:rPr sz="1800" spc="-6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Power-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Efficient</a:t>
            </a:r>
            <a:r>
              <a:rPr sz="18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Real-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Time</a:t>
            </a:r>
            <a:r>
              <a:rPr sz="1800" spc="-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Wild</a:t>
            </a:r>
            <a:r>
              <a:rPr sz="1800" spc="-9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Animal</a:t>
            </a:r>
            <a:r>
              <a:rPr sz="18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8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-1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Alarm</a:t>
            </a:r>
            <a:r>
              <a:rPr sz="18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800" spc="-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on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Raspberry</a:t>
            </a:r>
            <a:r>
              <a:rPr sz="1800" spc="-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Pi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Using</a:t>
            </a:r>
            <a:r>
              <a:rPr sz="1800" spc="-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YOLO</a:t>
            </a:r>
            <a:r>
              <a:rPr sz="1800" spc="-10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Architecture,"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2025</a:t>
            </a:r>
            <a:endParaRPr sz="1800">
              <a:latin typeface="Times New Roman"/>
              <a:cs typeface="Times New Roman"/>
            </a:endParaRPr>
          </a:p>
          <a:p>
            <a:pPr marL="12700" marR="11430" algn="just">
              <a:lnSpc>
                <a:spcPct val="80000"/>
              </a:lnSpc>
              <a:spcBef>
                <a:spcPts val="1730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[2]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8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Naveen,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R.</a:t>
            </a:r>
            <a:r>
              <a:rPr sz="1800" spc="8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Dhamotharan,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et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al.,</a:t>
            </a:r>
            <a:r>
              <a:rPr sz="1800" spc="8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"ElephantGuardNet:</a:t>
            </a:r>
            <a:r>
              <a:rPr sz="1800" spc="-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Comprehensive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Solution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for</a:t>
            </a:r>
            <a:r>
              <a:rPr sz="1800" spc="1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Elephant</a:t>
            </a:r>
            <a:r>
              <a:rPr sz="1800" spc="1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Conservation</a:t>
            </a:r>
            <a:r>
              <a:rPr sz="1800" spc="1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1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Human-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Elephant</a:t>
            </a:r>
            <a:r>
              <a:rPr sz="1800" spc="1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Conflict</a:t>
            </a:r>
            <a:r>
              <a:rPr sz="1800" spc="1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Reduction,"</a:t>
            </a:r>
            <a:r>
              <a:rPr sz="1800" spc="1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Proc.</a:t>
            </a:r>
            <a:r>
              <a:rPr sz="1800" spc="1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ICSADL,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1730"/>
              </a:lnSpc>
            </a:pP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pp. 1470–1477,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2025.</a:t>
            </a:r>
            <a:endParaRPr sz="1800">
              <a:latin typeface="Times New Roman"/>
              <a:cs typeface="Times New Roman"/>
            </a:endParaRPr>
          </a:p>
          <a:p>
            <a:pPr marL="12700" marR="20320" algn="just">
              <a:lnSpc>
                <a:spcPct val="80000"/>
              </a:lnSpc>
              <a:spcBef>
                <a:spcPts val="1725"/>
              </a:spcBef>
            </a:pPr>
            <a:r>
              <a:rPr sz="1800" b="1" dirty="0">
                <a:latin typeface="Times New Roman"/>
                <a:cs typeface="Times New Roman"/>
              </a:rPr>
              <a:t>[3]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D.</a:t>
            </a:r>
            <a:r>
              <a:rPr sz="1800" spc="8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Ma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J.</a:t>
            </a:r>
            <a:r>
              <a:rPr sz="1800" spc="3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Yang,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"YOLO-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Animal: An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efficient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wildlife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based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on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improved</a:t>
            </a:r>
            <a:r>
              <a:rPr sz="1800" spc="38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YOLOv5,"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International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Conference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on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Image</a:t>
            </a:r>
            <a:r>
              <a:rPr sz="1800" spc="44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Processing,</a:t>
            </a:r>
            <a:r>
              <a:rPr sz="1800" spc="4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Computer Vision</a:t>
            </a:r>
            <a:r>
              <a:rPr sz="1800" spc="-7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-6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800" spc="-7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Learning</a:t>
            </a:r>
            <a:r>
              <a:rPr sz="1800" spc="-6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(ICICML),</a:t>
            </a:r>
            <a:r>
              <a:rPr sz="1800" spc="-6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2022</a:t>
            </a:r>
            <a:endParaRPr sz="1800">
              <a:latin typeface="Times New Roman"/>
              <a:cs typeface="Times New Roman"/>
            </a:endParaRPr>
          </a:p>
          <a:p>
            <a:pPr marL="12700" marR="81280" algn="just">
              <a:lnSpc>
                <a:spcPct val="80000"/>
              </a:lnSpc>
              <a:spcBef>
                <a:spcPts val="1730"/>
              </a:spcBef>
            </a:pPr>
            <a:r>
              <a:rPr sz="1800" b="1" dirty="0">
                <a:solidFill>
                  <a:srgbClr val="303030"/>
                </a:solidFill>
                <a:latin typeface="Times New Roman"/>
                <a:cs typeface="Times New Roman"/>
              </a:rPr>
              <a:t>[4]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V.</a:t>
            </a:r>
            <a:r>
              <a:rPr sz="1800" spc="19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Bharati,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"A</a:t>
            </a:r>
            <a:r>
              <a:rPr sz="18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Deep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Neural</a:t>
            </a:r>
            <a:r>
              <a:rPr sz="1800" spc="20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800" spc="1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Vision</a:t>
            </a:r>
            <a:r>
              <a:rPr sz="18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Application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for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Preventing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Wildlife-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Human</a:t>
            </a:r>
            <a:r>
              <a:rPr sz="1800" spc="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Conflicts,"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2021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730"/>
              </a:lnSpc>
              <a:spcBef>
                <a:spcPts val="1710"/>
              </a:spcBef>
            </a:pPr>
            <a:r>
              <a:rPr sz="1700" b="1" dirty="0">
                <a:latin typeface="Arial"/>
                <a:cs typeface="Arial"/>
              </a:rPr>
              <a:t>[5]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S.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Gunasekara,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M.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Jayasuriya,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N.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Harischandra,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L.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Samaranayake,</a:t>
            </a:r>
            <a:r>
              <a:rPr sz="1800" spc="21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210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G.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Dissanayake,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"A</a:t>
            </a:r>
            <a:r>
              <a:rPr sz="1800" spc="409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Convolutional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Neural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Network</a:t>
            </a:r>
            <a:r>
              <a:rPr sz="1800" spc="30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Based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Early</a:t>
            </a:r>
            <a:r>
              <a:rPr sz="1800" spc="47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Warning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800" spc="25" dirty="0">
                <a:solidFill>
                  <a:srgbClr val="303030"/>
                </a:solidFill>
                <a:latin typeface="Times New Roman"/>
                <a:cs typeface="Times New Roman"/>
              </a:rPr>
              <a:t>  </a:t>
            </a:r>
            <a:r>
              <a:rPr sz="1800" spc="-25" dirty="0">
                <a:solidFill>
                  <a:srgbClr val="303030"/>
                </a:solidFill>
                <a:latin typeface="Times New Roman"/>
                <a:cs typeface="Times New Roman"/>
              </a:rPr>
              <a:t>to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Prevent</a:t>
            </a:r>
            <a:r>
              <a:rPr sz="1800" spc="-6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Elephant-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Train</a:t>
            </a:r>
            <a:r>
              <a:rPr sz="1800" spc="-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Collisions,"</a:t>
            </a:r>
            <a:r>
              <a:rPr sz="1800" spc="-6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IEEE,</a:t>
            </a:r>
            <a:r>
              <a:rPr sz="1800" spc="-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2021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69507" y="408925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779394"/>
            <a:ext cx="8086090" cy="35915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12700" marR="40005" indent="266065" algn="just">
              <a:lnSpc>
                <a:spcPct val="80000"/>
              </a:lnSpc>
              <a:spcBef>
                <a:spcPts val="530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278765" algn="l"/>
              </a:tabLst>
            </a:pPr>
            <a:r>
              <a:rPr sz="1800" dirty="0">
                <a:latin typeface="Times New Roman"/>
                <a:cs typeface="Times New Roman"/>
              </a:rPr>
              <a:t>Jayanthi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K.V.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Kanimozhi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(2025).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"Enhancing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Identification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Wildlife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via </a:t>
            </a:r>
            <a:r>
              <a:rPr sz="1800" spc="-10" dirty="0">
                <a:latin typeface="Times New Roman"/>
                <a:cs typeface="Times New Roman"/>
              </a:rPr>
              <a:t>Self-</a:t>
            </a:r>
            <a:r>
              <a:rPr sz="1800" dirty="0">
                <a:latin typeface="Times New Roman"/>
                <a:cs typeface="Times New Roman"/>
              </a:rPr>
              <a:t>Supervised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Learning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Unlabelled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Camera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Trap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Information"</a:t>
            </a:r>
            <a:endParaRPr sz="1800">
              <a:latin typeface="Times New Roman"/>
              <a:cs typeface="Times New Roman"/>
            </a:endParaRPr>
          </a:p>
          <a:p>
            <a:pPr marL="12700" marR="17780" indent="266065" algn="just">
              <a:lnSpc>
                <a:spcPct val="80000"/>
              </a:lnSpc>
              <a:spcBef>
                <a:spcPts val="1730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278765" algn="l"/>
              </a:tabLst>
            </a:pPr>
            <a:r>
              <a:rPr sz="1800" dirty="0">
                <a:latin typeface="Times New Roman"/>
                <a:cs typeface="Times New Roman"/>
              </a:rPr>
              <a:t>Supreet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Parida,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Suvam</a:t>
            </a:r>
            <a:r>
              <a:rPr sz="1800" spc="2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Nayak,</a:t>
            </a:r>
            <a:r>
              <a:rPr sz="1800" spc="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Anjana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Mishra,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Nilamadhab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Mishra,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Bibhu</a:t>
            </a:r>
            <a:r>
              <a:rPr sz="1800" spc="204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Prasad </a:t>
            </a:r>
            <a:r>
              <a:rPr sz="1800" dirty="0">
                <a:latin typeface="Times New Roman"/>
                <a:cs typeface="Times New Roman"/>
              </a:rPr>
              <a:t>Sahoo,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Bhabani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Sankar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Panda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(2024).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“Recognizing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Wild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Animals</a:t>
            </a:r>
            <a:r>
              <a:rPr sz="1800" spc="2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28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Camera </a:t>
            </a:r>
            <a:r>
              <a:rPr sz="1800" dirty="0">
                <a:latin typeface="Times New Roman"/>
                <a:cs typeface="Times New Roman"/>
              </a:rPr>
              <a:t>Trap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Images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Deep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Learning”.</a:t>
            </a:r>
            <a:endParaRPr sz="1800">
              <a:latin typeface="Times New Roman"/>
              <a:cs typeface="Times New Roman"/>
            </a:endParaRPr>
          </a:p>
          <a:p>
            <a:pPr marL="12700" marR="70485" indent="266065" algn="just">
              <a:lnSpc>
                <a:spcPct val="80000"/>
              </a:lnSpc>
              <a:spcBef>
                <a:spcPts val="1725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278765" algn="l"/>
              </a:tabLst>
            </a:pPr>
            <a:r>
              <a:rPr sz="1800" spc="-10" dirty="0">
                <a:latin typeface="Times New Roman"/>
                <a:cs typeface="Times New Roman"/>
              </a:rPr>
              <a:t>Krishnaveni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Arvinth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(2025).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"Smart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Animal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Monitoring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Farms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YOLO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OpenCV"</a:t>
            </a:r>
            <a:endParaRPr sz="1800">
              <a:latin typeface="Times New Roman"/>
              <a:cs typeface="Times New Roman"/>
            </a:endParaRPr>
          </a:p>
          <a:p>
            <a:pPr marL="12700" marR="5080" indent="266065" algn="just">
              <a:lnSpc>
                <a:spcPts val="1730"/>
              </a:lnSpc>
              <a:spcBef>
                <a:spcPts val="1715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278765" algn="l"/>
              </a:tabLst>
            </a:pPr>
            <a:r>
              <a:rPr sz="1800" dirty="0">
                <a:latin typeface="Times New Roman"/>
                <a:cs typeface="Times New Roman"/>
              </a:rPr>
              <a:t>Gabriel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S.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Ferrante,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Felipe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M.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Rodrigues,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Fernando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R.</a:t>
            </a:r>
            <a:r>
              <a:rPr sz="1800" spc="75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H.</a:t>
            </a:r>
            <a:r>
              <a:rPr sz="1800" spc="30" dirty="0">
                <a:latin typeface="Times New Roman"/>
                <a:cs typeface="Times New Roman"/>
              </a:rPr>
              <a:t>  </a:t>
            </a:r>
            <a:r>
              <a:rPr sz="1800" dirty="0">
                <a:latin typeface="Times New Roman"/>
                <a:cs typeface="Times New Roman"/>
              </a:rPr>
              <a:t>Andrade,</a:t>
            </a:r>
            <a:r>
              <a:rPr sz="1800" spc="80" dirty="0">
                <a:latin typeface="Times New Roman"/>
                <a:cs typeface="Times New Roman"/>
              </a:rPr>
              <a:t>  </a:t>
            </a:r>
            <a:r>
              <a:rPr sz="1800" spc="-10" dirty="0">
                <a:latin typeface="Times New Roman"/>
                <a:cs typeface="Times New Roman"/>
              </a:rPr>
              <a:t>Rudinei </a:t>
            </a:r>
            <a:r>
              <a:rPr sz="1800" dirty="0">
                <a:latin typeface="Times New Roman"/>
                <a:cs typeface="Times New Roman"/>
              </a:rPr>
              <a:t>Goularte,</a:t>
            </a:r>
            <a:r>
              <a:rPr sz="1800" spc="3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Rodolfo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I.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Meneguette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(2021).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"Understanding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state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Art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Animal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detection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classification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vision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technologies</a:t>
            </a:r>
            <a:endParaRPr sz="1800">
              <a:latin typeface="Times New Roman"/>
              <a:cs typeface="Times New Roman"/>
            </a:endParaRPr>
          </a:p>
          <a:p>
            <a:pPr marL="12700" marR="88900" indent="380365" algn="just">
              <a:lnSpc>
                <a:spcPts val="1730"/>
              </a:lnSpc>
              <a:spcBef>
                <a:spcPts val="1720"/>
              </a:spcBef>
              <a:buClr>
                <a:srgbClr val="0C0C0C"/>
              </a:buClr>
              <a:buSzPct val="94444"/>
              <a:buFont typeface="Times New Roman"/>
              <a:buAutoNum type="arabicPlain" startAt="6"/>
              <a:tabLst>
                <a:tab pos="393065" algn="l"/>
              </a:tabLst>
            </a:pPr>
            <a:r>
              <a:rPr sz="1800" dirty="0">
                <a:latin typeface="Times New Roman"/>
                <a:cs typeface="Times New Roman"/>
              </a:rPr>
              <a:t>Dr.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S.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65" dirty="0">
                <a:latin typeface="Times New Roman"/>
                <a:cs typeface="Times New Roman"/>
              </a:rPr>
              <a:t>V.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Viraktamath,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Jahnavi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R,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Vidya,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Abhay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Bhat,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&amp;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Sathvik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Nayak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(2021). "Wildlife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Monitoring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Surveillance"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69507" y="408925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787924"/>
            <a:ext cx="8084820" cy="425005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 marR="81280">
              <a:lnSpc>
                <a:spcPts val="1939"/>
              </a:lnSpc>
              <a:spcBef>
                <a:spcPts val="345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[11]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Karthik</a:t>
            </a:r>
            <a:r>
              <a:rPr sz="1800" spc="8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Vasu,</a:t>
            </a:r>
            <a:r>
              <a:rPr sz="1800" spc="3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Anitha</a:t>
            </a:r>
            <a:r>
              <a:rPr sz="1800" spc="11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Premkumar,</a:t>
            </a:r>
            <a:r>
              <a:rPr sz="1800" spc="9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T.</a:t>
            </a:r>
            <a:r>
              <a:rPr sz="1800" spc="11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Ramesh,</a:t>
            </a:r>
            <a:r>
              <a:rPr sz="18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11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Rajesh</a:t>
            </a:r>
            <a:r>
              <a:rPr sz="1800" spc="12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Natarajan,</a:t>
            </a:r>
            <a:r>
              <a:rPr sz="1800" spc="114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303030"/>
                </a:solidFill>
                <a:latin typeface="Times New Roman"/>
                <a:cs typeface="Times New Roman"/>
              </a:rPr>
              <a:t>"Real-Time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Tiger</a:t>
            </a:r>
            <a:r>
              <a:rPr sz="18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Intrusion</a:t>
            </a:r>
            <a:r>
              <a:rPr sz="18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Detection</a:t>
            </a:r>
            <a:r>
              <a:rPr sz="1800" spc="-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System</a:t>
            </a:r>
            <a:r>
              <a:rPr sz="1800" spc="-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Using</a:t>
            </a:r>
            <a:r>
              <a:rPr sz="1800" spc="-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Machine</a:t>
            </a:r>
            <a:r>
              <a:rPr sz="1800" spc="-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Learning</a:t>
            </a:r>
            <a:r>
              <a:rPr sz="1800" spc="-50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and</a:t>
            </a:r>
            <a:r>
              <a:rPr sz="1800" spc="-4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303030"/>
                </a:solidFill>
                <a:latin typeface="Times New Roman"/>
                <a:cs typeface="Times New Roman"/>
              </a:rPr>
              <a:t>IoT"</a:t>
            </a:r>
            <a:r>
              <a:rPr sz="1800" spc="-55" dirty="0">
                <a:solidFill>
                  <a:srgbClr val="30303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303030"/>
                </a:solidFill>
                <a:latin typeface="Times New Roman"/>
                <a:cs typeface="Times New Roman"/>
              </a:rPr>
              <a:t>(2026)</a:t>
            </a:r>
            <a:endParaRPr sz="1800">
              <a:latin typeface="Times New Roman"/>
              <a:cs typeface="Times New Roman"/>
            </a:endParaRPr>
          </a:p>
          <a:p>
            <a:pPr marL="12700" marR="19685">
              <a:lnSpc>
                <a:spcPts val="1939"/>
              </a:lnSpc>
              <a:spcBef>
                <a:spcPts val="1955"/>
              </a:spcBef>
              <a:tabLst>
                <a:tab pos="753110" algn="l"/>
                <a:tab pos="1818005" algn="l"/>
                <a:tab pos="2128520" algn="l"/>
                <a:tab pos="2423160" algn="l"/>
                <a:tab pos="2501900" algn="l"/>
                <a:tab pos="3155950" algn="l"/>
                <a:tab pos="3564254" algn="l"/>
                <a:tab pos="3928745" algn="l"/>
                <a:tab pos="4027170" algn="l"/>
                <a:tab pos="4730115" algn="l"/>
                <a:tab pos="5102860" algn="l"/>
                <a:tab pos="5607050" algn="l"/>
                <a:tab pos="6008370" algn="l"/>
                <a:tab pos="6262370" algn="l"/>
                <a:tab pos="6398260" algn="l"/>
                <a:tab pos="7121525" algn="l"/>
                <a:tab pos="7244715" algn="l"/>
                <a:tab pos="7574915" algn="l"/>
                <a:tab pos="7742555" algn="l"/>
              </a:tabLst>
            </a:pP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[12]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T.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Manikandan,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V.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Nandalal,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S.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Joshua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Kumaresan,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R.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Babuji,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A.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Muruganandham,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0" dirty="0">
                <a:solidFill>
                  <a:srgbClr val="0C0C0C"/>
                </a:solidFill>
                <a:latin typeface="Times New Roman"/>
                <a:cs typeface="Times New Roman"/>
              </a:rPr>
              <a:t>"IoT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Based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Animal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Alert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sz="1800" spc="-20" dirty="0">
                <a:solidFill>
                  <a:srgbClr val="0C0C0C"/>
                </a:solidFill>
                <a:latin typeface="Times New Roman"/>
                <a:cs typeface="Times New Roman"/>
              </a:rPr>
              <a:t>Farm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Fields",2024.</a:t>
            </a:r>
            <a:endParaRPr sz="1800">
              <a:latin typeface="Times New Roman"/>
              <a:cs typeface="Times New Roman"/>
            </a:endParaRPr>
          </a:p>
          <a:p>
            <a:pPr marL="12700" marR="32384">
              <a:lnSpc>
                <a:spcPts val="1939"/>
              </a:lnSpc>
              <a:spcBef>
                <a:spcPts val="1955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[13]</a:t>
            </a:r>
            <a:r>
              <a:rPr sz="1800" dirty="0">
                <a:latin typeface="Times New Roman"/>
                <a:cs typeface="Times New Roman"/>
              </a:rPr>
              <a:t>Sudharshan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Duth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P,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Maneesha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Shibu,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Nithyashree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M,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"Animal</a:t>
            </a:r>
            <a:r>
              <a:rPr sz="1800" spc="1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Detection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in </a:t>
            </a:r>
            <a:r>
              <a:rPr sz="1800" dirty="0">
                <a:latin typeface="Times New Roman"/>
                <a:cs typeface="Times New Roman"/>
              </a:rPr>
              <a:t>Night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Light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Videos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Deep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Learning",2024</a:t>
            </a:r>
            <a:endParaRPr sz="1800">
              <a:latin typeface="Times New Roman"/>
              <a:cs typeface="Times New Roman"/>
            </a:endParaRPr>
          </a:p>
          <a:p>
            <a:pPr marL="12700" marR="26670" algn="just">
              <a:lnSpc>
                <a:spcPts val="1939"/>
              </a:lnSpc>
              <a:spcBef>
                <a:spcPts val="1950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[14]</a:t>
            </a:r>
            <a:r>
              <a:rPr sz="1800" dirty="0">
                <a:latin typeface="Times New Roman"/>
                <a:cs typeface="Times New Roman"/>
              </a:rPr>
              <a:t>Prabhat</a:t>
            </a:r>
            <a:r>
              <a:rPr sz="1800" spc="4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Kumar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Panda,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Cherlopalli</a:t>
            </a:r>
            <a:r>
              <a:rPr sz="1800" spc="4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Srujan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Kumar,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Bommu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Sai</a:t>
            </a:r>
            <a:r>
              <a:rPr sz="1800" spc="3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Vivek,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Masura </a:t>
            </a:r>
            <a:r>
              <a:rPr sz="1800" dirty="0">
                <a:latin typeface="Times New Roman"/>
                <a:cs typeface="Times New Roman"/>
              </a:rPr>
              <a:t>Balachandra,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Shashi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Kant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Dargar,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"Implementation</a:t>
            </a:r>
            <a:r>
              <a:rPr sz="1800" spc="2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2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2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Wild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Animal</a:t>
            </a:r>
            <a:r>
              <a:rPr sz="1800" spc="2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Intrusion </a:t>
            </a:r>
            <a:r>
              <a:rPr sz="1800" dirty="0">
                <a:latin typeface="Times New Roman"/>
                <a:cs typeface="Times New Roman"/>
              </a:rPr>
              <a:t>Detection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Internet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Things",2022.</a:t>
            </a:r>
            <a:endParaRPr sz="18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939"/>
              </a:lnSpc>
              <a:spcBef>
                <a:spcPts val="1955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[15]</a:t>
            </a:r>
            <a:r>
              <a:rPr sz="1800" dirty="0">
                <a:latin typeface="Times New Roman"/>
                <a:cs typeface="Times New Roman"/>
              </a:rPr>
              <a:t>K.</a:t>
            </a:r>
            <a:r>
              <a:rPr sz="1800" spc="3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S.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P.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Premarathna,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R.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M.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K.</a:t>
            </a:r>
            <a:r>
              <a:rPr sz="1800" spc="3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T.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Rathnayaka,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J.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Charles,</a:t>
            </a:r>
            <a:r>
              <a:rPr sz="1800" spc="3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"An</a:t>
            </a:r>
            <a:r>
              <a:rPr sz="1800" spc="3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Elephant </a:t>
            </a:r>
            <a:r>
              <a:rPr sz="1800" dirty="0">
                <a:latin typeface="Times New Roman"/>
                <a:cs typeface="Times New Roman"/>
              </a:rPr>
              <a:t>Detection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Prevent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Human-</a:t>
            </a:r>
            <a:r>
              <a:rPr sz="1800" dirty="0">
                <a:latin typeface="Times New Roman"/>
                <a:cs typeface="Times New Roman"/>
              </a:rPr>
              <a:t>Elephant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Conflict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Tracking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Elephant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Using </a:t>
            </a:r>
            <a:r>
              <a:rPr sz="1800" dirty="0">
                <a:latin typeface="Times New Roman"/>
                <a:cs typeface="Times New Roman"/>
              </a:rPr>
              <a:t>Deep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Learning"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,2020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838200" y="6488122"/>
            <a:ext cx="12021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smtClean="0"/>
              <a:t>CCD415 Project Phase I</a:t>
            </a:r>
            <a:endParaRPr spc="-50" dirty="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69507" y="408925"/>
            <a:ext cx="378206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801340"/>
            <a:ext cx="8082915" cy="3509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205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[16]</a:t>
            </a:r>
            <a:r>
              <a:rPr sz="1800" spc="-10" dirty="0">
                <a:latin typeface="Times New Roman"/>
                <a:cs typeface="Times New Roman"/>
              </a:rPr>
              <a:t>AI-</a:t>
            </a:r>
            <a:r>
              <a:rPr sz="1800" dirty="0">
                <a:latin typeface="Times New Roman"/>
                <a:cs typeface="Times New Roman"/>
              </a:rPr>
              <a:t>Based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Smart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Surveillance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Raspberry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Pi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Embedded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Vision</a:t>
            </a:r>
            <a:r>
              <a:rPr sz="1800" spc="409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B.</a:t>
            </a:r>
            <a:endParaRPr sz="1800" dirty="0">
              <a:latin typeface="Times New Roman"/>
              <a:cs typeface="Times New Roman"/>
            </a:endParaRPr>
          </a:p>
          <a:p>
            <a:pPr marL="12700" algn="just">
              <a:lnSpc>
                <a:spcPts val="2050"/>
              </a:lnSpc>
            </a:pPr>
            <a:r>
              <a:rPr sz="1800" dirty="0">
                <a:latin typeface="Times New Roman"/>
                <a:cs typeface="Times New Roman"/>
              </a:rPr>
              <a:t>Girirajan,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S.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Prabu,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V.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75" dirty="0">
                <a:latin typeface="Times New Roman"/>
                <a:cs typeface="Times New Roman"/>
              </a:rPr>
              <a:t>T.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Thangam,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Sugumaran,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0" dirty="0">
                <a:latin typeface="Times New Roman"/>
                <a:cs typeface="Times New Roman"/>
              </a:rPr>
              <a:t>P.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Venkateshwaran,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A.</a:t>
            </a:r>
            <a:r>
              <a:rPr sz="1800" spc="-20" dirty="0">
                <a:latin typeface="Times New Roman"/>
                <a:cs typeface="Times New Roman"/>
              </a:rPr>
              <a:t> Kaur</a:t>
            </a:r>
            <a:endParaRPr sz="1800" dirty="0">
              <a:latin typeface="Times New Roman"/>
              <a:cs typeface="Times New Roman"/>
            </a:endParaRPr>
          </a:p>
          <a:p>
            <a:pPr marL="12700" marR="15240" algn="just">
              <a:lnSpc>
                <a:spcPts val="1939"/>
              </a:lnSpc>
              <a:spcBef>
                <a:spcPts val="1975"/>
              </a:spcBef>
            </a:pPr>
            <a:r>
              <a:rPr sz="1800" b="1" dirty="0">
                <a:solidFill>
                  <a:srgbClr val="0C0C0C"/>
                </a:solidFill>
                <a:latin typeface="Times New Roman"/>
                <a:cs typeface="Times New Roman"/>
              </a:rPr>
              <a:t>[17]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D.</a:t>
            </a:r>
            <a:r>
              <a:rPr sz="1800" spc="30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Slutskiy,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Z.</a:t>
            </a:r>
            <a:r>
              <a:rPr sz="1800" spc="3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Jacques,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N.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Bazarian,</a:t>
            </a:r>
            <a:r>
              <a:rPr sz="1800" spc="3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S.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Basnet,</a:t>
            </a:r>
            <a:r>
              <a:rPr sz="1800" spc="2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A.</a:t>
            </a:r>
            <a:r>
              <a:rPr sz="1800" spc="3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Poudel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spc="3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P.</a:t>
            </a:r>
            <a:r>
              <a:rPr sz="1800" spc="3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Manandhar, “Non-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human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Primate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Monitoring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System: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Early</a:t>
            </a:r>
            <a:r>
              <a:rPr sz="1800" spc="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Alert</a:t>
            </a:r>
            <a:r>
              <a:rPr sz="1800" spc="1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800" spc="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Against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Crop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Raids</a:t>
            </a:r>
            <a:r>
              <a:rPr sz="1800" spc="1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for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Farms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Nepal,”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2024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IEEE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Global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Humanitarian</a:t>
            </a:r>
            <a:r>
              <a:rPr sz="1800" spc="-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0C0C0C"/>
                </a:solidFill>
                <a:latin typeface="Times New Roman"/>
                <a:cs typeface="Times New Roman"/>
              </a:rPr>
              <a:t>Technology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Conference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(GHTC).</a:t>
            </a:r>
            <a:endParaRPr sz="1800" dirty="0">
              <a:latin typeface="Times New Roman"/>
              <a:cs typeface="Times New Roman"/>
            </a:endParaRPr>
          </a:p>
          <a:p>
            <a:pPr marL="12700" marR="5080" indent="380365" algn="just">
              <a:lnSpc>
                <a:spcPts val="1939"/>
              </a:lnSpc>
              <a:spcBef>
                <a:spcPts val="1955"/>
              </a:spcBef>
              <a:buSzPct val="94444"/>
              <a:buFont typeface="Times New Roman"/>
              <a:buAutoNum type="arabicPlain" startAt="18"/>
              <a:tabLst>
                <a:tab pos="393065" algn="l"/>
              </a:tabLst>
            </a:pP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Diery</a:t>
            </a:r>
            <a:r>
              <a:rPr sz="1800" spc="1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NGOM,</a:t>
            </a:r>
            <a:r>
              <a:rPr sz="1800" spc="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Alla</a:t>
            </a:r>
            <a:r>
              <a:rPr sz="1800" spc="1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LO,</a:t>
            </a:r>
            <a:r>
              <a:rPr sz="1800" spc="1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Serigne</a:t>
            </a:r>
            <a:r>
              <a:rPr sz="1800" spc="1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Mbacké</a:t>
            </a:r>
            <a:r>
              <a:rPr sz="1800" spc="1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GUEYE,</a:t>
            </a:r>
            <a:r>
              <a:rPr sz="1800" spc="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Absa</a:t>
            </a:r>
            <a:r>
              <a:rPr sz="1800" spc="1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LECOR,</a:t>
            </a:r>
            <a:r>
              <a:rPr sz="1800" spc="1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"An</a:t>
            </a:r>
            <a:r>
              <a:rPr sz="1800" spc="1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Intelligent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IoT</a:t>
            </a:r>
            <a:r>
              <a:rPr sz="1800" spc="-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spc="-7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AI-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Based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Surveillance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System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8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8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and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Recognition</a:t>
            </a:r>
            <a:r>
              <a:rPr sz="18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18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Pest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Birds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in</a:t>
            </a:r>
            <a:r>
              <a:rPr sz="1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Rice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Crops</a:t>
            </a:r>
            <a:r>
              <a:rPr sz="1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1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Senegal</a:t>
            </a:r>
            <a:r>
              <a:rPr sz="1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River</a:t>
            </a:r>
            <a:r>
              <a:rPr sz="180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Valley"</a:t>
            </a:r>
            <a:endParaRPr sz="1800" dirty="0">
              <a:latin typeface="Times New Roman"/>
              <a:cs typeface="Times New Roman"/>
            </a:endParaRPr>
          </a:p>
          <a:p>
            <a:pPr marL="393065" indent="-380365" algn="just">
              <a:lnSpc>
                <a:spcPct val="100000"/>
              </a:lnSpc>
              <a:spcBef>
                <a:spcPts val="1710"/>
              </a:spcBef>
              <a:buSzPct val="94444"/>
              <a:buFont typeface="Times New Roman"/>
              <a:buAutoNum type="arabicPlain" startAt="18"/>
              <a:tabLst>
                <a:tab pos="393065" algn="l"/>
              </a:tabLst>
            </a:pP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Kathir,</a:t>
            </a:r>
            <a:r>
              <a:rPr sz="1800" spc="-6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Balaji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1800" spc="-114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Ashwini,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2024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—</a:t>
            </a:r>
            <a:r>
              <a:rPr sz="1800" spc="-1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Animal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Intrusion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Detection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Using</a:t>
            </a:r>
            <a:r>
              <a:rPr sz="1800" spc="-10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YOLO</a:t>
            </a:r>
            <a:r>
              <a:rPr sz="1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v8</a:t>
            </a:r>
            <a:endParaRPr sz="1800" dirty="0">
              <a:latin typeface="Times New Roman"/>
              <a:cs typeface="Times New Roman"/>
            </a:endParaRPr>
          </a:p>
          <a:p>
            <a:pPr marL="393065" indent="-380365" algn="just">
              <a:lnSpc>
                <a:spcPct val="100000"/>
              </a:lnSpc>
              <a:spcBef>
                <a:spcPts val="1725"/>
              </a:spcBef>
              <a:buSzPct val="94444"/>
              <a:buFont typeface="Times New Roman"/>
              <a:buAutoNum type="arabicPlain" startAt="18"/>
              <a:tabLst>
                <a:tab pos="393065" algn="l"/>
              </a:tabLst>
            </a:pPr>
            <a:r>
              <a:rPr sz="1800" spc="-20" dirty="0">
                <a:solidFill>
                  <a:srgbClr val="0C0C0C"/>
                </a:solidFill>
                <a:latin typeface="Times New Roman"/>
                <a:cs typeface="Times New Roman"/>
              </a:rPr>
              <a:t>Curry,</a:t>
            </a:r>
            <a:r>
              <a:rPr sz="1800" spc="-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Trotter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&amp;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McGough,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2021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–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camera</a:t>
            </a:r>
            <a:r>
              <a:rPr sz="1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trap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deep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learning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Scottish</a:t>
            </a:r>
            <a:r>
              <a:rPr sz="1800" spc="-2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wildcat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914400" y="6488122"/>
            <a:ext cx="112599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Dept.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dirty="0" smtClean="0">
                <a:solidFill>
                  <a:srgbClr val="ED7D31"/>
                </a:solidFill>
                <a:latin typeface="Times New Roman"/>
                <a:cs typeface="Times New Roman"/>
              </a:rPr>
              <a:t>of</a:t>
            </a:r>
            <a:r>
              <a:rPr lang="en-IN" sz="1200" b="1" spc="-5" dirty="0" smtClean="0">
                <a:solidFill>
                  <a:srgbClr val="ED7D31"/>
                </a:solidFill>
                <a:latin typeface="Times New Roman"/>
                <a:cs typeface="Times New Roman"/>
              </a:rPr>
              <a:t> </a:t>
            </a:r>
            <a:r>
              <a:rPr lang="en-IN" sz="1200" b="1" spc="-25" dirty="0" smtClean="0">
                <a:solidFill>
                  <a:srgbClr val="ED7D31"/>
                </a:solidFill>
                <a:latin typeface="Times New Roman"/>
                <a:cs typeface="Times New Roman"/>
              </a:rPr>
              <a:t>CSE-CC</a:t>
            </a:r>
            <a:endParaRPr lang="en-IN" sz="12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3754840" y="6488122"/>
            <a:ext cx="1905471" cy="179536"/>
          </a:xfrm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lang="en-US" dirty="0" smtClean="0"/>
              <a:t>CCD415 Project Phase I</a:t>
            </a:r>
            <a:endParaRPr spc="-50" dirty="0"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42850" rIns="0" bIns="0" rtlCol="0">
            <a:spAutoFit/>
          </a:bodyPr>
          <a:lstStyle/>
          <a:p>
            <a:pPr marL="158115">
              <a:lnSpc>
                <a:spcPts val="1410"/>
              </a:lnSpc>
            </a:pPr>
            <a:r>
              <a:rPr spc="-10" dirty="0"/>
              <a:t>2023-</a:t>
            </a:r>
            <a:r>
              <a:rPr dirty="0"/>
              <a:t>2027</a:t>
            </a:r>
            <a:r>
              <a:rPr spc="-5" dirty="0"/>
              <a:t> </a:t>
            </a:r>
            <a:r>
              <a:rPr spc="-10" dirty="0"/>
              <a:t>Batch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58332" y="3007261"/>
            <a:ext cx="445325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dirty="0"/>
              <a:t>Thank</a:t>
            </a:r>
            <a:r>
              <a:rPr sz="4000" spc="-170" dirty="0"/>
              <a:t> </a:t>
            </a:r>
            <a:r>
              <a:rPr sz="4000" spc="-60" dirty="0" smtClean="0"/>
              <a:t>You</a:t>
            </a:r>
            <a:r>
              <a:rPr lang="en-IN" sz="4000" spc="-60" dirty="0" err="1" smtClean="0"/>
              <a:t>uuu</a:t>
            </a:r>
            <a:endParaRPr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0303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Words>7482</Words>
  <Application>Microsoft Office PowerPoint</Application>
  <PresentationFormat>On-screen Show (4:3)</PresentationFormat>
  <Paragraphs>865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Arial MT</vt:lpstr>
      <vt:lpstr>Calibri</vt:lpstr>
      <vt:lpstr>Times New Roman</vt:lpstr>
      <vt:lpstr>Office Theme</vt:lpstr>
      <vt:lpstr>CCD 415 Project Phase I</vt:lpstr>
      <vt:lpstr>OUTLINE</vt:lpstr>
      <vt:lpstr>ABSTRACT</vt:lpstr>
      <vt:lpstr>INTRODUCTION</vt:lpstr>
      <vt:lpstr>PROBLEM DEFINITION</vt:lpstr>
      <vt:lpstr>OBJECTIVES</vt:lpstr>
      <vt:lpstr>BACKGROUND</vt:lpstr>
      <vt:lpstr>BACKGROUND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LITERATURE SURVEY</vt:lpstr>
      <vt:lpstr>COMPARATIVE ANALYSIS</vt:lpstr>
      <vt:lpstr>COMPARATIVE ANALYSIS</vt:lpstr>
      <vt:lpstr>PROPOSED SYSTEM</vt:lpstr>
      <vt:lpstr>PROPOSED SYSTEM: ADVANTAGES</vt:lpstr>
      <vt:lpstr>PROJECT PLANNING &amp; SCHEDULING</vt:lpstr>
      <vt:lpstr>Methodology:</vt:lpstr>
      <vt:lpstr>PROJECT PLANNING &amp; SCHEDULING</vt:lpstr>
      <vt:lpstr>RESOURCE/TASK IDENTIFICATION &amp; ALLOCATION</vt:lpstr>
      <vt:lpstr>RESOURCE/TASK IDENTIFICATION &amp; ALLOCATION</vt:lpstr>
      <vt:lpstr>CONCLUSION</vt:lpstr>
      <vt:lpstr>REFERENCES</vt:lpstr>
      <vt:lpstr>REFERENCES</vt:lpstr>
      <vt:lpstr>REFERENCES</vt:lpstr>
      <vt:lpstr>REFERENCES</vt:lpstr>
      <vt:lpstr>Thank Youuuu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wildguard....pptx</dc:title>
  <dc:creator>Akshay N</dc:creator>
  <cp:lastModifiedBy>CS LAB</cp:lastModifiedBy>
  <cp:revision>11</cp:revision>
  <dcterms:created xsi:type="dcterms:W3CDTF">2026-09-15T04:45:46Z</dcterms:created>
  <dcterms:modified xsi:type="dcterms:W3CDTF">2026-09-18T03:59:09Z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2026-09-15T00:00:00Z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2026-09-15T00:00:00Z</vt:filetime>
  </property>
</Properties>
</file>