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3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6858000" type="screen4x3"/>
  <p:notesSz cx="9144000" cy="68580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5" d="100"/>
          <a:sy n="85" d="100"/>
        </p:scale>
        <p:origin x="1554" y="90"/>
      </p:cViewPr>
      <p:guideLst>
        <p:guide pos="2880" orient="horz"/>
        <p:guide pos="216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 /><Relationship Id="rId36" Type="http://schemas.openxmlformats.org/officeDocument/2006/relationships/tableStyles" Target="tableStyles.xml" /><Relationship Id="rId3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2973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6690630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B146A89-743C-441C-8687-38D0DB6B7666}" type="datetimeFigureOut">
              <a:rPr lang="en-IN"/>
              <a:t>18-09-2026</a:t>
            </a:fld>
            <a:endParaRPr lang="en-IN"/>
          </a:p>
        </p:txBody>
      </p:sp>
      <p:sp>
        <p:nvSpPr>
          <p:cNvPr id="94339239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IN"/>
          </a:p>
        </p:txBody>
      </p:sp>
      <p:sp>
        <p:nvSpPr>
          <p:cNvPr id="135583040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400" y="3300413"/>
            <a:ext cx="7315200" cy="270033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2019038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1059584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9060D0B-C203-419D-B38C-2EDFD2BAF39C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555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116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11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2184C-C172-A28D-6235-8959DC5F47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055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3680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70598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E5E0EC-7877-C9B1-D7D0-F441595A0D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51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557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362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CF2D49-C766-97C6-CFAE-6A6ADFF35E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938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1497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266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AA2B01-54E0-1D92-B9B8-FE3B709B70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687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525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87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7DB83-0E5F-0E21-F99D-EB7BF1FC83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021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7700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80894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16D652-9623-AA12-EC6A-2DBCC28D4F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299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5806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9869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1827DE-9291-0A17-C79C-562C455AB5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650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943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4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50BD0F-B6A6-96CE-A17A-44A676899E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328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6448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288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3FBB09-5DB5-84D3-A2DB-D7D606B2DF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2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9716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4096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287699-4247-5B1B-E4C2-2219A9BDF7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4920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6864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75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BC4B33-FC81-08B3-0AE8-2A4E053F2B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814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2030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246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26DB8D-1FF7-7045-54AE-FB5529C283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663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79317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546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95BF99-A0CE-8C90-0BD6-F65784ECA6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947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3589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995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E1E3EA-E2D4-6909-84E7-976EEFEC50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684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3582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80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3EBE04-3531-ABB7-E704-E48DC8EAB1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193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1995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223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D02DA-5F7E-D47F-A2FB-E3520B5B35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30186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200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78A54-AB66-A9F9-5525-AC62F47E62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985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4644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695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78685C-C48C-67F5-2CFC-6F1E9E597F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711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807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192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10093E-F284-E76A-8EE3-69744B62AB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668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4681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5981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543CC-F6BF-EF79-2FAE-EA2F1C258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208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4263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171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D96150-6AA6-CFD9-D5AC-0673B53258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700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37437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9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AF8472-A0E7-1685-ECB5-BF804FCBEE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873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91951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512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D8A939-4C53-9B19-F952-E6109CC208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170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592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884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4CAACD-14A9-C925-0CEB-D92E295744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206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14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943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5BBB0D-5EDD-69BB-7255-F37145BC22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07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5294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1596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C4BE1E-E102-A92C-2E90-35C4D89594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84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076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03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585AD1-006A-C338-EE6F-2167EA8F48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8337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31400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51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854B88-7421-1450-36E7-C57DC2BD1A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562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405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00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0AB8A2-2317-B482-05D9-6AE1D7FFF6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433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3177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924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2CBB00-12AD-A6B3-60E0-EAE87C6A56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351517" name="Holder 2"/>
          <p:cNvSpPr>
            <a:spLocks noGrp="1"/>
          </p:cNvSpPr>
          <p:nvPr>
            <p:ph type="ctrTitle"/>
          </p:nvPr>
        </p:nvSpPr>
        <p:spPr bwMode="auto"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3662931" name="Holder 3"/>
          <p:cNvSpPr>
            <a:spLocks noGrp="1"/>
          </p:cNvSpPr>
          <p:nvPr>
            <p:ph type="subTitle" idx="4"/>
          </p:nvPr>
        </p:nvSpPr>
        <p:spPr bwMode="auto"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01485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3175044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22897208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833903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3812958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60728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6781800" y="6443562"/>
            <a:ext cx="1348418" cy="356272"/>
          </a:xfrm>
        </p:spPr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83551345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3429000" y="6437570"/>
            <a:ext cx="1979136" cy="184128"/>
          </a:xfrm>
        </p:spPr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24902706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47610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5451007" name="Holder 3"/>
          <p:cNvSpPr>
            <a:spLocks noGrp="1"/>
          </p:cNvSpPr>
          <p:nvPr>
            <p:ph sz="half" idx="2"/>
          </p:nvPr>
        </p:nvSpPr>
        <p:spPr bwMode="auto"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80791310" name="Holder 4"/>
          <p:cNvSpPr>
            <a:spLocks noGrp="1"/>
          </p:cNvSpPr>
          <p:nvPr>
            <p:ph sz="half" idx="3"/>
          </p:nvPr>
        </p:nvSpPr>
        <p:spPr bwMode="auto"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6167615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77595164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87268686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677155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550468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48721766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77036250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91748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20715693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62404658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577020" name="Holder 2"/>
          <p:cNvSpPr>
            <a:spLocks noGrp="1"/>
          </p:cNvSpPr>
          <p:nvPr>
            <p:ph type="title"/>
          </p:nvPr>
        </p:nvSpPr>
        <p:spPr bwMode="auto">
          <a:xfrm>
            <a:off x="1353000" y="-80949"/>
            <a:ext cx="643799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9370286" name="Holder 3"/>
          <p:cNvSpPr>
            <a:spLocks noGrp="1"/>
          </p:cNvSpPr>
          <p:nvPr>
            <p:ph type="body" idx="1"/>
          </p:nvPr>
        </p:nvSpPr>
        <p:spPr bwMode="auto">
          <a:xfrm>
            <a:off x="364331" y="1441306"/>
            <a:ext cx="8599805" cy="470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867706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6705600" y="6445272"/>
            <a:ext cx="1348418" cy="356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65067111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2057400" y="6445272"/>
            <a:ext cx="1905471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36594151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8239125" y="6445272"/>
            <a:ext cx="291275" cy="356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1" ftr="1" hdr="0" sldNum="1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882521" name="object 2"/>
          <p:cNvPicPr/>
          <p:nvPr/>
        </p:nvPicPr>
        <p:blipFill rotWithShape="1">
          <a:blip r:embed="rId3"/>
          <a:stretch/>
        </p:blipFill>
        <p:spPr bwMode="auto">
          <a:xfrm>
            <a:off x="299923" y="18974"/>
            <a:ext cx="8705888" cy="1038496"/>
          </a:xfrm>
          <a:prstGeom prst="rect">
            <a:avLst/>
          </a:prstGeom>
        </p:spPr>
      </p:pic>
      <p:sp>
        <p:nvSpPr>
          <p:cNvPr id="227273173" name="object 3"/>
          <p:cNvSpPr txBox="1"/>
          <p:nvPr/>
        </p:nvSpPr>
        <p:spPr bwMode="auto">
          <a:xfrm>
            <a:off x="2033116" y="1075549"/>
            <a:ext cx="5291455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  <a:defRPr/>
            </a:pP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Department</a:t>
            </a:r>
            <a:r>
              <a:rPr sz="2000" b="1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b="1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Computer</a:t>
            </a:r>
            <a:r>
              <a:rPr sz="2000" b="1" spc="-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Science</a:t>
            </a:r>
            <a:r>
              <a:rPr sz="2000" b="1" spc="-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000" b="1" spc="-10">
                <a:solidFill>
                  <a:srgbClr val="0C0C0C"/>
                </a:solidFill>
                <a:latin typeface="Times New Roman"/>
                <a:cs typeface="Times New Roman"/>
              </a:rPr>
              <a:t> Engineering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66072887" name="object 4" descr="$PPTXTitle"/>
          <p:cNvSpPr txBox="1">
            <a:spLocks noGrp="1"/>
          </p:cNvSpPr>
          <p:nvPr>
            <p:ph type="title"/>
          </p:nvPr>
        </p:nvSpPr>
        <p:spPr bwMode="auto">
          <a:xfrm>
            <a:off x="3124200" y="1525619"/>
            <a:ext cx="331852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2400">
                <a:solidFill>
                  <a:srgbClr val="0C0C0C"/>
                </a:solidFill>
              </a:rPr>
              <a:t>C</a:t>
            </a:r>
            <a:r>
              <a:rPr lang="en-US" sz="2400">
                <a:solidFill>
                  <a:srgbClr val="0C0C0C"/>
                </a:solidFill>
              </a:rPr>
              <a:t>C</a:t>
            </a:r>
            <a:r>
              <a:rPr sz="2400">
                <a:solidFill>
                  <a:srgbClr val="0C0C0C"/>
                </a:solidFill>
              </a:rPr>
              <a:t>D</a:t>
            </a:r>
            <a:r>
              <a:rPr sz="2400" spc="-40">
                <a:solidFill>
                  <a:srgbClr val="0C0C0C"/>
                </a:solidFill>
              </a:rPr>
              <a:t> </a:t>
            </a:r>
            <a:r>
              <a:rPr sz="2400">
                <a:solidFill>
                  <a:srgbClr val="0C0C0C"/>
                </a:solidFill>
              </a:rPr>
              <a:t>415</a:t>
            </a:r>
            <a:r>
              <a:rPr sz="2400" spc="-35">
                <a:solidFill>
                  <a:srgbClr val="0C0C0C"/>
                </a:solidFill>
              </a:rPr>
              <a:t> </a:t>
            </a:r>
            <a:r>
              <a:rPr sz="2400">
                <a:solidFill>
                  <a:srgbClr val="0C0C0C"/>
                </a:solidFill>
              </a:rPr>
              <a:t>Project</a:t>
            </a:r>
            <a:r>
              <a:rPr sz="2400" spc="-30">
                <a:solidFill>
                  <a:srgbClr val="0C0C0C"/>
                </a:solidFill>
              </a:rPr>
              <a:t> </a:t>
            </a:r>
            <a:r>
              <a:rPr sz="2400">
                <a:solidFill>
                  <a:srgbClr val="0C0C0C"/>
                </a:solidFill>
              </a:rPr>
              <a:t>Phase</a:t>
            </a:r>
            <a:r>
              <a:rPr sz="2400" spc="-40">
                <a:solidFill>
                  <a:srgbClr val="0C0C0C"/>
                </a:solidFill>
              </a:rPr>
              <a:t> </a:t>
            </a:r>
            <a:r>
              <a:rPr sz="2400" spc="-60">
                <a:solidFill>
                  <a:srgbClr val="0C0C0C"/>
                </a:solidFill>
              </a:rPr>
              <a:t>I</a:t>
            </a:r>
            <a:endParaRPr sz="2400"/>
          </a:p>
        </p:txBody>
      </p:sp>
      <p:sp>
        <p:nvSpPr>
          <p:cNvPr id="1774013430" name="object 5"/>
          <p:cNvSpPr txBox="1"/>
          <p:nvPr/>
        </p:nvSpPr>
        <p:spPr bwMode="auto">
          <a:xfrm>
            <a:off x="1224927" y="1613252"/>
            <a:ext cx="7217409" cy="1525931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575"/>
              </a:spcBef>
              <a:defRPr/>
            </a:pPr>
            <a:r>
              <a:rPr sz="2200" b="1">
                <a:solidFill>
                  <a:srgbClr val="0C0C0C"/>
                </a:solidFill>
                <a:latin typeface="Times New Roman"/>
                <a:cs typeface="Times New Roman"/>
              </a:rPr>
              <a:t>First</a:t>
            </a:r>
            <a:r>
              <a:rPr sz="2200" b="1" spc="-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200" b="1" spc="-10">
                <a:solidFill>
                  <a:srgbClr val="0C0C0C"/>
                </a:solidFill>
                <a:latin typeface="Times New Roman"/>
                <a:cs typeface="Times New Roman"/>
              </a:rPr>
              <a:t>Review</a:t>
            </a:r>
            <a:endParaRPr sz="2200">
              <a:latin typeface="Times New Roman"/>
              <a:cs typeface="Times New Roman"/>
            </a:endParaRPr>
          </a:p>
          <a:p>
            <a:pPr marL="12065" marR="5080" indent="635" algn="ctr">
              <a:lnSpc>
                <a:spcPct val="80000"/>
              </a:lnSpc>
              <a:spcBef>
                <a:spcPts val="2454"/>
              </a:spcBef>
              <a:defRPr/>
            </a:pPr>
            <a:r>
              <a:rPr lang="en-US" sz="2700" b="1">
                <a:solidFill>
                  <a:srgbClr val="FF0000"/>
                </a:solidFill>
                <a:latin typeface="Times New Roman"/>
                <a:cs typeface="Times New Roman"/>
              </a:rPr>
              <a:t>SECURE REMOTE NETWORK ACCESS USING TWIN GATE AND RASPBERRY PI</a:t>
            </a:r>
            <a:endParaRPr/>
          </a:p>
        </p:txBody>
      </p:sp>
      <p:sp>
        <p:nvSpPr>
          <p:cNvPr id="1590208833" name="object 6"/>
          <p:cNvSpPr txBox="1"/>
          <p:nvPr/>
        </p:nvSpPr>
        <p:spPr bwMode="auto">
          <a:xfrm>
            <a:off x="998312" y="4485749"/>
            <a:ext cx="2026285" cy="1128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0"/>
              </a:lnSpc>
              <a:spcBef>
                <a:spcPts val="100"/>
              </a:spcBef>
              <a:defRPr/>
            </a:pPr>
            <a:r>
              <a:rPr sz="2000" b="1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sz="2000" b="1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spc="-25">
                <a:solidFill>
                  <a:srgbClr val="0C0C0C"/>
                </a:solidFill>
                <a:latin typeface="Times New Roman"/>
                <a:cs typeface="Times New Roman"/>
              </a:rPr>
              <a:t>By,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1820"/>
              </a:lnSpc>
              <a:defRPr/>
            </a:pPr>
            <a:r>
              <a:rPr sz="1700">
                <a:solidFill>
                  <a:srgbClr val="0C0C0C"/>
                </a:solidFill>
                <a:latin typeface="Times New Roman"/>
                <a:cs typeface="Times New Roman"/>
              </a:rPr>
              <a:t>M</a:t>
            </a:r>
            <a:r>
              <a:rPr lang="en-US" sz="170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sz="170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r>
              <a:rPr sz="1700" spc="-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700">
                <a:solidFill>
                  <a:srgbClr val="0C0C0C"/>
                </a:solidFill>
                <a:latin typeface="Times New Roman"/>
                <a:cs typeface="Times New Roman"/>
              </a:rPr>
              <a:t>FARBEENA</a:t>
            </a:r>
            <a:r>
              <a:rPr sz="1700" spc="-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700" spc="-5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150"/>
              </a:spcBef>
              <a:defRPr/>
            </a:pP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Assistant</a:t>
            </a:r>
            <a:r>
              <a:rPr sz="2000" spc="-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10">
                <a:solidFill>
                  <a:srgbClr val="0C0C0C"/>
                </a:solidFill>
                <a:latin typeface="Times New Roman"/>
                <a:cs typeface="Times New Roman"/>
              </a:rPr>
              <a:t>Professor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Department</a:t>
            </a:r>
            <a:r>
              <a:rPr sz="2000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spc="-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25">
                <a:solidFill>
                  <a:srgbClr val="0C0C0C"/>
                </a:solidFill>
                <a:latin typeface="Times New Roman"/>
                <a:cs typeface="Times New Roman"/>
              </a:rPr>
              <a:t>CSE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15688300" name="object 7"/>
          <p:cNvSpPr txBox="1"/>
          <p:nvPr/>
        </p:nvSpPr>
        <p:spPr bwMode="auto">
          <a:xfrm>
            <a:off x="4652651" y="4480467"/>
            <a:ext cx="148082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550" b="1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1550" b="1" spc="-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b="1" spc="-10">
                <a:solidFill>
                  <a:srgbClr val="0C0C0C"/>
                </a:solidFill>
                <a:latin typeface="Times New Roman"/>
                <a:cs typeface="Times New Roman"/>
              </a:rPr>
              <a:t>Members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36130986" name="object 8"/>
          <p:cNvSpPr txBox="1"/>
          <p:nvPr/>
        </p:nvSpPr>
        <p:spPr bwMode="auto">
          <a:xfrm>
            <a:off x="4603513" y="4716687"/>
            <a:ext cx="3119120" cy="962443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725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  <a:defRPr/>
            </a:pPr>
            <a:r>
              <a:rPr lang="en-US" sz="1550" spc="-85">
                <a:solidFill>
                  <a:srgbClr val="0C0C0C"/>
                </a:solidFill>
                <a:latin typeface="Times New Roman"/>
                <a:cs typeface="Times New Roman"/>
              </a:rPr>
              <a:t>AKSHAY</a:t>
            </a:r>
            <a:r>
              <a:rPr sz="1550" spc="-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550" spc="-9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(JCE23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CC008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630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  <a:defRPr/>
            </a:pPr>
            <a:r>
              <a:rPr lang="en-US" sz="1550" spc="-50">
                <a:solidFill>
                  <a:srgbClr val="0C0C0C"/>
                </a:solidFill>
                <a:latin typeface="Times New Roman"/>
                <a:cs typeface="Times New Roman"/>
              </a:rPr>
              <a:t>ABHISHEK KB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(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L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JCE23C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C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0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34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630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  <a:defRPr/>
            </a:pPr>
            <a:r>
              <a:rPr sz="1550" spc="-5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lang="en-US" sz="1550" spc="-50">
                <a:solidFill>
                  <a:srgbClr val="0C0C0C"/>
                </a:solidFill>
                <a:latin typeface="Times New Roman"/>
                <a:cs typeface="Times New Roman"/>
              </a:rPr>
              <a:t>HANID ALI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(JCE23C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C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0</a:t>
            </a:r>
            <a:r>
              <a:rPr lang="en-US" sz="1550" spc="-10">
                <a:solidFill>
                  <a:srgbClr val="0C0C0C"/>
                </a:solidFill>
                <a:latin typeface="Times New Roman"/>
                <a:cs typeface="Times New Roman"/>
              </a:rPr>
              <a:t>27</a:t>
            </a:r>
            <a:r>
              <a:rPr sz="1550" spc="-1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804722683" name="object 9"/>
          <p:cNvPicPr/>
          <p:nvPr/>
        </p:nvPicPr>
        <p:blipFill rotWithShape="1">
          <a:blip r:embed="rId4"/>
          <a:stretch/>
        </p:blipFill>
        <p:spPr bwMode="auto">
          <a:xfrm>
            <a:off x="228600" y="6231004"/>
            <a:ext cx="8915399" cy="626995"/>
          </a:xfrm>
          <a:prstGeom prst="rect">
            <a:avLst/>
          </a:prstGeom>
        </p:spPr>
      </p:pic>
      <p:grpSp>
        <p:nvGrpSpPr>
          <p:cNvPr id="1819471106" name="object 10"/>
          <p:cNvGrpSpPr/>
          <p:nvPr/>
        </p:nvGrpSpPr>
        <p:grpSpPr bwMode="auto">
          <a:xfrm>
            <a:off x="-6350" y="-6350"/>
            <a:ext cx="134620" cy="6870700"/>
            <a:chOff x="-6350" y="-6350"/>
            <a:chExt cx="134620" cy="6870700"/>
          </a:xfrm>
        </p:grpSpPr>
        <p:sp>
          <p:nvSpPr>
            <p:cNvPr id="11" name="object 11"/>
            <p:cNvSpPr/>
            <p:nvPr/>
          </p:nvSpPr>
          <p:spPr bwMode="auto">
            <a:xfrm>
              <a:off x="0" y="0"/>
              <a:ext cx="121920" cy="6858000"/>
            </a:xfrm>
            <a:custGeom>
              <a:avLst/>
              <a:gdLst/>
              <a:ahLst/>
              <a:cxnLst/>
              <a:rect l="l" t="t" r="r" b="b"/>
              <a:pathLst>
                <a:path w="121920" h="6858000" fill="norm" stroke="1" extrusionOk="0">
                  <a:moveTo>
                    <a:pt x="12191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" y="0"/>
                  </a:lnTo>
                  <a:lnTo>
                    <a:pt x="121919" y="6857999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0" y="0"/>
              <a:ext cx="121920" cy="6858000"/>
            </a:xfrm>
            <a:custGeom>
              <a:avLst/>
              <a:gdLst/>
              <a:ahLst/>
              <a:cxnLst/>
              <a:rect l="l" t="t" r="r" b="b"/>
              <a:pathLst>
                <a:path w="121920" h="6858000" fill="norm" stroke="1" extrusionOk="0">
                  <a:moveTo>
                    <a:pt x="121919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121919" y="6857999"/>
                  </a:lnTo>
                  <a:lnTo>
                    <a:pt x="121919" y="0"/>
                  </a:lnTo>
                  <a:close/>
                </a:path>
              </a:pathLst>
            </a:custGeom>
            <a:grpFill/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77057622" name="TextBox 13"/>
          <p:cNvSpPr txBox="1"/>
          <p:nvPr/>
        </p:nvSpPr>
        <p:spPr bwMode="auto">
          <a:xfrm>
            <a:off x="4603513" y="4111135"/>
            <a:ext cx="256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b="1">
                <a:latin typeface="Times New Roman"/>
                <a:cs typeface="Times New Roman"/>
              </a:rPr>
              <a:t>Project Group No. :08</a:t>
            </a:r>
            <a:endParaRPr lang="en-IN" b="1">
              <a:latin typeface="Times New Roman"/>
              <a:cs typeface="Times New Roman"/>
            </a:endParaRPr>
          </a:p>
        </p:txBody>
      </p:sp>
      <p:sp>
        <p:nvSpPr>
          <p:cNvPr id="1958460689" name="Slide Number Placeholder 16"/>
          <p:cNvSpPr>
            <a:spLocks noGrp="1"/>
          </p:cNvSpPr>
          <p:nvPr>
            <p:ph type="sldNum" sz="quarter" idx="7"/>
          </p:nvPr>
        </p:nvSpPr>
        <p:spPr bwMode="auto"/>
        <p:txBody>
          <a:bodyPr/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lang="en-IN" spc="-50"/>
              <a:t>1</a:t>
            </a:fld>
            <a:endParaRPr lang="en-IN" spc="-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925279" name="object 4"/>
          <p:cNvSpPr txBox="1"/>
          <p:nvPr/>
        </p:nvSpPr>
        <p:spPr bwMode="auto">
          <a:xfrm>
            <a:off x="1262012" y="6445272"/>
            <a:ext cx="876299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11315703" name="object 5"/>
          <p:cNvSpPr txBox="1">
            <a:spLocks noGrp="1"/>
          </p:cNvSpPr>
          <p:nvPr>
            <p:ph type="dt" sz="half" idx="6"/>
          </p:nvPr>
        </p:nvSpPr>
        <p:spPr bwMode="auto">
          <a:xfrm>
            <a:off x="2135664" y="6445272"/>
            <a:ext cx="190293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964279887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317410153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2</a:t>
            </a:fld>
            <a:endParaRPr spc="-50"/>
          </a:p>
        </p:txBody>
      </p:sp>
      <p:sp>
        <p:nvSpPr>
          <p:cNvPr id="1178700858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576559" y="39762"/>
            <a:ext cx="25990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OUTLINE</a:t>
            </a:r>
            <a:endParaRPr/>
          </a:p>
        </p:txBody>
      </p:sp>
      <p:sp>
        <p:nvSpPr>
          <p:cNvPr id="2008735954" name="object 3"/>
          <p:cNvSpPr txBox="1"/>
          <p:nvPr/>
        </p:nvSpPr>
        <p:spPr bwMode="auto">
          <a:xfrm>
            <a:off x="750989" y="690019"/>
            <a:ext cx="6094730" cy="533908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91769" indent="-17907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Abstract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Introduction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>
                <a:solidFill>
                  <a:srgbClr val="0C0C0C"/>
                </a:solidFill>
                <a:latin typeface="Times New Roman"/>
                <a:cs typeface="Times New Roman"/>
              </a:rPr>
              <a:t>Problem</a:t>
            </a:r>
            <a:r>
              <a:rPr sz="2600" b="1" spc="-1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Definition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Objectives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Background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Literature</a:t>
            </a:r>
            <a:r>
              <a:rPr sz="2600" b="1" spc="-114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Survey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25">
                <a:solidFill>
                  <a:srgbClr val="0C0C0C"/>
                </a:solidFill>
                <a:latin typeface="Times New Roman"/>
                <a:cs typeface="Times New Roman"/>
              </a:rPr>
              <a:t>Comparative</a:t>
            </a:r>
            <a:r>
              <a:rPr sz="2600" b="1" spc="-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Analysis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Proposed</a:t>
            </a:r>
            <a:r>
              <a:rPr sz="2600" b="1" spc="-1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600" b="1" spc="-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>
                <a:solidFill>
                  <a:srgbClr val="0C0C0C"/>
                </a:solidFill>
                <a:latin typeface="Times New Roman"/>
                <a:cs typeface="Times New Roman"/>
              </a:rPr>
              <a:t>Planning</a:t>
            </a:r>
            <a:r>
              <a:rPr sz="2600" b="1" spc="-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600" b="1" spc="-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Scheduling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35">
                <a:solidFill>
                  <a:srgbClr val="0C0C0C"/>
                </a:solidFill>
                <a:latin typeface="Times New Roman"/>
                <a:cs typeface="Times New Roman"/>
              </a:rPr>
              <a:t>Resource/Task</a:t>
            </a:r>
            <a:r>
              <a:rPr sz="2600" b="1" spc="-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Identification</a:t>
            </a:r>
            <a:r>
              <a:rPr sz="2600" b="1" spc="-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3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600" b="1" spc="-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Allocation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Conclusion</a:t>
            </a:r>
            <a:endParaRPr sz="2600">
              <a:latin typeface="Times New Roman"/>
              <a:cs typeface="Times New Roman"/>
            </a:endParaRPr>
          </a:p>
          <a:p>
            <a:pPr marL="191769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69" algn="l"/>
              </a:tabLst>
              <a:defRPr/>
            </a:pPr>
            <a:r>
              <a:rPr sz="2600" b="1" spc="-10">
                <a:solidFill>
                  <a:srgbClr val="0C0C0C"/>
                </a:solidFill>
                <a:latin typeface="Times New Roman"/>
                <a:cs typeface="Times New Roman"/>
              </a:rPr>
              <a:t>References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54650" name="object 4"/>
          <p:cNvSpPr txBox="1"/>
          <p:nvPr/>
        </p:nvSpPr>
        <p:spPr bwMode="auto">
          <a:xfrm>
            <a:off x="990600" y="6445272"/>
            <a:ext cx="114771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-C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54246790" name="object 5"/>
          <p:cNvSpPr txBox="1">
            <a:spLocks noGrp="1"/>
          </p:cNvSpPr>
          <p:nvPr>
            <p:ph type="dt" sz="half" idx="6"/>
          </p:nvPr>
        </p:nvSpPr>
        <p:spPr bwMode="auto">
          <a:xfrm>
            <a:off x="2135664" y="6445272"/>
            <a:ext cx="190293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365529449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270191520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3</a:t>
            </a:fld>
            <a:endParaRPr spc="-50"/>
          </a:p>
        </p:txBody>
      </p:sp>
      <p:sp>
        <p:nvSpPr>
          <p:cNvPr id="815810446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3126458" y="408856"/>
            <a:ext cx="30645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ABSTRACT</a:t>
            </a:r>
            <a:endParaRPr/>
          </a:p>
        </p:txBody>
      </p:sp>
      <p:sp>
        <p:nvSpPr>
          <p:cNvPr id="1339473651" name="object 3"/>
          <p:cNvSpPr txBox="1"/>
          <p:nvPr/>
        </p:nvSpPr>
        <p:spPr bwMode="auto">
          <a:xfrm>
            <a:off x="356384" y="1344858"/>
            <a:ext cx="8409940" cy="4490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9074" marR="51435" indent="-207010">
              <a:lnSpc>
                <a:spcPct val="152300"/>
              </a:lnSpc>
              <a:spcBef>
                <a:spcPts val="95"/>
              </a:spcBef>
              <a:buFont typeface="Arial MT"/>
              <a:buChar char="•"/>
              <a:tabLst>
                <a:tab pos="219074" algn="l"/>
              </a:tabLst>
              <a:defRPr/>
            </a:pPr>
            <a:r>
              <a:rPr lang="en-US" sz="1750">
                <a:latin typeface="Times New Roman"/>
                <a:cs typeface="Times New Roman"/>
              </a:rPr>
              <a:t>Secure remote network access is essential for connecting users to private network resources while maintaining strong security and access control.</a:t>
            </a:r>
            <a:endParaRPr sz="1750">
              <a:latin typeface="Times New Roman"/>
              <a:cs typeface="Times New Roman"/>
            </a:endParaRPr>
          </a:p>
          <a:p>
            <a:pPr marL="219074" marR="473709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4" algn="l"/>
              </a:tabLst>
              <a:defRPr/>
            </a:pPr>
            <a:r>
              <a:rPr lang="en-US" sz="1750">
                <a:latin typeface="Times New Roman"/>
                <a:cs typeface="Times New Roman"/>
              </a:rPr>
              <a:t>Traditional remote access methods such as Virtual Private Networks (VPNs) may require firewall modifications, port forwarding, public IP addresses, and complex network configurations, increasing deployment complexity and potential security risks</a:t>
            </a:r>
            <a:r>
              <a:rPr sz="1750" spc="-10">
                <a:latin typeface="Times New Roman"/>
                <a:cs typeface="Times New Roman"/>
              </a:rPr>
              <a:t>.</a:t>
            </a:r>
            <a:endParaRPr sz="1750">
              <a:latin typeface="Times New Roman"/>
              <a:cs typeface="Times New Roman"/>
            </a:endParaRPr>
          </a:p>
          <a:p>
            <a:pPr marL="219074" marR="5080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4" algn="l"/>
              </a:tabLst>
              <a:defRPr/>
            </a:pPr>
            <a:r>
              <a:rPr lang="en-US" sz="1750">
                <a:latin typeface="Times New Roman"/>
                <a:cs typeface="Times New Roman"/>
              </a:rPr>
              <a:t>A Raspberry Pi is configured as a network connector for Twingate, enabling remote devices to securely access authorized internal resources</a:t>
            </a:r>
            <a:r>
              <a:rPr sz="1750" spc="-10">
                <a:latin typeface="Times New Roman"/>
                <a:cs typeface="Times New Roman"/>
              </a:rPr>
              <a:t>.</a:t>
            </a:r>
            <a:endParaRPr sz="1750">
              <a:latin typeface="Times New Roman"/>
              <a:cs typeface="Times New Roman"/>
            </a:endParaRPr>
          </a:p>
          <a:p>
            <a:pPr marL="219074" marR="414020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4" algn="l"/>
              </a:tabLst>
              <a:defRPr/>
            </a:pPr>
            <a:r>
              <a:rPr lang="en-US" sz="1750">
                <a:latin typeface="Times New Roman"/>
                <a:cs typeface="Times New Roman"/>
              </a:rPr>
              <a:t>Twingate provides cloud-based management, authentication, device verification, granular access policies, and activity logging</a:t>
            </a:r>
            <a:r>
              <a:rPr sz="1750" spc="-10">
                <a:latin typeface="Times New Roman"/>
                <a:cs typeface="Times New Roman"/>
              </a:rPr>
              <a:t>.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235550" name="object 4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765403426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354214261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995311504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4</a:t>
            </a:fld>
            <a:endParaRPr spc="-50"/>
          </a:p>
        </p:txBody>
      </p:sp>
      <p:sp>
        <p:nvSpPr>
          <p:cNvPr id="1597999145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412681" y="130319"/>
            <a:ext cx="4495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INTRODUCTION</a:t>
            </a:r>
            <a:endParaRPr/>
          </a:p>
        </p:txBody>
      </p:sp>
      <p:sp>
        <p:nvSpPr>
          <p:cNvPr id="1581574310" name="object 3"/>
          <p:cNvSpPr txBox="1"/>
          <p:nvPr/>
        </p:nvSpPr>
        <p:spPr bwMode="auto">
          <a:xfrm>
            <a:off x="361100" y="973112"/>
            <a:ext cx="8606155" cy="52235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995" marR="226060" indent="-201930">
              <a:lnSpc>
                <a:spcPct val="121800"/>
              </a:lnSpc>
              <a:spcBef>
                <a:spcPts val="95"/>
              </a:spcBef>
              <a:buFont typeface="Arial MT"/>
              <a:buChar char="•"/>
              <a:tabLst>
                <a:tab pos="213995" algn="l"/>
              </a:tabLst>
              <a:defRPr/>
            </a:pPr>
            <a:r>
              <a:rPr lang="en-US" sz="1750">
                <a:latin typeface="Times New Roman"/>
                <a:cs typeface="Times New Roman"/>
              </a:rPr>
              <a:t>Secure remote access enables users to connect to private network resources from different locations while maintaining confidentiality and controlled access</a:t>
            </a:r>
            <a:r>
              <a:rPr sz="1750" spc="-10">
                <a:latin typeface="Times New Roman"/>
                <a:cs typeface="Times New Roman"/>
              </a:rPr>
              <a:t>.</a:t>
            </a:r>
            <a:endParaRPr sz="1750">
              <a:latin typeface="Times New Roman"/>
              <a:cs typeface="Times New Roman"/>
            </a:endParaRPr>
          </a:p>
          <a:p>
            <a:pPr marL="213995" marR="655955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  <a:defRPr/>
            </a:pPr>
            <a:r>
              <a:rPr lang="en-US" sz="1750">
                <a:latin typeface="Times New Roman"/>
                <a:cs typeface="Times New Roman"/>
              </a:rPr>
              <a:t>Traditional network access methods often provide broad connectivity once a user enters the network. Zero Trust improves security by continuously verifying users and devices before granting access</a:t>
            </a:r>
            <a:r>
              <a:rPr sz="1750" spc="-10">
                <a:latin typeface="Times New Roman"/>
                <a:cs typeface="Times New Roman"/>
              </a:rPr>
              <a:t>.</a:t>
            </a:r>
            <a:endParaRPr sz="1750">
              <a:latin typeface="Times New Roman"/>
              <a:cs typeface="Times New Roman"/>
            </a:endParaRPr>
          </a:p>
          <a:p>
            <a:pPr marL="213995" marR="29083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  <a:defRPr/>
            </a:pPr>
            <a:r>
              <a:rPr lang="en-US" sz="1750">
                <a:latin typeface="Times New Roman"/>
                <a:cs typeface="Times New Roman"/>
              </a:rPr>
              <a:t>Twingate provides a Zero Trust Network Access approach that uses identity-based authentication and least-privilege policies to provide access only to authorized resources</a:t>
            </a:r>
            <a:r>
              <a:rPr sz="1750" spc="-10">
                <a:latin typeface="Times New Roman"/>
                <a:cs typeface="Times New Roman"/>
              </a:rPr>
              <a:t>.</a:t>
            </a:r>
            <a:endParaRPr sz="1750">
              <a:latin typeface="Times New Roman"/>
              <a:cs typeface="Times New Roman"/>
            </a:endParaRPr>
          </a:p>
          <a:p>
            <a:pPr marL="213995" marR="41402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  <a:defRPr/>
            </a:pPr>
            <a:r>
              <a:rPr lang="en-US" sz="1750">
                <a:latin typeface="Times New Roman"/>
                <a:cs typeface="Times New Roman"/>
              </a:rPr>
              <a:t>A Raspberry Pi can function as a lightweight network connector, linking internal network resources with the Twingate platform without requiring complex network infrastructure</a:t>
            </a:r>
            <a:r>
              <a:rPr sz="1750" spc="-10">
                <a:latin typeface="Times New Roman"/>
                <a:cs typeface="Times New Roman"/>
              </a:rPr>
              <a:t>.</a:t>
            </a:r>
            <a:endParaRPr sz="1750">
              <a:latin typeface="Times New Roman"/>
              <a:cs typeface="Times New Roman"/>
            </a:endParaRPr>
          </a:p>
          <a:p>
            <a:pPr marL="213995" marR="508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  <a:defRPr/>
            </a:pPr>
            <a:r>
              <a:rPr lang="en-US" sz="1750">
                <a:latin typeface="Times New Roman"/>
                <a:cs typeface="Times New Roman"/>
              </a:rPr>
              <a:t>Cloud-based management, device verification, access policies, and activity logging help administrators control and monitor remote access securely</a:t>
            </a:r>
            <a:r>
              <a:rPr sz="1750" spc="-10">
                <a:latin typeface="Times New Roman"/>
                <a:cs typeface="Times New Roman"/>
              </a:rPr>
              <a:t>.</a:t>
            </a:r>
            <a:endParaRPr sz="1750">
              <a:latin typeface="Times New Roman"/>
              <a:cs typeface="Times New Roman"/>
            </a:endParaRPr>
          </a:p>
          <a:p>
            <a:pPr marL="213995" marR="58801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  <a:defRPr/>
            </a:pPr>
            <a:r>
              <a:rPr lang="en-US" sz="1750">
                <a:latin typeface="Times New Roman"/>
                <a:cs typeface="Times New Roman"/>
              </a:rPr>
              <a:t>Integration with the Twingate API and Python-based automation can reduce manual configuration, support dynamic resource registration, and simplify network administration.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05554" name="object 4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284158608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206681372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104224043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5</a:t>
            </a:fld>
            <a:endParaRPr spc="-50"/>
          </a:p>
        </p:txBody>
      </p:sp>
      <p:sp>
        <p:nvSpPr>
          <p:cNvPr id="40167434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473681" y="408856"/>
            <a:ext cx="63709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PROBLEM</a:t>
            </a:r>
            <a:r>
              <a:rPr spc="-260"/>
              <a:t> </a:t>
            </a:r>
            <a:r>
              <a:rPr spc="-10"/>
              <a:t>DEFINITION</a:t>
            </a:r>
            <a:endParaRPr/>
          </a:p>
        </p:txBody>
      </p:sp>
      <p:sp>
        <p:nvSpPr>
          <p:cNvPr id="2069709711" name="object 3"/>
          <p:cNvSpPr txBox="1">
            <a:spLocks noGrp="1"/>
          </p:cNvSpPr>
          <p:nvPr>
            <p:ph type="body" idx="1"/>
          </p:nvPr>
        </p:nvSpPr>
        <p:spPr bwMode="auto">
          <a:xfrm>
            <a:off x="364331" y="1441306"/>
            <a:ext cx="8599805" cy="5104801"/>
          </a:xfrm>
          <a:prstGeom prst="rect">
            <a:avLst/>
          </a:prstGeom>
        </p:spPr>
        <p:txBody>
          <a:bodyPr vert="horz" wrap="square" lIns="0" tIns="110560" rIns="0" bIns="0" rtlCol="0">
            <a:spAutoFit/>
          </a:bodyPr>
          <a:lstStyle/>
          <a:p>
            <a:pPr marL="209550" marR="16510" indent="-189230">
              <a:lnSpc>
                <a:spcPct val="100699"/>
              </a:lnSpc>
              <a:spcBef>
                <a:spcPts val="95"/>
              </a:spcBef>
              <a:buFont typeface="Arial MT"/>
              <a:buChar char="•"/>
              <a:tabLst>
                <a:tab pos="210820" algn="l"/>
              </a:tabLst>
              <a:defRPr/>
            </a:pPr>
            <a:r>
              <a:rPr lang="en-US"/>
              <a:t>Traditional VPN-based remote access often requires firewall modifications, port forwarding, public IP addresses, and complex network configurations, making deployment difficult</a:t>
            </a:r>
            <a:r>
              <a:rPr spc="-10"/>
              <a:t>.</a:t>
            </a:r>
            <a:endParaRPr spc="-10"/>
          </a:p>
          <a:p>
            <a:pPr marL="209550" marR="24765" indent="-189230">
              <a:lnSpc>
                <a:spcPct val="100699"/>
              </a:lnSpc>
              <a:spcBef>
                <a:spcPts val="1005"/>
              </a:spcBef>
              <a:buFont typeface="Arial MT"/>
              <a:buChar char="•"/>
              <a:tabLst>
                <a:tab pos="210820" algn="l"/>
              </a:tabLst>
              <a:defRPr/>
            </a:pPr>
            <a:r>
              <a:rPr lang="en-US"/>
              <a:t>Conventional remote access methods may provide users with wider network access than necessary, increasing the risk of unauthorized access to internal resources</a:t>
            </a:r>
            <a:r>
              <a:rPr spc="-10"/>
              <a:t>.</a:t>
            </a:r>
            <a:endParaRPr spc="-10"/>
          </a:p>
          <a:p>
            <a:pPr marL="209550" marR="23495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  <a:defRPr/>
            </a:pPr>
            <a:r>
              <a:rPr/>
              <a:t>Villagers</a:t>
            </a:r>
            <a:r>
              <a:rPr spc="130"/>
              <a:t> </a:t>
            </a:r>
            <a:r>
              <a:rPr/>
              <a:t>have</a:t>
            </a:r>
            <a:r>
              <a:rPr spc="130"/>
              <a:t> </a:t>
            </a:r>
            <a:r>
              <a:rPr/>
              <a:t>no</a:t>
            </a:r>
            <a:r>
              <a:rPr spc="135"/>
              <a:t> </a:t>
            </a:r>
            <a:r>
              <a:rPr/>
              <a:t>advance,</a:t>
            </a:r>
            <a:r>
              <a:rPr spc="130"/>
              <a:t> </a:t>
            </a:r>
            <a:r>
              <a:rPr/>
              <a:t>location-specific</a:t>
            </a:r>
            <a:r>
              <a:rPr spc="135"/>
              <a:t> </a:t>
            </a:r>
            <a:r>
              <a:rPr/>
              <a:t>warning,</a:t>
            </a:r>
            <a:r>
              <a:rPr spc="130"/>
              <a:t> </a:t>
            </a:r>
            <a:r>
              <a:rPr/>
              <a:t>so</a:t>
            </a:r>
            <a:r>
              <a:rPr spc="135"/>
              <a:t> </a:t>
            </a:r>
            <a:r>
              <a:rPr/>
              <a:t>unfamiliar</a:t>
            </a:r>
            <a:r>
              <a:rPr spc="130"/>
              <a:t> </a:t>
            </a:r>
            <a:r>
              <a:rPr/>
              <a:t>or</a:t>
            </a:r>
            <a:r>
              <a:rPr spc="130"/>
              <a:t> </a:t>
            </a:r>
            <a:r>
              <a:rPr spc="-10"/>
              <a:t>nighttime 	</a:t>
            </a:r>
            <a:r>
              <a:rPr/>
              <a:t>routes</a:t>
            </a:r>
            <a:r>
              <a:rPr spc="5"/>
              <a:t> </a:t>
            </a:r>
            <a:r>
              <a:rPr/>
              <a:t>can</a:t>
            </a:r>
            <a:r>
              <a:rPr spc="10"/>
              <a:t> </a:t>
            </a:r>
            <a:r>
              <a:rPr/>
              <a:t>pass</a:t>
            </a:r>
            <a:r>
              <a:rPr spc="10"/>
              <a:t> </a:t>
            </a:r>
            <a:r>
              <a:rPr/>
              <a:t>directly</a:t>
            </a:r>
            <a:r>
              <a:rPr spc="10"/>
              <a:t> </a:t>
            </a:r>
            <a:r>
              <a:rPr/>
              <a:t>through</a:t>
            </a:r>
            <a:r>
              <a:rPr spc="10"/>
              <a:t> </a:t>
            </a:r>
            <a:r>
              <a:rPr/>
              <a:t>a</a:t>
            </a:r>
            <a:r>
              <a:rPr spc="10"/>
              <a:t> </a:t>
            </a:r>
            <a:r>
              <a:rPr/>
              <a:t>danger</a:t>
            </a:r>
            <a:r>
              <a:rPr spc="10"/>
              <a:t> </a:t>
            </a:r>
            <a:r>
              <a:rPr spc="-10"/>
              <a:t>zone.</a:t>
            </a:r>
            <a:endParaRPr/>
          </a:p>
          <a:p>
            <a:pPr marL="209550" marR="24130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  <a:defRPr/>
            </a:pPr>
            <a:r>
              <a:rPr/>
              <a:t>RRT</a:t>
            </a:r>
            <a:r>
              <a:rPr spc="100"/>
              <a:t>  </a:t>
            </a:r>
            <a:r>
              <a:rPr/>
              <a:t>members</a:t>
            </a:r>
            <a:r>
              <a:rPr spc="120"/>
              <a:t>  </a:t>
            </a:r>
            <a:r>
              <a:rPr/>
              <a:t>currently</a:t>
            </a:r>
            <a:r>
              <a:rPr spc="125"/>
              <a:t>  </a:t>
            </a:r>
            <a:r>
              <a:rPr/>
              <a:t>have</a:t>
            </a:r>
            <a:r>
              <a:rPr spc="120"/>
              <a:t>  </a:t>
            </a:r>
            <a:r>
              <a:rPr/>
              <a:t>no</a:t>
            </a:r>
            <a:r>
              <a:rPr spc="120"/>
              <a:t>  </a:t>
            </a:r>
            <a:r>
              <a:rPr/>
              <a:t>prior</a:t>
            </a:r>
            <a:r>
              <a:rPr spc="125"/>
              <a:t>  </a:t>
            </a:r>
            <a:r>
              <a:rPr/>
              <a:t>information</a:t>
            </a:r>
            <a:r>
              <a:rPr spc="120"/>
              <a:t>  </a:t>
            </a:r>
            <a:r>
              <a:rPr/>
              <a:t>(animal</a:t>
            </a:r>
            <a:r>
              <a:rPr spc="120"/>
              <a:t>  </a:t>
            </a:r>
            <a:r>
              <a:rPr/>
              <a:t>type,</a:t>
            </a:r>
            <a:r>
              <a:rPr spc="125"/>
              <a:t>  </a:t>
            </a:r>
            <a:r>
              <a:rPr spc="-10"/>
              <a:t>distance, 	</a:t>
            </a:r>
            <a:r>
              <a:rPr/>
              <a:t>movement</a:t>
            </a:r>
            <a:r>
              <a:rPr spc="10"/>
              <a:t> </a:t>
            </a:r>
            <a:r>
              <a:rPr/>
              <a:t>direction)</a:t>
            </a:r>
            <a:r>
              <a:rPr spc="15"/>
              <a:t> </a:t>
            </a:r>
            <a:r>
              <a:rPr/>
              <a:t>before</a:t>
            </a:r>
            <a:r>
              <a:rPr spc="10"/>
              <a:t> </a:t>
            </a:r>
            <a:r>
              <a:rPr/>
              <a:t>reaching</a:t>
            </a:r>
            <a:r>
              <a:rPr spc="15"/>
              <a:t> </a:t>
            </a:r>
            <a:r>
              <a:rPr/>
              <a:t>the</a:t>
            </a:r>
            <a:r>
              <a:rPr spc="10"/>
              <a:t> </a:t>
            </a:r>
            <a:r>
              <a:rPr/>
              <a:t>site,</a:t>
            </a:r>
            <a:r>
              <a:rPr spc="15"/>
              <a:t> </a:t>
            </a:r>
            <a:r>
              <a:rPr/>
              <a:t>delaying</a:t>
            </a:r>
            <a:r>
              <a:rPr spc="10"/>
              <a:t> </a:t>
            </a:r>
            <a:r>
              <a:rPr/>
              <a:t>an</a:t>
            </a:r>
            <a:r>
              <a:rPr spc="15"/>
              <a:t> </a:t>
            </a:r>
            <a:r>
              <a:rPr/>
              <a:t>informed</a:t>
            </a:r>
            <a:r>
              <a:rPr spc="10"/>
              <a:t> </a:t>
            </a:r>
            <a:r>
              <a:rPr spc="-10"/>
              <a:t>response.</a:t>
            </a:r>
            <a:endParaRPr/>
          </a:p>
          <a:p>
            <a:pPr marL="209550" marR="5080" indent="-189230">
              <a:lnSpc>
                <a:spcPct val="100800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  <a:defRPr/>
            </a:pPr>
            <a:r>
              <a:rPr/>
              <a:t>There</a:t>
            </a:r>
            <a:r>
              <a:rPr spc="375"/>
              <a:t> </a:t>
            </a:r>
            <a:r>
              <a:rPr/>
              <a:t>is</a:t>
            </a:r>
            <a:r>
              <a:rPr spc="380"/>
              <a:t> </a:t>
            </a:r>
            <a:r>
              <a:rPr/>
              <a:t>no</a:t>
            </a:r>
            <a:r>
              <a:rPr spc="375"/>
              <a:t> </a:t>
            </a:r>
            <a:r>
              <a:rPr/>
              <a:t>historical</a:t>
            </a:r>
            <a:r>
              <a:rPr spc="380"/>
              <a:t> </a:t>
            </a:r>
            <a:r>
              <a:rPr/>
              <a:t>record</a:t>
            </a:r>
            <a:r>
              <a:rPr spc="380"/>
              <a:t> </a:t>
            </a:r>
            <a:r>
              <a:rPr/>
              <a:t>of</a:t>
            </a:r>
            <a:r>
              <a:rPr spc="375"/>
              <a:t> </a:t>
            </a:r>
            <a:r>
              <a:rPr/>
              <a:t>intrusion</a:t>
            </a:r>
            <a:r>
              <a:rPr spc="380"/>
              <a:t> </a:t>
            </a:r>
            <a:r>
              <a:rPr/>
              <a:t>patterns,</a:t>
            </a:r>
            <a:r>
              <a:rPr spc="380"/>
              <a:t> </a:t>
            </a:r>
            <a:r>
              <a:rPr/>
              <a:t>so</a:t>
            </a:r>
            <a:r>
              <a:rPr spc="375"/>
              <a:t> </a:t>
            </a:r>
            <a:r>
              <a:rPr/>
              <a:t>hotspots</a:t>
            </a:r>
            <a:r>
              <a:rPr spc="380"/>
              <a:t> </a:t>
            </a:r>
            <a:r>
              <a:rPr/>
              <a:t>and</a:t>
            </a:r>
            <a:r>
              <a:rPr spc="375"/>
              <a:t> </a:t>
            </a:r>
            <a:r>
              <a:rPr/>
              <a:t>risk</a:t>
            </a:r>
            <a:r>
              <a:rPr spc="380"/>
              <a:t> </a:t>
            </a:r>
            <a:r>
              <a:rPr spc="-10"/>
              <a:t>trends 	</a:t>
            </a:r>
            <a:r>
              <a:rPr/>
              <a:t>cannot</a:t>
            </a:r>
            <a:r>
              <a:rPr spc="5"/>
              <a:t> </a:t>
            </a:r>
            <a:r>
              <a:rPr/>
              <a:t>be</a:t>
            </a:r>
            <a:r>
              <a:rPr spc="10"/>
              <a:t> </a:t>
            </a:r>
            <a:r>
              <a:rPr/>
              <a:t>identified</a:t>
            </a:r>
            <a:r>
              <a:rPr spc="10"/>
              <a:t> </a:t>
            </a:r>
            <a:r>
              <a:rPr/>
              <a:t>or</a:t>
            </a:r>
            <a:r>
              <a:rPr spc="10"/>
              <a:t> </a:t>
            </a:r>
            <a:r>
              <a:rPr/>
              <a:t>planned</a:t>
            </a:r>
            <a:r>
              <a:rPr spc="10"/>
              <a:t> </a:t>
            </a:r>
            <a:r>
              <a:rPr spc="-20"/>
              <a:t>for.</a:t>
            </a:r>
            <a:endParaRPr/>
          </a:p>
          <a:p>
            <a:pPr marL="209550" marR="5080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  <a:defRPr/>
            </a:pPr>
            <a:r>
              <a:rPr/>
              <a:t>Hence,</a:t>
            </a:r>
            <a:r>
              <a:rPr spc="300"/>
              <a:t> </a:t>
            </a:r>
            <a:r>
              <a:rPr/>
              <a:t>there</a:t>
            </a:r>
            <a:r>
              <a:rPr spc="305"/>
              <a:t> </a:t>
            </a:r>
            <a:r>
              <a:rPr/>
              <a:t>is</a:t>
            </a:r>
            <a:r>
              <a:rPr spc="305"/>
              <a:t> </a:t>
            </a:r>
            <a:r>
              <a:rPr/>
              <a:t>a</a:t>
            </a:r>
            <a:r>
              <a:rPr spc="305"/>
              <a:t> </a:t>
            </a:r>
            <a:r>
              <a:rPr/>
              <a:t>need</a:t>
            </a:r>
            <a:r>
              <a:rPr spc="305"/>
              <a:t> </a:t>
            </a:r>
            <a:r>
              <a:rPr/>
              <a:t>for</a:t>
            </a:r>
            <a:r>
              <a:rPr spc="305"/>
              <a:t> </a:t>
            </a:r>
            <a:r>
              <a:rPr/>
              <a:t>a</a:t>
            </a:r>
            <a:r>
              <a:rPr spc="300"/>
              <a:t> </a:t>
            </a:r>
            <a:r>
              <a:rPr/>
              <a:t>system</a:t>
            </a:r>
            <a:r>
              <a:rPr spc="305"/>
              <a:t> </a:t>
            </a:r>
            <a:r>
              <a:rPr/>
              <a:t>that</a:t>
            </a:r>
            <a:r>
              <a:rPr spc="305"/>
              <a:t> </a:t>
            </a:r>
            <a:r>
              <a:rPr/>
              <a:t>automatically</a:t>
            </a:r>
            <a:r>
              <a:rPr spc="305"/>
              <a:t> </a:t>
            </a:r>
            <a:r>
              <a:rPr/>
              <a:t>detects,</a:t>
            </a:r>
            <a:r>
              <a:rPr spc="305"/>
              <a:t> </a:t>
            </a:r>
            <a:r>
              <a:rPr/>
              <a:t>verifies,</a:t>
            </a:r>
            <a:r>
              <a:rPr spc="305"/>
              <a:t> </a:t>
            </a:r>
            <a:r>
              <a:rPr spc="-10"/>
              <a:t>scores, 	</a:t>
            </a:r>
            <a:r>
              <a:rPr/>
              <a:t>and</a:t>
            </a:r>
            <a:r>
              <a:rPr spc="15"/>
              <a:t> </a:t>
            </a:r>
            <a:r>
              <a:rPr/>
              <a:t>routes</a:t>
            </a:r>
            <a:r>
              <a:rPr spc="20"/>
              <a:t> </a:t>
            </a:r>
            <a:r>
              <a:rPr/>
              <a:t>wildlife-intrusion</a:t>
            </a:r>
            <a:r>
              <a:rPr spc="15"/>
              <a:t> </a:t>
            </a:r>
            <a:r>
              <a:rPr/>
              <a:t>alerts</a:t>
            </a:r>
            <a:r>
              <a:rPr spc="20"/>
              <a:t> </a:t>
            </a:r>
            <a:r>
              <a:rPr/>
              <a:t>to</a:t>
            </a:r>
            <a:r>
              <a:rPr spc="15"/>
              <a:t> </a:t>
            </a:r>
            <a:r>
              <a:rPr/>
              <a:t>the</a:t>
            </a:r>
            <a:r>
              <a:rPr spc="20"/>
              <a:t> </a:t>
            </a:r>
            <a:r>
              <a:rPr/>
              <a:t>right</a:t>
            </a:r>
            <a:r>
              <a:rPr spc="20"/>
              <a:t> </a:t>
            </a:r>
            <a:r>
              <a:rPr/>
              <a:t>people</a:t>
            </a:r>
            <a:r>
              <a:rPr spc="15"/>
              <a:t> </a:t>
            </a:r>
            <a:r>
              <a:rPr/>
              <a:t>at</a:t>
            </a:r>
            <a:r>
              <a:rPr spc="20"/>
              <a:t> </a:t>
            </a:r>
            <a:r>
              <a:rPr/>
              <a:t>the</a:t>
            </a:r>
            <a:r>
              <a:rPr spc="15"/>
              <a:t> </a:t>
            </a:r>
            <a:r>
              <a:rPr/>
              <a:t>right</a:t>
            </a:r>
            <a:r>
              <a:rPr spc="20"/>
              <a:t> </a:t>
            </a:r>
            <a:r>
              <a:rPr spc="-10"/>
              <a:t>time.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0109" name="object 7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519707575" name="object 8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2069446314" name="object 9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120283727" name="object 10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6</a:t>
            </a:fld>
            <a:endParaRPr spc="-50"/>
          </a:p>
        </p:txBody>
      </p:sp>
      <p:sp>
        <p:nvSpPr>
          <p:cNvPr id="1582708616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616678" y="272332"/>
            <a:ext cx="35648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OBJECTIVES</a:t>
            </a:r>
            <a:endParaRPr/>
          </a:p>
        </p:txBody>
      </p:sp>
      <p:sp>
        <p:nvSpPr>
          <p:cNvPr id="820364414" name="object 3"/>
          <p:cNvSpPr txBox="1"/>
          <p:nvPr/>
        </p:nvSpPr>
        <p:spPr bwMode="auto">
          <a:xfrm>
            <a:off x="371648" y="1319468"/>
            <a:ext cx="86099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14629" algn="l"/>
                <a:tab pos="660400" algn="l"/>
                <a:tab pos="1502410" algn="l"/>
                <a:tab pos="1794509" algn="l"/>
                <a:tab pos="3482340" algn="l"/>
                <a:tab pos="4493260" algn="l"/>
                <a:tab pos="5052695" algn="l"/>
                <a:tab pos="6543040" algn="l"/>
                <a:tab pos="7624445" algn="l"/>
              </a:tabLst>
              <a:defRPr/>
            </a:pPr>
            <a:r>
              <a:rPr sz="2000" spc="-25">
                <a:latin typeface="Times New Roman"/>
                <a:cs typeface="Times New Roman"/>
              </a:rPr>
              <a:t>To</a:t>
            </a:r>
            <a:r>
              <a:rPr sz="2000">
                <a:latin typeface="Times New Roman"/>
                <a:cs typeface="Times New Roman"/>
              </a:rPr>
              <a:t>	</a:t>
            </a:r>
            <a:r>
              <a:rPr sz="2000" spc="-10">
                <a:latin typeface="Times New Roman"/>
                <a:cs typeface="Times New Roman"/>
              </a:rPr>
              <a:t>design</a:t>
            </a:r>
            <a:r>
              <a:rPr sz="2000">
                <a:latin typeface="Times New Roman"/>
                <a:cs typeface="Times New Roman"/>
              </a:rPr>
              <a:t>	</a:t>
            </a:r>
            <a:r>
              <a:rPr sz="2000" spc="-50">
                <a:latin typeface="Times New Roman"/>
                <a:cs typeface="Times New Roman"/>
              </a:rPr>
              <a:t>a</a:t>
            </a:r>
            <a:r>
              <a:rPr sz="2000">
                <a:latin typeface="Times New Roman"/>
                <a:cs typeface="Times New Roman"/>
              </a:rPr>
              <a:t>	thermal-</a:t>
            </a:r>
            <a:r>
              <a:rPr sz="2000" spc="-10">
                <a:latin typeface="Times New Roman"/>
                <a:cs typeface="Times New Roman"/>
              </a:rPr>
              <a:t>sensor</a:t>
            </a:r>
            <a:r>
              <a:rPr sz="2000">
                <a:latin typeface="Times New Roman"/>
                <a:cs typeface="Times New Roman"/>
              </a:rPr>
              <a:t>	</a:t>
            </a:r>
            <a:r>
              <a:rPr sz="2000" spc="-10">
                <a:latin typeface="Times New Roman"/>
                <a:cs typeface="Times New Roman"/>
              </a:rPr>
              <a:t>network</a:t>
            </a:r>
            <a:r>
              <a:rPr sz="2000">
                <a:latin typeface="Times New Roman"/>
                <a:cs typeface="Times New Roman"/>
              </a:rPr>
              <a:t>	</a:t>
            </a:r>
            <a:r>
              <a:rPr sz="2000" spc="-20">
                <a:latin typeface="Times New Roman"/>
                <a:cs typeface="Times New Roman"/>
              </a:rPr>
              <a:t>that</a:t>
            </a:r>
            <a:r>
              <a:rPr sz="2000">
                <a:latin typeface="Times New Roman"/>
                <a:cs typeface="Times New Roman"/>
              </a:rPr>
              <a:t>	</a:t>
            </a:r>
            <a:r>
              <a:rPr sz="2000" spc="-10">
                <a:latin typeface="Times New Roman"/>
                <a:cs typeface="Times New Roman"/>
              </a:rPr>
              <a:t>continuously</a:t>
            </a:r>
            <a:r>
              <a:rPr sz="2000">
                <a:latin typeface="Times New Roman"/>
                <a:cs typeface="Times New Roman"/>
              </a:rPr>
              <a:t>	</a:t>
            </a:r>
            <a:r>
              <a:rPr sz="2000" spc="-10">
                <a:latin typeface="Times New Roman"/>
                <a:cs typeface="Times New Roman"/>
              </a:rPr>
              <a:t>monitors</a:t>
            </a:r>
            <a:r>
              <a:rPr sz="2000">
                <a:latin typeface="Times New Roman"/>
                <a:cs typeface="Times New Roman"/>
              </a:rPr>
              <a:t>	</a:t>
            </a:r>
            <a:r>
              <a:rPr sz="2000" spc="-10">
                <a:latin typeface="Times New Roman"/>
                <a:cs typeface="Times New Roman"/>
              </a:rPr>
              <a:t>identified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99939799" name="object 4"/>
          <p:cNvSpPr txBox="1"/>
          <p:nvPr/>
        </p:nvSpPr>
        <p:spPr bwMode="auto">
          <a:xfrm>
            <a:off x="371648" y="1496887"/>
            <a:ext cx="8609330" cy="2987356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95"/>
              </a:spcBef>
              <a:defRPr/>
            </a:pPr>
            <a:r>
              <a:rPr sz="2000">
                <a:latin typeface="Times New Roman"/>
                <a:cs typeface="Times New Roman"/>
              </a:rPr>
              <a:t>wildlife-intrusion</a:t>
            </a:r>
            <a:r>
              <a:rPr sz="2000" spc="-35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hotspots</a:t>
            </a:r>
            <a:r>
              <a:rPr sz="2000" spc="-2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along</a:t>
            </a:r>
            <a:r>
              <a:rPr sz="2000" spc="-2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village</a:t>
            </a:r>
            <a:r>
              <a:rPr sz="2000" spc="-20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boundaries.</a:t>
            </a:r>
            <a:endParaRPr sz="2000">
              <a:latin typeface="Times New Roman"/>
              <a:cs typeface="Times New Roman"/>
            </a:endParaRPr>
          </a:p>
          <a:p>
            <a:pPr marL="213995" marR="26670" indent="-20193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6535" algn="l"/>
              </a:tabLst>
              <a:defRPr/>
            </a:pPr>
            <a:r>
              <a:rPr sz="2000">
                <a:latin typeface="Times New Roman"/>
                <a:cs typeface="Times New Roman"/>
              </a:rPr>
              <a:t>To</a:t>
            </a:r>
            <a:r>
              <a:rPr sz="2000" spc="2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develop</a:t>
            </a:r>
            <a:r>
              <a:rPr sz="2000" spc="25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an</a:t>
            </a:r>
            <a:r>
              <a:rPr sz="2000" spc="-70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AI/computer-</a:t>
            </a:r>
            <a:r>
              <a:rPr sz="2000">
                <a:latin typeface="Times New Roman"/>
                <a:cs typeface="Times New Roman"/>
              </a:rPr>
              <a:t>vision</a:t>
            </a:r>
            <a:r>
              <a:rPr sz="2000" spc="25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module</a:t>
            </a:r>
            <a:r>
              <a:rPr sz="2000" spc="2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that</a:t>
            </a:r>
            <a:r>
              <a:rPr sz="2000" spc="25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verifies</a:t>
            </a:r>
            <a:r>
              <a:rPr sz="2000" spc="25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genuine</a:t>
            </a:r>
            <a:r>
              <a:rPr sz="2000" spc="25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animal</a:t>
            </a:r>
            <a:r>
              <a:rPr sz="2000" spc="25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detections 	</a:t>
            </a:r>
            <a:r>
              <a:rPr sz="2000">
                <a:latin typeface="Times New Roman"/>
                <a:cs typeface="Times New Roman"/>
              </a:rPr>
              <a:t>and</a:t>
            </a:r>
            <a:r>
              <a:rPr sz="2000" spc="-3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filters</a:t>
            </a:r>
            <a:r>
              <a:rPr sz="2000" spc="-25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out</a:t>
            </a:r>
            <a:r>
              <a:rPr sz="2000" spc="-30">
                <a:latin typeface="Times New Roman"/>
                <a:cs typeface="Times New Roman"/>
              </a:rPr>
              <a:t> </a:t>
            </a:r>
            <a:r>
              <a:rPr sz="2000">
                <a:latin typeface="Times New Roman"/>
                <a:cs typeface="Times New Roman"/>
              </a:rPr>
              <a:t>false</a:t>
            </a:r>
            <a:r>
              <a:rPr sz="2000" spc="-25">
                <a:latin typeface="Times New Roman"/>
                <a:cs typeface="Times New Roman"/>
              </a:rPr>
              <a:t> </a:t>
            </a:r>
            <a:r>
              <a:rPr sz="2000" spc="-10">
                <a:latin typeface="Times New Roman"/>
                <a:cs typeface="Times New Roman"/>
              </a:rPr>
              <a:t>alarms.</a:t>
            </a:r>
            <a:endParaRPr sz="2000">
              <a:latin typeface="Times New Roman"/>
              <a:cs typeface="Times New Roman"/>
            </a:endParaRPr>
          </a:p>
          <a:p>
            <a:pPr marL="213995" marR="5080" indent="-201930">
              <a:lnSpc>
                <a:spcPct val="100000"/>
              </a:lnSpc>
              <a:spcBef>
                <a:spcPts val="990"/>
              </a:spcBef>
              <a:buFont typeface="Arial MT"/>
              <a:buChar char="•"/>
              <a:tabLst>
                <a:tab pos="216535" algn="l"/>
              </a:tabLst>
              <a:defRPr/>
            </a:pPr>
            <a:r>
              <a:rPr lang="en-US" sz="2000">
                <a:latin typeface="Times New Roman"/>
                <a:cs typeface="Times New Roman"/>
              </a:rPr>
              <a:t>Internal network services may need to be exposed or made reachable from the internet, increasing the potential attack surface and security risks</a:t>
            </a:r>
            <a:r>
              <a:rPr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13995" marR="29209" indent="-20193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16535" algn="l"/>
              </a:tabLst>
              <a:defRPr/>
            </a:pPr>
            <a:r>
              <a:rPr lang="en-US" sz="2000">
                <a:latin typeface="Times New Roman"/>
                <a:cs typeface="Times New Roman"/>
              </a:rPr>
              <a:t>Managing users, devices, permissions, and network resources manually can become complex, especially when multiple users require different levels of access</a:t>
            </a:r>
            <a:r>
              <a:rPr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00520046" name="object 6"/>
          <p:cNvSpPr txBox="1"/>
          <p:nvPr/>
        </p:nvSpPr>
        <p:spPr bwMode="auto">
          <a:xfrm>
            <a:off x="327280" y="4478111"/>
            <a:ext cx="8602345" cy="1063753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13995" marR="5080" indent="-20193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6535" algn="l"/>
              </a:tabLst>
              <a:defRPr/>
            </a:pPr>
            <a:r>
              <a:rPr lang="en-US" sz="2000">
                <a:latin typeface="Times New Roman"/>
                <a:cs typeface="Times New Roman"/>
              </a:rPr>
              <a:t>Traditional approaches may lack simple centralized mechanisms for authentication, access policies, device verification, and monitoring of remote connections</a:t>
            </a:r>
            <a:r>
              <a:rPr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995173" name="object 4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2007959966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730138374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612439591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7</a:t>
            </a:fld>
            <a:endParaRPr spc="-50"/>
          </a:p>
        </p:txBody>
      </p:sp>
      <p:sp>
        <p:nvSpPr>
          <p:cNvPr id="1178872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599142" y="216044"/>
            <a:ext cx="41224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BACKGROUND</a:t>
            </a:r>
            <a:endParaRPr/>
          </a:p>
        </p:txBody>
      </p:sp>
      <p:sp>
        <p:nvSpPr>
          <p:cNvPr id="1679861676" name="object 3"/>
          <p:cNvSpPr txBox="1"/>
          <p:nvPr/>
        </p:nvSpPr>
        <p:spPr bwMode="auto">
          <a:xfrm>
            <a:off x="515076" y="1164911"/>
            <a:ext cx="8143240" cy="53108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0185" indent="-190500" algn="just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210185" algn="l"/>
              </a:tabLst>
              <a:defRPr/>
            </a:pPr>
            <a:r>
              <a:rPr sz="2250" b="1" spc="-10">
                <a:solidFill>
                  <a:srgbClr val="0C0C0C"/>
                </a:solidFill>
                <a:latin typeface="Times New Roman"/>
                <a:cs typeface="Times New Roman"/>
              </a:rPr>
              <a:t>Background</a:t>
            </a:r>
            <a:endParaRPr sz="2250">
              <a:latin typeface="Times New Roman"/>
              <a:cs typeface="Times New Roman"/>
            </a:endParaRPr>
          </a:p>
          <a:p>
            <a:pPr marL="211454" marR="12700" indent="-187325" algn="just">
              <a:lnSpc>
                <a:spcPts val="2100"/>
              </a:lnSpc>
              <a:spcBef>
                <a:spcPts val="235"/>
              </a:spcBef>
              <a:buSzPct val="116216"/>
              <a:buFont typeface="Arial"/>
              <a:buChar char="•"/>
              <a:tabLst>
                <a:tab pos="211454" algn="l"/>
              </a:tabLst>
              <a:defRPr/>
            </a:pPr>
            <a:r>
              <a:rPr lang="en-US" sz="1850">
                <a:solidFill>
                  <a:srgbClr val="0C0C0C"/>
                </a:solidFill>
                <a:latin typeface="Times New Roman"/>
                <a:cs typeface="Times New Roman"/>
              </a:rPr>
              <a:t>The increasing need to access private network resources remotely has created a demand for secure and reliable remote connectivity solutions</a:t>
            </a:r>
            <a:r>
              <a:rPr sz="1850" spc="-1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445"/>
              </a:spcBef>
              <a:buFont typeface="Arial MT"/>
              <a:buChar char="•"/>
              <a:tabLst>
                <a:tab pos="211454" algn="l"/>
              </a:tabLst>
              <a:defRPr/>
            </a:pPr>
            <a:r>
              <a:rPr lang="en-US" sz="1850">
                <a:solidFill>
                  <a:srgbClr val="0C0C0C"/>
                </a:solidFill>
                <a:latin typeface="Times New Roman"/>
                <a:cs typeface="Times New Roman"/>
              </a:rPr>
              <a:t>VPN-based solutions commonly depend on firewall configuration, port forwarding, public IP addresses, and other network settings that can make deployment more complex</a:t>
            </a:r>
            <a:r>
              <a:rPr sz="1850" spc="-1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  <a:defRPr/>
            </a:pPr>
            <a:r>
              <a:rPr lang="en-US" sz="1850">
                <a:solidFill>
                  <a:srgbClr val="0C0C0C"/>
                </a:solidFill>
                <a:latin typeface="Times New Roman"/>
                <a:cs typeface="Times New Roman"/>
              </a:rPr>
              <a:t>Zero Trust follows the principle of verifying users and devices before granting access rather than automatically trusting devices within a network</a:t>
            </a:r>
            <a:r>
              <a:rPr sz="1850" spc="-1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210185" marR="5080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  <a:defRPr/>
            </a:pPr>
            <a:r>
              <a:rPr lang="en-US" sz="1850">
                <a:solidFill>
                  <a:srgbClr val="0C0C0C"/>
                </a:solidFill>
                <a:latin typeface="Times New Roman"/>
                <a:cs typeface="Times New Roman"/>
              </a:rPr>
              <a:t>Twingate applies identity-based authentication and least-privilege access to ensure that users are provided access only to authorized network resources</a:t>
            </a:r>
            <a:r>
              <a:rPr sz="1850" spc="-1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1005"/>
              </a:spcBef>
              <a:buFont typeface="Arial MT"/>
              <a:buChar char="•"/>
              <a:tabLst>
                <a:tab pos="211454" algn="l"/>
              </a:tabLst>
              <a:defRPr/>
            </a:pPr>
            <a:r>
              <a:rPr lang="en-US" sz="1850">
                <a:solidFill>
                  <a:srgbClr val="0C0C0C"/>
                </a:solidFill>
                <a:latin typeface="Times New Roman"/>
                <a:cs typeface="Times New Roman"/>
              </a:rPr>
              <a:t>The Raspberry Pi provides a low-cost and lightweight platform that can connect internal network resources to the Twingate environment</a:t>
            </a:r>
            <a:r>
              <a:rPr sz="1850" spc="-1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210185" marR="6350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  <a:defRPr/>
            </a:pP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Non-lethal</a:t>
            </a:r>
            <a:r>
              <a:rPr sz="1850" spc="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deterrents</a:t>
            </a:r>
            <a:r>
              <a:rPr sz="1850" spc="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(lights,</a:t>
            </a:r>
            <a:r>
              <a:rPr sz="1850" spc="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sound)</a:t>
            </a:r>
            <a:r>
              <a:rPr sz="1850" spc="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are</a:t>
            </a:r>
            <a:r>
              <a:rPr sz="1850" spc="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an</a:t>
            </a:r>
            <a:r>
              <a:rPr sz="1850" spc="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accepted,</a:t>
            </a:r>
            <a:r>
              <a:rPr sz="1850" spc="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Forest-Department-</a:t>
            </a:r>
            <a:r>
              <a:rPr sz="1850" spc="-10">
                <a:solidFill>
                  <a:srgbClr val="0C0C0C"/>
                </a:solidFill>
                <a:latin typeface="Times New Roman"/>
                <a:cs typeface="Times New Roman"/>
              </a:rPr>
              <a:t>approved 	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method</a:t>
            </a:r>
            <a:r>
              <a:rPr sz="185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50" spc="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discouraging</a:t>
            </a:r>
            <a:r>
              <a:rPr sz="1850" spc="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animals</a:t>
            </a:r>
            <a:r>
              <a:rPr sz="1850" spc="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>
                <a:solidFill>
                  <a:srgbClr val="0C0C0C"/>
                </a:solidFill>
                <a:latin typeface="Times New Roman"/>
                <a:cs typeface="Times New Roman"/>
              </a:rPr>
              <a:t>without</a:t>
            </a:r>
            <a:r>
              <a:rPr sz="1850" spc="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spc="-10">
                <a:solidFill>
                  <a:srgbClr val="0C0C0C"/>
                </a:solidFill>
                <a:latin typeface="Times New Roman"/>
                <a:cs typeface="Times New Roman"/>
              </a:rPr>
              <a:t>harm.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39729" name="object 4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883475309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203849453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902756597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8</a:t>
            </a:fld>
            <a:endParaRPr spc="-50"/>
          </a:p>
        </p:txBody>
      </p:sp>
      <p:sp>
        <p:nvSpPr>
          <p:cNvPr id="73410955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599130" y="408856"/>
            <a:ext cx="41224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BACKGROUND</a:t>
            </a:r>
            <a:endParaRPr/>
          </a:p>
        </p:txBody>
      </p:sp>
      <p:sp>
        <p:nvSpPr>
          <p:cNvPr id="792876648" name="object 3"/>
          <p:cNvSpPr txBox="1"/>
          <p:nvPr/>
        </p:nvSpPr>
        <p:spPr bwMode="auto">
          <a:xfrm>
            <a:off x="498957" y="1053982"/>
            <a:ext cx="7860030" cy="519693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203835" indent="-174625">
              <a:lnSpc>
                <a:spcPct val="100000"/>
              </a:lnSpc>
              <a:spcBef>
                <a:spcPts val="1524"/>
              </a:spcBef>
              <a:buFont typeface="Arial"/>
              <a:buChar char="•"/>
              <a:tabLst>
                <a:tab pos="203835" algn="l"/>
              </a:tabLst>
              <a:defRPr/>
            </a:pPr>
            <a:r>
              <a:rPr sz="2800" b="1">
                <a:solidFill>
                  <a:srgbClr val="0C0C0C"/>
                </a:solidFill>
                <a:latin typeface="Times New Roman"/>
                <a:cs typeface="Times New Roman"/>
              </a:rPr>
              <a:t>Existing </a:t>
            </a:r>
            <a:r>
              <a:rPr sz="2800" b="1" spc="-1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203835" marR="153035" indent="-191135">
              <a:lnSpc>
                <a:spcPct val="100000"/>
              </a:lnSpc>
              <a:spcBef>
                <a:spcPts val="969"/>
              </a:spcBef>
              <a:buFont typeface="Arial MT"/>
              <a:buChar char="•"/>
              <a:tabLst>
                <a:tab pos="205103" algn="l"/>
              </a:tabLst>
              <a:defRPr/>
            </a:pPr>
            <a:r>
              <a:rPr lang="en-US" sz="1900">
                <a:latin typeface="Times New Roman"/>
                <a:cs typeface="Times New Roman"/>
              </a:rPr>
              <a:t>Remote users commonly rely on VPNs to connect to private network resources from outside the organization</a:t>
            </a:r>
            <a:r>
              <a:rPr sz="1900" spc="-1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203835" marR="6540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3" algn="l"/>
              </a:tabLst>
              <a:defRPr/>
            </a:pPr>
            <a:r>
              <a:rPr lang="en-US" sz="1900">
                <a:latin typeface="Times New Roman"/>
                <a:cs typeface="Times New Roman"/>
              </a:rPr>
              <a:t>VPN deployment may require firewall changes, port forwarding, public IP addresses, and additional network configuration</a:t>
            </a:r>
            <a:r>
              <a:rPr sz="1900" spc="-1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20383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3835" algn="l"/>
              </a:tabLst>
              <a:defRPr/>
            </a:pPr>
            <a:r>
              <a:rPr lang="en-US" sz="1900">
                <a:latin typeface="Times New Roman"/>
                <a:cs typeface="Times New Roman"/>
              </a:rPr>
              <a:t>Once connected through a traditional VPN, users may receive access to a larger portion of the internal network than actually required</a:t>
            </a:r>
            <a:r>
              <a:rPr sz="1900" spc="-1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203835" marR="226060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3" algn="l"/>
              </a:tabLst>
              <a:defRPr/>
            </a:pPr>
            <a:r>
              <a:rPr lang="en-US" sz="1900">
                <a:latin typeface="Times New Roman"/>
                <a:cs typeface="Times New Roman"/>
              </a:rPr>
              <a:t>Exposing network services or opening ports for remote access can increase the possibility of unauthorized access and security threats</a:t>
            </a:r>
            <a:r>
              <a:rPr sz="1900" spc="-1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20383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3835" algn="l"/>
              </a:tabLst>
              <a:defRPr/>
            </a:pPr>
            <a:r>
              <a:rPr lang="en-US" sz="1900">
                <a:latin typeface="Times New Roman"/>
                <a:cs typeface="Times New Roman"/>
              </a:rPr>
              <a:t>Managing users, devices, permissions, and network resources can require considerable manual configuration and administration</a:t>
            </a:r>
            <a:r>
              <a:rPr sz="1900" spc="-1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203835" marR="5080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3" algn="l"/>
              </a:tabLst>
              <a:defRPr/>
            </a:pPr>
            <a:r>
              <a:rPr lang="en-US" sz="1900">
                <a:latin typeface="Times New Roman"/>
                <a:cs typeface="Times New Roman"/>
              </a:rPr>
              <a:t>Traditional solutions may make it difficult to implement centralized identity verification, granular access policies, device verification, and activity monitoring</a:t>
            </a:r>
            <a:r>
              <a:rPr sz="1900" spc="-1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07941" name="object 5"/>
          <p:cNvSpPr txBox="1"/>
          <p:nvPr/>
        </p:nvSpPr>
        <p:spPr bwMode="auto">
          <a:xfrm>
            <a:off x="762000" y="6488122"/>
            <a:ext cx="12783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932756744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260307437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831008126" name="object 8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spc="-50"/>
              <a:t>9</a:t>
            </a:fld>
            <a:endParaRPr spc="-50"/>
          </a:p>
        </p:txBody>
      </p:sp>
      <p:sp>
        <p:nvSpPr>
          <p:cNvPr id="891179594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1855115787" name="object 3"/>
          <p:cNvSpPr txBox="1"/>
          <p:nvPr/>
        </p:nvSpPr>
        <p:spPr bwMode="auto">
          <a:xfrm>
            <a:off x="234748" y="718558"/>
            <a:ext cx="8801269" cy="500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R. Tuyishime, F. Radu, E. Tuyishime, D. Cotfas, P. Cotfas, T. Balan, and A. Rekeraho, “Online Laboratory Access Control With Zero Trust Approach: Twingate Use Case,” 2024</a:t>
            </a:r>
            <a:endParaRPr/>
          </a:p>
        </p:txBody>
      </p:sp>
      <p:graphicFrame>
        <p:nvGraphicFramePr>
          <p:cNvPr id="1711603885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402431" y="1441306"/>
          <a:ext cx="8510905" cy="486029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213610"/>
                <a:gridCol w="2046604"/>
                <a:gridCol w="2112010"/>
                <a:gridCol w="2138680"/>
              </a:tblGrid>
              <a:tr h="608965">
                <a:tc>
                  <a:txBody>
                    <a:bodyPr/>
                    <a:p>
                      <a:pPr marL="610870" marR="119380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14984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53085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640080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251325">
                <a:tc>
                  <a:txBody>
                    <a:bodyPr/>
                    <a:p>
                      <a:pPr marL="542925" marR="90804" indent="-32829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 Trust Network Access (ZTNA)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secure remote access.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90804" indent="-32829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least-privilege access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to restrict users to required resources.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11125" indent="-328295">
                        <a:lnSpc>
                          <a:spcPct val="100000"/>
                        </a:lnSpc>
                        <a:buChar char="●"/>
                        <a:tabLst>
                          <a:tab pos="542925" algn="l"/>
                          <a:tab pos="574675" algn="l"/>
                        </a:tabLst>
                        <a:defRPr/>
                      </a:pPr>
                      <a:r>
                        <a:rPr sz="1200" b="0">
                          <a:solidFill>
                            <a:srgbClr val="303030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continuous authentication and authorization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access requests.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11124" indent="-328294">
                        <a:lnSpc>
                          <a:spcPct val="100000"/>
                        </a:lnSpc>
                        <a:buChar char="●"/>
                        <a:tabLst>
                          <a:tab pos="542925" algn="l"/>
                          <a:tab pos="574674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Raspberry Pi 4B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as a network connector.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11124" indent="-328294">
                        <a:lnSpc>
                          <a:spcPct val="100000"/>
                        </a:lnSpc>
                        <a:buChar char="●"/>
                        <a:tabLst>
                          <a:tab pos="542925" algn="l"/>
                          <a:tab pos="574674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Provides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continuous network monitoring and logging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07949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Improved Access Control: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Provides granular access to individual resources instead of exposing the entire network.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6002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Reduced Attack Surface: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Least-privilege access limits the resources available to an authenticated user.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60020" indent="-32829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Continuous Monitoring: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Network connections are monitored and logged to help identify suspicious activities.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89535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Dependency on Authentication: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Access to resources depends on successful authentication and authorization.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1430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Connector Dependency: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Resources cannot be accessed when the required connector is unavailable.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14300" indent="-32829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Deployment Complexity: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Implementing Zero Trust requires configuration of policies, authentication, connectors, and resource permissions.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46926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Proposes a Zero Trust Network Access (ZTNA) approach to enable secure remote access to online laboratory environments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383539" indent="-32829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Mechanism: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Applies least-privilege policies using a Raspberry Pi 4B as a lab network connector.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383538" indent="-328293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Limits user access strictly to required resources, minimizing the lab's attack surface.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78429" name="object 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  <a:defRPr/>
            </a:pPr>
            <a:fld id="{81D60167-4931-47E6-BA6A-407CBD079E47}" type="slidenum">
              <a:rPr spc="-25"/>
              <a:t>10</a:t>
            </a:fld>
            <a:endParaRPr spc="-25"/>
          </a:p>
        </p:txBody>
      </p:sp>
      <p:sp>
        <p:nvSpPr>
          <p:cNvPr id="1321300923" name="object 6"/>
          <p:cNvSpPr txBox="1"/>
          <p:nvPr/>
        </p:nvSpPr>
        <p:spPr bwMode="auto">
          <a:xfrm>
            <a:off x="914400" y="6509553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254036845" name="object 7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328941618" name="object 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36565668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2077191022" name="object 3"/>
          <p:cNvSpPr txBox="1"/>
          <p:nvPr/>
        </p:nvSpPr>
        <p:spPr bwMode="auto">
          <a:xfrm>
            <a:off x="234748" y="718558"/>
            <a:ext cx="8856324" cy="43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M. Akhi, C. Eising, and L. L. Dhirani, "Securing IoT Using Lightweight TCN for Edge Deployment on Raspberry Pi 4,"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IEEE Open Journal of the Communications Society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vol. 7, pp. 1184–1200, 2026</a:t>
            </a:r>
            <a:endParaRPr sz="1400" b="0" i="0"/>
          </a:p>
        </p:txBody>
      </p:sp>
      <p:graphicFrame>
        <p:nvGraphicFramePr>
          <p:cNvPr id="851122832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316706" y="1366297"/>
          <a:ext cx="8650605" cy="508889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717165"/>
                <a:gridCol w="2078355"/>
                <a:gridCol w="2004694"/>
                <a:gridCol w="1850390"/>
              </a:tblGrid>
              <a:tr h="608965">
                <a:tc>
                  <a:txBody>
                    <a:bodyPr/>
                    <a:p>
                      <a:pPr marL="862330" marR="371475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30860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99745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95934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479925">
                <a:tc>
                  <a:txBody>
                    <a:bodyPr/>
                    <a:p>
                      <a:pPr marL="542925" marR="18288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Lightweight TCN Architecture: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Uses a 1D Temporal Convolutional Network with causal padding, dilated convolutions (rates 1, 2, 4), batch normalization,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$L_2$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regularization, Gaussian noise injection, and Global Average Pooling 1D</a:t>
                      </a:r>
                      <a:endParaRPr sz="1200" b="0" spc="-1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8826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Post-Training INT8 Quantization: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Converts floating-point (FP32) models into full-integer (INT8) TensorFlow Lite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.tflite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representations using representative dataset calibration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0477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Processing Pipeline: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Applies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$z$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-score standardization, removal of non-finite values, synthetic class balancing via SMOTE on training data, and 3D temporal tensor reshaping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$N \times F \times 1$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sz="1200" b="0" spc="-1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542925" algn="l"/>
                        </a:tabLst>
                        <a:defRPr/>
                      </a:pP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02235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Detection Accuracy: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Achieves 99.95% accuracy on MQTT-DDoS and 99.94% accuracy on UDP-DDoS datasets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0223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Ultra-Low Latency: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Delivers inference speeds of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 ms/sample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MQTT-DDoS and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0.27 ms/sample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for UDP-DDoS on physical Raspberry Pi 4 hardware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02234" indent="-32067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Significant Footprint Compression: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Reduces model file size by nearly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$4\times$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(from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248.5 KB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to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89.1 KB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) via INT8 quantization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542925" algn="l"/>
                        </a:tabLst>
                        <a:defRPr/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13664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Reduced Multi-Class Generalization: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Performance drops significantly on highly complex, overlapping Industrial IoT traffic (65.80% accuracy on CICIIoT2025)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7810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Hardware Scope Restriction: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Evaluated exclusively on single-board computer edge hardware (Raspberry Pi 4) rather than ultra-constrained microcontrollers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78104" indent="-32067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spc="-9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Deployment Threat Vulnerabilities: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Remains vulnerable to physical edge threats such as model extraction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290" indent="-32004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Establishes a lightweight, edge-deployable deep learning Intrusion Detection System (IDS) to mitigate real-time DDoS threats on resource-constrained IoT devices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26289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Mechanism: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Converts a dilated 1D Temporal Convolutional Network to an INT8-quantized TFLite model running locally on a Raspberry Pi 4 using multi-threaded acceleration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822441" name="object 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  <a:defRPr/>
            </a:pPr>
            <a:fld id="{81D60167-4931-47E6-BA6A-407CBD079E47}" type="slidenum">
              <a:rPr spc="-25"/>
              <a:t>11</a:t>
            </a:fld>
            <a:endParaRPr spc="-25"/>
          </a:p>
        </p:txBody>
      </p:sp>
      <p:sp>
        <p:nvSpPr>
          <p:cNvPr id="698431671" name="object 6"/>
          <p:cNvSpPr txBox="1"/>
          <p:nvPr/>
        </p:nvSpPr>
        <p:spPr bwMode="auto">
          <a:xfrm>
            <a:off x="762000" y="6509553"/>
            <a:ext cx="12783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 of CSE-CC</a:t>
            </a:r>
            <a:endParaRPr lang="en-IN" sz="1200" b="1">
              <a:solidFill>
                <a:srgbClr val="ED7D31"/>
              </a:solidFill>
              <a:latin typeface="Times New Roman"/>
              <a:cs typeface="Times New Roman"/>
            </a:endParaRPr>
          </a:p>
        </p:txBody>
      </p:sp>
      <p:sp>
        <p:nvSpPr>
          <p:cNvPr id="1523169096" name="object 7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891013295" name="object 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338613593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759468054" name="object 3"/>
          <p:cNvSpPr txBox="1"/>
          <p:nvPr/>
        </p:nvSpPr>
        <p:spPr bwMode="auto">
          <a:xfrm>
            <a:off x="234748" y="718558"/>
            <a:ext cx="8832279" cy="43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N. N. Hari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et al.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"Standards-Compliant Zero Trust Framework-Based Software-Defined Perimeter (SDP) for Securing Residential IoT Networks,"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IEEE Transactions on Consumer Electronics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vol. 72, no. 1, pp. 1312–1327, Feb. 2026</a:t>
            </a:r>
            <a:endParaRPr sz="1100" b="0" i="0"/>
          </a:p>
        </p:txBody>
      </p:sp>
      <p:graphicFrame>
        <p:nvGraphicFramePr>
          <p:cNvPr id="1657787439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394801" y="1258576"/>
          <a:ext cx="8512174" cy="541845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608580"/>
                <a:gridCol w="1986280"/>
                <a:gridCol w="1896110"/>
                <a:gridCol w="2021204"/>
              </a:tblGrid>
              <a:tr h="608965">
                <a:tc>
                  <a:txBody>
                    <a:bodyPr/>
                    <a:p>
                      <a:pPr marL="807720" marR="316865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84505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45134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81025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281805">
                <a:tc>
                  <a:txBody>
                    <a:bodyPr/>
                    <a:p>
                      <a:pPr marL="542925" marR="8445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MUD-to-ACL Translation: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Fetches MUD JSON profiles via DHCP Option 161/162 or LLDP, verifies digital signatures, and automatically parses allowed endpoints into per-device firewall chains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6700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Ephemeral Overlay Tunnels: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Instantiates dynamic, per-session WireGuard encrypted tunnels bound strictly to validated flows</a:t>
                      </a:r>
                      <a:r>
                        <a:rPr sz="1200" b="0" spc="-9">
                          <a:solidFill>
                            <a:srgbClr val="30303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67004" indent="-32448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Two-Stage Inter-Device Validation: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Intercepts lateral traffic, checking MUD permissions in Stage 1 and evaluating real-time session posture/SPA context in Sta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 2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0223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Ultra-Compact Model: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Stage 2 footprint is only 675 kB with 19 ms detection time and ~3-second mobile alert latency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53034" indent="-32448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Modular Species Adaptability: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Two-stage setup allows adapting to new wildlife species by retraining Stage 2 only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53034" indent="-32448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Redundant Alert Channels: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Pushes SMS, Push notifications, local audio alarms, and home automation voice alerts to prevent network failure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542925" algn="l"/>
                        </a:tabLst>
                        <a:defRPr/>
                      </a:pP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0096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Loss of Color Details: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Preprocessing converts input frames to 100x100 grayscale before Stage 2 classification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00964" indent="-324484">
                        <a:lnSpc>
                          <a:spcPct val="100000"/>
                        </a:lnSpc>
                        <a:spcBef>
                          <a:spcPts val="249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Cloud &amp; Network Dependency: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Delivering SMS/Push alerts relies on cellular connectivity and AWS SNS cloud services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spc="-9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00964" indent="-324484">
                        <a:lnSpc>
                          <a:spcPct val="100000"/>
                        </a:lnSpc>
                        <a:spcBef>
                          <a:spcPts val="249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Synthetic Ratio: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Relies heavily on augmented images (8,306 generated images out of 12,737 total) due to limited raw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8986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Proposes 'WildlifeNet' to protect communities from dangerous wildlife encounters (e.g., coyotes)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89864" indent="-32448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Mechanism: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Pairs MobileNet SSD object detection with a compact custom CNN classifier on low-cost Raspberry Pi 4 hardware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4414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Delivers rapid mobile notifications within 3 seconds and utilizes recipient feedback for ongoing model optimization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069444" name="object 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  <a:defRPr/>
            </a:pPr>
            <a:fld id="{81D60167-4931-47E6-BA6A-407CBD079E47}" type="slidenum">
              <a:rPr spc="-25"/>
              <a:t>13</a:t>
            </a:fld>
            <a:endParaRPr spc="-25"/>
          </a:p>
        </p:txBody>
      </p:sp>
      <p:sp>
        <p:nvSpPr>
          <p:cNvPr id="2080002629" name="object 6"/>
          <p:cNvSpPr txBox="1"/>
          <p:nvPr/>
        </p:nvSpPr>
        <p:spPr bwMode="auto">
          <a:xfrm>
            <a:off x="838200" y="6509553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7130560" name="object 7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140136499" name="object 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494393151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601072108" name="object 3"/>
          <p:cNvSpPr txBox="1"/>
          <p:nvPr/>
        </p:nvSpPr>
        <p:spPr bwMode="auto">
          <a:xfrm>
            <a:off x="234748" y="718558"/>
            <a:ext cx="8869214" cy="43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S. M. Zoha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ib, S. M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 Sajjad, Z. Iqbal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M.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Yousaf, M. Haseeb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and Z. Muhammad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"Zero Trust VPN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(ZT-VPN): A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Systematic Literature Review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and Cyber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security Framework for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Hybrid and Remote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Work," </a:t>
            </a:r>
            <a:r>
              <a:rPr sz="1400" b="0" i="1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Information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2024.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1342112267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402431" y="1441306"/>
          <a:ext cx="8509634" cy="470026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545715"/>
                <a:gridCol w="1949450"/>
                <a:gridCol w="1972310"/>
                <a:gridCol w="2042158"/>
              </a:tblGrid>
              <a:tr h="608965">
                <a:tc>
                  <a:txBody>
                    <a:bodyPr/>
                    <a:p>
                      <a:pPr marL="776605" marR="285750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66725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83870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91820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091304">
                <a:tc>
                  <a:txBody>
                    <a:bodyPr/>
                    <a:p>
                      <a:pPr marL="542925" marR="9525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 Trust Integration: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Merges ZTNA principles with traditional VPN infrastructure.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95249" indent="-32448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Three-Tier Enforcement: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Utilizes Policy, Identity, and Security Enforcement Points (PEP, IEP, SEP)</a:t>
                      </a:r>
                      <a:r>
                        <a:rPr sz="1200" b="0" spc="-9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0096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Multi-Layered Verification: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Combines continuous identity/device checks with SASE, SD-WAN, and encrypted tunneling.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00964" indent="-32448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Adaptive Risk Assessment: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Evaluates real-time contextual data over static single-point logins.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0033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Prevents Lateral Movement: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Eliminates implicit trust via continuous posture checks.</a:t>
                      </a:r>
                      <a:endParaRPr sz="1200" b="0" spc="-9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1938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Enhanced Threat Protection: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Secures remote access and prevents data leakage.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19379" indent="-32448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Optimization: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Resolves enterprise VPN latency and scalability bottlenecks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119379" indent="-32448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Broad Framework Coverage: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Bridges legacy access systems with modern cloud security architectures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1811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Deployment Complexity: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Requires reconfiguring legacy systems and complex ZTNA policies.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9080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Resource Overhead: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Continuous checks increase computational and authenticationload.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90804" indent="-324484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Identity Infrastructure Reliance: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Depends heavily on external IdPs and device management tools.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8636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Resolves traditional enterprise VPN latency and security flaws for remote/hybrid work.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1747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Mechanism: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Combines ZTNA, SASE, and enforcement points (PEP, IEP, SEP) for continuous verification.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Delivers least-privilege access, better performance, and enhanced data privacy.</a:t>
                      </a:r>
                      <a:endParaRPr sz="1200" b="0">
                        <a:solidFill>
                          <a:srgbClr val="30303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256489" name="object 5"/>
          <p:cNvSpPr txBox="1"/>
          <p:nvPr/>
        </p:nvSpPr>
        <p:spPr bwMode="auto">
          <a:xfrm>
            <a:off x="8314500" y="6535234"/>
            <a:ext cx="1778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sz="1200" b="1" spc="-25">
                <a:solidFill>
                  <a:srgbClr val="375523"/>
                </a:solidFill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47910108" name="object 6"/>
          <p:cNvSpPr txBox="1"/>
          <p:nvPr/>
        </p:nvSpPr>
        <p:spPr bwMode="auto">
          <a:xfrm>
            <a:off x="838200" y="6581784"/>
            <a:ext cx="124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812599272" name="object 7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136512" rIns="0" bIns="0" rtlCol="0">
            <a:spAutoFit/>
          </a:bodyPr>
          <a:lstStyle/>
          <a:p>
            <a:pPr marL="198120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27118729" name="object 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136512" rIns="0" bIns="0" rtlCol="0">
            <a:spAutoFit/>
          </a:bodyPr>
          <a:lstStyle/>
          <a:p>
            <a:pPr marL="198120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85671202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89332896" name="object 3"/>
          <p:cNvSpPr txBox="1"/>
          <p:nvPr/>
        </p:nvSpPr>
        <p:spPr bwMode="auto">
          <a:xfrm>
            <a:off x="319370" y="631459"/>
            <a:ext cx="8498989" cy="43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D. N.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Jha, G. Lenton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J. Asker, D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 Blundell, M. Higgins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, and D. C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 H. Wallom (2023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). "A Run-Time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Framework for Ensuring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Zero-Trust State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of Client’s Machines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in Cloud Environment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."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783396448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339239" y="1285547"/>
          <a:ext cx="8537574" cy="504126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722245"/>
                <a:gridCol w="2022475"/>
                <a:gridCol w="1835150"/>
                <a:gridCol w="1957704"/>
              </a:tblGrid>
              <a:tr h="579120">
                <a:tc>
                  <a:txBody>
                    <a:bodyPr/>
                    <a:p>
                      <a:pPr marL="869950" marR="37401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02920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15290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549910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462145">
                <a:tc>
                  <a:txBody>
                    <a:bodyPr/>
                    <a:p>
                      <a:pPr marL="542925" marR="12446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Extended IMA Monitoring: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Captures system/process metrics in real time via memory buffers and file hashing.</a:t>
                      </a:r>
                      <a:endParaRPr sz="1200" b="0" spc="-9">
                        <a:latin typeface="Times New Roman"/>
                        <a:cs typeface="Times New Roman"/>
                      </a:endParaRPr>
                    </a:p>
                    <a:p>
                      <a:pPr marL="542925" marR="90804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Adaptive Verification Lists: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Filters critical directories using 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Include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Exclude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and 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Allow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lists to optimize data processing.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90804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TPM Chain of Trust: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Extends PCR registers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pcrextend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to build digests and signs measurement batches.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90804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Three-Phase Verification: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Validates machine identity, cryptographic signatures, and file hash matches sequentially.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290" marR="1219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Internal Threat Detection: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Catches unauthorized administrative alterations and internal attacks bypassing firewalls.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289" marR="121919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89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Tamper-Proof Integrity: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Uses cryptographic chains to prevent log manipulation or state rollback.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289" marR="121919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89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&amp; Scalable: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Processes machine state within 35.6s for up to 128 concurrent clients.</a:t>
                      </a:r>
                      <a:endParaRPr sz="1200" b="0" spc="-9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4795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Irrecoverable Locking: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Cryptographic failures lock client machines permanently into an 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Untrusted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state.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47954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Virtual TPM Vulnerability: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SWTPMs in public clouds lack physical hardware security unless shielded by SGX.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14999"/>
                        </a:lnSpc>
                        <a:tabLst>
                          <a:tab pos="542925" algn="l"/>
                        </a:tabLst>
                        <a:defRPr/>
                      </a:pP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7937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Zero-Trust State Validation: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Proposes the TPC framework to continuously track cloud machine integrity at run-time.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79374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Distributed Setup: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Pairs client-side agents (Kernel, Trust Agent, TPM) with a centralized Verification Cluster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542925" marR="79374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Cloud Safeguard: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Reduces dwell time by detecting run-time vulnerabilities across cloud VMs and containers.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 spc="-29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  <p:sp>
        <p:nvSpPr>
          <p:cNvPr id="965318387" name="Slide Number Placeholder 8"/>
          <p:cNvSpPr>
            <a:spLocks noGrp="1"/>
          </p:cNvSpPr>
          <p:nvPr>
            <p:ph type="sldNum" sz="quarter" idx="7"/>
          </p:nvPr>
        </p:nvSpPr>
        <p:spPr bwMode="auto"/>
        <p:txBody>
          <a:bodyPr/>
          <a:lstStyle/>
          <a:p>
            <a:pPr marL="114300">
              <a:lnSpc>
                <a:spcPts val="1410"/>
              </a:lnSpc>
              <a:defRPr/>
            </a:pPr>
            <a:fld id="{81D60167-4931-47E6-BA6A-407CBD079E47}" type="slidenum">
              <a:rPr lang="en-IN" spc="-50"/>
              <a:t>14</a:t>
            </a:fld>
            <a:endParaRPr lang="en-IN" spc="-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016051" name="object 5"/>
          <p:cNvSpPr txBox="1"/>
          <p:nvPr/>
        </p:nvSpPr>
        <p:spPr bwMode="auto">
          <a:xfrm>
            <a:off x="762000" y="6607234"/>
            <a:ext cx="11327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227282233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380422263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551699362" name="object 8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  <a:defRPr/>
            </a:pPr>
            <a:fld id="{81D60167-4931-47E6-BA6A-407CBD079E47}" type="slidenum">
              <a:rPr spc="-25"/>
              <a:t>24</a:t>
            </a:fld>
            <a:endParaRPr spc="-25"/>
          </a:p>
        </p:txBody>
      </p:sp>
      <p:sp>
        <p:nvSpPr>
          <p:cNvPr id="99956016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  <a:defRPr/>
            </a:pPr>
            <a:r>
              <a:rPr spc="-35"/>
              <a:t>LITERATURE</a:t>
            </a:r>
            <a:r>
              <a:rPr spc="-195"/>
              <a:t> </a:t>
            </a:r>
            <a:r>
              <a:rPr spc="-10"/>
              <a:t>SURVEY</a:t>
            </a:r>
            <a:endParaRPr/>
          </a:p>
        </p:txBody>
      </p:sp>
      <p:sp>
        <p:nvSpPr>
          <p:cNvPr id="948717704" name="object 3"/>
          <p:cNvSpPr txBox="1"/>
          <p:nvPr/>
        </p:nvSpPr>
        <p:spPr bwMode="auto">
          <a:xfrm>
            <a:off x="546265" y="659575"/>
            <a:ext cx="8205639" cy="469623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229"/>
              </a:spcBef>
              <a:defRPr/>
            </a:pP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K. A. Ab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uhasel (2023). "A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Zero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-Trust Network-Based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Access Control Scheme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for Sustainable and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 Resilient Industry 5.0</a:t>
            </a:r>
            <a:r>
              <a:rPr sz="1400" b="0" i="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</a:rPr>
              <a:t>."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43314154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253876" y="1244559"/>
          <a:ext cx="8623934" cy="51790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917190"/>
                <a:gridCol w="2235835"/>
                <a:gridCol w="1807209"/>
                <a:gridCol w="1663700"/>
              </a:tblGrid>
              <a:tr h="579120">
                <a:tc>
                  <a:txBody>
                    <a:bodyPr/>
                    <a:p>
                      <a:pPr marL="967105" marR="47117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609600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00685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02590">
                        <a:lnSpc>
                          <a:spcPct val="100000"/>
                        </a:lnSpc>
                        <a:spcBef>
                          <a:spcPts val="235"/>
                        </a:spcBef>
                        <a:defRPr/>
                      </a:pPr>
                      <a:r>
                        <a:rPr sz="16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599940">
                <a:tc>
                  <a:txBody>
                    <a:bodyPr/>
                    <a:p>
                      <a:pPr marL="542925" marR="46799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Pi,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sensor, ultrasonic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sensor,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camera together.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39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YOLOv5</a:t>
                      </a:r>
                      <a:r>
                        <a:rPr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detection.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90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resizing,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normalization,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removal.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19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Processes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locally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the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support.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0386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buzzer,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LED,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LCD.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0416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spc="-1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DCSASS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16,853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 videos.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290" indent="-3200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.High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accuracy:</a:t>
                      </a:r>
                      <a:r>
                        <a:rPr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96.8%.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indent="-320040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detection: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74015">
                        <a:lnSpc>
                          <a:spcPct val="114999"/>
                        </a:lnSpc>
                        <a:defRPr/>
                      </a:pPr>
                      <a:r>
                        <a:rPr sz="1200" spc="-10">
                          <a:latin typeface="Times New Roman"/>
                          <a:cs typeface="Times New Roman"/>
                        </a:rPr>
                        <a:t>0.15-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 response time.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5463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under different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lighting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sz="1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conditions.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244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 scalable system.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898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independently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cloud.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6383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Processing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speed decreases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0.82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FPS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heavy computation.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473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humans</a:t>
                      </a:r>
                      <a:r>
                        <a:rPr sz="12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objects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less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accurate</a:t>
                      </a:r>
                      <a:r>
                        <a:rPr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complex backgrounds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changing</a:t>
                      </a:r>
                      <a:r>
                        <a:rPr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lighting.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37782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Char char="●"/>
                        <a:tabLst>
                          <a:tab pos="542925" algn="l"/>
                          <a:tab pos="580390" algn="l"/>
                        </a:tabLst>
                        <a:defRPr/>
                      </a:pPr>
                      <a:r>
                        <a:rPr sz="120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low-cost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Raspberry Pi-based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surveillance system.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60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YOLOv5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multiple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detect humans,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vehicles,</a:t>
                      </a:r>
                      <a:r>
                        <a:rPr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animals.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716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fast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accurate real-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alerts.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966130" name="object 5"/>
          <p:cNvSpPr txBox="1"/>
          <p:nvPr/>
        </p:nvSpPr>
        <p:spPr bwMode="auto">
          <a:xfrm>
            <a:off x="761999" y="6607233"/>
            <a:ext cx="1132794" cy="17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1409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4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4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4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369417744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161961" rIns="0" bIns="0" rtlCol="0">
            <a:spAutoFit/>
          </a:bodyPr>
          <a:lstStyle/>
          <a:p>
            <a:pPr marL="12699">
              <a:lnSpc>
                <a:spcPts val="1409"/>
              </a:lnSpc>
              <a:defRPr/>
            </a:pPr>
            <a:r>
              <a:rPr lang="en-US"/>
              <a:t>CCD415 Project Phase I</a:t>
            </a:r>
            <a:endParaRPr spc="-49"/>
          </a:p>
        </p:txBody>
      </p:sp>
      <p:sp>
        <p:nvSpPr>
          <p:cNvPr id="1266883715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161961" rIns="0" bIns="0" rtlCol="0">
            <a:spAutoFit/>
          </a:bodyPr>
          <a:lstStyle/>
          <a:p>
            <a:pPr marL="12699">
              <a:lnSpc>
                <a:spcPts val="1409"/>
              </a:lnSpc>
              <a:defRPr/>
            </a:pPr>
            <a:r>
              <a:rPr spc="-9"/>
              <a:t>2023-</a:t>
            </a:r>
            <a:r>
              <a:rPr/>
              <a:t>2027</a:t>
            </a:r>
            <a:r>
              <a:rPr spc="-4"/>
              <a:t> </a:t>
            </a:r>
            <a:r>
              <a:rPr spc="-9"/>
              <a:t>Batch</a:t>
            </a:r>
            <a:endParaRPr/>
          </a:p>
        </p:txBody>
      </p:sp>
      <p:sp>
        <p:nvSpPr>
          <p:cNvPr id="741191074" name="object 8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161961" rIns="0" bIns="0" rtlCol="0">
            <a:spAutoFit/>
          </a:bodyPr>
          <a:lstStyle/>
          <a:p>
            <a:pPr marL="87629">
              <a:lnSpc>
                <a:spcPts val="1409"/>
              </a:lnSpc>
              <a:defRPr/>
            </a:pPr>
            <a:fld id="{1E87ACAE-B231-AE9D-B77E-BF710C6F48A9}" type="slidenum">
              <a:rPr spc="-24"/>
              <a:t>14</a:t>
            </a:fld>
            <a:endParaRPr spc="-24"/>
          </a:p>
        </p:txBody>
      </p:sp>
      <p:sp>
        <p:nvSpPr>
          <p:cNvPr id="1348935472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356234">
              <a:lnSpc>
                <a:spcPct val="100000"/>
              </a:lnSpc>
              <a:spcBef>
                <a:spcPts val="99"/>
              </a:spcBef>
              <a:defRPr/>
            </a:pPr>
            <a:r>
              <a:rPr spc="-34"/>
              <a:t>LITERATURE</a:t>
            </a:r>
            <a:r>
              <a:rPr spc="-194"/>
              <a:t> </a:t>
            </a:r>
            <a:r>
              <a:rPr spc="-9"/>
              <a:t>SURVEY</a:t>
            </a:r>
            <a:endParaRPr/>
          </a:p>
        </p:txBody>
      </p:sp>
      <p:sp>
        <p:nvSpPr>
          <p:cNvPr id="1503532362" name="object 3"/>
          <p:cNvSpPr txBox="1"/>
          <p:nvPr/>
        </p:nvSpPr>
        <p:spPr bwMode="auto">
          <a:xfrm>
            <a:off x="546265" y="659575"/>
            <a:ext cx="8204199" cy="481329"/>
          </a:xfrm>
          <a:prstGeom prst="rect">
            <a:avLst/>
          </a:prstGeom>
        </p:spPr>
        <p:txBody>
          <a:bodyPr vert="horz" wrap="square" lIns="0" tIns="42543" rIns="0" bIns="0" rtlCol="0">
            <a:spAutoFit/>
          </a:bodyPr>
          <a:lstStyle/>
          <a:p>
            <a:pPr marL="298449" indent="-285750">
              <a:lnSpc>
                <a:spcPct val="100000"/>
              </a:lnSpc>
              <a:spcBef>
                <a:spcPts val="333"/>
              </a:spcBef>
              <a:buChar char="•"/>
              <a:tabLst>
                <a:tab pos="298449" algn="l"/>
              </a:tabLst>
              <a:defRPr/>
            </a:pPr>
            <a:r>
              <a:rPr sz="1300">
                <a:latin typeface="Times New Roman"/>
                <a:cs typeface="Times New Roman"/>
              </a:rPr>
              <a:t>AI-Based</a:t>
            </a:r>
            <a:r>
              <a:rPr sz="1300" spc="-6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Smart</a:t>
            </a:r>
            <a:r>
              <a:rPr sz="1300" spc="-24">
                <a:latin typeface="Times New Roman"/>
                <a:cs typeface="Times New Roman"/>
              </a:rPr>
              <a:t> </a:t>
            </a:r>
            <a:r>
              <a:rPr sz="1300" spc="-9">
                <a:latin typeface="Times New Roman"/>
                <a:cs typeface="Times New Roman"/>
              </a:rPr>
              <a:t>Surveillance</a:t>
            </a:r>
            <a:r>
              <a:rPr sz="1300" spc="-1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System</a:t>
            </a:r>
            <a:r>
              <a:rPr sz="1300" spc="-2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Using</a:t>
            </a:r>
            <a:r>
              <a:rPr sz="1300" spc="-1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Raspberry</a:t>
            </a:r>
            <a:r>
              <a:rPr sz="1300" spc="-1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Pi</a:t>
            </a:r>
            <a:r>
              <a:rPr sz="1300" spc="-2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and</a:t>
            </a:r>
            <a:r>
              <a:rPr sz="1300" spc="-1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Embedded</a:t>
            </a:r>
            <a:r>
              <a:rPr sz="1300" spc="-3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Vision</a:t>
            </a:r>
            <a:r>
              <a:rPr sz="1300" spc="28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B.</a:t>
            </a:r>
            <a:r>
              <a:rPr sz="1300" spc="-1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Girirajan,</a:t>
            </a:r>
            <a:r>
              <a:rPr sz="1300" spc="-1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S.</a:t>
            </a:r>
            <a:r>
              <a:rPr sz="1300" spc="-1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Prabu,</a:t>
            </a:r>
            <a:r>
              <a:rPr sz="1300" spc="-39">
                <a:latin typeface="Times New Roman"/>
                <a:cs typeface="Times New Roman"/>
              </a:rPr>
              <a:t> </a:t>
            </a:r>
            <a:r>
              <a:rPr sz="1300" spc="-90">
                <a:latin typeface="Times New Roman"/>
                <a:cs typeface="Times New Roman"/>
              </a:rPr>
              <a:t>V.</a:t>
            </a:r>
            <a:r>
              <a:rPr sz="1300" spc="-24">
                <a:latin typeface="Times New Roman"/>
                <a:cs typeface="Times New Roman"/>
              </a:rPr>
              <a:t> </a:t>
            </a:r>
            <a:r>
              <a:rPr sz="1300" spc="-54">
                <a:latin typeface="Times New Roman"/>
                <a:cs typeface="Times New Roman"/>
              </a:rPr>
              <a:t>T.</a:t>
            </a:r>
            <a:r>
              <a:rPr sz="1300" spc="-24">
                <a:latin typeface="Times New Roman"/>
                <a:cs typeface="Times New Roman"/>
              </a:rPr>
              <a:t> </a:t>
            </a:r>
            <a:r>
              <a:rPr sz="1300" spc="-9">
                <a:latin typeface="Times New Roman"/>
                <a:cs typeface="Times New Roman"/>
              </a:rPr>
              <a:t>Thangam,</a:t>
            </a:r>
            <a:endParaRPr sz="1300">
              <a:latin typeface="Times New Roman"/>
              <a:cs typeface="Times New Roman"/>
            </a:endParaRPr>
          </a:p>
          <a:p>
            <a:pPr marL="298449">
              <a:lnSpc>
                <a:spcPct val="100000"/>
              </a:lnSpc>
              <a:spcBef>
                <a:spcPts val="228"/>
              </a:spcBef>
              <a:defRPr/>
            </a:pPr>
            <a:r>
              <a:rPr sz="1300">
                <a:latin typeface="Times New Roman"/>
                <a:cs typeface="Times New Roman"/>
              </a:rPr>
              <a:t>M.</a:t>
            </a:r>
            <a:r>
              <a:rPr sz="1300" spc="-29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Sugumaran,</a:t>
            </a:r>
            <a:r>
              <a:rPr sz="1300" spc="-9">
                <a:latin typeface="Times New Roman"/>
                <a:cs typeface="Times New Roman"/>
              </a:rPr>
              <a:t> </a:t>
            </a:r>
            <a:r>
              <a:rPr sz="1300" spc="-79">
                <a:latin typeface="Times New Roman"/>
                <a:cs typeface="Times New Roman"/>
              </a:rPr>
              <a:t>P.</a:t>
            </a:r>
            <a:r>
              <a:rPr sz="1300" spc="-24">
                <a:latin typeface="Times New Roman"/>
                <a:cs typeface="Times New Roman"/>
              </a:rPr>
              <a:t> </a:t>
            </a:r>
            <a:r>
              <a:rPr sz="1300" spc="-9">
                <a:latin typeface="Times New Roman"/>
                <a:cs typeface="Times New Roman"/>
              </a:rPr>
              <a:t>Venkateshwaran,</a:t>
            </a:r>
            <a:r>
              <a:rPr sz="1300" spc="-74">
                <a:latin typeface="Times New Roman"/>
                <a:cs typeface="Times New Roman"/>
              </a:rPr>
              <a:t> </a:t>
            </a:r>
            <a:r>
              <a:rPr sz="1300">
                <a:latin typeface="Times New Roman"/>
                <a:cs typeface="Times New Roman"/>
              </a:rPr>
              <a:t>A.</a:t>
            </a:r>
            <a:r>
              <a:rPr sz="1300" spc="-9">
                <a:latin typeface="Times New Roman"/>
                <a:cs typeface="Times New Roman"/>
              </a:rPr>
              <a:t> </a:t>
            </a:r>
            <a:r>
              <a:rPr sz="1300" spc="-19">
                <a:latin typeface="Times New Roman"/>
                <a:cs typeface="Times New Roman"/>
              </a:rPr>
              <a:t>Kaur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178537029" name="object 4"/>
          <p:cNvGraphicFramePr>
            <a:graphicFrameLocks xmlns:a="http://schemas.openxmlformats.org/drawingml/2006/main"/>
          </p:cNvGraphicFramePr>
          <p:nvPr/>
        </p:nvGraphicFramePr>
        <p:xfrm rot="0">
          <a:off x="253875" y="1244558"/>
          <a:ext cx="8623933" cy="51790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2917189"/>
                <a:gridCol w="2235834"/>
                <a:gridCol w="1807209"/>
                <a:gridCol w="1663699"/>
              </a:tblGrid>
              <a:tr h="579120">
                <a:tc>
                  <a:txBody>
                    <a:bodyPr/>
                    <a:p>
                      <a:pPr marL="967104" marR="471169" indent="-488949">
                        <a:lnSpc>
                          <a:spcPct val="100000"/>
                        </a:lnSpc>
                        <a:spcBef>
                          <a:spcPts val="234"/>
                        </a:spcBef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4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4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609599">
                        <a:lnSpc>
                          <a:spcPct val="100000"/>
                        </a:lnSpc>
                        <a:spcBef>
                          <a:spcPts val="234"/>
                        </a:spcBef>
                        <a:defRPr/>
                      </a:pPr>
                      <a:r>
                        <a:rPr sz="1600" b="1" spc="-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00684">
                        <a:lnSpc>
                          <a:spcPct val="100000"/>
                        </a:lnSpc>
                        <a:spcBef>
                          <a:spcPts val="234"/>
                        </a:spcBef>
                        <a:defRPr/>
                      </a:pPr>
                      <a:r>
                        <a:rPr sz="1600" b="1" spc="-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p>
                      <a:pPr marL="402589">
                        <a:lnSpc>
                          <a:spcPct val="100000"/>
                        </a:lnSpc>
                        <a:spcBef>
                          <a:spcPts val="234"/>
                        </a:spcBef>
                        <a:defRPr/>
                      </a:pPr>
                      <a:r>
                        <a:rPr sz="1600" b="1" spc="-9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12699" algn="ctr">
                      <a:solidFill>
                        <a:srgbClr val="FFFFFF"/>
                      </a:solidFill>
                    </a:lnT>
                    <a:lnB w="38099" algn="ctr">
                      <a:solidFill>
                        <a:srgbClr val="FFFFFF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4599940">
                <a:tc>
                  <a:txBody>
                    <a:bodyPr/>
                    <a:p>
                      <a:pPr marL="542925" marR="173989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DL-Assisted Access Control: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Uses deep learning to evaluate access conditions over industrial controllers.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73989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Computation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$SMI_d$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Calculates device metrics via access limits, active controllers, and detected threats.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79069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Variation Detection: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Evaluates dual input sequences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$\exists_1, \exists_2$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to track variations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$V$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against previous outputs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$PPO^*$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79069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Schedule Verification: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Dynamically grants access or reallocates controllers upon detecting anomalies or interrupts.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44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289" indent="-320040">
                        <a:lnSpc>
                          <a:spcPct val="100000"/>
                        </a:lnSpc>
                        <a:spcBef>
                          <a:spcPts val="214"/>
                        </a:spcBef>
                        <a:buFont typeface="Arial MT"/>
                        <a:buChar char="●"/>
                        <a:tabLst>
                          <a:tab pos="542289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Reduced Failures: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Minimizes controller denials, system failures, and false positives.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254634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Consistency: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Improves production consistency across human-centric Industry 5.0 systems.</a:t>
                      </a: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background</a:t>
                      </a:r>
                      <a:r>
                        <a:rPr sz="1200" b="0" spc="-59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spc="-9">
                          <a:latin typeface="Times New Roman"/>
                          <a:ea typeface="Times New Roman"/>
                          <a:cs typeface="Times New Roman"/>
                        </a:rPr>
                        <a:t>conditions.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389889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Minimizes Interrupts: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Mitigates adversary interruptions to maintain continuous operational schedules.</a:t>
                      </a:r>
                      <a:endParaRPr sz="1200" b="0" spc="-19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14999"/>
                        </a:lnSpc>
                        <a:tabLst>
                          <a:tab pos="542925" algn="l"/>
                        </a:tabLst>
                        <a:defRPr/>
                      </a:pPr>
                      <a:r>
                        <a:rPr sz="1200" b="0" spc="-9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31749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63829" indent="-320674">
                        <a:lnSpc>
                          <a:spcPct val="114999"/>
                        </a:lnSpc>
                        <a:spcBef>
                          <a:spcPts val="34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Concurrency Limits: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Facing constraints when processing simultaneous high-concurrency access requests.</a:t>
                      </a:r>
                      <a:endParaRPr sz="1200" b="0" i="0" u="none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542925" marR="163829" indent="-320674">
                        <a:lnSpc>
                          <a:spcPct val="114999"/>
                        </a:lnSpc>
                        <a:spcBef>
                          <a:spcPts val="34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Dependency: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Relies heavily on precise historical production data (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$PPO^*$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for accurate anomaly detection.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44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p>
                      <a:pPr marL="542925" marR="106044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Zero-Trust Access Framework: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ZTN-ACS delivers deep learning-based security for Industry 5.0 operations.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  <a:p>
                      <a:pPr marL="542925" marR="177164" indent="-320674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Continuous Verification: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Monitors access requests against expected outputs to mitigate cyber threats.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0" marR="0" marT="4444" marB="0">
                    <a:lnL w="12699" algn="ctr">
                      <a:solidFill>
                        <a:srgbClr val="FFFFFF"/>
                      </a:solidFill>
                    </a:lnL>
                    <a:lnR w="12699" algn="ctr">
                      <a:solidFill>
                        <a:srgbClr val="FFFFFF"/>
                      </a:solidFill>
                    </a:lnR>
                    <a:lnT w="38099" algn="ctr">
                      <a:solidFill>
                        <a:srgbClr val="FFFFFF"/>
                      </a:solidFill>
                    </a:lnT>
                    <a:lnB w="12699" algn="ctr">
                      <a:solidFill>
                        <a:srgbClr val="FFFFFF"/>
                      </a:solidFill>
                    </a:lnB>
                    <a:solidFill>
                      <a:srgbClr val="F7D6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18005" name="object 4"/>
          <p:cNvSpPr txBox="1"/>
          <p:nvPr/>
        </p:nvSpPr>
        <p:spPr bwMode="auto">
          <a:xfrm>
            <a:off x="914400" y="6578165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777209491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814775302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932382853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38100">
              <a:lnSpc>
                <a:spcPts val="1410"/>
              </a:lnSpc>
              <a:defRPr/>
            </a:pPr>
            <a:fld id="{81D60167-4931-47E6-BA6A-407CBD079E47}" type="slidenum">
              <a:rPr spc="-25"/>
              <a:t>29</a:t>
            </a:fld>
            <a:endParaRPr spc="-25"/>
          </a:p>
        </p:txBody>
      </p:sp>
      <p:sp>
        <p:nvSpPr>
          <p:cNvPr id="14810418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106104" y="32355"/>
            <a:ext cx="7104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80"/>
              <a:t>COMPARATIVE</a:t>
            </a:r>
            <a:r>
              <a:rPr spc="-190"/>
              <a:t> </a:t>
            </a:r>
            <a:r>
              <a:rPr spc="-35"/>
              <a:t>ANALYSIS</a:t>
            </a:r>
            <a:endParaRPr/>
          </a:p>
        </p:txBody>
      </p:sp>
      <p:graphicFrame>
        <p:nvGraphicFramePr>
          <p:cNvPr id="2039823316" name="object 3"/>
          <p:cNvGraphicFramePr>
            <a:graphicFrameLocks xmlns:a="http://schemas.openxmlformats.org/drawingml/2006/main" noGrp="1"/>
          </p:cNvGraphicFramePr>
          <p:nvPr/>
        </p:nvGraphicFramePr>
        <p:xfrm rot="0">
          <a:off x="565023" y="698222"/>
          <a:ext cx="8256269" cy="57581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138555"/>
                <a:gridCol w="1478915"/>
                <a:gridCol w="1764029"/>
                <a:gridCol w="1473835"/>
                <a:gridCol w="2400935"/>
              </a:tblGrid>
              <a:tr h="914400">
                <a:tc>
                  <a:txBody>
                    <a:bodyPr/>
                    <a:p>
                      <a:pPr marL="168910" marR="161289" indent="-1270" algn="ctr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Paper/ Year/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394335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228600" marR="220979" indent="264160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Tool/ 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774065" marR="316229" indent="-450850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Observations/Key Findings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</a:tr>
              <a:tr h="118872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5">
                          <a:latin typeface="Times New Roman"/>
                          <a:cs typeface="Times New Roman"/>
                        </a:rPr>
                        <a:t>[2]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91440" marR="8636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1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Train a lightweight TCN using IoT/H-IoT DDoS traffic and deploy the optimized model directly on Raspberry Pi 4.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398780" marR="39243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Edge-based cybersecurity and local DDoS detection.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TCN, TFLite, INT8 quantization, XNNPACK and Raspberry Pi 4.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498475" marR="490855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detection accuracy with very low inference latency and relatively low power consumption.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  <a:tr h="82232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[3]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108585" marR="103505" indent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Fetches device MUD profiles via DHCP/LLDP and auto-generates firewall access rules.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Fetches manufacturer profiles via DHCP/LLDP and parses JSON definitions directly into per-device firewall rules.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448308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Authenticates before connecting to hide unauthorized IoT devices.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98425" marR="90805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Compact model size (675 kB), fast detection (19 ms), rapid alerts (~3 sec), multi-channel notifications (SMS/Push/Voice).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</a:tr>
              <a:tr h="100520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[1]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99695" marR="94615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1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an online laboratory as a practical case study for implementing ZTNA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92075" marR="84455" indent="-3175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1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Application/resource-level access rather than giving users unrestricted access to the entire network.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114300" marR="108585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Twingate, MFA, encryption and device-security policies.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112395" marR="10668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Demonstrates the practical use of ZTNA for remote educational laboratory access and highlights limitations of conventional VPN approaches.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  <a:tr h="82232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[4]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103505" marR="97790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1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Reviews existing remote-access/security technologies and proposes a Zero-Trust VPN framework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176530" marR="169545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Combines traditional VPN connectivity with Zero-Trust access control.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139700" marR="132080" indent="-1905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OpenVPN, SSL/TLS certificates, OTP, PEP, IEP and SEP.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257175" marR="249554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Provides more granular access by considering user identity, device health and authorization rather than providing broad network access after VPN authentication.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</a:tr>
              <a:tr h="100520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0">
                          <a:latin typeface="Times New Roman"/>
                          <a:cs typeface="Times New Roman"/>
                        </a:rPr>
                        <a:t>[5]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91440" marR="83820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Continuously monitors client-machine state and reports unexpected changes.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151130" marR="145415" indent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b="0" i="0" u="none" strike="noStrike" cap="none" spc="-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Runtime trust verification rather than relying only on authentication at the beginning of a session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marL="254000" marR="248285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-19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TPC, SWTPM and SGX-enabled SWTPM; tested using Azure and AWS.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Demonstrates runtime state monitoring and scalability testing; 128 concurrent clients were recognized within a maximum of 35.6 seconds.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836906" name="object 4"/>
          <p:cNvSpPr txBox="1"/>
          <p:nvPr/>
        </p:nvSpPr>
        <p:spPr bwMode="auto">
          <a:xfrm>
            <a:off x="762000" y="6578165"/>
            <a:ext cx="12783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707556174" name="object 5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465857516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610991176" name="object 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38100">
              <a:lnSpc>
                <a:spcPts val="1410"/>
              </a:lnSpc>
              <a:defRPr/>
            </a:pPr>
            <a:fld id="{81D60167-4931-47E6-BA6A-407CBD079E47}" type="slidenum">
              <a:rPr spc="-25"/>
              <a:t>30</a:t>
            </a:fld>
            <a:endParaRPr spc="-25"/>
          </a:p>
        </p:txBody>
      </p:sp>
      <p:sp>
        <p:nvSpPr>
          <p:cNvPr id="11724032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106104" y="32355"/>
            <a:ext cx="7104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80"/>
              <a:t>COMPARATIVE</a:t>
            </a:r>
            <a:r>
              <a:rPr spc="-190"/>
              <a:t> </a:t>
            </a:r>
            <a:r>
              <a:rPr spc="-35"/>
              <a:t>ANALYSIS</a:t>
            </a:r>
            <a:endParaRPr/>
          </a:p>
        </p:txBody>
      </p:sp>
      <p:graphicFrame>
        <p:nvGraphicFramePr>
          <p:cNvPr id="1232934457" name="object 3"/>
          <p:cNvGraphicFramePr>
            <a:graphicFrameLocks xmlns:a="http://schemas.openxmlformats.org/drawingml/2006/main" noGrp="1"/>
          </p:cNvGraphicFramePr>
          <p:nvPr/>
        </p:nvGraphicFramePr>
        <p:xfrm rot="0">
          <a:off x="365661" y="786826"/>
          <a:ext cx="8465182" cy="544195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123315"/>
                <a:gridCol w="1552574"/>
                <a:gridCol w="1816735"/>
                <a:gridCol w="1249679"/>
                <a:gridCol w="2722879"/>
              </a:tblGrid>
              <a:tr h="964565">
                <a:tc>
                  <a:txBody>
                    <a:bodyPr/>
                    <a:p>
                      <a:pPr marL="161289" marR="153670" indent="-1270" algn="ctr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Paper/ Year/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134620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421005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116839" marR="109220" indent="264160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Tool/ </a:t>
                      </a: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p>
                      <a:pPr marL="935355" marR="477520" indent="-450850">
                        <a:lnSpc>
                          <a:spcPct val="100000"/>
                        </a:lnSpc>
                        <a:spcBef>
                          <a:spcPts val="225"/>
                        </a:spcBef>
                        <a:defRPr/>
                      </a:pPr>
                      <a:r>
                        <a:rPr sz="18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Observations/Key Findings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70AD47"/>
                    </a:solidFill>
                  </a:tcPr>
                </a:tc>
              </a:tr>
              <a:tr h="82232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5">
                          <a:latin typeface="Times New Roman"/>
                          <a:cs typeface="Times New Roman"/>
                        </a:rPr>
                        <a:t>[7]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Continuous deep learning verification for industrial controllers.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Continuously verifies access requests using deep learning instead of relying on fixed perimeter trust.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Lightweight YOLOv5 / CNNs for edge detection.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Lower system failures, fewer access denials, reduced false positives, uninterrupted schedules.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  <a:tr h="100520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5">
                          <a:latin typeface="Times New Roman"/>
                          <a:cs typeface="Times New Roman"/>
                        </a:rPr>
                        <a:t>[6]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112395" marR="107314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Evaluates access conditions over industrial controllers via continuous deep learning-based security verification.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Evaluates access conditions continuously over industrial controllers using deep learning models.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 marL="97790" marR="91440" algn="ctr">
                        <a:lnSpc>
                          <a:spcPct val="100000"/>
                        </a:lnSpc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Evaluates real-time industrial controller requests against baseline metrics.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Minimizes controller denials, reduces system failures and false positives, and prevents adversary schedule interruptions.</a:t>
                      </a: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</a:tr>
              <a:tr h="1005205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  <a:tr h="822325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BF1E7"/>
                    </a:solidFill>
                  </a:tcPr>
                </a:tc>
              </a:tr>
              <a:tr h="822325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4E1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641087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31</a:t>
            </a:fld>
            <a:endParaRPr spc="-25"/>
          </a:p>
        </p:txBody>
      </p:sp>
      <p:sp>
        <p:nvSpPr>
          <p:cNvPr id="438108572" name="object 5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721521171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2033813232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2069312978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908119" y="408856"/>
            <a:ext cx="550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PROPOSED</a:t>
            </a:r>
            <a:r>
              <a:rPr spc="-200"/>
              <a:t> </a:t>
            </a:r>
            <a:r>
              <a:rPr spc="-10"/>
              <a:t>SYSTEM</a:t>
            </a:r>
            <a:endParaRPr/>
          </a:p>
        </p:txBody>
      </p:sp>
      <p:sp>
        <p:nvSpPr>
          <p:cNvPr id="1861689637" name="object 3"/>
          <p:cNvSpPr txBox="1"/>
          <p:nvPr/>
        </p:nvSpPr>
        <p:spPr bwMode="auto">
          <a:xfrm>
            <a:off x="376884" y="1117157"/>
            <a:ext cx="8249284" cy="4569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103" marR="553085" indent="-193040">
              <a:lnSpc>
                <a:spcPct val="101099"/>
              </a:lnSpc>
              <a:spcBef>
                <a:spcPts val="95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SECURE REMOTE NETWORK ACCESS USING TWIN GATE AND RASPBERRY PI – Develop a secure and cost-effective remote network access system using Raspberry Pi and Twingate ZTNA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521334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Implement Zero Trust security with identity verification, device authentication, and least-privilege access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5080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Use Raspberry Pi as a lightweight network connector to securely connect internal resources to the Twingate platform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107314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Provide secure remote access to authorized users without port forwarding, public IP addresses, or direct exposure of internal services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133350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Integrate the Twingate API with Python automation to discover and dynamically register network resources with minimal manual configuration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424815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Support centralized management, DNS aliasing, temporary access, service accounts, activity logging, and network monitoring for secure administration and maintenance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380379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32</a:t>
            </a:fld>
            <a:endParaRPr spc="-25"/>
          </a:p>
        </p:txBody>
      </p:sp>
      <p:sp>
        <p:nvSpPr>
          <p:cNvPr id="958316206" name="object 5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2040137352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997115309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27957768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815094" y="107104"/>
            <a:ext cx="5691505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46150" marR="5080" indent="-934085">
              <a:lnSpc>
                <a:spcPts val="4750"/>
              </a:lnSpc>
              <a:spcBef>
                <a:spcPts val="700"/>
              </a:spcBef>
              <a:defRPr/>
            </a:pPr>
            <a:r>
              <a:rPr spc="-10"/>
              <a:t>PROPOSED</a:t>
            </a:r>
            <a:r>
              <a:rPr spc="-200"/>
              <a:t> </a:t>
            </a:r>
            <a:r>
              <a:rPr spc="-10"/>
              <a:t>SYSTEM: </a:t>
            </a:r>
            <a:r>
              <a:rPr spc="80"/>
              <a:t>AD</a:t>
            </a:r>
            <a:r>
              <a:rPr spc="-480"/>
              <a:t>V</a:t>
            </a:r>
            <a:r>
              <a:rPr spc="80"/>
              <a:t>AN</a:t>
            </a:r>
            <a:r>
              <a:rPr spc="-250"/>
              <a:t>T</a:t>
            </a:r>
            <a:r>
              <a:rPr spc="80"/>
              <a:t>A</a:t>
            </a:r>
            <a:r>
              <a:rPr spc="75"/>
              <a:t>GES</a:t>
            </a:r>
            <a:endParaRPr/>
          </a:p>
        </p:txBody>
      </p:sp>
      <p:sp>
        <p:nvSpPr>
          <p:cNvPr id="1336705078" name="object 3"/>
          <p:cNvSpPr txBox="1"/>
          <p:nvPr/>
        </p:nvSpPr>
        <p:spPr bwMode="auto">
          <a:xfrm>
            <a:off x="368549" y="1423478"/>
            <a:ext cx="8362315" cy="36374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marR="1027430" indent="-194945">
              <a:lnSpc>
                <a:spcPct val="120000"/>
              </a:lnSpc>
              <a:spcBef>
                <a:spcPts val="100"/>
              </a:spcBef>
              <a:buChar char="•"/>
              <a:tabLst>
                <a:tab pos="2070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Provides secure remote network access using Zero Trust Network Access (ZTNA)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marR="234950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Eliminates the need for port forwarding, public IP addresses, and complex firewall configurations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marR="65405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Offers low-cost and energy-efficient deployment using Raspberry Pi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6375" indent="-192405">
              <a:lnSpc>
                <a:spcPct val="100000"/>
              </a:lnSpc>
              <a:spcBef>
                <a:spcPts val="143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Provides least-privilege access control so users can access only authorized resources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6375" indent="-192405">
              <a:lnSpc>
                <a:spcPct val="100000"/>
              </a:lnSpc>
              <a:spcBef>
                <a:spcPts val="1435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 spc="-10">
                <a:latin typeface="Times New Roman"/>
                <a:cs typeface="Times New Roman"/>
              </a:rPr>
              <a:t>Enables centralized management and monitoring through the Twingate platform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marR="802640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  <a:defRPr/>
            </a:pPr>
            <a:r>
              <a:rPr lang="en-US" sz="1800" spc="-10">
                <a:latin typeface="Times New Roman"/>
                <a:cs typeface="Times New Roman"/>
              </a:rPr>
              <a:t>Reduces manual configuration through Python-based API automation, improving scalability and efficiency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037977" name="object 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33</a:t>
            </a:fld>
            <a:endParaRPr spc="-25"/>
          </a:p>
        </p:txBody>
      </p:sp>
      <p:sp>
        <p:nvSpPr>
          <p:cNvPr id="380242350" name="object 7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003410172" name="object 8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017963078" name="object 9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64132452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486776" y="107104"/>
            <a:ext cx="634111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95400" marR="5080" indent="-1283335">
              <a:lnSpc>
                <a:spcPts val="4750"/>
              </a:lnSpc>
              <a:spcBef>
                <a:spcPts val="700"/>
              </a:spcBef>
              <a:defRPr/>
            </a:pPr>
            <a:r>
              <a:rPr spc="-10"/>
              <a:t>PROJECT</a:t>
            </a:r>
            <a:r>
              <a:rPr spc="-185"/>
              <a:t> </a:t>
            </a:r>
            <a:r>
              <a:rPr/>
              <a:t>PLANNING</a:t>
            </a:r>
            <a:r>
              <a:rPr spc="-110"/>
              <a:t> </a:t>
            </a:r>
            <a:r>
              <a:rPr spc="-50"/>
              <a:t>&amp; </a:t>
            </a:r>
            <a:r>
              <a:rPr spc="-10"/>
              <a:t>SCHEDULING</a:t>
            </a:r>
            <a:endParaRPr/>
          </a:p>
        </p:txBody>
      </p:sp>
      <p:sp>
        <p:nvSpPr>
          <p:cNvPr id="1404392761" name="object 3"/>
          <p:cNvSpPr txBox="1"/>
          <p:nvPr/>
        </p:nvSpPr>
        <p:spPr bwMode="auto">
          <a:xfrm>
            <a:off x="339575" y="1429724"/>
            <a:ext cx="3927475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defRPr/>
            </a:pPr>
            <a:r>
              <a:rPr sz="1950" b="1">
                <a:latin typeface="Times New Roman"/>
                <a:cs typeface="Times New Roman"/>
              </a:rPr>
              <a:t>Work</a:t>
            </a:r>
            <a:r>
              <a:rPr sz="1950" b="1" spc="-80">
                <a:latin typeface="Times New Roman"/>
                <a:cs typeface="Times New Roman"/>
              </a:rPr>
              <a:t> </a:t>
            </a:r>
            <a:r>
              <a:rPr sz="1950" b="1">
                <a:latin typeface="Times New Roman"/>
                <a:cs typeface="Times New Roman"/>
              </a:rPr>
              <a:t>Breakdown</a:t>
            </a:r>
            <a:r>
              <a:rPr sz="1950" b="1" spc="-65">
                <a:latin typeface="Times New Roman"/>
                <a:cs typeface="Times New Roman"/>
              </a:rPr>
              <a:t> </a:t>
            </a:r>
            <a:r>
              <a:rPr sz="1950" b="1">
                <a:latin typeface="Times New Roman"/>
                <a:cs typeface="Times New Roman"/>
              </a:rPr>
              <a:t>Structure</a:t>
            </a:r>
            <a:r>
              <a:rPr sz="1950" b="1" spc="-70">
                <a:latin typeface="Times New Roman"/>
                <a:cs typeface="Times New Roman"/>
              </a:rPr>
              <a:t> </a:t>
            </a:r>
            <a:r>
              <a:rPr sz="1950" b="1">
                <a:latin typeface="Times New Roman"/>
                <a:cs typeface="Times New Roman"/>
              </a:rPr>
              <a:t>(WBS)</a:t>
            </a:r>
            <a:r>
              <a:rPr sz="1950" b="1" spc="-65">
                <a:latin typeface="Times New Roman"/>
                <a:cs typeface="Times New Roman"/>
              </a:rPr>
              <a:t> </a:t>
            </a:r>
            <a:r>
              <a:rPr sz="1950" b="1" spc="-50">
                <a:latin typeface="Times New Roman"/>
                <a:cs typeface="Times New Roman"/>
              </a:rPr>
              <a:t>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66172026" name="object 5"/>
          <p:cNvSpPr txBox="1"/>
          <p:nvPr/>
        </p:nvSpPr>
        <p:spPr bwMode="auto">
          <a:xfrm>
            <a:off x="339575" y="1776986"/>
            <a:ext cx="8547100" cy="439607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05103" marR="6985" indent="-193040">
              <a:lnSpc>
                <a:spcPct val="111200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Requirement Analysis – Study the existing remote access methods, identify security limitations, and define project requirements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0574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System Design – Design the architecture integrating Raspberry Pi, Twingate, remote users, and internal network resources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0574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Raspberry Pi Setup – Install and configure the required operating system, networking components, and Twingate connector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5080" indent="-193040">
              <a:lnSpc>
                <a:spcPct val="111200"/>
              </a:lnSpc>
              <a:spcBef>
                <a:spcPts val="1005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IN" sz="1800">
                <a:latin typeface="Times New Roman"/>
                <a:cs typeface="Times New Roman"/>
              </a:rPr>
              <a:t>Twingate Configuration – Configure users, devices, resources, authentication, and access-control policies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103" marR="7620" indent="-193040">
              <a:lnSpc>
                <a:spcPct val="111200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Python Automation – Develop and integrate the Twingate API with Python for resource discovery and automated configuration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0574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Testing and Documentation – Test security, connectivity, access control, automation, and performance, then prepare the final documentation and project demonstration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71845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34</a:t>
            </a:fld>
            <a:endParaRPr spc="-25"/>
          </a:p>
        </p:txBody>
      </p:sp>
      <p:sp>
        <p:nvSpPr>
          <p:cNvPr id="1183556883" name="object 5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129483879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496798286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476480295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462768" y="370236"/>
            <a:ext cx="19881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2600" spc="-10">
                <a:solidFill>
                  <a:srgbClr val="000000"/>
                </a:solidFill>
              </a:rPr>
              <a:t>Methodology:</a:t>
            </a:r>
            <a:endParaRPr sz="2600"/>
          </a:p>
        </p:txBody>
      </p:sp>
      <p:sp>
        <p:nvSpPr>
          <p:cNvPr id="1390501922" name="object 3"/>
          <p:cNvSpPr txBox="1"/>
          <p:nvPr/>
        </p:nvSpPr>
        <p:spPr bwMode="auto">
          <a:xfrm>
            <a:off x="484335" y="1246232"/>
            <a:ext cx="8313420" cy="462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 marR="5715" indent="-2063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Design a Zero Trust architecture using Raspberry Pi as the network connector and Twingate for secure remote access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1651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Configure the Raspberry Pi and establish a secure connection with the Twingate platform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508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Configure users, devices, network resources, authentication, and least-privilege access policies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2286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Develop a Python-based automation module using the Twingate API for resource discovery and management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2286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Test the system for connectivity, security, access control, performance, and reliability, followed by documentation and evaluation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635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  <a:tab pos="1273810" algn="l"/>
                <a:tab pos="2237105" algn="l"/>
                <a:tab pos="3074670" algn="l"/>
                <a:tab pos="3620770" algn="l"/>
                <a:tab pos="4383405" algn="l"/>
                <a:tab pos="5779770" algn="l"/>
                <a:tab pos="6199505" algn="l"/>
                <a:tab pos="7373620" algn="l"/>
              </a:tabLst>
              <a:defRPr/>
            </a:pPr>
            <a:r>
              <a:rPr lang="en-US" sz="1800" spc="-10">
                <a:latin typeface="Times New Roman"/>
                <a:cs typeface="Times New Roman"/>
              </a:rPr>
              <a:t>Implement DNS aliasing and temporary access permissions for flexible and controlled resource access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218440" marR="26034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  <a:defRPr/>
            </a:pPr>
            <a:r>
              <a:rPr lang="en-US" sz="1800">
                <a:latin typeface="Times New Roman"/>
                <a:cs typeface="Times New Roman"/>
              </a:rPr>
              <a:t>Enable activity logging and network monitoring to track access, identify issues, and support secure administration</a:t>
            </a:r>
            <a:r>
              <a:rPr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493946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1486776" y="107104"/>
            <a:ext cx="634111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95400" marR="5080" indent="-1283335">
              <a:lnSpc>
                <a:spcPts val="4750"/>
              </a:lnSpc>
              <a:spcBef>
                <a:spcPts val="700"/>
              </a:spcBef>
              <a:defRPr/>
            </a:pPr>
            <a:r>
              <a:rPr spc="-10"/>
              <a:t>PROJECT</a:t>
            </a:r>
            <a:r>
              <a:rPr spc="-185"/>
              <a:t> </a:t>
            </a:r>
            <a:r>
              <a:rPr/>
              <a:t>PLANNING</a:t>
            </a:r>
            <a:r>
              <a:rPr spc="-110"/>
              <a:t> </a:t>
            </a:r>
            <a:r>
              <a:rPr spc="-50"/>
              <a:t>&amp; </a:t>
            </a:r>
            <a:r>
              <a:rPr spc="-10"/>
              <a:t>SCHEDULING</a:t>
            </a:r>
            <a:endParaRPr/>
          </a:p>
        </p:txBody>
      </p:sp>
      <p:sp>
        <p:nvSpPr>
          <p:cNvPr id="963116686" name="object 3"/>
          <p:cNvSpPr txBox="1"/>
          <p:nvPr/>
        </p:nvSpPr>
        <p:spPr bwMode="auto">
          <a:xfrm>
            <a:off x="583547" y="1784068"/>
            <a:ext cx="5766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  <a:defRPr/>
            </a:pPr>
            <a:r>
              <a:rPr sz="2800" b="1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2800" b="1" spc="-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800" b="1" spc="-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>
                <a:solidFill>
                  <a:srgbClr val="0C0C0C"/>
                </a:solidFill>
                <a:latin typeface="Times New Roman"/>
                <a:cs typeface="Times New Roman"/>
              </a:rPr>
              <a:t>Schedule</a:t>
            </a:r>
            <a:r>
              <a:rPr sz="2800" b="1" spc="-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>
                <a:solidFill>
                  <a:srgbClr val="0C0C0C"/>
                </a:solidFill>
                <a:latin typeface="Times New Roman"/>
                <a:cs typeface="Times New Roman"/>
              </a:rPr>
              <a:t>(The</a:t>
            </a:r>
            <a:r>
              <a:rPr sz="2800" b="1" spc="-1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spc="-10">
                <a:solidFill>
                  <a:srgbClr val="0C0C0C"/>
                </a:solidFill>
                <a:latin typeface="Times New Roman"/>
                <a:cs typeface="Times New Roman"/>
              </a:rPr>
              <a:t>Timeline)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1950242819" name="object 4"/>
          <p:cNvPicPr/>
          <p:nvPr/>
        </p:nvPicPr>
        <p:blipFill rotWithShape="1">
          <a:blip r:embed="rId3"/>
          <a:stretch/>
        </p:blipFill>
        <p:spPr bwMode="auto">
          <a:xfrm>
            <a:off x="935700" y="2339556"/>
            <a:ext cx="7584898" cy="3936818"/>
          </a:xfrm>
          <a:prstGeom prst="rect">
            <a:avLst/>
          </a:prstGeom>
        </p:spPr>
      </p:pic>
      <p:sp>
        <p:nvSpPr>
          <p:cNvPr id="1861627888" name="object 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35</a:t>
            </a:fld>
            <a:endParaRPr spc="-25"/>
          </a:p>
        </p:txBody>
      </p:sp>
      <p:sp>
        <p:nvSpPr>
          <p:cNvPr id="1742261388" name="object 6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710312974" name="object 7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473357435" name="object 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136749" name="object 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36</a:t>
            </a:fld>
            <a:endParaRPr spc="-25"/>
          </a:p>
        </p:txBody>
      </p:sp>
      <p:sp>
        <p:nvSpPr>
          <p:cNvPr id="1813012944" name="object 6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008314243" name="object 7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9942593" name="object 8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609641765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493623" y="175054"/>
            <a:ext cx="8332470" cy="1172210"/>
          </a:xfrm>
          <a:prstGeom prst="rect">
            <a:avLst/>
          </a:prstGeom>
        </p:spPr>
        <p:txBody>
          <a:bodyPr vert="horz" wrap="square" lIns="0" tIns="80644" rIns="0" bIns="0" rtlCol="0">
            <a:spAutoFit/>
          </a:bodyPr>
          <a:lstStyle/>
          <a:p>
            <a:pPr marL="12700" marR="5080" indent="2020570">
              <a:lnSpc>
                <a:spcPts val="4280"/>
              </a:lnSpc>
              <a:spcBef>
                <a:spcPts val="635"/>
              </a:spcBef>
              <a:defRPr/>
            </a:pPr>
            <a:r>
              <a:rPr sz="3950" spc="-10"/>
              <a:t>RESOURCE/TASK IDENTIFICATION</a:t>
            </a:r>
            <a:r>
              <a:rPr sz="3950" spc="-200"/>
              <a:t> </a:t>
            </a:r>
            <a:r>
              <a:rPr sz="3950"/>
              <a:t>&amp;</a:t>
            </a:r>
            <a:r>
              <a:rPr sz="3950" spc="-245"/>
              <a:t> </a:t>
            </a:r>
            <a:r>
              <a:rPr sz="3950" spc="-20"/>
              <a:t>ALLOCATION</a:t>
            </a:r>
            <a:endParaRPr sz="3950"/>
          </a:p>
        </p:txBody>
      </p:sp>
      <p:sp>
        <p:nvSpPr>
          <p:cNvPr id="2036885393" name="object 3"/>
          <p:cNvSpPr txBox="1"/>
          <p:nvPr/>
        </p:nvSpPr>
        <p:spPr bwMode="auto">
          <a:xfrm>
            <a:off x="568334" y="1822270"/>
            <a:ext cx="82696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2565" algn="l"/>
              </a:tabLst>
              <a:defRPr/>
            </a:pP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Systematic</a:t>
            </a:r>
            <a:r>
              <a:rPr sz="2000" spc="15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distribution</a:t>
            </a:r>
            <a:r>
              <a:rPr sz="2000" spc="3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spc="25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000" spc="3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workload,</a:t>
            </a:r>
            <a:r>
              <a:rPr sz="2000" spc="3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software</a:t>
            </a:r>
            <a:r>
              <a:rPr sz="2000" spc="25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tools,</a:t>
            </a:r>
            <a:r>
              <a:rPr sz="2000" spc="3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2000" spc="3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spc="-10">
                <a:solidFill>
                  <a:srgbClr val="0C0C0C"/>
                </a:solidFill>
                <a:latin typeface="Times New Roman"/>
                <a:cs typeface="Times New Roman"/>
              </a:rPr>
              <a:t>hardware 	assets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347010627" name="object 4"/>
          <p:cNvGraphicFramePr>
            <a:graphicFrameLocks xmlns:a="http://schemas.openxmlformats.org/drawingml/2006/main" noGrp="1"/>
          </p:cNvGraphicFramePr>
          <p:nvPr/>
        </p:nvGraphicFramePr>
        <p:xfrm rot="0">
          <a:off x="222250" y="2540906"/>
          <a:ext cx="8830944" cy="367665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119505"/>
                <a:gridCol w="2612390"/>
                <a:gridCol w="1492885"/>
                <a:gridCol w="2239644"/>
                <a:gridCol w="1366520"/>
              </a:tblGrid>
              <a:tr h="57023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  <a:defRPr/>
                      </a:pPr>
                      <a:r>
                        <a:rPr sz="1400" b="1" spc="-3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4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p>
                      <a:pPr marL="664845">
                        <a:lnSpc>
                          <a:spcPct val="100000"/>
                        </a:lnSpc>
                        <a:spcBef>
                          <a:spcPts val="240"/>
                        </a:spcBef>
                        <a:defRPr/>
                      </a:pPr>
                      <a:r>
                        <a:rPr sz="1400" b="1" spc="-3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400" b="1" spc="-5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p>
                      <a:pPr marL="397510" marR="390525" indent="27940">
                        <a:lnSpc>
                          <a:spcPct val="100000"/>
                        </a:lnSpc>
                        <a:spcBef>
                          <a:spcPts val="240"/>
                        </a:spcBef>
                        <a:defRPr/>
                      </a:pPr>
                      <a:r>
                        <a:rPr sz="14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Primary </a:t>
                      </a:r>
                      <a:r>
                        <a:rPr sz="1400" b="1" spc="-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Resource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p>
                      <a:pPr marR="248920" algn="r">
                        <a:lnSpc>
                          <a:spcPct val="100000"/>
                        </a:lnSpc>
                        <a:spcBef>
                          <a:spcPts val="240"/>
                        </a:spcBef>
                        <a:defRPr/>
                      </a:pPr>
                      <a:r>
                        <a:rPr sz="14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sz="1400" b="1" spc="-3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4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Infrastructure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400" b="1" spc="-8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Status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38100" algn="ctr">
                      <a:solidFill>
                        <a:srgbClr val="FFFFFF"/>
                      </a:solidFill>
                    </a:lnB>
                    <a:solidFill>
                      <a:srgbClr val="5B9BD4"/>
                    </a:solidFill>
                  </a:tcPr>
                </a:tc>
              </a:tr>
              <a:tr h="62865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25">
                          <a:latin typeface="Times New Roman"/>
                          <a:cs typeface="Times New Roman"/>
                        </a:rPr>
                        <a:t>T1: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sz="1200" spc="-1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L="85725" marR="230504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spc="-10">
                          <a:latin typeface="Times New Roman"/>
                          <a:cs typeface="Times New Roman"/>
                        </a:rPr>
                        <a:t>Literature survey and system architecture design.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Members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R="267970" algn="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Journals,</a:t>
                      </a:r>
                      <a:r>
                        <a:rPr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scholar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Completed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381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</a:tr>
              <a:tr h="639445">
                <a:tc>
                  <a:txBody>
                    <a:bodyPr/>
                    <a:p>
                      <a:pPr marL="214629" marR="131445" indent="-76200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T2:</a:t>
                      </a:r>
                      <a:r>
                        <a:rPr lang="en-IN" sz="1200" spc="-10">
                          <a:latin typeface="Times New Roman"/>
                          <a:cs typeface="Times New Roman"/>
                        </a:rPr>
                        <a:t>Connector &amp; Network Setup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marL="85725" marR="359410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spc="-10">
                          <a:latin typeface="Times New Roman"/>
                          <a:cs typeface="Times New Roman"/>
                        </a:rPr>
                        <a:t>Raspberry Pi setup and Twingate Connector configuration.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marL="450215" marR="442595"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kshay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 N</a:t>
                      </a:r>
                      <a:r>
                        <a:rPr sz="1200" spc="-50">
                          <a:latin typeface="Times New Roman"/>
                          <a:cs typeface="Times New Roman"/>
                        </a:rPr>
                        <a:t>&amp;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Shanid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 Ali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marL="85725" marR="332105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Raspberry Pi, Twingate, Linux, SSH, Local Network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</a:tr>
              <a:tr h="62865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T3: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 API Automation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L="85725" marR="103505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 spc="-20">
                          <a:latin typeface="Times New Roman"/>
                          <a:cs typeface="Times New Roman"/>
                        </a:rPr>
                        <a:t>Python API integration and resource automation.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Akshay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 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L="85725" marR="408940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Python, Twingate API, REST API, GitHub, VS Code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</a:tr>
              <a:tr h="639445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 spc="-10">
                          <a:latin typeface="Times New Roman"/>
                          <a:cs typeface="Times New Roman"/>
                        </a:rPr>
                        <a:t>T4:</a:t>
                      </a:r>
                      <a:r>
                        <a:rPr lang="en-IN" sz="1200" spc="-10">
                          <a:latin typeface="Times New Roman"/>
                          <a:cs typeface="Times New Roman"/>
                        </a:rPr>
                        <a:t> Security Implementation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marL="85725" marR="332105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Configure authentication and least-privilege access.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Abhishek</a:t>
                      </a:r>
                      <a:r>
                        <a:rPr lang="en-IN" sz="1200">
                          <a:latin typeface="Times New Roman"/>
                          <a:cs typeface="Times New Roman"/>
                        </a:rPr>
                        <a:t> KB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marL="85725" marR="321310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Twingate Admin Console, ZTNA Policies, DNS, Authentication &amp; Logging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E9EEF6"/>
                    </a:solidFill>
                  </a:tcPr>
                </a:tc>
              </a:tr>
              <a:tr h="570230">
                <a:tc>
                  <a:txBody>
                    <a:bodyPr/>
                    <a:p>
                      <a:pPr marL="449580" marR="127000" indent="-315595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T5:</a:t>
                      </a:r>
                      <a:r>
                        <a:rPr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QA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L="85725" marR="369570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System testing, bug fixing, and final documentation.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Members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marL="85725" marR="405130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lang="en-IN" sz="1200">
                          <a:latin typeface="Times New Roman"/>
                          <a:cs typeface="Times New Roman"/>
                        </a:rPr>
                        <a:t>Postman, Twingate Logs, Word/Docs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 algn="ctr">
                      <a:solidFill>
                        <a:srgbClr val="FFFFFF"/>
                      </a:solidFill>
                    </a:lnL>
                    <a:lnR w="12700" algn="ctr">
                      <a:solidFill>
                        <a:srgbClr val="FFFFFF"/>
                      </a:solidFill>
                    </a:lnR>
                    <a:lnT w="12700" algn="ctr">
                      <a:solidFill>
                        <a:srgbClr val="FFFFFF"/>
                      </a:solidFill>
                    </a:lnT>
                    <a:lnB w="12700" algn="ctr">
                      <a:solidFill>
                        <a:srgbClr val="FFFFFF"/>
                      </a:solidFill>
                    </a:lnB>
                    <a:solidFill>
                      <a:srgbClr val="D0D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795041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493623" y="175054"/>
            <a:ext cx="8332470" cy="1172210"/>
          </a:xfrm>
          <a:prstGeom prst="rect">
            <a:avLst/>
          </a:prstGeom>
        </p:spPr>
        <p:txBody>
          <a:bodyPr vert="horz" wrap="square" lIns="0" tIns="80644" rIns="0" bIns="0" rtlCol="0">
            <a:spAutoFit/>
          </a:bodyPr>
          <a:lstStyle/>
          <a:p>
            <a:pPr marL="12700" marR="5080" indent="2020570">
              <a:lnSpc>
                <a:spcPts val="4280"/>
              </a:lnSpc>
              <a:spcBef>
                <a:spcPts val="635"/>
              </a:spcBef>
              <a:defRPr/>
            </a:pPr>
            <a:r>
              <a:rPr sz="3950" spc="-10"/>
              <a:t>RESOURCE/TASK IDENTIFICATION</a:t>
            </a:r>
            <a:r>
              <a:rPr sz="3950" spc="-200"/>
              <a:t> </a:t>
            </a:r>
            <a:r>
              <a:rPr sz="3950"/>
              <a:t>&amp;</a:t>
            </a:r>
            <a:r>
              <a:rPr sz="3950" spc="-245"/>
              <a:t> </a:t>
            </a:r>
            <a:r>
              <a:rPr sz="3950" spc="-20"/>
              <a:t>ALLOCATION</a:t>
            </a:r>
            <a:endParaRPr sz="3950"/>
          </a:p>
        </p:txBody>
      </p:sp>
      <p:sp>
        <p:nvSpPr>
          <p:cNvPr id="651555165" name="object 3"/>
          <p:cNvSpPr txBox="1"/>
          <p:nvPr/>
        </p:nvSpPr>
        <p:spPr bwMode="auto">
          <a:xfrm>
            <a:off x="586262" y="1289711"/>
            <a:ext cx="4545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9367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6375" algn="l"/>
              </a:tabLst>
              <a:defRPr/>
            </a:pPr>
            <a:r>
              <a:rPr sz="1800" b="1" spc="-10">
                <a:solidFill>
                  <a:srgbClr val="0C0C0C"/>
                </a:solidFill>
                <a:latin typeface="Times New Roman"/>
                <a:cs typeface="Times New Roman"/>
              </a:rPr>
              <a:t>Resource</a:t>
            </a:r>
            <a:r>
              <a:rPr sz="1800" b="1" spc="-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Breakdown</a:t>
            </a:r>
            <a:r>
              <a:rPr sz="1800" b="1" spc="-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b="1" spc="-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1800" b="1" spc="-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spc="-10">
                <a:solidFill>
                  <a:srgbClr val="0C0C0C"/>
                </a:solidFill>
                <a:latin typeface="Times New Roman"/>
                <a:cs typeface="Times New Roman"/>
              </a:rPr>
              <a:t>Governance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62519887" name="object 4"/>
          <p:cNvGrpSpPr/>
          <p:nvPr/>
        </p:nvGrpSpPr>
        <p:grpSpPr bwMode="auto">
          <a:xfrm>
            <a:off x="493623" y="1677820"/>
            <a:ext cx="2194560" cy="4247515"/>
            <a:chOff x="79612" y="1683413"/>
            <a:chExt cx="2194560" cy="4247515"/>
          </a:xfrm>
        </p:grpSpPr>
        <p:sp>
          <p:nvSpPr>
            <p:cNvPr id="5" name="object 5"/>
            <p:cNvSpPr/>
            <p:nvPr/>
          </p:nvSpPr>
          <p:spPr bwMode="auto">
            <a:xfrm>
              <a:off x="84375" y="1688176"/>
              <a:ext cx="2185035" cy="4237990"/>
            </a:xfrm>
            <a:custGeom>
              <a:avLst/>
              <a:gdLst/>
              <a:ahLst/>
              <a:cxnLst/>
              <a:rect l="l" t="t" r="r" b="b"/>
              <a:pathLst>
                <a:path w="2185035" h="4237990" fill="norm" stroke="1" extrusionOk="0">
                  <a:moveTo>
                    <a:pt x="0" y="364107"/>
                  </a:moveTo>
                  <a:lnTo>
                    <a:pt x="3323" y="314700"/>
                  </a:lnTo>
                  <a:lnTo>
                    <a:pt x="13006" y="267313"/>
                  </a:lnTo>
                  <a:lnTo>
                    <a:pt x="28613" y="222380"/>
                  </a:lnTo>
                  <a:lnTo>
                    <a:pt x="49711" y="180335"/>
                  </a:lnTo>
                  <a:lnTo>
                    <a:pt x="75866" y="141612"/>
                  </a:lnTo>
                  <a:lnTo>
                    <a:pt x="106644" y="106644"/>
                  </a:lnTo>
                  <a:lnTo>
                    <a:pt x="141612" y="75866"/>
                  </a:lnTo>
                  <a:lnTo>
                    <a:pt x="180335" y="49711"/>
                  </a:lnTo>
                  <a:lnTo>
                    <a:pt x="222380" y="28613"/>
                  </a:lnTo>
                  <a:lnTo>
                    <a:pt x="267313" y="13006"/>
                  </a:lnTo>
                  <a:lnTo>
                    <a:pt x="314700" y="3323"/>
                  </a:lnTo>
                  <a:lnTo>
                    <a:pt x="364107" y="0"/>
                  </a:lnTo>
                  <a:lnTo>
                    <a:pt x="1820492" y="0"/>
                  </a:lnTo>
                  <a:lnTo>
                    <a:pt x="1868352" y="3157"/>
                  </a:lnTo>
                  <a:lnTo>
                    <a:pt x="1914986" y="12474"/>
                  </a:lnTo>
                  <a:lnTo>
                    <a:pt x="1959830" y="27716"/>
                  </a:lnTo>
                  <a:lnTo>
                    <a:pt x="2002317" y="48647"/>
                  </a:lnTo>
                  <a:lnTo>
                    <a:pt x="2041880" y="75035"/>
                  </a:lnTo>
                  <a:lnTo>
                    <a:pt x="2077955" y="106644"/>
                  </a:lnTo>
                  <a:lnTo>
                    <a:pt x="2109564" y="142719"/>
                  </a:lnTo>
                  <a:lnTo>
                    <a:pt x="2135952" y="182282"/>
                  </a:lnTo>
                  <a:lnTo>
                    <a:pt x="2156883" y="224769"/>
                  </a:lnTo>
                  <a:lnTo>
                    <a:pt x="2172125" y="269612"/>
                  </a:lnTo>
                  <a:lnTo>
                    <a:pt x="2181442" y="316247"/>
                  </a:lnTo>
                  <a:lnTo>
                    <a:pt x="2184599" y="364107"/>
                  </a:lnTo>
                  <a:lnTo>
                    <a:pt x="2184599" y="3873692"/>
                  </a:lnTo>
                  <a:lnTo>
                    <a:pt x="2181276" y="3923100"/>
                  </a:lnTo>
                  <a:lnTo>
                    <a:pt x="2171593" y="3970486"/>
                  </a:lnTo>
                  <a:lnTo>
                    <a:pt x="2155986" y="4015419"/>
                  </a:lnTo>
                  <a:lnTo>
                    <a:pt x="2134888" y="4057464"/>
                  </a:lnTo>
                  <a:lnTo>
                    <a:pt x="2108733" y="4096187"/>
                  </a:lnTo>
                  <a:lnTo>
                    <a:pt x="2077955" y="4131155"/>
                  </a:lnTo>
                  <a:lnTo>
                    <a:pt x="2042987" y="4161933"/>
                  </a:lnTo>
                  <a:lnTo>
                    <a:pt x="2004264" y="4188088"/>
                  </a:lnTo>
                  <a:lnTo>
                    <a:pt x="1962219" y="4209186"/>
                  </a:lnTo>
                  <a:lnTo>
                    <a:pt x="1917286" y="4224793"/>
                  </a:lnTo>
                  <a:lnTo>
                    <a:pt x="1869899" y="4234476"/>
                  </a:lnTo>
                  <a:lnTo>
                    <a:pt x="1820492" y="4237799"/>
                  </a:lnTo>
                  <a:lnTo>
                    <a:pt x="364107" y="4237799"/>
                  </a:lnTo>
                  <a:lnTo>
                    <a:pt x="314700" y="4234476"/>
                  </a:lnTo>
                  <a:lnTo>
                    <a:pt x="267313" y="4224793"/>
                  </a:lnTo>
                  <a:lnTo>
                    <a:pt x="222380" y="4209186"/>
                  </a:lnTo>
                  <a:lnTo>
                    <a:pt x="180335" y="4188088"/>
                  </a:lnTo>
                  <a:lnTo>
                    <a:pt x="141612" y="4161933"/>
                  </a:lnTo>
                  <a:lnTo>
                    <a:pt x="106644" y="4131155"/>
                  </a:lnTo>
                  <a:lnTo>
                    <a:pt x="75866" y="4096187"/>
                  </a:lnTo>
                  <a:lnTo>
                    <a:pt x="49711" y="4057464"/>
                  </a:lnTo>
                  <a:lnTo>
                    <a:pt x="28613" y="4015419"/>
                  </a:lnTo>
                  <a:lnTo>
                    <a:pt x="13006" y="3970486"/>
                  </a:lnTo>
                  <a:lnTo>
                    <a:pt x="3323" y="3923100"/>
                  </a:lnTo>
                  <a:lnTo>
                    <a:pt x="0" y="3873692"/>
                  </a:lnTo>
                  <a:lnTo>
                    <a:pt x="0" y="364107"/>
                  </a:lnTo>
                  <a:close/>
                </a:path>
              </a:pathLst>
            </a:custGeom>
            <a:grpFill/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6" name="object 6"/>
            <p:cNvPicPr/>
            <p:nvPr/>
          </p:nvPicPr>
          <p:blipFill rotWithShape="1">
            <a:blip r:embed="rId3"/>
            <a:stretch/>
          </p:blipFill>
          <p:spPr bwMode="auto">
            <a:xfrm>
              <a:off x="481665" y="1910722"/>
              <a:ext cx="284633" cy="267890"/>
            </a:xfrm>
            <a:prstGeom prst="rect">
              <a:avLst/>
            </a:prstGeom>
          </p:spPr>
        </p:pic>
      </p:grpSp>
      <p:sp>
        <p:nvSpPr>
          <p:cNvPr id="1403056742" name="object 7"/>
          <p:cNvSpPr txBox="1"/>
          <p:nvPr/>
        </p:nvSpPr>
        <p:spPr bwMode="auto">
          <a:xfrm>
            <a:off x="703754" y="1875909"/>
            <a:ext cx="1657350" cy="36497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67310" indent="236854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 spc="-10">
                <a:solidFill>
                  <a:srgbClr val="102C57"/>
                </a:solidFill>
                <a:latin typeface="Arial"/>
                <a:cs typeface="Arial"/>
              </a:rPr>
              <a:t>Hardware Resources</a:t>
            </a:r>
            <a:endParaRPr sz="1800">
              <a:latin typeface="Arial"/>
              <a:cs typeface="Arial"/>
            </a:endParaRPr>
          </a:p>
          <a:p>
            <a:pPr marL="272415" marR="318770" indent="-260350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272415" algn="l"/>
              </a:tabLst>
              <a:defRPr/>
            </a:pPr>
            <a:r>
              <a:rPr lang="en-IN"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Raspberry Pi</a:t>
            </a:r>
            <a:r>
              <a:rPr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(</a:t>
            </a:r>
            <a:r>
              <a:rPr lang="en-IN"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Mini Computing Chip</a:t>
            </a:r>
            <a:r>
              <a:rPr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272415" marR="508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2420" algn="l"/>
              </a:tabLst>
              <a:defRPr/>
            </a:pPr>
            <a:r>
              <a:rPr sz="1350" b="1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lang="en-IN"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SD Card</a:t>
            </a:r>
            <a:endParaRPr sz="1350">
              <a:latin typeface="Times New Roman"/>
              <a:cs typeface="Times New Roman"/>
            </a:endParaRPr>
          </a:p>
          <a:p>
            <a:pPr marL="272415" marR="3302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4960" algn="l"/>
              </a:tabLst>
              <a:defRPr/>
            </a:pPr>
            <a:r>
              <a:rPr lang="en-IN" sz="1350" b="1">
                <a:solidFill>
                  <a:srgbClr val="282828"/>
                </a:solidFill>
                <a:latin typeface="Arial"/>
                <a:cs typeface="Arial"/>
              </a:rPr>
              <a:t>Ethernet/Wi-Fi Router</a:t>
            </a:r>
            <a:endParaRPr sz="1350">
              <a:latin typeface="Times New Roman"/>
              <a:cs typeface="Times New Roman"/>
            </a:endParaRPr>
          </a:p>
          <a:p>
            <a:pPr marL="272415" marR="490220" indent="-26035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2415" algn="l"/>
              </a:tabLst>
              <a:defRPr/>
            </a:pPr>
            <a:r>
              <a:rPr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Internet </a:t>
            </a:r>
            <a:r>
              <a:rPr sz="1350" b="1" spc="-10">
                <a:solidFill>
                  <a:srgbClr val="282828"/>
                </a:solidFill>
                <a:latin typeface="Times New Roman"/>
                <a:cs typeface="Times New Roman"/>
              </a:rPr>
              <a:t>connectivity</a:t>
            </a:r>
            <a:endParaRPr sz="1350">
              <a:latin typeface="Times New Roman"/>
              <a:cs typeface="Times New Roman"/>
            </a:endParaRPr>
          </a:p>
          <a:p>
            <a:pPr marL="272415" marR="24892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4960" algn="l"/>
              </a:tabLst>
              <a:defRPr/>
            </a:pPr>
            <a:r>
              <a:rPr lang="en-IN" sz="1350" b="1">
                <a:solidFill>
                  <a:srgbClr val="282828"/>
                </a:solidFill>
                <a:latin typeface="Times New Roman"/>
                <a:cs typeface="Times New Roman"/>
              </a:rPr>
              <a:t>Client Computer/Laptop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54033825" name="object 8"/>
          <p:cNvSpPr/>
          <p:nvPr/>
        </p:nvSpPr>
        <p:spPr bwMode="auto">
          <a:xfrm>
            <a:off x="3506504" y="1652338"/>
            <a:ext cx="2185035" cy="4237990"/>
          </a:xfrm>
          <a:custGeom>
            <a:avLst/>
            <a:gdLst/>
            <a:ahLst/>
            <a:cxnLst/>
            <a:rect l="l" t="t" r="r" b="b"/>
            <a:pathLst>
              <a:path w="2185035" h="4237990" fill="norm" stroke="1" extrusionOk="0">
                <a:moveTo>
                  <a:pt x="0" y="615292"/>
                </a:moveTo>
                <a:lnTo>
                  <a:pt x="1851" y="567207"/>
                </a:lnTo>
                <a:lnTo>
                  <a:pt x="7313" y="520135"/>
                </a:lnTo>
                <a:lnTo>
                  <a:pt x="16250" y="474211"/>
                </a:lnTo>
                <a:lnTo>
                  <a:pt x="28524" y="429573"/>
                </a:lnTo>
                <a:lnTo>
                  <a:pt x="43999" y="386358"/>
                </a:lnTo>
                <a:lnTo>
                  <a:pt x="62539" y="344702"/>
                </a:lnTo>
                <a:lnTo>
                  <a:pt x="84005" y="304742"/>
                </a:lnTo>
                <a:lnTo>
                  <a:pt x="108262" y="266615"/>
                </a:lnTo>
                <a:lnTo>
                  <a:pt x="135172" y="230458"/>
                </a:lnTo>
                <a:lnTo>
                  <a:pt x="164600" y="196407"/>
                </a:lnTo>
                <a:lnTo>
                  <a:pt x="196407" y="164600"/>
                </a:lnTo>
                <a:lnTo>
                  <a:pt x="230458" y="135172"/>
                </a:lnTo>
                <a:lnTo>
                  <a:pt x="266615" y="108262"/>
                </a:lnTo>
                <a:lnTo>
                  <a:pt x="304742" y="84005"/>
                </a:lnTo>
                <a:lnTo>
                  <a:pt x="344702" y="62539"/>
                </a:lnTo>
                <a:lnTo>
                  <a:pt x="386358" y="43999"/>
                </a:lnTo>
                <a:lnTo>
                  <a:pt x="429573" y="28524"/>
                </a:lnTo>
                <a:lnTo>
                  <a:pt x="474211" y="16250"/>
                </a:lnTo>
                <a:lnTo>
                  <a:pt x="520135" y="7313"/>
                </a:lnTo>
                <a:lnTo>
                  <a:pt x="567207" y="1851"/>
                </a:lnTo>
                <a:lnTo>
                  <a:pt x="615292" y="0"/>
                </a:lnTo>
                <a:lnTo>
                  <a:pt x="1569307" y="0"/>
                </a:lnTo>
                <a:lnTo>
                  <a:pt x="1618028" y="1930"/>
                </a:lnTo>
                <a:lnTo>
                  <a:pt x="1666141" y="7664"/>
                </a:lnTo>
                <a:lnTo>
                  <a:pt x="1713440" y="17117"/>
                </a:lnTo>
                <a:lnTo>
                  <a:pt x="1759718" y="30203"/>
                </a:lnTo>
                <a:lnTo>
                  <a:pt x="1804769" y="46836"/>
                </a:lnTo>
                <a:lnTo>
                  <a:pt x="1848386" y="66931"/>
                </a:lnTo>
                <a:lnTo>
                  <a:pt x="1890363" y="90401"/>
                </a:lnTo>
                <a:lnTo>
                  <a:pt x="1930492" y="117163"/>
                </a:lnTo>
                <a:lnTo>
                  <a:pt x="1968568" y="147129"/>
                </a:lnTo>
                <a:lnTo>
                  <a:pt x="2004384" y="180214"/>
                </a:lnTo>
                <a:lnTo>
                  <a:pt x="2037470" y="216030"/>
                </a:lnTo>
                <a:lnTo>
                  <a:pt x="2067436" y="254106"/>
                </a:lnTo>
                <a:lnTo>
                  <a:pt x="2094198" y="294236"/>
                </a:lnTo>
                <a:lnTo>
                  <a:pt x="2117668" y="336213"/>
                </a:lnTo>
                <a:lnTo>
                  <a:pt x="2137763" y="379830"/>
                </a:lnTo>
                <a:lnTo>
                  <a:pt x="2154396" y="424881"/>
                </a:lnTo>
                <a:lnTo>
                  <a:pt x="2167482" y="471159"/>
                </a:lnTo>
                <a:lnTo>
                  <a:pt x="2176934" y="518458"/>
                </a:lnTo>
                <a:lnTo>
                  <a:pt x="2182669" y="566571"/>
                </a:lnTo>
                <a:lnTo>
                  <a:pt x="2184599" y="615292"/>
                </a:lnTo>
                <a:lnTo>
                  <a:pt x="2184599" y="3622507"/>
                </a:lnTo>
                <a:lnTo>
                  <a:pt x="2182748" y="3670592"/>
                </a:lnTo>
                <a:lnTo>
                  <a:pt x="2177286" y="3717664"/>
                </a:lnTo>
                <a:lnTo>
                  <a:pt x="2168349" y="3763588"/>
                </a:lnTo>
                <a:lnTo>
                  <a:pt x="2156075" y="3808226"/>
                </a:lnTo>
                <a:lnTo>
                  <a:pt x="2140599" y="3851441"/>
                </a:lnTo>
                <a:lnTo>
                  <a:pt x="2122060" y="3893097"/>
                </a:lnTo>
                <a:lnTo>
                  <a:pt x="2100594" y="3933057"/>
                </a:lnTo>
                <a:lnTo>
                  <a:pt x="2076337" y="3971184"/>
                </a:lnTo>
                <a:lnTo>
                  <a:pt x="2049426" y="4007341"/>
                </a:lnTo>
                <a:lnTo>
                  <a:pt x="2019999" y="4041392"/>
                </a:lnTo>
                <a:lnTo>
                  <a:pt x="1988192" y="4073199"/>
                </a:lnTo>
                <a:lnTo>
                  <a:pt x="1954141" y="4102627"/>
                </a:lnTo>
                <a:lnTo>
                  <a:pt x="1917984" y="4129537"/>
                </a:lnTo>
                <a:lnTo>
                  <a:pt x="1879857" y="4153794"/>
                </a:lnTo>
                <a:lnTo>
                  <a:pt x="1839897" y="4175261"/>
                </a:lnTo>
                <a:lnTo>
                  <a:pt x="1798241" y="4193800"/>
                </a:lnTo>
                <a:lnTo>
                  <a:pt x="1755026" y="4209275"/>
                </a:lnTo>
                <a:lnTo>
                  <a:pt x="1710388" y="4221549"/>
                </a:lnTo>
                <a:lnTo>
                  <a:pt x="1664464" y="4230486"/>
                </a:lnTo>
                <a:lnTo>
                  <a:pt x="1617392" y="4235949"/>
                </a:lnTo>
                <a:lnTo>
                  <a:pt x="1569307" y="4237800"/>
                </a:lnTo>
                <a:lnTo>
                  <a:pt x="615292" y="4237800"/>
                </a:lnTo>
                <a:lnTo>
                  <a:pt x="567207" y="4235949"/>
                </a:lnTo>
                <a:lnTo>
                  <a:pt x="520135" y="4230486"/>
                </a:lnTo>
                <a:lnTo>
                  <a:pt x="474211" y="4221549"/>
                </a:lnTo>
                <a:lnTo>
                  <a:pt x="429573" y="4209275"/>
                </a:lnTo>
                <a:lnTo>
                  <a:pt x="386358" y="4193800"/>
                </a:lnTo>
                <a:lnTo>
                  <a:pt x="344702" y="4175261"/>
                </a:lnTo>
                <a:lnTo>
                  <a:pt x="304742" y="4153794"/>
                </a:lnTo>
                <a:lnTo>
                  <a:pt x="266615" y="4129537"/>
                </a:lnTo>
                <a:lnTo>
                  <a:pt x="230458" y="4102627"/>
                </a:lnTo>
                <a:lnTo>
                  <a:pt x="196407" y="4073199"/>
                </a:lnTo>
                <a:lnTo>
                  <a:pt x="164600" y="4041392"/>
                </a:lnTo>
                <a:lnTo>
                  <a:pt x="135172" y="4007341"/>
                </a:lnTo>
                <a:lnTo>
                  <a:pt x="108262" y="3971184"/>
                </a:lnTo>
                <a:lnTo>
                  <a:pt x="84005" y="3933057"/>
                </a:lnTo>
                <a:lnTo>
                  <a:pt x="62539" y="3893097"/>
                </a:lnTo>
                <a:lnTo>
                  <a:pt x="43999" y="3851441"/>
                </a:lnTo>
                <a:lnTo>
                  <a:pt x="28524" y="3808226"/>
                </a:lnTo>
                <a:lnTo>
                  <a:pt x="16250" y="3763588"/>
                </a:lnTo>
                <a:lnTo>
                  <a:pt x="7313" y="3717664"/>
                </a:lnTo>
                <a:lnTo>
                  <a:pt x="1851" y="3670592"/>
                </a:lnTo>
                <a:lnTo>
                  <a:pt x="0" y="3622507"/>
                </a:lnTo>
                <a:lnTo>
                  <a:pt x="0" y="615292"/>
                </a:lnTo>
                <a:close/>
              </a:path>
            </a:pathLst>
          </a:custGeom>
          <a:ln w="9524">
            <a:solidFill>
              <a:srgbClr val="35A2EB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39701321" name="object 9"/>
          <p:cNvSpPr txBox="1"/>
          <p:nvPr/>
        </p:nvSpPr>
        <p:spPr bwMode="auto">
          <a:xfrm>
            <a:off x="3926129" y="2791306"/>
            <a:ext cx="1501775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 marR="6350" indent="-290830">
              <a:lnSpc>
                <a:spcPct val="100000"/>
              </a:lnSpc>
              <a:spcBef>
                <a:spcPts val="100"/>
              </a:spcBef>
              <a:buChar char="•"/>
              <a:tabLst>
                <a:tab pos="302895" algn="l"/>
              </a:tabLst>
              <a:defRPr/>
            </a:pPr>
            <a:r>
              <a:rPr sz="1400" b="1">
                <a:latin typeface="Times New Roman"/>
                <a:cs typeface="Times New Roman"/>
              </a:rPr>
              <a:t>Python</a:t>
            </a:r>
            <a:endParaRPr lang="en-IN" sz="1400" b="1">
              <a:latin typeface="Times New Roman"/>
              <a:cs typeface="Times New Roman"/>
            </a:endParaRPr>
          </a:p>
          <a:p>
            <a:pPr marL="302895" marR="6350" indent="-290830">
              <a:lnSpc>
                <a:spcPct val="100000"/>
              </a:lnSpc>
              <a:spcBef>
                <a:spcPts val="100"/>
              </a:spcBef>
              <a:buChar char="•"/>
              <a:tabLst>
                <a:tab pos="30289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Linux</a:t>
            </a:r>
            <a:endParaRPr sz="1400" b="1">
              <a:latin typeface="Times New Roman"/>
              <a:cs typeface="Times New Roman"/>
            </a:endParaRPr>
          </a:p>
          <a:p>
            <a:pPr marL="302895" indent="-290195">
              <a:lnSpc>
                <a:spcPct val="100000"/>
              </a:lnSpc>
              <a:buChar char="•"/>
              <a:tabLst>
                <a:tab pos="30289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Postman</a:t>
            </a:r>
            <a:endParaRPr/>
          </a:p>
          <a:p>
            <a:pPr marL="302895" indent="-290195">
              <a:lnSpc>
                <a:spcPct val="100000"/>
              </a:lnSpc>
              <a:buChar char="•"/>
              <a:tabLst>
                <a:tab pos="302895" algn="l"/>
              </a:tabLst>
              <a:defRPr/>
            </a:pPr>
            <a:r>
              <a:rPr sz="1400" b="1" spc="-10">
                <a:latin typeface="Times New Roman"/>
                <a:cs typeface="Times New Roman"/>
              </a:rPr>
              <a:t>GitHub</a:t>
            </a:r>
            <a:endParaRPr sz="1400" b="1">
              <a:latin typeface="Times New Roman"/>
              <a:cs typeface="Times New Roman"/>
            </a:endParaRPr>
          </a:p>
          <a:p>
            <a:pPr marL="302895" marR="133350" indent="-290830">
              <a:lnSpc>
                <a:spcPct val="100000"/>
              </a:lnSpc>
              <a:buChar char="•"/>
              <a:tabLst>
                <a:tab pos="30289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VS </a:t>
            </a:r>
            <a:r>
              <a:rPr lang="en-IN" sz="1400" b="1">
                <a:latin typeface="Times New Roman"/>
                <a:cs typeface="Times New Roman"/>
              </a:rPr>
              <a:t>Code</a:t>
            </a:r>
            <a:endParaRPr/>
          </a:p>
          <a:p>
            <a:pPr marL="302895" marR="133350" indent="-290830">
              <a:lnSpc>
                <a:spcPct val="100000"/>
              </a:lnSpc>
              <a:buChar char="•"/>
              <a:tabLst>
                <a:tab pos="30289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Twingate</a:t>
            </a:r>
            <a:endParaRPr sz="1400" b="1">
              <a:latin typeface="Times New Roman"/>
              <a:cs typeface="Times New Roman"/>
            </a:endParaRPr>
          </a:p>
        </p:txBody>
      </p:sp>
      <p:grpSp>
        <p:nvGrpSpPr>
          <p:cNvPr id="126915677" name="object 15"/>
          <p:cNvGrpSpPr/>
          <p:nvPr/>
        </p:nvGrpSpPr>
        <p:grpSpPr bwMode="auto">
          <a:xfrm>
            <a:off x="6509860" y="1651462"/>
            <a:ext cx="2332355" cy="4247515"/>
            <a:chOff x="6509860" y="1651462"/>
            <a:chExt cx="2332355" cy="4247515"/>
          </a:xfrm>
        </p:grpSpPr>
        <p:sp>
          <p:nvSpPr>
            <p:cNvPr id="16" name="object 16"/>
            <p:cNvSpPr/>
            <p:nvPr/>
          </p:nvSpPr>
          <p:spPr bwMode="auto">
            <a:xfrm>
              <a:off x="6514623" y="1656225"/>
              <a:ext cx="2322830" cy="4237990"/>
            </a:xfrm>
            <a:custGeom>
              <a:avLst/>
              <a:gdLst/>
              <a:ahLst/>
              <a:cxnLst/>
              <a:rect l="l" t="t" r="r" b="b"/>
              <a:pathLst>
                <a:path w="2322829" h="4237990" fill="norm" stroke="1" extrusionOk="0">
                  <a:moveTo>
                    <a:pt x="0" y="387057"/>
                  </a:moveTo>
                  <a:lnTo>
                    <a:pt x="3015" y="338506"/>
                  </a:lnTo>
                  <a:lnTo>
                    <a:pt x="11821" y="291754"/>
                  </a:lnTo>
                  <a:lnTo>
                    <a:pt x="26053" y="247164"/>
                  </a:lnTo>
                  <a:lnTo>
                    <a:pt x="45349" y="205099"/>
                  </a:lnTo>
                  <a:lnTo>
                    <a:pt x="69347" y="165923"/>
                  </a:lnTo>
                  <a:lnTo>
                    <a:pt x="97684" y="129997"/>
                  </a:lnTo>
                  <a:lnTo>
                    <a:pt x="129997" y="97684"/>
                  </a:lnTo>
                  <a:lnTo>
                    <a:pt x="165923" y="69347"/>
                  </a:lnTo>
                  <a:lnTo>
                    <a:pt x="205100" y="45349"/>
                  </a:lnTo>
                  <a:lnTo>
                    <a:pt x="247164" y="26053"/>
                  </a:lnTo>
                  <a:lnTo>
                    <a:pt x="291754" y="11821"/>
                  </a:lnTo>
                  <a:lnTo>
                    <a:pt x="338506" y="3015"/>
                  </a:lnTo>
                  <a:lnTo>
                    <a:pt x="387057" y="0"/>
                  </a:lnTo>
                  <a:lnTo>
                    <a:pt x="1935241" y="0"/>
                  </a:lnTo>
                  <a:lnTo>
                    <a:pt x="1986118" y="3356"/>
                  </a:lnTo>
                  <a:lnTo>
                    <a:pt x="2035692" y="13260"/>
                  </a:lnTo>
                  <a:lnTo>
                    <a:pt x="2083362" y="29462"/>
                  </a:lnTo>
                  <a:lnTo>
                    <a:pt x="2128527" y="51714"/>
                  </a:lnTo>
                  <a:lnTo>
                    <a:pt x="2170584" y="79765"/>
                  </a:lnTo>
                  <a:lnTo>
                    <a:pt x="2208933" y="113366"/>
                  </a:lnTo>
                  <a:lnTo>
                    <a:pt x="2242535" y="151715"/>
                  </a:lnTo>
                  <a:lnTo>
                    <a:pt x="2270585" y="193772"/>
                  </a:lnTo>
                  <a:lnTo>
                    <a:pt x="2292837" y="238937"/>
                  </a:lnTo>
                  <a:lnTo>
                    <a:pt x="2309039" y="286607"/>
                  </a:lnTo>
                  <a:lnTo>
                    <a:pt x="2318943" y="336181"/>
                  </a:lnTo>
                  <a:lnTo>
                    <a:pt x="2322299" y="387057"/>
                  </a:lnTo>
                  <a:lnTo>
                    <a:pt x="2322299" y="3850742"/>
                  </a:lnTo>
                  <a:lnTo>
                    <a:pt x="2319284" y="3899293"/>
                  </a:lnTo>
                  <a:lnTo>
                    <a:pt x="2310478" y="3946045"/>
                  </a:lnTo>
                  <a:lnTo>
                    <a:pt x="2296246" y="3990635"/>
                  </a:lnTo>
                  <a:lnTo>
                    <a:pt x="2276950" y="4032699"/>
                  </a:lnTo>
                  <a:lnTo>
                    <a:pt x="2252952" y="4071876"/>
                  </a:lnTo>
                  <a:lnTo>
                    <a:pt x="2224615" y="4107802"/>
                  </a:lnTo>
                  <a:lnTo>
                    <a:pt x="2192302" y="4140115"/>
                  </a:lnTo>
                  <a:lnTo>
                    <a:pt x="2156376" y="4168452"/>
                  </a:lnTo>
                  <a:lnTo>
                    <a:pt x="2117200" y="4192450"/>
                  </a:lnTo>
                  <a:lnTo>
                    <a:pt x="2075135" y="4211746"/>
                  </a:lnTo>
                  <a:lnTo>
                    <a:pt x="2030545" y="4225978"/>
                  </a:lnTo>
                  <a:lnTo>
                    <a:pt x="1983793" y="4234784"/>
                  </a:lnTo>
                  <a:lnTo>
                    <a:pt x="1935241" y="4237799"/>
                  </a:lnTo>
                  <a:lnTo>
                    <a:pt x="387057" y="4237799"/>
                  </a:lnTo>
                  <a:lnTo>
                    <a:pt x="338506" y="4234784"/>
                  </a:lnTo>
                  <a:lnTo>
                    <a:pt x="291754" y="4225978"/>
                  </a:lnTo>
                  <a:lnTo>
                    <a:pt x="247164" y="4211746"/>
                  </a:lnTo>
                  <a:lnTo>
                    <a:pt x="205100" y="4192450"/>
                  </a:lnTo>
                  <a:lnTo>
                    <a:pt x="165923" y="4168452"/>
                  </a:lnTo>
                  <a:lnTo>
                    <a:pt x="129997" y="4140115"/>
                  </a:lnTo>
                  <a:lnTo>
                    <a:pt x="97684" y="4107802"/>
                  </a:lnTo>
                  <a:lnTo>
                    <a:pt x="69347" y="4071876"/>
                  </a:lnTo>
                  <a:lnTo>
                    <a:pt x="45349" y="4032699"/>
                  </a:lnTo>
                  <a:lnTo>
                    <a:pt x="26053" y="3990635"/>
                  </a:lnTo>
                  <a:lnTo>
                    <a:pt x="11821" y="3946045"/>
                  </a:lnTo>
                  <a:lnTo>
                    <a:pt x="3015" y="3899293"/>
                  </a:lnTo>
                  <a:lnTo>
                    <a:pt x="0" y="3850742"/>
                  </a:lnTo>
                  <a:lnTo>
                    <a:pt x="0" y="387057"/>
                  </a:lnTo>
                  <a:close/>
                </a:path>
              </a:pathLst>
            </a:custGeom>
            <a:grpFill/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7" name="object 17"/>
            <p:cNvPicPr/>
            <p:nvPr/>
          </p:nvPicPr>
          <p:blipFill rotWithShape="1">
            <a:blip r:embed="rId4"/>
            <a:stretch/>
          </p:blipFill>
          <p:spPr bwMode="auto">
            <a:xfrm>
              <a:off x="7096622" y="1701710"/>
              <a:ext cx="569267" cy="267890"/>
            </a:xfrm>
            <a:prstGeom prst="rect">
              <a:avLst/>
            </a:prstGeom>
          </p:spPr>
        </p:pic>
      </p:grpSp>
      <p:sp>
        <p:nvSpPr>
          <p:cNvPr id="1433019728" name="object 18"/>
          <p:cNvSpPr txBox="1"/>
          <p:nvPr/>
        </p:nvSpPr>
        <p:spPr bwMode="auto">
          <a:xfrm>
            <a:off x="6645740" y="1672490"/>
            <a:ext cx="2042795" cy="2516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0" marR="278130" indent="568960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>
                <a:solidFill>
                  <a:srgbClr val="1F3764"/>
                </a:solidFill>
                <a:latin typeface="Arial"/>
                <a:cs typeface="Arial"/>
              </a:rPr>
              <a:t>APIs</a:t>
            </a:r>
            <a:r>
              <a:rPr sz="1800" b="1" spc="-20">
                <a:solidFill>
                  <a:srgbClr val="1F3764"/>
                </a:solidFill>
                <a:latin typeface="Arial"/>
                <a:cs typeface="Arial"/>
              </a:rPr>
              <a:t> </a:t>
            </a:r>
            <a:r>
              <a:rPr sz="1800" b="1" spc="-50">
                <a:solidFill>
                  <a:srgbClr val="1F3764"/>
                </a:solidFill>
                <a:latin typeface="Arial"/>
                <a:cs typeface="Arial"/>
              </a:rPr>
              <a:t>&amp; </a:t>
            </a:r>
            <a:r>
              <a:rPr sz="1800" b="1" spc="-10">
                <a:solidFill>
                  <a:srgbClr val="1F3764"/>
                </a:solidFill>
                <a:latin typeface="Arial"/>
                <a:cs typeface="Arial"/>
              </a:rPr>
              <a:t>Services &amp;Data Resources</a:t>
            </a:r>
            <a:endParaRPr sz="1800">
              <a:latin typeface="Arial"/>
              <a:cs typeface="Arial"/>
            </a:endParaRPr>
          </a:p>
          <a:p>
            <a:pPr marL="271145" marR="5080" indent="-259079">
              <a:lnSpc>
                <a:spcPct val="100000"/>
              </a:lnSpc>
              <a:spcBef>
                <a:spcPts val="825"/>
              </a:spcBef>
              <a:buChar char="•"/>
              <a:tabLst>
                <a:tab pos="271145" algn="l"/>
              </a:tabLst>
              <a:defRPr/>
            </a:pPr>
            <a:r>
              <a:rPr lang="en-IN" sz="1400" b="1" spc="-10">
                <a:latin typeface="Times New Roman"/>
                <a:cs typeface="Times New Roman"/>
              </a:rPr>
              <a:t>Twingate API</a:t>
            </a:r>
            <a:endParaRPr sz="1400" b="1">
              <a:latin typeface="Times New Roman"/>
              <a:cs typeface="Times New Roman"/>
            </a:endParaRPr>
          </a:p>
          <a:p>
            <a:pPr marL="271145" marR="26670" indent="-259079">
              <a:lnSpc>
                <a:spcPct val="100000"/>
              </a:lnSpc>
              <a:buFont typeface="Arial"/>
              <a:buChar char="•"/>
              <a:tabLst>
                <a:tab pos="27114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REST API</a:t>
            </a:r>
            <a:endParaRPr sz="1400" b="1">
              <a:latin typeface="Times New Roman"/>
              <a:cs typeface="Times New Roman"/>
            </a:endParaRPr>
          </a:p>
          <a:p>
            <a:pPr marL="269875" marR="410209" indent="-257810" algn="just">
              <a:lnSpc>
                <a:spcPct val="100000"/>
              </a:lnSpc>
              <a:buChar char="•"/>
              <a:tabLst>
                <a:tab pos="271145" algn="l"/>
              </a:tabLst>
              <a:defRPr/>
            </a:pPr>
            <a:r>
              <a:rPr sz="1400" b="1" spc="-50">
                <a:latin typeface="Times New Roman"/>
                <a:cs typeface="Times New Roman"/>
              </a:rPr>
              <a:t>	</a:t>
            </a:r>
            <a:r>
              <a:rPr lang="en-IN" sz="1400" b="1">
                <a:latin typeface="Times New Roman"/>
                <a:cs typeface="Times New Roman"/>
              </a:rPr>
              <a:t>DNS</a:t>
            </a:r>
            <a:endParaRPr/>
          </a:p>
          <a:p>
            <a:pPr marL="269875" marR="410209" indent="-257810" algn="just">
              <a:lnSpc>
                <a:spcPct val="100000"/>
              </a:lnSpc>
              <a:buChar char="•"/>
              <a:tabLst>
                <a:tab pos="27114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Authentication</a:t>
            </a:r>
            <a:endParaRPr sz="1400" b="1">
              <a:latin typeface="Times New Roman"/>
              <a:cs typeface="Times New Roman"/>
            </a:endParaRPr>
          </a:p>
          <a:p>
            <a:pPr marL="269875" marR="124460" indent="-257810" algn="just">
              <a:lnSpc>
                <a:spcPct val="100000"/>
              </a:lnSpc>
              <a:buChar char="•"/>
              <a:tabLst>
                <a:tab pos="27114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Activity Logs</a:t>
            </a:r>
            <a:endParaRPr/>
          </a:p>
          <a:p>
            <a:pPr marL="269875" marR="124460" indent="-257810" algn="just">
              <a:lnSpc>
                <a:spcPct val="100000"/>
              </a:lnSpc>
              <a:buChar char="•"/>
              <a:tabLst>
                <a:tab pos="271145" algn="l"/>
              </a:tabLst>
              <a:defRPr/>
            </a:pPr>
            <a:r>
              <a:rPr lang="en-IN" sz="1400" b="1">
                <a:latin typeface="Times New Roman"/>
                <a:cs typeface="Times New Roman"/>
              </a:rPr>
              <a:t>Network Data</a:t>
            </a:r>
            <a:endParaRPr sz="1400" b="1">
              <a:latin typeface="Times New Roman"/>
              <a:cs typeface="Times New Roman"/>
            </a:endParaRPr>
          </a:p>
        </p:txBody>
      </p:sp>
      <p:pic>
        <p:nvPicPr>
          <p:cNvPr id="826809330" name="object 19"/>
          <p:cNvPicPr/>
          <p:nvPr/>
        </p:nvPicPr>
        <p:blipFill rotWithShape="1">
          <a:blip r:embed="rId5"/>
          <a:stretch/>
        </p:blipFill>
        <p:spPr bwMode="auto">
          <a:xfrm>
            <a:off x="3989729" y="1882169"/>
            <a:ext cx="284633" cy="267890"/>
          </a:xfrm>
          <a:prstGeom prst="rect">
            <a:avLst/>
          </a:prstGeom>
        </p:spPr>
      </p:pic>
      <p:sp>
        <p:nvSpPr>
          <p:cNvPr id="1421819099" name="object 20"/>
          <p:cNvSpPr txBox="1"/>
          <p:nvPr/>
        </p:nvSpPr>
        <p:spPr bwMode="auto">
          <a:xfrm>
            <a:off x="3977029" y="1852949"/>
            <a:ext cx="1338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7345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 spc="-10">
                <a:solidFill>
                  <a:srgbClr val="102C57"/>
                </a:solidFill>
                <a:latin typeface="Arial"/>
                <a:cs typeface="Arial"/>
              </a:rPr>
              <a:t>Software </a:t>
            </a:r>
            <a:r>
              <a:rPr sz="1800" b="1">
                <a:solidFill>
                  <a:srgbClr val="102C57"/>
                </a:solidFill>
                <a:latin typeface="Arial"/>
                <a:cs typeface="Arial"/>
              </a:rPr>
              <a:t>&amp;</a:t>
            </a:r>
            <a:r>
              <a:rPr sz="1800" b="1" spc="-25">
                <a:solidFill>
                  <a:srgbClr val="102C57"/>
                </a:solidFill>
                <a:latin typeface="Arial"/>
                <a:cs typeface="Arial"/>
              </a:rPr>
              <a:t> </a:t>
            </a:r>
            <a:r>
              <a:rPr sz="1800" b="1" spc="-20">
                <a:solidFill>
                  <a:srgbClr val="102C57"/>
                </a:solidFill>
                <a:latin typeface="Arial"/>
                <a:cs typeface="Arial"/>
              </a:rPr>
              <a:t>Tools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1730678" name="object 21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37</a:t>
            </a:fld>
            <a:endParaRPr spc="-25"/>
          </a:p>
        </p:txBody>
      </p:sp>
      <p:sp>
        <p:nvSpPr>
          <p:cNvPr id="1113094836" name="object 22"/>
          <p:cNvSpPr txBox="1"/>
          <p:nvPr/>
        </p:nvSpPr>
        <p:spPr bwMode="auto">
          <a:xfrm>
            <a:off x="895677" y="6488122"/>
            <a:ext cx="114471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195340823" name="object 23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794859047" name="object 24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457889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38</a:t>
            </a:fld>
            <a:endParaRPr spc="-25"/>
          </a:p>
        </p:txBody>
      </p:sp>
      <p:sp>
        <p:nvSpPr>
          <p:cNvPr id="1624147818" name="object 5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944770733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149679475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330905018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754082" y="408856"/>
            <a:ext cx="38125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CONCLUSION</a:t>
            </a:r>
            <a:endParaRPr/>
          </a:p>
        </p:txBody>
      </p:sp>
      <p:sp>
        <p:nvSpPr>
          <p:cNvPr id="1787457442" name="object 3"/>
          <p:cNvSpPr txBox="1"/>
          <p:nvPr/>
        </p:nvSpPr>
        <p:spPr bwMode="auto">
          <a:xfrm>
            <a:off x="351420" y="1555819"/>
            <a:ext cx="8590915" cy="341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" marR="404494" indent="-2101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US" sz="1900" spc="-25">
                <a:latin typeface="Times New Roman"/>
                <a:cs typeface="Times New Roman"/>
              </a:rPr>
              <a:t>SECURE REMOTE NETWORK ACCESS USING TWIN GATE AND RASPBERRY PI provides secure and reliable remote network connectivity</a:t>
            </a:r>
            <a:r>
              <a:rPr sz="1900" spc="-1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222885" marR="220345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US" sz="1900">
                <a:latin typeface="Times New Roman"/>
                <a:cs typeface="Times New Roman"/>
              </a:rPr>
              <a:t>Raspberry Pi acts as a low-cost and lightweight network connector</a:t>
            </a:r>
            <a:r>
              <a:rPr sz="1900" spc="-1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222885" marR="746760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US" sz="1900">
                <a:latin typeface="Times New Roman"/>
                <a:cs typeface="Times New Roman"/>
              </a:rPr>
              <a:t>Twingate enables Zero Trust-based remote access without exposing internal services</a:t>
            </a:r>
            <a:r>
              <a:rPr sz="1900" spc="-1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222885" marR="616585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US" sz="1900">
                <a:latin typeface="Times New Roman"/>
                <a:cs typeface="Times New Roman"/>
              </a:rPr>
              <a:t>Identity verification and least-privilege access enhance network security</a:t>
            </a:r>
            <a:r>
              <a:rPr sz="1900" spc="-1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222885" marR="5080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IN" sz="1900">
                <a:latin typeface="Times New Roman"/>
                <a:cs typeface="Times New Roman"/>
              </a:rPr>
              <a:t>Python API automation simplifies resource management and configuration</a:t>
            </a:r>
            <a:r>
              <a:rPr sz="1900" spc="-10">
                <a:latin typeface="Times New Roman"/>
                <a:cs typeface="Times New Roman"/>
              </a:rPr>
              <a:t>.</a:t>
            </a:r>
            <a:endParaRPr lang="en-IN" sz="1900" spc="-10">
              <a:latin typeface="Times New Roman"/>
              <a:cs typeface="Times New Roman"/>
            </a:endParaRPr>
          </a:p>
          <a:p>
            <a:pPr marL="222885" marR="5080" indent="-210185"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r>
              <a:rPr lang="en-US" sz="1900">
                <a:latin typeface="Times New Roman"/>
                <a:cs typeface="Times New Roman"/>
              </a:rPr>
              <a:t>The proposed system is scalable, cost-effective, and easy to manage</a:t>
            </a:r>
            <a:r>
              <a:rPr lang="en-IN" sz="1900" spc="-10">
                <a:latin typeface="Times New Roman"/>
                <a:cs typeface="Times New Roman"/>
              </a:rPr>
              <a:t>.</a:t>
            </a:r>
            <a:endParaRPr lang="en-IN" sz="1900">
              <a:latin typeface="Times New Roman"/>
              <a:cs typeface="Times New Roman"/>
            </a:endParaRPr>
          </a:p>
          <a:p>
            <a:pPr marL="222885" marR="5080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  <a:defRPr/>
            </a:pP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1063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39</a:t>
            </a:fld>
            <a:endParaRPr spc="-25"/>
          </a:p>
        </p:txBody>
      </p:sp>
      <p:sp>
        <p:nvSpPr>
          <p:cNvPr id="1420617945" name="object 5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300363494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2107668540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596227838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769496" y="408856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REFERENCES</a:t>
            </a:r>
            <a:endParaRPr/>
          </a:p>
        </p:txBody>
      </p:sp>
      <p:sp>
        <p:nvSpPr>
          <p:cNvPr id="1578606200" name="object 3"/>
          <p:cNvSpPr txBox="1"/>
          <p:nvPr/>
        </p:nvSpPr>
        <p:spPr bwMode="auto">
          <a:xfrm>
            <a:off x="549014" y="1228650"/>
            <a:ext cx="8105140" cy="403097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66675" algn="just">
              <a:lnSpc>
                <a:spcPct val="80000"/>
              </a:lnSpc>
              <a:spcBef>
                <a:spcPts val="530"/>
              </a:spcBef>
              <a:defRPr/>
            </a:pP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[1]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800" spc="483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Jayadevan,</a:t>
            </a:r>
            <a:r>
              <a:rPr sz="1800" spc="4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83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800" spc="4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Sebastian,</a:t>
            </a:r>
            <a:r>
              <a:rPr sz="1800" spc="39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800" spc="483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Goutham,</a:t>
            </a:r>
            <a:r>
              <a:rPr sz="1800" spc="4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83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KV,</a:t>
            </a:r>
            <a:r>
              <a:rPr sz="1800" spc="4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5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T,</a:t>
            </a:r>
            <a:r>
              <a:rPr sz="1800" spc="4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3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800" spc="39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Ananthan, "Edge-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Based,</a:t>
            </a:r>
            <a:r>
              <a:rPr sz="1800" spc="-6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>
                <a:solidFill>
                  <a:srgbClr val="303030"/>
                </a:solidFill>
                <a:latin typeface="Times New Roman"/>
                <a:cs typeface="Times New Roman"/>
              </a:rPr>
              <a:t>Power-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Efficient</a:t>
            </a:r>
            <a:r>
              <a:rPr sz="1800" spc="-3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303030"/>
                </a:solidFill>
                <a:latin typeface="Times New Roman"/>
                <a:cs typeface="Times New Roman"/>
              </a:rPr>
              <a:t>Real-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Time</a:t>
            </a:r>
            <a:r>
              <a:rPr sz="1800" spc="-6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303030"/>
                </a:solidFill>
                <a:latin typeface="Times New Roman"/>
                <a:cs typeface="Times New Roman"/>
              </a:rPr>
              <a:t>Wild</a:t>
            </a:r>
            <a:r>
              <a:rPr sz="1800" spc="-9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Animal</a:t>
            </a:r>
            <a:r>
              <a:rPr sz="1800" spc="-3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-3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11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Alarm</a:t>
            </a:r>
            <a:r>
              <a:rPr sz="1800" spc="-3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-3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>
                <a:solidFill>
                  <a:srgbClr val="303030"/>
                </a:solidFill>
                <a:latin typeface="Times New Roman"/>
                <a:cs typeface="Times New Roman"/>
              </a:rPr>
              <a:t>on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Raspberry</a:t>
            </a:r>
            <a:r>
              <a:rPr sz="1800" spc="-4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Pi</a:t>
            </a:r>
            <a:r>
              <a:rPr sz="1800" spc="-2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Using</a:t>
            </a:r>
            <a:r>
              <a:rPr sz="1800" spc="-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303030"/>
                </a:solidFill>
                <a:latin typeface="Times New Roman"/>
                <a:cs typeface="Times New Roman"/>
              </a:rPr>
              <a:t>YOLO</a:t>
            </a:r>
            <a:r>
              <a:rPr sz="1800" spc="-10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Architecture,"</a:t>
            </a:r>
            <a:r>
              <a:rPr sz="1800" spc="-2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303030"/>
                </a:solidFill>
                <a:latin typeface="Times New Roman"/>
                <a:cs typeface="Times New Roman"/>
              </a:rPr>
              <a:t>2025</a:t>
            </a:r>
            <a:endParaRPr sz="1800">
              <a:latin typeface="Times New Roman"/>
              <a:cs typeface="Times New Roman"/>
            </a:endParaRPr>
          </a:p>
          <a:p>
            <a:pPr marL="12700" marR="11430" algn="just">
              <a:lnSpc>
                <a:spcPct val="80000"/>
              </a:lnSpc>
              <a:spcBef>
                <a:spcPts val="1730"/>
              </a:spcBef>
              <a:defRPr/>
            </a:pP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[2]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8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Naveen,</a:t>
            </a:r>
            <a:r>
              <a:rPr sz="1800" spc="8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800" spc="8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Dhamotharan,</a:t>
            </a:r>
            <a:r>
              <a:rPr sz="1800" spc="8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et</a:t>
            </a:r>
            <a:r>
              <a:rPr sz="1800" spc="8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al.,</a:t>
            </a:r>
            <a:r>
              <a:rPr sz="1800" spc="8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"ElephantGuardNet:</a:t>
            </a:r>
            <a:r>
              <a:rPr sz="1800" spc="-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Comprehensive</a:t>
            </a:r>
            <a:r>
              <a:rPr sz="1800" spc="8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Solution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800" spc="15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800" spc="15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Conservation</a:t>
            </a:r>
            <a:r>
              <a:rPr sz="1800" spc="15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16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303030"/>
                </a:solidFill>
                <a:latin typeface="Times New Roman"/>
                <a:cs typeface="Times New Roman"/>
              </a:rPr>
              <a:t>Human-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800" spc="15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Conflict</a:t>
            </a:r>
            <a:r>
              <a:rPr sz="1800" spc="15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Reduction,"</a:t>
            </a:r>
            <a:r>
              <a:rPr sz="1800" spc="16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Proc.</a:t>
            </a:r>
            <a:r>
              <a:rPr sz="1800" spc="15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ICSADL,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730"/>
              </a:lnSpc>
              <a:defRPr/>
            </a:pP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pp. 1470–1477,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2025.</a:t>
            </a:r>
            <a:endParaRPr sz="1800">
              <a:latin typeface="Times New Roman"/>
              <a:cs typeface="Times New Roman"/>
            </a:endParaRPr>
          </a:p>
          <a:p>
            <a:pPr marL="12700" marR="20320" algn="just">
              <a:lnSpc>
                <a:spcPct val="80000"/>
              </a:lnSpc>
              <a:spcBef>
                <a:spcPts val="1725"/>
              </a:spcBef>
              <a:defRPr/>
            </a:pPr>
            <a:r>
              <a:rPr sz="1800" b="1">
                <a:latin typeface="Times New Roman"/>
                <a:cs typeface="Times New Roman"/>
              </a:rPr>
              <a:t>[3]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D.</a:t>
            </a:r>
            <a:r>
              <a:rPr sz="1800" spc="8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Ma</a:t>
            </a:r>
            <a:r>
              <a:rPr sz="1800" spc="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J.</a:t>
            </a:r>
            <a:r>
              <a:rPr sz="1800" spc="3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Yang,</a:t>
            </a:r>
            <a:r>
              <a:rPr sz="1800" spc="8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>
                <a:solidFill>
                  <a:srgbClr val="303030"/>
                </a:solidFill>
                <a:latin typeface="Times New Roman"/>
                <a:cs typeface="Times New Roman"/>
              </a:rPr>
              <a:t>"YOLO-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Animal: An</a:t>
            </a:r>
            <a:r>
              <a:rPr sz="1800" spc="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efficient</a:t>
            </a:r>
            <a:r>
              <a:rPr sz="1800" spc="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wildlife</a:t>
            </a:r>
            <a:r>
              <a:rPr sz="1800" spc="8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based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800" spc="44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improved</a:t>
            </a:r>
            <a:r>
              <a:rPr sz="1800" spc="38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YOLOv5,"</a:t>
            </a:r>
            <a:r>
              <a:rPr sz="1800" spc="44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International</a:t>
            </a:r>
            <a:r>
              <a:rPr sz="1800" spc="44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Conference</a:t>
            </a:r>
            <a:r>
              <a:rPr sz="1800" spc="44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800" spc="44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Image</a:t>
            </a:r>
            <a:r>
              <a:rPr sz="1800" spc="44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Processing,</a:t>
            </a:r>
            <a:r>
              <a:rPr sz="1800" spc="44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Computer Vision</a:t>
            </a:r>
            <a:r>
              <a:rPr sz="1800" spc="-7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6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-7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800" spc="-6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(ICICML),</a:t>
            </a:r>
            <a:r>
              <a:rPr sz="1800" spc="-6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303030"/>
                </a:solidFill>
                <a:latin typeface="Times New Roman"/>
                <a:cs typeface="Times New Roman"/>
              </a:rPr>
              <a:t>2022</a:t>
            </a:r>
            <a:endParaRPr sz="1800">
              <a:latin typeface="Times New Roman"/>
              <a:cs typeface="Times New Roman"/>
            </a:endParaRPr>
          </a:p>
          <a:p>
            <a:pPr marL="12700" marR="81280" algn="just">
              <a:lnSpc>
                <a:spcPct val="80000"/>
              </a:lnSpc>
              <a:spcBef>
                <a:spcPts val="1730"/>
              </a:spcBef>
              <a:defRPr/>
            </a:pPr>
            <a:r>
              <a:rPr sz="1800" b="1">
                <a:solidFill>
                  <a:srgbClr val="303030"/>
                </a:solidFill>
                <a:latin typeface="Times New Roman"/>
                <a:cs typeface="Times New Roman"/>
              </a:rPr>
              <a:t>[4]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V.</a:t>
            </a:r>
            <a:r>
              <a:rPr sz="1800" spc="19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Bharati,</a:t>
            </a:r>
            <a:r>
              <a:rPr sz="1800" spc="21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"A</a:t>
            </a:r>
            <a:r>
              <a:rPr sz="1800" spc="12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Deep</a:t>
            </a:r>
            <a:r>
              <a:rPr sz="1800" spc="21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Neural</a:t>
            </a:r>
            <a:r>
              <a:rPr sz="1800" spc="204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21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17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Vision</a:t>
            </a:r>
            <a:r>
              <a:rPr sz="1800" spc="12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Application</a:t>
            </a:r>
            <a:r>
              <a:rPr sz="1800" spc="21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800" spc="21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Preventing </a:t>
            </a:r>
            <a:r>
              <a:rPr sz="1800" spc="-25">
                <a:solidFill>
                  <a:srgbClr val="303030"/>
                </a:solidFill>
                <a:latin typeface="Times New Roman"/>
                <a:cs typeface="Times New Roman"/>
              </a:rPr>
              <a:t>Wildlife-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Human</a:t>
            </a:r>
            <a:r>
              <a:rPr sz="1800" spc="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Conflicts,"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730"/>
              </a:lnSpc>
              <a:spcBef>
                <a:spcPts val="1710"/>
              </a:spcBef>
              <a:defRPr/>
            </a:pPr>
            <a:r>
              <a:rPr sz="1700" b="1">
                <a:latin typeface="Arial"/>
                <a:cs typeface="Arial"/>
              </a:rPr>
              <a:t>[5]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21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Gunasekara,</a:t>
            </a:r>
            <a:r>
              <a:rPr sz="1800" spc="21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800" spc="21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Jayasuriya,</a:t>
            </a:r>
            <a:r>
              <a:rPr sz="1800" spc="21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N.</a:t>
            </a:r>
            <a:r>
              <a:rPr sz="1800" spc="21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Harischandra,</a:t>
            </a:r>
            <a:r>
              <a:rPr sz="1800" spc="21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L.</a:t>
            </a:r>
            <a:r>
              <a:rPr sz="1800" spc="21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Samaranayake,</a:t>
            </a:r>
            <a:r>
              <a:rPr sz="1800" spc="21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21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spc="-25">
                <a:solidFill>
                  <a:srgbClr val="303030"/>
                </a:solidFill>
                <a:latin typeface="Times New Roman"/>
                <a:cs typeface="Times New Roman"/>
              </a:rPr>
              <a:t>G.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Dissanayake,</a:t>
            </a:r>
            <a:r>
              <a:rPr sz="1800" spc="2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"A</a:t>
            </a:r>
            <a:r>
              <a:rPr sz="1800" spc="408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Convolutional</a:t>
            </a:r>
            <a:r>
              <a:rPr sz="1800" spc="2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Neural</a:t>
            </a:r>
            <a:r>
              <a:rPr sz="1800" spc="2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3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Based</a:t>
            </a:r>
            <a:r>
              <a:rPr sz="1800" spc="2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Early</a:t>
            </a:r>
            <a:r>
              <a:rPr sz="1800" spc="47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Warning</a:t>
            </a:r>
            <a:r>
              <a:rPr sz="1800" spc="2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25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spc="-25">
                <a:solidFill>
                  <a:srgbClr val="303030"/>
                </a:solidFill>
                <a:latin typeface="Times New Roman"/>
                <a:cs typeface="Times New Roman"/>
              </a:rPr>
              <a:t>to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Prevent</a:t>
            </a:r>
            <a:r>
              <a:rPr sz="1800" spc="-6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303030"/>
                </a:solidFill>
                <a:latin typeface="Times New Roman"/>
                <a:cs typeface="Times New Roman"/>
              </a:rPr>
              <a:t>Elephant-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Train</a:t>
            </a:r>
            <a:r>
              <a:rPr sz="1800" spc="-5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Collisions,"</a:t>
            </a:r>
            <a:r>
              <a:rPr sz="1800" spc="-6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IEEE,</a:t>
            </a:r>
            <a:r>
              <a:rPr sz="1800" spc="-5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954697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40</a:t>
            </a:fld>
            <a:endParaRPr spc="-25"/>
          </a:p>
        </p:txBody>
      </p:sp>
      <p:sp>
        <p:nvSpPr>
          <p:cNvPr id="1964385015" name="object 5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1584059897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450892088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062229680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REFERENCES</a:t>
            </a:r>
            <a:endParaRPr/>
          </a:p>
        </p:txBody>
      </p:sp>
      <p:sp>
        <p:nvSpPr>
          <p:cNvPr id="1851538976" name="object 3"/>
          <p:cNvSpPr txBox="1"/>
          <p:nvPr/>
        </p:nvSpPr>
        <p:spPr bwMode="auto">
          <a:xfrm>
            <a:off x="530225" y="1779394"/>
            <a:ext cx="8086090" cy="35915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40005" indent="266065" algn="just">
              <a:lnSpc>
                <a:spcPct val="80000"/>
              </a:lnSpc>
              <a:spcBef>
                <a:spcPts val="53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  <a:defRPr/>
            </a:pPr>
            <a:r>
              <a:rPr sz="1800">
                <a:latin typeface="Times New Roman"/>
                <a:cs typeface="Times New Roman"/>
              </a:rPr>
              <a:t>Jayanthi</a:t>
            </a:r>
            <a:r>
              <a:rPr sz="1800" spc="-1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</a:t>
            </a:r>
            <a:r>
              <a:rPr sz="1800" spc="-1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&amp;</a:t>
            </a:r>
            <a:r>
              <a:rPr sz="1800" spc="-10">
                <a:latin typeface="Times New Roman"/>
                <a:cs typeface="Times New Roman"/>
              </a:rPr>
              <a:t> </a:t>
            </a:r>
            <a:r>
              <a:rPr sz="1800" spc="-25">
                <a:latin typeface="Times New Roman"/>
                <a:cs typeface="Times New Roman"/>
              </a:rPr>
              <a:t>K.V.</a:t>
            </a:r>
            <a:r>
              <a:rPr sz="1800" spc="-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Kanimozhi</a:t>
            </a:r>
            <a:r>
              <a:rPr sz="1800" spc="-1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(2025).</a:t>
            </a:r>
            <a:r>
              <a:rPr sz="1800" spc="-1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"Enhancing</a:t>
            </a:r>
            <a:r>
              <a:rPr sz="1800" spc="-1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the</a:t>
            </a:r>
            <a:r>
              <a:rPr sz="1800" spc="-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Identification</a:t>
            </a:r>
            <a:r>
              <a:rPr sz="1800" spc="-1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of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Wildlife</a:t>
            </a:r>
            <a:r>
              <a:rPr sz="1800" spc="-10">
                <a:latin typeface="Times New Roman"/>
                <a:cs typeface="Times New Roman"/>
              </a:rPr>
              <a:t> </a:t>
            </a:r>
            <a:r>
              <a:rPr sz="1800" spc="-25">
                <a:latin typeface="Times New Roman"/>
                <a:cs typeface="Times New Roman"/>
              </a:rPr>
              <a:t>via </a:t>
            </a:r>
            <a:r>
              <a:rPr sz="1800" spc="-10">
                <a:latin typeface="Times New Roman"/>
                <a:cs typeface="Times New Roman"/>
              </a:rPr>
              <a:t>Self-</a:t>
            </a:r>
            <a:r>
              <a:rPr sz="1800">
                <a:latin typeface="Times New Roman"/>
                <a:cs typeface="Times New Roman"/>
              </a:rPr>
              <a:t>Supervised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Learning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on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Unlabelled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Camera</a:t>
            </a:r>
            <a:r>
              <a:rPr sz="1800" spc="-8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Trap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Information"</a:t>
            </a:r>
            <a:endParaRPr sz="1800">
              <a:latin typeface="Times New Roman"/>
              <a:cs typeface="Times New Roman"/>
            </a:endParaRPr>
          </a:p>
          <a:p>
            <a:pPr marL="12700" marR="17780" indent="266065" algn="just">
              <a:lnSpc>
                <a:spcPct val="80000"/>
              </a:lnSpc>
              <a:spcBef>
                <a:spcPts val="173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  <a:defRPr/>
            </a:pPr>
            <a:r>
              <a:rPr sz="1800">
                <a:latin typeface="Times New Roman"/>
                <a:cs typeface="Times New Roman"/>
              </a:rPr>
              <a:t>Supreet</a:t>
            </a:r>
            <a:r>
              <a:rPr sz="1800" spc="20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Parida,</a:t>
            </a:r>
            <a:r>
              <a:rPr sz="1800" spc="204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Suvam</a:t>
            </a:r>
            <a:r>
              <a:rPr sz="1800" spc="20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Nayak,</a:t>
            </a:r>
            <a:r>
              <a:rPr sz="1800" spc="11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Anjana</a:t>
            </a:r>
            <a:r>
              <a:rPr sz="1800" spc="204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Mishra,</a:t>
            </a:r>
            <a:r>
              <a:rPr sz="1800" spc="204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Nilamadhab</a:t>
            </a:r>
            <a:r>
              <a:rPr sz="1800" spc="204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Mishra,</a:t>
            </a:r>
            <a:r>
              <a:rPr sz="1800" spc="204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Bibhu</a:t>
            </a:r>
            <a:r>
              <a:rPr sz="1800" spc="204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Prasad </a:t>
            </a:r>
            <a:r>
              <a:rPr sz="1800">
                <a:latin typeface="Times New Roman"/>
                <a:cs typeface="Times New Roman"/>
              </a:rPr>
              <a:t>Sahoo,</a:t>
            </a:r>
            <a:r>
              <a:rPr sz="1800" spc="28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&amp;</a:t>
            </a:r>
            <a:r>
              <a:rPr sz="1800" spc="28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Bhabani</a:t>
            </a:r>
            <a:r>
              <a:rPr sz="1800" spc="28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Sankar</a:t>
            </a:r>
            <a:r>
              <a:rPr sz="1800" spc="29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Panda</a:t>
            </a:r>
            <a:r>
              <a:rPr sz="1800" spc="28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(2024).</a:t>
            </a:r>
            <a:r>
              <a:rPr sz="1800" spc="28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“Recognizing</a:t>
            </a:r>
            <a:r>
              <a:rPr sz="1800" spc="254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Wild</a:t>
            </a:r>
            <a:r>
              <a:rPr sz="1800" spc="19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Animals</a:t>
            </a:r>
            <a:r>
              <a:rPr sz="1800" spc="29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from</a:t>
            </a:r>
            <a:r>
              <a:rPr sz="1800" spc="28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Camera </a:t>
            </a:r>
            <a:r>
              <a:rPr sz="1800">
                <a:latin typeface="Times New Roman"/>
                <a:cs typeface="Times New Roman"/>
              </a:rPr>
              <a:t>Trap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Images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Using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Deep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Learning”.</a:t>
            </a:r>
            <a:endParaRPr sz="1800">
              <a:latin typeface="Times New Roman"/>
              <a:cs typeface="Times New Roman"/>
            </a:endParaRPr>
          </a:p>
          <a:p>
            <a:pPr marL="12700" marR="70485" indent="266065" algn="just">
              <a:lnSpc>
                <a:spcPct val="80000"/>
              </a:lnSpc>
              <a:spcBef>
                <a:spcPts val="1725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  <a:defRPr/>
            </a:pPr>
            <a:r>
              <a:rPr sz="1800" spc="-10">
                <a:latin typeface="Times New Roman"/>
                <a:cs typeface="Times New Roman"/>
              </a:rPr>
              <a:t>Krishnaveni</a:t>
            </a:r>
            <a:r>
              <a:rPr sz="1800" spc="-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</a:t>
            </a:r>
            <a:r>
              <a:rPr sz="1800" spc="-6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&amp;</a:t>
            </a:r>
            <a:r>
              <a:rPr sz="1800" spc="-6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Arvinth</a:t>
            </a:r>
            <a:r>
              <a:rPr sz="1800" spc="3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K</a:t>
            </a:r>
            <a:r>
              <a:rPr sz="1800" spc="-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</a:t>
            </a:r>
            <a:r>
              <a:rPr sz="1800" spc="-6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(2025).</a:t>
            </a:r>
            <a:r>
              <a:rPr sz="1800" spc="3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"Smart</a:t>
            </a:r>
            <a:r>
              <a:rPr sz="1800" spc="-6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Animal</a:t>
            </a:r>
            <a:r>
              <a:rPr sz="1800" spc="2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Monitoring</a:t>
            </a:r>
            <a:r>
              <a:rPr sz="1800" spc="2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System</a:t>
            </a:r>
            <a:r>
              <a:rPr sz="1800" spc="2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for</a:t>
            </a:r>
            <a:r>
              <a:rPr sz="1800" spc="3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Farms </a:t>
            </a:r>
            <a:r>
              <a:rPr sz="1800">
                <a:latin typeface="Times New Roman"/>
                <a:cs typeface="Times New Roman"/>
              </a:rPr>
              <a:t>using</a:t>
            </a:r>
            <a:r>
              <a:rPr sz="1800" spc="-10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YOLO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and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OpenCV"</a:t>
            </a:r>
            <a:endParaRPr sz="1800">
              <a:latin typeface="Times New Roman"/>
              <a:cs typeface="Times New Roman"/>
            </a:endParaRPr>
          </a:p>
          <a:p>
            <a:pPr marL="12700" marR="5080" indent="266065" algn="just">
              <a:lnSpc>
                <a:spcPts val="1730"/>
              </a:lnSpc>
              <a:spcBef>
                <a:spcPts val="1714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  <a:defRPr/>
            </a:pPr>
            <a:r>
              <a:rPr sz="1800">
                <a:latin typeface="Times New Roman"/>
                <a:cs typeface="Times New Roman"/>
              </a:rPr>
              <a:t>Gabriel</a:t>
            </a:r>
            <a:r>
              <a:rPr sz="1800" spc="75">
                <a:latin typeface="Times New Roman"/>
                <a:cs typeface="Times New Roman"/>
              </a:rPr>
              <a:t>  </a:t>
            </a:r>
            <a:r>
              <a:rPr sz="1800">
                <a:latin typeface="Times New Roman"/>
                <a:cs typeface="Times New Roman"/>
              </a:rPr>
              <a:t>S.</a:t>
            </a:r>
            <a:r>
              <a:rPr sz="1800" spc="75">
                <a:latin typeface="Times New Roman"/>
                <a:cs typeface="Times New Roman"/>
              </a:rPr>
              <a:t>  </a:t>
            </a:r>
            <a:r>
              <a:rPr sz="1800">
                <a:latin typeface="Times New Roman"/>
                <a:cs typeface="Times New Roman"/>
              </a:rPr>
              <a:t>Ferrante,</a:t>
            </a:r>
            <a:r>
              <a:rPr sz="1800" spc="80">
                <a:latin typeface="Times New Roman"/>
                <a:cs typeface="Times New Roman"/>
              </a:rPr>
              <a:t>  </a:t>
            </a:r>
            <a:r>
              <a:rPr sz="1800">
                <a:latin typeface="Times New Roman"/>
                <a:cs typeface="Times New Roman"/>
              </a:rPr>
              <a:t>Felipe</a:t>
            </a:r>
            <a:r>
              <a:rPr sz="1800" spc="75">
                <a:latin typeface="Times New Roman"/>
                <a:cs typeface="Times New Roman"/>
              </a:rPr>
              <a:t>  </a:t>
            </a:r>
            <a:r>
              <a:rPr sz="1800">
                <a:latin typeface="Times New Roman"/>
                <a:cs typeface="Times New Roman"/>
              </a:rPr>
              <a:t>M.</a:t>
            </a:r>
            <a:r>
              <a:rPr sz="1800" spc="80">
                <a:latin typeface="Times New Roman"/>
                <a:cs typeface="Times New Roman"/>
              </a:rPr>
              <a:t>  </a:t>
            </a:r>
            <a:r>
              <a:rPr sz="1800">
                <a:latin typeface="Times New Roman"/>
                <a:cs typeface="Times New Roman"/>
              </a:rPr>
              <a:t>Rodrigues,</a:t>
            </a:r>
            <a:r>
              <a:rPr sz="1800" spc="75">
                <a:latin typeface="Times New Roman"/>
                <a:cs typeface="Times New Roman"/>
              </a:rPr>
              <a:t>  </a:t>
            </a:r>
            <a:r>
              <a:rPr sz="1800">
                <a:latin typeface="Times New Roman"/>
                <a:cs typeface="Times New Roman"/>
              </a:rPr>
              <a:t>Fernando</a:t>
            </a:r>
            <a:r>
              <a:rPr sz="1800" spc="80">
                <a:latin typeface="Times New Roman"/>
                <a:cs typeface="Times New Roman"/>
              </a:rPr>
              <a:t>  </a:t>
            </a:r>
            <a:r>
              <a:rPr sz="1800">
                <a:latin typeface="Times New Roman"/>
                <a:cs typeface="Times New Roman"/>
              </a:rPr>
              <a:t>R.</a:t>
            </a:r>
            <a:r>
              <a:rPr sz="1800" spc="75">
                <a:latin typeface="Times New Roman"/>
                <a:cs typeface="Times New Roman"/>
              </a:rPr>
              <a:t>  </a:t>
            </a:r>
            <a:r>
              <a:rPr sz="1800">
                <a:latin typeface="Times New Roman"/>
                <a:cs typeface="Times New Roman"/>
              </a:rPr>
              <a:t>H.</a:t>
            </a:r>
            <a:r>
              <a:rPr sz="1800" spc="30">
                <a:latin typeface="Times New Roman"/>
                <a:cs typeface="Times New Roman"/>
              </a:rPr>
              <a:t>  </a:t>
            </a:r>
            <a:r>
              <a:rPr sz="1800">
                <a:latin typeface="Times New Roman"/>
                <a:cs typeface="Times New Roman"/>
              </a:rPr>
              <a:t>Andrade,</a:t>
            </a:r>
            <a:r>
              <a:rPr sz="1800" spc="80">
                <a:latin typeface="Times New Roman"/>
                <a:cs typeface="Times New Roman"/>
              </a:rPr>
              <a:t>  </a:t>
            </a:r>
            <a:r>
              <a:rPr sz="1800" spc="-10">
                <a:latin typeface="Times New Roman"/>
                <a:cs typeface="Times New Roman"/>
              </a:rPr>
              <a:t>Rudinei </a:t>
            </a:r>
            <a:r>
              <a:rPr sz="1800">
                <a:latin typeface="Times New Roman"/>
                <a:cs typeface="Times New Roman"/>
              </a:rPr>
              <a:t>Goularte,</a:t>
            </a:r>
            <a:r>
              <a:rPr sz="1800" spc="36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&amp;</a:t>
            </a:r>
            <a:r>
              <a:rPr sz="1800" spc="3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Rodolfo</a:t>
            </a:r>
            <a:r>
              <a:rPr sz="1800" spc="3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I.</a:t>
            </a:r>
            <a:r>
              <a:rPr sz="1800" spc="3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Meneguette</a:t>
            </a:r>
            <a:r>
              <a:rPr sz="1800" spc="3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(2021).</a:t>
            </a:r>
            <a:r>
              <a:rPr sz="1800" spc="3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"Understanding</a:t>
            </a:r>
            <a:r>
              <a:rPr sz="1800" spc="3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the</a:t>
            </a:r>
            <a:r>
              <a:rPr sz="1800" spc="3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state</a:t>
            </a:r>
            <a:r>
              <a:rPr sz="1800" spc="3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of</a:t>
            </a:r>
            <a:r>
              <a:rPr sz="1800" spc="3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the</a:t>
            </a:r>
            <a:r>
              <a:rPr sz="1800" spc="27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Art</a:t>
            </a:r>
            <a:r>
              <a:rPr sz="1800" spc="370">
                <a:latin typeface="Times New Roman"/>
                <a:cs typeface="Times New Roman"/>
              </a:rPr>
              <a:t> </a:t>
            </a:r>
            <a:r>
              <a:rPr sz="1800" spc="-25">
                <a:latin typeface="Times New Roman"/>
                <a:cs typeface="Times New Roman"/>
              </a:rPr>
              <a:t>in </a:t>
            </a:r>
            <a:r>
              <a:rPr sz="1800">
                <a:latin typeface="Times New Roman"/>
                <a:cs typeface="Times New Roman"/>
              </a:rPr>
              <a:t>Animal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detection</a:t>
            </a:r>
            <a:r>
              <a:rPr sz="1800" spc="-4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and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classification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using</a:t>
            </a:r>
            <a:r>
              <a:rPr sz="1800" spc="-4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computer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vision</a:t>
            </a:r>
            <a:r>
              <a:rPr sz="1800" spc="-4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technologies</a:t>
            </a:r>
            <a:endParaRPr sz="1800">
              <a:latin typeface="Times New Roman"/>
              <a:cs typeface="Times New Roman"/>
            </a:endParaRPr>
          </a:p>
          <a:p>
            <a:pPr marL="12700" marR="88900" indent="380365" algn="just">
              <a:lnSpc>
                <a:spcPts val="1730"/>
              </a:lnSpc>
              <a:spcBef>
                <a:spcPts val="172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393065" algn="l"/>
              </a:tabLst>
              <a:defRPr/>
            </a:pPr>
            <a:r>
              <a:rPr sz="1800">
                <a:latin typeface="Times New Roman"/>
                <a:cs typeface="Times New Roman"/>
              </a:rPr>
              <a:t>Dr.</a:t>
            </a:r>
            <a:r>
              <a:rPr sz="1800" spc="3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S.</a:t>
            </a:r>
            <a:r>
              <a:rPr sz="1800" spc="10">
                <a:latin typeface="Times New Roman"/>
                <a:cs typeface="Times New Roman"/>
              </a:rPr>
              <a:t> </a:t>
            </a:r>
            <a:r>
              <a:rPr sz="1800" spc="-65">
                <a:latin typeface="Times New Roman"/>
                <a:cs typeface="Times New Roman"/>
              </a:rPr>
              <a:t>V.</a:t>
            </a:r>
            <a:r>
              <a:rPr sz="1800" spc="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Viraktamath,</a:t>
            </a:r>
            <a:r>
              <a:rPr sz="1800" spc="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Jahnavi</a:t>
            </a:r>
            <a:r>
              <a:rPr sz="1800" spc="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R,</a:t>
            </a:r>
            <a:r>
              <a:rPr sz="1800" spc="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Vidya,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Abhay</a:t>
            </a:r>
            <a:r>
              <a:rPr sz="1800" spc="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</a:t>
            </a:r>
            <a:r>
              <a:rPr sz="1800" spc="3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Bhat,</a:t>
            </a:r>
            <a:r>
              <a:rPr sz="1800" spc="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&amp;</a:t>
            </a:r>
            <a:r>
              <a:rPr sz="1800" spc="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Sathvik</a:t>
            </a:r>
            <a:r>
              <a:rPr sz="1800" spc="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Nayak</a:t>
            </a:r>
            <a:r>
              <a:rPr sz="1800" spc="3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(2021). "Wildlife</a:t>
            </a:r>
            <a:r>
              <a:rPr sz="1800" spc="-4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Monitoring</a:t>
            </a:r>
            <a:r>
              <a:rPr sz="1800" spc="-4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and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Surveillance"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909037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41</a:t>
            </a:fld>
            <a:endParaRPr spc="-25"/>
          </a:p>
        </p:txBody>
      </p:sp>
      <p:sp>
        <p:nvSpPr>
          <p:cNvPr id="343188827" name="object 5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420363118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203861604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663951588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REFERENCES</a:t>
            </a:r>
            <a:endParaRPr/>
          </a:p>
        </p:txBody>
      </p:sp>
      <p:sp>
        <p:nvSpPr>
          <p:cNvPr id="467593417" name="object 3"/>
          <p:cNvSpPr txBox="1"/>
          <p:nvPr/>
        </p:nvSpPr>
        <p:spPr bwMode="auto">
          <a:xfrm>
            <a:off x="530225" y="1787924"/>
            <a:ext cx="8084820" cy="42500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81280">
              <a:lnSpc>
                <a:spcPts val="1939"/>
              </a:lnSpc>
              <a:spcBef>
                <a:spcPts val="345"/>
              </a:spcBef>
              <a:defRPr/>
            </a:pP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[11]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Karthik</a:t>
            </a:r>
            <a:r>
              <a:rPr sz="1800" spc="8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Vasu,</a:t>
            </a:r>
            <a:r>
              <a:rPr sz="1800" spc="3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Anitha</a:t>
            </a:r>
            <a:r>
              <a:rPr sz="1800" spc="11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Premkumar,</a:t>
            </a:r>
            <a:r>
              <a:rPr sz="1800" spc="9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T.</a:t>
            </a:r>
            <a:r>
              <a:rPr sz="1800" spc="114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Ramesh,</a:t>
            </a:r>
            <a:r>
              <a:rPr sz="1800" spc="12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114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Rajesh</a:t>
            </a:r>
            <a:r>
              <a:rPr sz="1800" spc="12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Natarajan,</a:t>
            </a:r>
            <a:r>
              <a:rPr sz="1800" spc="114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303030"/>
                </a:solidFill>
                <a:latin typeface="Times New Roman"/>
                <a:cs typeface="Times New Roman"/>
              </a:rPr>
              <a:t>"Real-Time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Tiger</a:t>
            </a:r>
            <a:r>
              <a:rPr sz="1800" spc="-5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Intrusion</a:t>
            </a:r>
            <a:r>
              <a:rPr sz="1800" spc="-5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-4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-5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Using</a:t>
            </a:r>
            <a:r>
              <a:rPr sz="1800" spc="-4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-5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800" spc="-5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4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303030"/>
                </a:solidFill>
                <a:latin typeface="Times New Roman"/>
                <a:cs typeface="Times New Roman"/>
              </a:rPr>
              <a:t>IoT"</a:t>
            </a:r>
            <a:r>
              <a:rPr sz="1800" spc="-55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303030"/>
                </a:solidFill>
                <a:latin typeface="Times New Roman"/>
                <a:cs typeface="Times New Roman"/>
              </a:rPr>
              <a:t>(2026)</a:t>
            </a:r>
            <a:endParaRPr sz="1800">
              <a:latin typeface="Times New Roman"/>
              <a:cs typeface="Times New Roman"/>
            </a:endParaRPr>
          </a:p>
          <a:p>
            <a:pPr marL="12700" marR="19685">
              <a:lnSpc>
                <a:spcPts val="1939"/>
              </a:lnSpc>
              <a:spcBef>
                <a:spcPts val="1954"/>
              </a:spcBef>
              <a:tabLst>
                <a:tab pos="753110" algn="l"/>
                <a:tab pos="1818005" algn="l"/>
                <a:tab pos="2128520" algn="l"/>
                <a:tab pos="2423160" algn="l"/>
                <a:tab pos="2501900" algn="l"/>
                <a:tab pos="3155950" algn="l"/>
                <a:tab pos="3564254" algn="l"/>
                <a:tab pos="3928745" algn="l"/>
                <a:tab pos="4027170" algn="l"/>
                <a:tab pos="4730115" algn="l"/>
                <a:tab pos="5102860" algn="l"/>
                <a:tab pos="5607050" algn="l"/>
                <a:tab pos="6008370" algn="l"/>
                <a:tab pos="6262370" algn="l"/>
                <a:tab pos="6398260" algn="l"/>
                <a:tab pos="7121525" algn="l"/>
                <a:tab pos="7244715" algn="l"/>
                <a:tab pos="7574915" algn="l"/>
                <a:tab pos="7742555" algn="l"/>
              </a:tabLst>
              <a:defRPr/>
            </a:pPr>
            <a:r>
              <a:rPr sz="1800" b="1" spc="-10">
                <a:solidFill>
                  <a:srgbClr val="0C0C0C"/>
                </a:solidFill>
                <a:latin typeface="Times New Roman"/>
                <a:cs typeface="Times New Roman"/>
              </a:rPr>
              <a:t>[12]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T.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Manikandan,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V.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Nandalal,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Joshua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Kumaresan,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R.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Babuji,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A.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Muruganandham,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0">
                <a:solidFill>
                  <a:srgbClr val="0C0C0C"/>
                </a:solidFill>
                <a:latin typeface="Times New Roman"/>
                <a:cs typeface="Times New Roman"/>
              </a:rPr>
              <a:t>"IoT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Alert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0">
                <a:solidFill>
                  <a:srgbClr val="0C0C0C"/>
                </a:solidFill>
                <a:latin typeface="Times New Roman"/>
                <a:cs typeface="Times New Roman"/>
              </a:rPr>
              <a:t>Farm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Fields",2024.</a:t>
            </a:r>
            <a:endParaRPr sz="1800">
              <a:latin typeface="Times New Roman"/>
              <a:cs typeface="Times New Roman"/>
            </a:endParaRPr>
          </a:p>
          <a:p>
            <a:pPr marL="12700" marR="32384">
              <a:lnSpc>
                <a:spcPts val="1939"/>
              </a:lnSpc>
              <a:spcBef>
                <a:spcPts val="1954"/>
              </a:spcBef>
              <a:defRPr/>
            </a:pP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[13]</a:t>
            </a:r>
            <a:r>
              <a:rPr sz="1800">
                <a:latin typeface="Times New Roman"/>
                <a:cs typeface="Times New Roman"/>
              </a:rPr>
              <a:t>Sudharshan</a:t>
            </a:r>
            <a:r>
              <a:rPr sz="1800" spc="19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Duth</a:t>
            </a:r>
            <a:r>
              <a:rPr sz="1800" spc="19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P,</a:t>
            </a:r>
            <a:r>
              <a:rPr sz="1800" spc="19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Maneesha</a:t>
            </a:r>
            <a:r>
              <a:rPr sz="1800" spc="19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Shibu,</a:t>
            </a:r>
            <a:r>
              <a:rPr sz="1800" spc="19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and</a:t>
            </a:r>
            <a:r>
              <a:rPr sz="1800" spc="19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Nithyashree</a:t>
            </a:r>
            <a:r>
              <a:rPr sz="1800" spc="19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M,</a:t>
            </a:r>
            <a:r>
              <a:rPr sz="1800" spc="19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"Animal</a:t>
            </a:r>
            <a:r>
              <a:rPr sz="1800" spc="19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Detection</a:t>
            </a:r>
            <a:r>
              <a:rPr sz="1800" spc="195">
                <a:latin typeface="Times New Roman"/>
                <a:cs typeface="Times New Roman"/>
              </a:rPr>
              <a:t> </a:t>
            </a:r>
            <a:r>
              <a:rPr sz="1800" spc="-25">
                <a:latin typeface="Times New Roman"/>
                <a:cs typeface="Times New Roman"/>
              </a:rPr>
              <a:t>in </a:t>
            </a:r>
            <a:r>
              <a:rPr sz="1800">
                <a:latin typeface="Times New Roman"/>
                <a:cs typeface="Times New Roman"/>
              </a:rPr>
              <a:t>Night</a:t>
            </a:r>
            <a:r>
              <a:rPr sz="1800" spc="-3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Light</a:t>
            </a:r>
            <a:r>
              <a:rPr sz="1800" spc="-60">
                <a:latin typeface="Times New Roman"/>
                <a:cs typeface="Times New Roman"/>
              </a:rPr>
              <a:t> </a:t>
            </a:r>
            <a:r>
              <a:rPr sz="1800" spc="-20">
                <a:latin typeface="Times New Roman"/>
                <a:cs typeface="Times New Roman"/>
              </a:rPr>
              <a:t>Videos</a:t>
            </a:r>
            <a:r>
              <a:rPr sz="1800" spc="-3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Using</a:t>
            </a:r>
            <a:r>
              <a:rPr sz="1800" spc="-2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Deep</a:t>
            </a:r>
            <a:r>
              <a:rPr sz="1800" spc="-2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Learning",2024</a:t>
            </a:r>
            <a:endParaRPr sz="1800">
              <a:latin typeface="Times New Roman"/>
              <a:cs typeface="Times New Roman"/>
            </a:endParaRPr>
          </a:p>
          <a:p>
            <a:pPr marL="12700" marR="26670" algn="just">
              <a:lnSpc>
                <a:spcPts val="1939"/>
              </a:lnSpc>
              <a:spcBef>
                <a:spcPts val="1950"/>
              </a:spcBef>
              <a:defRPr/>
            </a:pP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[14]</a:t>
            </a:r>
            <a:r>
              <a:rPr sz="1800">
                <a:latin typeface="Times New Roman"/>
                <a:cs typeface="Times New Roman"/>
              </a:rPr>
              <a:t>Prabhat</a:t>
            </a:r>
            <a:r>
              <a:rPr sz="1800" spc="40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Kumar</a:t>
            </a:r>
            <a:r>
              <a:rPr sz="1800" spc="408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Panda,</a:t>
            </a:r>
            <a:r>
              <a:rPr sz="1800" spc="408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Cherlopalli</a:t>
            </a:r>
            <a:r>
              <a:rPr sz="1800" spc="40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Srujan</a:t>
            </a:r>
            <a:r>
              <a:rPr sz="1800" spc="408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Kumar,</a:t>
            </a:r>
            <a:r>
              <a:rPr sz="1800" spc="408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Bommu</a:t>
            </a:r>
            <a:r>
              <a:rPr sz="1800" spc="408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Sai</a:t>
            </a:r>
            <a:r>
              <a:rPr sz="1800" spc="38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Vivek,</a:t>
            </a:r>
            <a:r>
              <a:rPr sz="1800" spc="408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Masura </a:t>
            </a:r>
            <a:r>
              <a:rPr sz="1800">
                <a:latin typeface="Times New Roman"/>
                <a:cs typeface="Times New Roman"/>
              </a:rPr>
              <a:t>Balachandra,</a:t>
            </a:r>
            <a:r>
              <a:rPr sz="1800" spc="2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and</a:t>
            </a:r>
            <a:r>
              <a:rPr sz="1800" spc="2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Shashi</a:t>
            </a:r>
            <a:r>
              <a:rPr sz="1800" spc="2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Kant</a:t>
            </a:r>
            <a:r>
              <a:rPr sz="1800" spc="26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Dargar,</a:t>
            </a:r>
            <a:r>
              <a:rPr sz="1800" spc="2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"Implementation</a:t>
            </a:r>
            <a:r>
              <a:rPr sz="1800" spc="27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of</a:t>
            </a:r>
            <a:r>
              <a:rPr sz="1800" spc="27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</a:t>
            </a:r>
            <a:r>
              <a:rPr sz="1800" spc="24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Wild</a:t>
            </a:r>
            <a:r>
              <a:rPr sz="1800" spc="17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Animal</a:t>
            </a:r>
            <a:r>
              <a:rPr sz="1800" spc="26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Intrusion </a:t>
            </a:r>
            <a:r>
              <a:rPr sz="1800">
                <a:latin typeface="Times New Roman"/>
                <a:cs typeface="Times New Roman"/>
              </a:rPr>
              <a:t>Detection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Model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Based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on</a:t>
            </a:r>
            <a:r>
              <a:rPr sz="1800" spc="-4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Internet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of</a:t>
            </a:r>
            <a:r>
              <a:rPr sz="1800" spc="-8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Things",2022.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939"/>
              </a:lnSpc>
              <a:spcBef>
                <a:spcPts val="1954"/>
              </a:spcBef>
              <a:defRPr/>
            </a:pP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[15]</a:t>
            </a:r>
            <a:r>
              <a:rPr sz="1800">
                <a:latin typeface="Times New Roman"/>
                <a:cs typeface="Times New Roman"/>
              </a:rPr>
              <a:t>K.</a:t>
            </a:r>
            <a:r>
              <a:rPr sz="1800" spc="34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S.</a:t>
            </a:r>
            <a:r>
              <a:rPr sz="1800" spc="3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P.</a:t>
            </a:r>
            <a:r>
              <a:rPr sz="1800" spc="36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Premarathna,</a:t>
            </a:r>
            <a:r>
              <a:rPr sz="1800" spc="3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R.</a:t>
            </a:r>
            <a:r>
              <a:rPr sz="1800" spc="3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M.</a:t>
            </a:r>
            <a:r>
              <a:rPr sz="1800" spc="3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K.</a:t>
            </a:r>
            <a:r>
              <a:rPr sz="1800" spc="33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T.</a:t>
            </a:r>
            <a:r>
              <a:rPr sz="1800" spc="3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Rathnayaka,</a:t>
            </a:r>
            <a:r>
              <a:rPr sz="1800" spc="36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and</a:t>
            </a:r>
            <a:r>
              <a:rPr sz="1800" spc="3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J.</a:t>
            </a:r>
            <a:r>
              <a:rPr sz="1800" spc="35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Charles,</a:t>
            </a:r>
            <a:r>
              <a:rPr sz="1800" spc="36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"An</a:t>
            </a:r>
            <a:r>
              <a:rPr sz="1800" spc="35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Elephant </a:t>
            </a:r>
            <a:r>
              <a:rPr sz="1800">
                <a:latin typeface="Times New Roman"/>
                <a:cs typeface="Times New Roman"/>
              </a:rPr>
              <a:t>Detection</a:t>
            </a:r>
            <a:r>
              <a:rPr sz="1800" spc="-2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System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to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Prevent</a:t>
            </a:r>
            <a:r>
              <a:rPr sz="1800" spc="-25">
                <a:latin typeface="Times New Roman"/>
                <a:cs typeface="Times New Roman"/>
              </a:rPr>
              <a:t> </a:t>
            </a:r>
            <a:r>
              <a:rPr sz="1800" spc="-20">
                <a:latin typeface="Times New Roman"/>
                <a:cs typeface="Times New Roman"/>
              </a:rPr>
              <a:t>Human-</a:t>
            </a:r>
            <a:r>
              <a:rPr sz="1800">
                <a:latin typeface="Times New Roman"/>
                <a:cs typeface="Times New Roman"/>
              </a:rPr>
              <a:t>Elephant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Conflict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and</a:t>
            </a:r>
            <a:r>
              <a:rPr sz="1800" spc="-5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Tracking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of</a:t>
            </a:r>
            <a:r>
              <a:rPr sz="1800" spc="-2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Elephant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Using </a:t>
            </a:r>
            <a:r>
              <a:rPr sz="1800">
                <a:latin typeface="Times New Roman"/>
                <a:cs typeface="Times New Roman"/>
              </a:rPr>
              <a:t>Deep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Learning"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,2020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387844" name="object 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42</a:t>
            </a:fld>
            <a:endParaRPr spc="-25"/>
          </a:p>
        </p:txBody>
      </p:sp>
      <p:sp>
        <p:nvSpPr>
          <p:cNvPr id="1867000373" name="object 5"/>
          <p:cNvSpPr txBox="1"/>
          <p:nvPr/>
        </p:nvSpPr>
        <p:spPr bwMode="auto"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712481126" name="object 6"/>
          <p:cNvSpPr txBox="1">
            <a:spLocks noGrp="1"/>
          </p:cNvSpPr>
          <p:nvPr>
            <p:ph type="dt" sz="half" idx="6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250415918" name="object 7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1835300363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REFERENCES</a:t>
            </a:r>
            <a:endParaRPr/>
          </a:p>
        </p:txBody>
      </p:sp>
      <p:sp>
        <p:nvSpPr>
          <p:cNvPr id="235793650" name="object 3"/>
          <p:cNvSpPr txBox="1"/>
          <p:nvPr/>
        </p:nvSpPr>
        <p:spPr bwMode="auto">
          <a:xfrm>
            <a:off x="530225" y="1801340"/>
            <a:ext cx="8082915" cy="3509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050"/>
              </a:lnSpc>
              <a:spcBef>
                <a:spcPts val="100"/>
              </a:spcBef>
              <a:defRPr/>
            </a:pPr>
            <a:r>
              <a:rPr sz="1800" b="1" spc="-10">
                <a:solidFill>
                  <a:srgbClr val="0C0C0C"/>
                </a:solidFill>
                <a:latin typeface="Times New Roman"/>
                <a:cs typeface="Times New Roman"/>
              </a:rPr>
              <a:t>[16]</a:t>
            </a:r>
            <a:r>
              <a:rPr sz="1800" spc="-10">
                <a:latin typeface="Times New Roman"/>
                <a:cs typeface="Times New Roman"/>
              </a:rPr>
              <a:t>AI-</a:t>
            </a:r>
            <a:r>
              <a:rPr sz="1800">
                <a:latin typeface="Times New Roman"/>
                <a:cs typeface="Times New Roman"/>
              </a:rPr>
              <a:t>Based</a:t>
            </a:r>
            <a:r>
              <a:rPr sz="1800" spc="-2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Smart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 spc="-10">
                <a:latin typeface="Times New Roman"/>
                <a:cs typeface="Times New Roman"/>
              </a:rPr>
              <a:t>Surveillance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System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Using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Raspberry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Pi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and</a:t>
            </a:r>
            <a:r>
              <a:rPr sz="1800" spc="-2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Embedded</a:t>
            </a:r>
            <a:r>
              <a:rPr sz="1800" spc="-4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Vision</a:t>
            </a:r>
            <a:r>
              <a:rPr sz="1800" spc="408">
                <a:latin typeface="Times New Roman"/>
                <a:cs typeface="Times New Roman"/>
              </a:rPr>
              <a:t> </a:t>
            </a:r>
            <a:r>
              <a:rPr sz="1800" spc="-25">
                <a:latin typeface="Times New Roman"/>
                <a:cs typeface="Times New Roman"/>
              </a:rPr>
              <a:t>B.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ts val="2050"/>
              </a:lnSpc>
              <a:defRPr/>
            </a:pPr>
            <a:r>
              <a:rPr sz="1800">
                <a:latin typeface="Times New Roman"/>
                <a:cs typeface="Times New Roman"/>
              </a:rPr>
              <a:t>Girirajan,</a:t>
            </a:r>
            <a:r>
              <a:rPr sz="1800" spc="-8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S.</a:t>
            </a:r>
            <a:r>
              <a:rPr sz="1800" spc="-1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Prabu,</a:t>
            </a:r>
            <a:r>
              <a:rPr sz="1800" spc="-55">
                <a:latin typeface="Times New Roman"/>
                <a:cs typeface="Times New Roman"/>
              </a:rPr>
              <a:t> </a:t>
            </a:r>
            <a:r>
              <a:rPr sz="1800" spc="-125">
                <a:latin typeface="Times New Roman"/>
                <a:cs typeface="Times New Roman"/>
              </a:rPr>
              <a:t>V.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 spc="-75">
                <a:latin typeface="Times New Roman"/>
                <a:cs typeface="Times New Roman"/>
              </a:rPr>
              <a:t>T.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Thangam,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M.</a:t>
            </a:r>
            <a:r>
              <a:rPr sz="1800" spc="-2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Sugumaran,</a:t>
            </a:r>
            <a:r>
              <a:rPr sz="1800" spc="-15">
                <a:latin typeface="Times New Roman"/>
                <a:cs typeface="Times New Roman"/>
              </a:rPr>
              <a:t> </a:t>
            </a:r>
            <a:r>
              <a:rPr sz="1800" spc="-100">
                <a:latin typeface="Times New Roman"/>
                <a:cs typeface="Times New Roman"/>
              </a:rPr>
              <a:t>P.</a:t>
            </a:r>
            <a:r>
              <a:rPr sz="1800" spc="-35">
                <a:latin typeface="Times New Roman"/>
                <a:cs typeface="Times New Roman"/>
              </a:rPr>
              <a:t> </a:t>
            </a:r>
            <a:r>
              <a:rPr sz="1800" spc="-25">
                <a:latin typeface="Times New Roman"/>
                <a:cs typeface="Times New Roman"/>
              </a:rPr>
              <a:t>Venkateshwaran,</a:t>
            </a:r>
            <a:r>
              <a:rPr sz="1800" spc="-100">
                <a:latin typeface="Times New Roman"/>
                <a:cs typeface="Times New Roman"/>
              </a:rPr>
              <a:t> </a:t>
            </a:r>
            <a:r>
              <a:rPr sz="1800">
                <a:latin typeface="Times New Roman"/>
                <a:cs typeface="Times New Roman"/>
              </a:rPr>
              <a:t>A.</a:t>
            </a:r>
            <a:r>
              <a:rPr sz="1800" spc="-20">
                <a:latin typeface="Times New Roman"/>
                <a:cs typeface="Times New Roman"/>
              </a:rPr>
              <a:t> Kaur</a:t>
            </a:r>
            <a:endParaRPr sz="1800">
              <a:latin typeface="Times New Roman"/>
              <a:cs typeface="Times New Roman"/>
            </a:endParaRPr>
          </a:p>
          <a:p>
            <a:pPr marL="12700" marR="15240" algn="just">
              <a:lnSpc>
                <a:spcPts val="1939"/>
              </a:lnSpc>
              <a:spcBef>
                <a:spcPts val="1975"/>
              </a:spcBef>
              <a:defRPr/>
            </a:pPr>
            <a:r>
              <a:rPr sz="1800" b="1">
                <a:solidFill>
                  <a:srgbClr val="0C0C0C"/>
                </a:solidFill>
                <a:latin typeface="Times New Roman"/>
                <a:cs typeface="Times New Roman"/>
              </a:rPr>
              <a:t>[17]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D.</a:t>
            </a:r>
            <a:r>
              <a:rPr sz="1800" spc="30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Slutskiy,</a:t>
            </a:r>
            <a:r>
              <a:rPr sz="1800" spc="3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Z.</a:t>
            </a:r>
            <a:r>
              <a:rPr sz="1800" spc="3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Jacques,</a:t>
            </a:r>
            <a:r>
              <a:rPr sz="1800" spc="3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N.</a:t>
            </a:r>
            <a:r>
              <a:rPr sz="1800" spc="3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Bazarian,</a:t>
            </a:r>
            <a:r>
              <a:rPr sz="1800" spc="3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800" spc="3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Basnet,</a:t>
            </a:r>
            <a:r>
              <a:rPr sz="1800" spc="2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A.</a:t>
            </a:r>
            <a:r>
              <a:rPr sz="1800" spc="3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Poudel</a:t>
            </a:r>
            <a:r>
              <a:rPr sz="1800" spc="3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3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P.</a:t>
            </a:r>
            <a:r>
              <a:rPr sz="1800" spc="3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Manandhar, “Non-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human</a:t>
            </a:r>
            <a:r>
              <a:rPr sz="1800" spc="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Primate</a:t>
            </a:r>
            <a:r>
              <a:rPr sz="1800" spc="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Monitoring</a:t>
            </a:r>
            <a:r>
              <a:rPr sz="1800" spc="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System:</a:t>
            </a:r>
            <a:r>
              <a:rPr sz="1800" spc="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Early</a:t>
            </a:r>
            <a:r>
              <a:rPr sz="180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Alert</a:t>
            </a:r>
            <a:r>
              <a:rPr sz="1800" spc="1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Against</a:t>
            </a:r>
            <a:r>
              <a:rPr sz="1800" spc="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Crop</a:t>
            </a:r>
            <a:r>
              <a:rPr sz="1800" spc="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Raids</a:t>
            </a:r>
            <a:r>
              <a:rPr sz="1800" spc="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for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Farms</a:t>
            </a:r>
            <a:r>
              <a:rPr sz="180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800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Nepal,”</a:t>
            </a:r>
            <a:r>
              <a:rPr sz="180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800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IEEE</a:t>
            </a:r>
            <a:r>
              <a:rPr sz="1800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Global</a:t>
            </a:r>
            <a:r>
              <a:rPr sz="180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Humanitarian</a:t>
            </a:r>
            <a:r>
              <a:rPr sz="1800" spc="-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0">
                <a:solidFill>
                  <a:srgbClr val="0C0C0C"/>
                </a:solidFill>
                <a:latin typeface="Times New Roman"/>
                <a:cs typeface="Times New Roman"/>
              </a:rPr>
              <a:t>Technology</a:t>
            </a:r>
            <a:r>
              <a:rPr sz="1800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Conference</a:t>
            </a:r>
            <a:r>
              <a:rPr sz="180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(GHTC).</a:t>
            </a:r>
            <a:endParaRPr sz="1800">
              <a:latin typeface="Times New Roman"/>
              <a:cs typeface="Times New Roman"/>
            </a:endParaRPr>
          </a:p>
          <a:p>
            <a:pPr marL="12700" marR="5080" indent="380365" algn="just">
              <a:lnSpc>
                <a:spcPts val="1939"/>
              </a:lnSpc>
              <a:spcBef>
                <a:spcPts val="1954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  <a:defRPr/>
            </a:pP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Diery</a:t>
            </a:r>
            <a:r>
              <a:rPr sz="1800" spc="1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NGOM,</a:t>
            </a:r>
            <a:r>
              <a:rPr sz="1800" spc="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Alla</a:t>
            </a:r>
            <a:r>
              <a:rPr sz="1800" spc="1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LO,</a:t>
            </a:r>
            <a:r>
              <a:rPr sz="1800" spc="1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Serigne</a:t>
            </a:r>
            <a:r>
              <a:rPr sz="1800" spc="1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Mbacké</a:t>
            </a:r>
            <a:r>
              <a:rPr sz="1800" spc="1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GUEYE,</a:t>
            </a:r>
            <a:r>
              <a:rPr sz="1800" spc="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Absa</a:t>
            </a:r>
            <a:r>
              <a:rPr sz="1800" spc="1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LECOR,</a:t>
            </a:r>
            <a:r>
              <a:rPr sz="1800" spc="1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"An</a:t>
            </a:r>
            <a:r>
              <a:rPr sz="1800" spc="1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Intelligent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IoT</a:t>
            </a:r>
            <a:r>
              <a:rPr sz="1800" spc="-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-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AI-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sz="1800" spc="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Surveillance</a:t>
            </a:r>
            <a:r>
              <a:rPr sz="1800" spc="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 spc="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 spc="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800" spc="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 spc="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Recognition</a:t>
            </a:r>
            <a:r>
              <a:rPr sz="1800" spc="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800" spc="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Pest</a:t>
            </a:r>
            <a:r>
              <a:rPr sz="1800" spc="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Birds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800" spc="-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Rice</a:t>
            </a:r>
            <a:r>
              <a:rPr sz="180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Crops</a:t>
            </a:r>
            <a:r>
              <a:rPr sz="1800" spc="-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80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800" spc="-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Senegal</a:t>
            </a:r>
            <a:r>
              <a:rPr sz="1800" spc="-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River</a:t>
            </a:r>
            <a:r>
              <a:rPr sz="1800" spc="-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Valley"</a:t>
            </a:r>
            <a:endParaRPr sz="1800">
              <a:latin typeface="Times New Roman"/>
              <a:cs typeface="Times New Roman"/>
            </a:endParaRPr>
          </a:p>
          <a:p>
            <a:pPr marL="393065" indent="-380365" algn="just">
              <a:lnSpc>
                <a:spcPct val="100000"/>
              </a:lnSpc>
              <a:spcBef>
                <a:spcPts val="1710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  <a:defRPr/>
            </a:pP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Kathir,</a:t>
            </a:r>
            <a:r>
              <a:rPr sz="1800" spc="-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Balaji</a:t>
            </a:r>
            <a:r>
              <a:rPr sz="180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spc="-114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Ashwini,</a:t>
            </a:r>
            <a:r>
              <a:rPr sz="1800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80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—</a:t>
            </a:r>
            <a:r>
              <a:rPr sz="1800" spc="-1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80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Intrusion</a:t>
            </a:r>
            <a:r>
              <a:rPr sz="180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Using</a:t>
            </a:r>
            <a:r>
              <a:rPr sz="1800" spc="-1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YOLO</a:t>
            </a:r>
            <a:r>
              <a:rPr sz="180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v8</a:t>
            </a:r>
            <a:endParaRPr sz="1800">
              <a:latin typeface="Times New Roman"/>
              <a:cs typeface="Times New Roman"/>
            </a:endParaRPr>
          </a:p>
          <a:p>
            <a:pPr marL="393065" indent="-380365" algn="just">
              <a:lnSpc>
                <a:spcPct val="100000"/>
              </a:lnSpc>
              <a:spcBef>
                <a:spcPts val="1725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  <a:defRPr/>
            </a:pPr>
            <a:r>
              <a:rPr sz="1800" spc="-20">
                <a:solidFill>
                  <a:srgbClr val="0C0C0C"/>
                </a:solidFill>
                <a:latin typeface="Times New Roman"/>
                <a:cs typeface="Times New Roman"/>
              </a:rPr>
              <a:t>Curry,</a:t>
            </a:r>
            <a:r>
              <a:rPr sz="1800" spc="-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Trotter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McGough,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2021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–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camera</a:t>
            </a:r>
            <a:r>
              <a:rPr sz="1800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trap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deep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learning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>
                <a:solidFill>
                  <a:srgbClr val="0C0C0C"/>
                </a:solidFill>
                <a:latin typeface="Times New Roman"/>
                <a:cs typeface="Times New Roman"/>
              </a:rPr>
              <a:t>Scottish</a:t>
            </a:r>
            <a:r>
              <a:rPr sz="1800" spc="-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>
                <a:solidFill>
                  <a:srgbClr val="0C0C0C"/>
                </a:solidFill>
                <a:latin typeface="Times New Roman"/>
                <a:cs typeface="Times New Roman"/>
              </a:rPr>
              <a:t>wildcat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084218" name="object 3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  <a:defRPr/>
            </a:pPr>
            <a:fld id="{81D60167-4931-47E6-BA6A-407CBD079E47}" type="slidenum">
              <a:rPr spc="-25"/>
              <a:t>43</a:t>
            </a:fld>
            <a:endParaRPr spc="-25"/>
          </a:p>
        </p:txBody>
      </p:sp>
      <p:sp>
        <p:nvSpPr>
          <p:cNvPr id="1118570469" name="object 4"/>
          <p:cNvSpPr txBox="1"/>
          <p:nvPr/>
        </p:nvSpPr>
        <p:spPr bwMode="auto"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defRPr/>
            </a:pP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694169085" name="object 5"/>
          <p:cNvSpPr txBox="1">
            <a:spLocks noGrp="1"/>
          </p:cNvSpPr>
          <p:nvPr>
            <p:ph type="dt" sz="half" idx="6"/>
          </p:nvPr>
        </p:nvSpPr>
        <p:spPr bwMode="auto">
          <a:xfrm>
            <a:off x="3754840" y="6488122"/>
            <a:ext cx="1905471" cy="179536"/>
          </a:xfrm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lang="en-US"/>
              <a:t>CCD415 Project Phase I</a:t>
            </a:r>
            <a:endParaRPr spc="-50"/>
          </a:p>
        </p:txBody>
      </p:sp>
      <p:sp>
        <p:nvSpPr>
          <p:cNvPr id="1209599893" name="object 6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4">
              <a:lnSpc>
                <a:spcPts val="1410"/>
              </a:lnSpc>
              <a:defRPr/>
            </a:pPr>
            <a:r>
              <a:rPr spc="-10"/>
              <a:t>2023-</a:t>
            </a:r>
            <a:r>
              <a:rPr/>
              <a:t>2027</a:t>
            </a:r>
            <a:r>
              <a:rPr spc="-5"/>
              <a:t> </a:t>
            </a:r>
            <a:r>
              <a:rPr spc="-10"/>
              <a:t>Batch</a:t>
            </a:r>
            <a:endParaRPr/>
          </a:p>
        </p:txBody>
      </p:sp>
      <p:sp>
        <p:nvSpPr>
          <p:cNvPr id="2051184316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off x="2258332" y="3007261"/>
            <a:ext cx="4453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4000"/>
              <a:t>Thank</a:t>
            </a:r>
            <a:r>
              <a:rPr sz="4000" spc="-170"/>
              <a:t> </a:t>
            </a:r>
            <a:r>
              <a:rPr sz="4000" spc="-60"/>
              <a:t>You</a:t>
            </a:r>
            <a:r>
              <a:rPr lang="en-IN" sz="4000" spc="-60"/>
              <a:t>uuu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03030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30</Slides>
  <Notes>30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wildguard....pptx</dc:title>
  <dc:creator>Akshay N</dc:creator>
  <cp:lastModifiedBy/>
  <cp:revision>13</cp:revision>
  <dcterms:created xsi:type="dcterms:W3CDTF">2026-09-15T04:45:46Z</dcterms:created>
  <dcterms:modified xsi:type="dcterms:W3CDTF">2026-09-25T06:17:09Z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2026-09-15T00:00:00Z</vt:filetime>
  </property>
</Properties>
</file>