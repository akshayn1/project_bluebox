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6858000" type="screen4x3"/>
  <p:notesSz cx="9144000" cy="6858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5" d="100"/>
          <a:sy n="85" d="100"/>
        </p:scale>
        <p:origin x="1554" y="90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785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345809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B146A89-743C-441C-8687-38D0DB6B7666}" type="datetimeFigureOut">
              <a:rPr lang="en-IN"/>
              <a:t>18-09-2026</a:t>
            </a:fld>
            <a:endParaRPr lang="en-IN"/>
          </a:p>
        </p:txBody>
      </p:sp>
      <p:sp>
        <p:nvSpPr>
          <p:cNvPr id="15676834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IN"/>
          </a:p>
        </p:txBody>
      </p:sp>
      <p:sp>
        <p:nvSpPr>
          <p:cNvPr id="13671795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300413"/>
            <a:ext cx="7315200" cy="270033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8003916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8811962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9060D0B-C203-419D-B38C-2EDFD2BAF39C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413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203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980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2184C-C172-A28D-6235-8959DC5F47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344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274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0207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E5E0EC-7877-C9B1-D7D0-F441595A0D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13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937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8876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CF2D49-C766-97C6-CFAE-6A6ADFF35E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31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6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090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AA2B01-54E0-1D92-B9B8-FE3B709B70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081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657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369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7DB83-0E5F-0E21-F99D-EB7BF1FC83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391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468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054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16D652-9623-AA12-EC6A-2DBCC28D4F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665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718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37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827DE-9291-0A17-C79C-562C455AB5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938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3387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858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50BD0F-B6A6-96CE-A17A-44A676899E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63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294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4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3FBB09-5DB5-84D3-A2DB-D7D606B2DF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7277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3947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889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287699-4247-5B1B-E4C2-2219A9BDF7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207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222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21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BC4B33-FC81-08B3-0AE8-2A4E053F2B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24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85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352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26DB8D-1FF7-7045-54AE-FB5529C283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582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492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876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95BF99-A0CE-8C90-0BD6-F65784ECA6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753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795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158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E1E3EA-E2D4-6909-84E7-976EEFEC50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6707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086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82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3EBE04-3531-ABB7-E704-E48DC8EAB1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183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964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459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D02DA-5F7E-D47F-A2FB-E3520B5B35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735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644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789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78A54-AB66-A9F9-5525-AC62F47E62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149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231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43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8685C-C48C-67F5-2CFC-6F1E9E597F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645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1285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9566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10093E-F284-E76A-8EE3-69744B62AB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701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46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418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543CC-F6BF-EF79-2FAE-EA2F1C258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400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7164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594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96150-6AA6-CFD9-D5AC-0673B53258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268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315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00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AF8472-A0E7-1685-ECB5-BF804FCBEE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29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03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58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D8A939-4C53-9B19-F952-E6109CC208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072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788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069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CAACD-14A9-C925-0CEB-D92E295744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593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590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505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5BBB0D-5EDD-69BB-7255-F37145BC22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80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6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86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C4BE1E-E102-A92C-2E90-35C4D89594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602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9925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019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85AD1-006A-C338-EE6F-2167EA8F48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599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5693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095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2CBB00-12AD-A6B3-60E0-EAE87C6A56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871712" name="Holder 2"/>
          <p:cNvSpPr>
            <a:spLocks noGrp="1"/>
          </p:cNvSpPr>
          <p:nvPr>
            <p:ph type="ctrTitle"/>
          </p:nvPr>
        </p:nvSpPr>
        <p:spPr bwMode="auto"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9502798" name="Holder 3"/>
          <p:cNvSpPr>
            <a:spLocks noGrp="1"/>
          </p:cNvSpPr>
          <p:nvPr>
            <p:ph type="subTitle" idx="4"/>
          </p:nvPr>
        </p:nvSpPr>
        <p:spPr bwMode="auto"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45054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9926635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964442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23314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630384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631041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781800" y="6443562"/>
            <a:ext cx="1348418" cy="356272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63187014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3429000" y="6437570"/>
            <a:ext cx="1979136" cy="184128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93768419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179771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1621617" name="Holder 3"/>
          <p:cNvSpPr>
            <a:spLocks noGrp="1"/>
          </p:cNvSpPr>
          <p:nvPr>
            <p:ph sz="half" idx="2"/>
          </p:nvPr>
        </p:nvSpPr>
        <p:spPr bwMode="auto"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72923085" name="Holder 4"/>
          <p:cNvSpPr>
            <a:spLocks noGrp="1"/>
          </p:cNvSpPr>
          <p:nvPr>
            <p:ph sz="half" idx="3"/>
          </p:nvPr>
        </p:nvSpPr>
        <p:spPr bwMode="auto"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139162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9246702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9629103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44295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503086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6862383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48940193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16459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34318842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91918924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551256" name="Holder 2"/>
          <p:cNvSpPr>
            <a:spLocks noGrp="1"/>
          </p:cNvSpPr>
          <p:nvPr>
            <p:ph type="title"/>
          </p:nvPr>
        </p:nvSpPr>
        <p:spPr bwMode="auto">
          <a:xfrm>
            <a:off x="1353000" y="-80949"/>
            <a:ext cx="643799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4341364" name="Holder 3"/>
          <p:cNvSpPr>
            <a:spLocks noGrp="1"/>
          </p:cNvSpPr>
          <p:nvPr>
            <p:ph type="body" idx="1"/>
          </p:nvPr>
        </p:nvSpPr>
        <p:spPr bwMode="auto">
          <a:xfrm>
            <a:off x="364331" y="1441306"/>
            <a:ext cx="8599805" cy="470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442030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705600" y="6445272"/>
            <a:ext cx="1348418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39837237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2057400" y="6445272"/>
            <a:ext cx="1905471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75094556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239125" y="6445272"/>
            <a:ext cx="291275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1" ftr="1" hdr="0" sldNum="1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121441" name="object 2"/>
          <p:cNvPicPr/>
          <p:nvPr/>
        </p:nvPicPr>
        <p:blipFill rotWithShape="1">
          <a:blip r:embed="rId3"/>
          <a:stretch/>
        </p:blipFill>
        <p:spPr bwMode="auto">
          <a:xfrm>
            <a:off x="299923" y="18974"/>
            <a:ext cx="8705888" cy="1038496"/>
          </a:xfrm>
          <a:prstGeom prst="rect">
            <a:avLst/>
          </a:prstGeom>
        </p:spPr>
      </p:pic>
      <p:sp>
        <p:nvSpPr>
          <p:cNvPr id="1698672191" name="object 3"/>
          <p:cNvSpPr txBox="1"/>
          <p:nvPr/>
        </p:nvSpPr>
        <p:spPr bwMode="auto">
          <a:xfrm>
            <a:off x="2033116" y="1075549"/>
            <a:ext cx="529145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  <a:defRPr/>
            </a:pP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b="1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b="1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Computer</a:t>
            </a:r>
            <a:r>
              <a:rPr sz="2000" b="1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Science</a:t>
            </a:r>
            <a:r>
              <a:rPr sz="2000" b="1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000" b="1" spc="-10">
                <a:solidFill>
                  <a:srgbClr val="0C0C0C"/>
                </a:solidFill>
                <a:latin typeface="Times New Roman"/>
                <a:cs typeface="Times New Roman"/>
              </a:rPr>
              <a:t> 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64523022" name="object 4" descr="$PPTXTitle"/>
          <p:cNvSpPr txBox="1">
            <a:spLocks noGrp="1"/>
          </p:cNvSpPr>
          <p:nvPr>
            <p:ph type="title"/>
          </p:nvPr>
        </p:nvSpPr>
        <p:spPr bwMode="auto">
          <a:xfrm>
            <a:off x="3124200" y="1525619"/>
            <a:ext cx="33185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400">
                <a:solidFill>
                  <a:srgbClr val="0C0C0C"/>
                </a:solidFill>
              </a:rPr>
              <a:t>C</a:t>
            </a:r>
            <a:r>
              <a:rPr lang="en-US" sz="2400">
                <a:solidFill>
                  <a:srgbClr val="0C0C0C"/>
                </a:solidFill>
              </a:rPr>
              <a:t>C</a:t>
            </a:r>
            <a:r>
              <a:rPr sz="2400">
                <a:solidFill>
                  <a:srgbClr val="0C0C0C"/>
                </a:solidFill>
              </a:rPr>
              <a:t>D</a:t>
            </a:r>
            <a:r>
              <a:rPr sz="2400" spc="-40">
                <a:solidFill>
                  <a:srgbClr val="0C0C0C"/>
                </a:solidFill>
              </a:rPr>
              <a:t> </a:t>
            </a:r>
            <a:r>
              <a:rPr sz="2400">
                <a:solidFill>
                  <a:srgbClr val="0C0C0C"/>
                </a:solidFill>
              </a:rPr>
              <a:t>415</a:t>
            </a:r>
            <a:r>
              <a:rPr sz="2400" spc="-35">
                <a:solidFill>
                  <a:srgbClr val="0C0C0C"/>
                </a:solidFill>
              </a:rPr>
              <a:t> </a:t>
            </a:r>
            <a:r>
              <a:rPr sz="2400">
                <a:solidFill>
                  <a:srgbClr val="0C0C0C"/>
                </a:solidFill>
              </a:rPr>
              <a:t>Project</a:t>
            </a:r>
            <a:r>
              <a:rPr sz="2400" spc="-30">
                <a:solidFill>
                  <a:srgbClr val="0C0C0C"/>
                </a:solidFill>
              </a:rPr>
              <a:t> </a:t>
            </a:r>
            <a:r>
              <a:rPr sz="2400">
                <a:solidFill>
                  <a:srgbClr val="0C0C0C"/>
                </a:solidFill>
              </a:rPr>
              <a:t>Phase</a:t>
            </a:r>
            <a:r>
              <a:rPr sz="2400" spc="-40">
                <a:solidFill>
                  <a:srgbClr val="0C0C0C"/>
                </a:solidFill>
              </a:rPr>
              <a:t> </a:t>
            </a:r>
            <a:r>
              <a:rPr sz="2400" spc="-60">
                <a:solidFill>
                  <a:srgbClr val="0C0C0C"/>
                </a:solidFill>
              </a:rPr>
              <a:t>I</a:t>
            </a:r>
            <a:endParaRPr sz="2400"/>
          </a:p>
        </p:txBody>
      </p:sp>
      <p:sp>
        <p:nvSpPr>
          <p:cNvPr id="988669233" name="object 5"/>
          <p:cNvSpPr txBox="1"/>
          <p:nvPr/>
        </p:nvSpPr>
        <p:spPr bwMode="auto">
          <a:xfrm>
            <a:off x="1224927" y="1613252"/>
            <a:ext cx="7217409" cy="1525931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575"/>
              </a:spcBef>
              <a:defRPr/>
            </a:pPr>
            <a:r>
              <a:rPr sz="2200" b="1">
                <a:solidFill>
                  <a:srgbClr val="0C0C0C"/>
                </a:solidFill>
                <a:latin typeface="Times New Roman"/>
                <a:cs typeface="Times New Roman"/>
              </a:rPr>
              <a:t>First</a:t>
            </a:r>
            <a:r>
              <a:rPr sz="2200" b="1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200" b="1" spc="-10">
                <a:solidFill>
                  <a:srgbClr val="0C0C0C"/>
                </a:solidFill>
                <a:latin typeface="Times New Roman"/>
                <a:cs typeface="Times New Roman"/>
              </a:rPr>
              <a:t>Review</a:t>
            </a:r>
            <a:endParaRPr sz="2200">
              <a:latin typeface="Times New Roman"/>
              <a:cs typeface="Times New Roman"/>
            </a:endParaRPr>
          </a:p>
          <a:p>
            <a:pPr marL="12065" marR="5080" indent="635" algn="ctr">
              <a:lnSpc>
                <a:spcPct val="80000"/>
              </a:lnSpc>
              <a:spcBef>
                <a:spcPts val="2454"/>
              </a:spcBef>
              <a:defRPr/>
            </a:pPr>
            <a:r>
              <a:rPr lang="en-US" sz="2700" b="1">
                <a:solidFill>
                  <a:srgbClr val="FF0000"/>
                </a:solidFill>
                <a:latin typeface="Times New Roman"/>
                <a:cs typeface="Times New Roman"/>
              </a:rPr>
              <a:t>SECURE REMOTE NETWORK ACCESS USING TWIN GATE AND RASPBERRY PI</a:t>
            </a:r>
            <a:endParaRPr/>
          </a:p>
        </p:txBody>
      </p:sp>
      <p:sp>
        <p:nvSpPr>
          <p:cNvPr id="1208044266" name="object 6"/>
          <p:cNvSpPr txBox="1"/>
          <p:nvPr/>
        </p:nvSpPr>
        <p:spPr bwMode="auto">
          <a:xfrm>
            <a:off x="998312" y="4485749"/>
            <a:ext cx="2026285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100"/>
              </a:spcBef>
              <a:defRPr/>
            </a:pP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sz="2000" b="1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>
                <a:solidFill>
                  <a:srgbClr val="0C0C0C"/>
                </a:solidFill>
                <a:latin typeface="Times New Roman"/>
                <a:cs typeface="Times New Roman"/>
              </a:rPr>
              <a:t>By,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1820"/>
              </a:lnSpc>
              <a:defRPr/>
            </a:pPr>
            <a:r>
              <a:rPr sz="170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lang="en-US" sz="170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sz="170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r>
              <a:rPr sz="1700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>
                <a:solidFill>
                  <a:srgbClr val="0C0C0C"/>
                </a:solidFill>
                <a:latin typeface="Times New Roman"/>
                <a:cs typeface="Times New Roman"/>
              </a:rPr>
              <a:t>FARBEENA</a:t>
            </a:r>
            <a:r>
              <a:rPr sz="1700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spc="-5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50"/>
              </a:spcBef>
              <a:defRPr/>
            </a:pP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Assistant</a:t>
            </a:r>
            <a:r>
              <a:rPr sz="2000" spc="-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C0C0C"/>
                </a:solidFill>
                <a:latin typeface="Times New Roman"/>
                <a:cs typeface="Times New Roman"/>
              </a:rPr>
              <a:t>Professor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5">
                <a:solidFill>
                  <a:srgbClr val="0C0C0C"/>
                </a:solidFill>
                <a:latin typeface="Times New Roman"/>
                <a:cs typeface="Times New Roman"/>
              </a:rPr>
              <a:t>CSE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97493564" name="object 7"/>
          <p:cNvSpPr txBox="1"/>
          <p:nvPr/>
        </p:nvSpPr>
        <p:spPr bwMode="auto">
          <a:xfrm>
            <a:off x="4652651" y="4480467"/>
            <a:ext cx="148082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5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550" b="1" spc="-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C0C0C"/>
                </a:solidFill>
                <a:latin typeface="Times New Roman"/>
                <a:cs typeface="Times New Roman"/>
              </a:rPr>
              <a:t>Members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57772215" name="object 8"/>
          <p:cNvSpPr txBox="1"/>
          <p:nvPr/>
        </p:nvSpPr>
        <p:spPr bwMode="auto">
          <a:xfrm>
            <a:off x="4603513" y="4716687"/>
            <a:ext cx="3119120" cy="96244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725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  <a:defRPr/>
            </a:pPr>
            <a:r>
              <a:rPr lang="en-US" sz="1550" spc="-85">
                <a:solidFill>
                  <a:srgbClr val="0C0C0C"/>
                </a:solidFill>
                <a:latin typeface="Times New Roman"/>
                <a:cs typeface="Times New Roman"/>
              </a:rPr>
              <a:t>AKSHAY</a:t>
            </a:r>
            <a:r>
              <a:rPr sz="1550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550" spc="-9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(JCE23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CC008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  <a:defRPr/>
            </a:pPr>
            <a:r>
              <a:rPr lang="en-US" sz="1550" spc="-50">
                <a:solidFill>
                  <a:srgbClr val="0C0C0C"/>
                </a:solidFill>
                <a:latin typeface="Times New Roman"/>
                <a:cs typeface="Times New Roman"/>
              </a:rPr>
              <a:t>ABHISHEK KB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(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JCE23C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34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  <a:defRPr/>
            </a:pPr>
            <a:r>
              <a:rPr sz="1550" spc="-5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lang="en-US" sz="1550" spc="-50">
                <a:solidFill>
                  <a:srgbClr val="0C0C0C"/>
                </a:solidFill>
                <a:latin typeface="Times New Roman"/>
                <a:cs typeface="Times New Roman"/>
              </a:rPr>
              <a:t>HANID ALI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(JCE23C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27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110721803" name="object 9"/>
          <p:cNvPicPr/>
          <p:nvPr/>
        </p:nvPicPr>
        <p:blipFill rotWithShape="1">
          <a:blip r:embed="rId4"/>
          <a:stretch/>
        </p:blipFill>
        <p:spPr bwMode="auto">
          <a:xfrm>
            <a:off x="228600" y="6231004"/>
            <a:ext cx="8915399" cy="626995"/>
          </a:xfrm>
          <a:prstGeom prst="rect">
            <a:avLst/>
          </a:prstGeom>
        </p:spPr>
      </p:pic>
      <p:grpSp>
        <p:nvGrpSpPr>
          <p:cNvPr id="952126743" name="object 10"/>
          <p:cNvGrpSpPr/>
          <p:nvPr/>
        </p:nvGrpSpPr>
        <p:grpSpPr bwMode="auto">
          <a:xfrm>
            <a:off x="-6350" y="-6350"/>
            <a:ext cx="134620" cy="6870700"/>
            <a:chOff x="-6350" y="-6350"/>
            <a:chExt cx="134620" cy="6870700"/>
          </a:xfrm>
        </p:grpSpPr>
        <p:sp>
          <p:nvSpPr>
            <p:cNvPr id="11" name="object 11"/>
            <p:cNvSpPr/>
            <p:nvPr/>
          </p:nvSpPr>
          <p:spPr bwMode="auto"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 fill="norm" stroke="1" extrusionOk="0">
                  <a:moveTo>
                    <a:pt x="12191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" y="0"/>
                  </a:lnTo>
                  <a:lnTo>
                    <a:pt x="121919" y="685799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 fill="norm" stroke="1" extrusionOk="0">
                  <a:moveTo>
                    <a:pt x="121919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21919" y="6857999"/>
                  </a:lnTo>
                  <a:lnTo>
                    <a:pt x="121919" y="0"/>
                  </a:lnTo>
                  <a:close/>
                </a:path>
              </a:pathLst>
            </a:custGeom>
            <a:grpFill/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66616777" name="TextBox 13"/>
          <p:cNvSpPr txBox="1"/>
          <p:nvPr/>
        </p:nvSpPr>
        <p:spPr bwMode="auto">
          <a:xfrm>
            <a:off x="4603512" y="4111134"/>
            <a:ext cx="2560876" cy="244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b="1">
                <a:latin typeface="Times New Roman"/>
                <a:cs typeface="Times New Roman"/>
              </a:rPr>
              <a:t>Project Group No. :01</a:t>
            </a:r>
            <a:endParaRPr lang="en-IN" b="1">
              <a:latin typeface="Times New Roman"/>
              <a:cs typeface="Times New Roman"/>
            </a:endParaRPr>
          </a:p>
        </p:txBody>
      </p:sp>
      <p:sp>
        <p:nvSpPr>
          <p:cNvPr id="1793111425" name="Slide Number Placeholder 16"/>
          <p:cNvSpPr>
            <a:spLocks noGrp="1"/>
          </p:cNvSpPr>
          <p:nvPr>
            <p:ph type="sldNum" sz="quarter" idx="7"/>
          </p:nvPr>
        </p:nvSpPr>
        <p:spPr bwMode="auto"/>
        <p:txBody>
          <a:bodyPr/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lang="en-IN" spc="-50"/>
              <a:t>1</a:t>
            </a:fld>
            <a:endParaRPr lang="en-IN" spc="-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955831" name="object 4"/>
          <p:cNvSpPr txBox="1"/>
          <p:nvPr/>
        </p:nvSpPr>
        <p:spPr bwMode="auto">
          <a:xfrm>
            <a:off x="1262012" y="6445272"/>
            <a:ext cx="876299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42373043" name="object 5"/>
          <p:cNvSpPr txBox="1">
            <a:spLocks noGrp="1"/>
          </p:cNvSpPr>
          <p:nvPr>
            <p:ph type="dt" sz="half" idx="6"/>
          </p:nvPr>
        </p:nvSpPr>
        <p:spPr bwMode="auto"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771195109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156410183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2</a:t>
            </a:fld>
            <a:endParaRPr spc="-50"/>
          </a:p>
        </p:txBody>
      </p:sp>
      <p:sp>
        <p:nvSpPr>
          <p:cNvPr id="1584027145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576559" y="39762"/>
            <a:ext cx="2599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OUTLINE</a:t>
            </a:r>
            <a:endParaRPr/>
          </a:p>
        </p:txBody>
      </p:sp>
      <p:sp>
        <p:nvSpPr>
          <p:cNvPr id="660359432" name="object 3"/>
          <p:cNvSpPr txBox="1"/>
          <p:nvPr/>
        </p:nvSpPr>
        <p:spPr bwMode="auto">
          <a:xfrm>
            <a:off x="750989" y="690019"/>
            <a:ext cx="6094730" cy="53390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1769" indent="-17907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Abstract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Introduction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Problem</a:t>
            </a:r>
            <a:r>
              <a:rPr sz="2600" b="1" spc="-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Definition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Objectives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Literature</a:t>
            </a:r>
            <a:r>
              <a:rPr sz="2600" b="1" spc="-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Survey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25">
                <a:solidFill>
                  <a:srgbClr val="0C0C0C"/>
                </a:solidFill>
                <a:latin typeface="Times New Roman"/>
                <a:cs typeface="Times New Roman"/>
              </a:rPr>
              <a:t>Comparative</a:t>
            </a:r>
            <a:r>
              <a:rPr sz="2600" b="1" spc="-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Proposed</a:t>
            </a:r>
            <a:r>
              <a:rPr sz="2600" b="1" spc="-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600" b="1" spc="-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Planning</a:t>
            </a:r>
            <a:r>
              <a:rPr sz="2600" b="1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Scheduling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35">
                <a:solidFill>
                  <a:srgbClr val="0C0C0C"/>
                </a:solidFill>
                <a:latin typeface="Times New Roman"/>
                <a:cs typeface="Times New Roman"/>
              </a:rPr>
              <a:t>Resource/Task</a:t>
            </a:r>
            <a:r>
              <a:rPr sz="2600" b="1" spc="-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Identification</a:t>
            </a:r>
            <a:r>
              <a:rPr sz="2600" b="1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3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Allocation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Conclusion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References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096356" name="object 4"/>
          <p:cNvSpPr txBox="1"/>
          <p:nvPr/>
        </p:nvSpPr>
        <p:spPr bwMode="auto">
          <a:xfrm>
            <a:off x="990600" y="6445272"/>
            <a:ext cx="114771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-C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52020809" name="object 5"/>
          <p:cNvSpPr txBox="1">
            <a:spLocks noGrp="1"/>
          </p:cNvSpPr>
          <p:nvPr>
            <p:ph type="dt" sz="half" idx="6"/>
          </p:nvPr>
        </p:nvSpPr>
        <p:spPr bwMode="auto"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319069396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25643297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3</a:t>
            </a:fld>
            <a:endParaRPr spc="-50"/>
          </a:p>
        </p:txBody>
      </p:sp>
      <p:sp>
        <p:nvSpPr>
          <p:cNvPr id="9895005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126458" y="408856"/>
            <a:ext cx="3064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ABSTRACT</a:t>
            </a:r>
            <a:endParaRPr/>
          </a:p>
        </p:txBody>
      </p:sp>
      <p:sp>
        <p:nvSpPr>
          <p:cNvPr id="1574673873" name="object 3"/>
          <p:cNvSpPr txBox="1"/>
          <p:nvPr/>
        </p:nvSpPr>
        <p:spPr bwMode="auto">
          <a:xfrm>
            <a:off x="356382" y="1344856"/>
            <a:ext cx="8411378" cy="45713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074" marR="51435" indent="-207010" algn="just">
              <a:lnSpc>
                <a:spcPct val="152300"/>
              </a:lnSpc>
              <a:spcBef>
                <a:spcPts val="95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Secure remote network access is essential for connecting users to private network resources while maintaining strong security and access control.</a:t>
            </a:r>
            <a:endParaRPr sz="1800">
              <a:latin typeface="Times New Roman"/>
              <a:cs typeface="Times New Roman"/>
            </a:endParaRPr>
          </a:p>
          <a:p>
            <a:pPr marL="219074" marR="473709" indent="-207010" algn="just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Traditional remote access methods such as Virtual Private Networks (VPNs) may require firewall modifications, port forwarding, public IP addresses, and complex network configurations, increasing deployment complexity and potential security risks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9074" marR="5080" indent="-207010" algn="just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A Raspberry Pi is configured as a network connector for Twingate, enabling remote devices to securely access authorized internal resources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9074" marR="414020" indent="-207010" algn="just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Twingate provides cloud-based management, authentication, device verification, granular access policies, and activity logging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40796" name="object 4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988588444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874909550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926578801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4</a:t>
            </a:fld>
            <a:endParaRPr spc="-50"/>
          </a:p>
        </p:txBody>
      </p:sp>
      <p:sp>
        <p:nvSpPr>
          <p:cNvPr id="3063717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412681" y="130319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INTRODUCTION</a:t>
            </a:r>
            <a:endParaRPr/>
          </a:p>
        </p:txBody>
      </p:sp>
      <p:sp>
        <p:nvSpPr>
          <p:cNvPr id="257038995" name="object 3"/>
          <p:cNvSpPr txBox="1"/>
          <p:nvPr/>
        </p:nvSpPr>
        <p:spPr bwMode="auto">
          <a:xfrm>
            <a:off x="361098" y="973110"/>
            <a:ext cx="8607953" cy="5198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marR="226060" indent="-201930" algn="just">
              <a:lnSpc>
                <a:spcPct val="121800"/>
              </a:lnSpc>
              <a:spcBef>
                <a:spcPts val="95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Secure remote access enables users to connect to private network resources from different locations while maintaining confidentiality and controlled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3995" marR="655955" indent="-201930" algn="just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Traditional network access methods often provide broad connectivity once a user enters the network. Zero Trust improves security by continuously verifying users and devices before granting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3995" marR="290830" indent="-201930" algn="just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Twingate provides a Zero Trust Network Access approach that uses identity-based authentication and least-privilege policies to provide access only to authorized resources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3995" marR="414020" indent="-201930" algn="just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A Raspberry Pi can function as a lightweight network connector, linking internal network resources with the Twingate platform without requiring complex network infrastructure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3995" marR="588010" indent="-201930" algn="just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Integration with the Twingate API and Python-based automation can reduce manual configuration, support dynamic resource registration, and simplify network administration.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00539" name="object 4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613474579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762393174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000576775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5</a:t>
            </a:fld>
            <a:endParaRPr spc="-50"/>
          </a:p>
        </p:txBody>
      </p:sp>
      <p:sp>
        <p:nvSpPr>
          <p:cNvPr id="1732737729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473681" y="408856"/>
            <a:ext cx="6370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PROBLEM</a:t>
            </a:r>
            <a:r>
              <a:rPr spc="-260"/>
              <a:t> </a:t>
            </a:r>
            <a:r>
              <a:rPr spc="-10"/>
              <a:t>DEFINITION</a:t>
            </a:r>
            <a:endParaRPr/>
          </a:p>
        </p:txBody>
      </p:sp>
      <p:sp>
        <p:nvSpPr>
          <p:cNvPr id="1711044796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364329" y="1441305"/>
            <a:ext cx="8604483" cy="4089702"/>
          </a:xfrm>
          <a:prstGeom prst="rect">
            <a:avLst/>
          </a:prstGeom>
        </p:spPr>
        <p:txBody>
          <a:bodyPr vert="horz" wrap="square" lIns="0" tIns="110560" rIns="0" bIns="0" rtlCol="0">
            <a:spAutoFit/>
          </a:bodyPr>
          <a:lstStyle/>
          <a:p>
            <a:pPr marL="209550" marR="16510" indent="-189230" algn="just">
              <a:lnSpc>
                <a:spcPct val="114999"/>
              </a:lnSpc>
              <a:spcBef>
                <a:spcPts val="95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 lang="en-US" sz="1800"/>
              <a:t>Traditional VPN-based remote access often requires firewall modifications, port forwarding, public IP addresses, and complex network configurations, making deployment difficult</a:t>
            </a:r>
            <a:r>
              <a:rPr sz="1800" spc="-10"/>
              <a:t>.</a:t>
            </a:r>
            <a:endParaRPr sz="1800" spc="-10"/>
          </a:p>
          <a:p>
            <a:pPr marL="209550" marR="24765" indent="-189230" algn="just">
              <a:lnSpc>
                <a:spcPct val="114999"/>
              </a:lnSpc>
              <a:spcBef>
                <a:spcPts val="1005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 lang="en-US" sz="1800"/>
              <a:t>Conventional remote access methods may provide users with wider network access than necessary, increasing the risk of unauthorized access to internal resources</a:t>
            </a:r>
            <a:r>
              <a:rPr sz="1800" spc="-10"/>
              <a:t>.</a:t>
            </a:r>
            <a:endParaRPr sz="1800" spc="-10"/>
          </a:p>
          <a:p>
            <a:pPr marL="209550" marR="5080" indent="-189230" algn="just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Exposing internal network services to the internet creates security risks, increasing the possibility of unauthorized access and cyberattacks.</a:t>
            </a:r>
            <a:endParaRPr sz="1800"/>
          </a:p>
          <a:p>
            <a:pPr marL="209549" marR="5079" indent="-189229" algn="just">
              <a:lnSpc>
                <a:spcPct val="114999"/>
              </a:lnSpc>
              <a:spcBef>
                <a:spcPts val="999"/>
              </a:spcBef>
              <a:buFont typeface="Arial MT"/>
              <a:buChar char="•"/>
              <a:tabLst>
                <a:tab pos="210819" algn="l"/>
              </a:tabLst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Conventional VPN-based solutions may provide broader network access than necessary, making it difficult to enforce least-privilege access for individual users and resources.</a:t>
            </a:r>
            <a:endParaRPr sz="1800"/>
          </a:p>
          <a:p>
            <a:pPr marL="209549" marR="5079" indent="-189229" algn="just">
              <a:lnSpc>
                <a:spcPct val="114999"/>
              </a:lnSpc>
              <a:spcBef>
                <a:spcPts val="999"/>
              </a:spcBef>
              <a:buFont typeface="Arial MT"/>
              <a:buChar char="•"/>
              <a:tabLst>
                <a:tab pos="210819" algn="l"/>
              </a:tabLst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Small organizations and individual users may face cost and hardware limitations when implementing secure remote-access infrastructure using conventional solutions.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663395" name="object 7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010690152" name="object 8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627831329" name="object 9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68197885" name="object 10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6</a:t>
            </a:fld>
            <a:endParaRPr spc="-50"/>
          </a:p>
        </p:txBody>
      </p:sp>
      <p:sp>
        <p:nvSpPr>
          <p:cNvPr id="509070837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616678" y="272332"/>
            <a:ext cx="3564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OBJECTIVES</a:t>
            </a:r>
            <a:endParaRPr/>
          </a:p>
        </p:txBody>
      </p:sp>
      <p:sp>
        <p:nvSpPr>
          <p:cNvPr id="1157257290" name="object 3"/>
          <p:cNvSpPr txBox="1"/>
          <p:nvPr/>
        </p:nvSpPr>
        <p:spPr bwMode="auto">
          <a:xfrm flipH="0" flipV="0">
            <a:off x="371646" y="1319466"/>
            <a:ext cx="8623283" cy="5148304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305908" indent="-305908">
              <a:lnSpc>
                <a:spcPct val="150000"/>
              </a:lnSpc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secure and cost-effective remote network access solution using a Raspberry Pi integrated with the Twingate Zero Trust Network Access (ZTNA)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platform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305908" indent="-305908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implement a Zero Trust security model based on identity verification, device authentication, and least-privilege access control.</a:t>
            </a:r>
            <a:endParaRPr sz="1800">
              <a:latin typeface="Times New Roman"/>
              <a:cs typeface="Times New Roman"/>
            </a:endParaRPr>
          </a:p>
          <a:p>
            <a:pPr marL="305908" indent="-305908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eliminate the need for traditional VPN requirements such as port forwarding, public IP addresses, firewall modifications, and complex network configurations.</a:t>
            </a:r>
            <a:endParaRPr sz="1800">
              <a:latin typeface="Times New Roman"/>
              <a:cs typeface="Times New Roman"/>
            </a:endParaRPr>
          </a:p>
          <a:p>
            <a:pPr marL="305908" indent="-305908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provide centralized and secure management of remote network resources through Twingate’s cloud-managed architecture, including access policies, authentication, and activity logging.</a:t>
            </a:r>
            <a:endParaRPr sz="1800">
              <a:latin typeface="Times New Roman"/>
              <a:cs typeface="Times New Roman"/>
            </a:endParaRPr>
          </a:p>
          <a:p>
            <a:pPr marL="305908" indent="-305908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automate network resource discovery and registration using the Twingate API and Python-based scripts, thereby reducing manual configuration and improving scalability.</a:t>
            </a:r>
            <a:endParaRPr sz="20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305908" indent="-305908">
              <a:buFont typeface="Arial"/>
              <a:buChar char="•"/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157217" name="object 4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570369066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814190113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235899975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7</a:t>
            </a:fld>
            <a:endParaRPr spc="-50"/>
          </a:p>
        </p:txBody>
      </p:sp>
      <p:sp>
        <p:nvSpPr>
          <p:cNvPr id="184614210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599142" y="216044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BACKGROUND</a:t>
            </a:r>
            <a:endParaRPr/>
          </a:p>
        </p:txBody>
      </p:sp>
      <p:sp>
        <p:nvSpPr>
          <p:cNvPr id="1866091496" name="object 3"/>
          <p:cNvSpPr txBox="1"/>
          <p:nvPr/>
        </p:nvSpPr>
        <p:spPr bwMode="auto">
          <a:xfrm>
            <a:off x="515075" y="1164910"/>
            <a:ext cx="8144679" cy="437439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0185" indent="-190500" algn="just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10185" algn="l"/>
              </a:tabLst>
              <a:defRPr/>
            </a:pPr>
            <a:r>
              <a:rPr sz="2250" b="1" spc="-1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250">
              <a:latin typeface="Times New Roman"/>
              <a:cs typeface="Times New Roman"/>
            </a:endParaRPr>
          </a:p>
          <a:p>
            <a:pPr marL="211454" marR="12700" indent="-187325" algn="just">
              <a:lnSpc>
                <a:spcPts val="2100"/>
              </a:lnSpc>
              <a:spcBef>
                <a:spcPts val="235"/>
              </a:spcBef>
              <a:buSzPct val="116216"/>
              <a:buFont typeface="Arial"/>
              <a:buChar char="•"/>
              <a:tabLst>
                <a:tab pos="211454" algn="l"/>
              </a:tabLst>
              <a:defRPr/>
            </a:pPr>
            <a:r>
              <a:rPr lang="en-US" sz="1800">
                <a:solidFill>
                  <a:srgbClr val="0C0C0C"/>
                </a:solidFill>
                <a:latin typeface="Times New Roman"/>
                <a:cs typeface="Times New Roman"/>
              </a:rPr>
              <a:t>The increasing need to access private network resources remotely has created a demand for secure and reliable remote connectivity solutions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445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00">
                <a:solidFill>
                  <a:srgbClr val="0C0C0C"/>
                </a:solidFill>
                <a:latin typeface="Times New Roman"/>
                <a:cs typeface="Times New Roman"/>
              </a:rPr>
              <a:t>VPN-based solutions commonly depend on firewall configuration, port forwarding, public IP addresses, and other network settings that can make deployment more complex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00">
                <a:solidFill>
                  <a:srgbClr val="0C0C0C"/>
                </a:solidFill>
                <a:latin typeface="Times New Roman"/>
                <a:cs typeface="Times New Roman"/>
              </a:rPr>
              <a:t>Zero Trust follows the principle of verifying users and devices before granting access rather than automatically trusting devices within a network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0185" marR="508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00">
                <a:solidFill>
                  <a:srgbClr val="0C0C0C"/>
                </a:solidFill>
                <a:latin typeface="Times New Roman"/>
                <a:cs typeface="Times New Roman"/>
              </a:rPr>
              <a:t>Twingate applies identity-based authentication and least-privilege access to ensure that users are provided access only to authorized network resources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5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00">
                <a:solidFill>
                  <a:srgbClr val="0C0C0C"/>
                </a:solidFill>
                <a:latin typeface="Times New Roman"/>
                <a:cs typeface="Times New Roman"/>
              </a:rPr>
              <a:t>The Raspberry Pi provides a low-cost and lightweight platform that can connect internal network resources to the Twingate environment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835777" name="object 4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484947156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507971191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963754750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8</a:t>
            </a:fld>
            <a:endParaRPr spc="-50"/>
          </a:p>
        </p:txBody>
      </p:sp>
      <p:sp>
        <p:nvSpPr>
          <p:cNvPr id="83194446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599130" y="408856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BACKGROUND</a:t>
            </a:r>
            <a:endParaRPr/>
          </a:p>
        </p:txBody>
      </p:sp>
      <p:sp>
        <p:nvSpPr>
          <p:cNvPr id="1592315525" name="object 3"/>
          <p:cNvSpPr txBox="1"/>
          <p:nvPr/>
        </p:nvSpPr>
        <p:spPr bwMode="auto">
          <a:xfrm>
            <a:off x="498955" y="1053981"/>
            <a:ext cx="7860748" cy="4670658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03835" indent="-174625" algn="just">
              <a:lnSpc>
                <a:spcPct val="100000"/>
              </a:lnSpc>
              <a:spcBef>
                <a:spcPts val="1524"/>
              </a:spcBef>
              <a:buFont typeface="Arial"/>
              <a:buChar char="•"/>
              <a:tabLst>
                <a:tab pos="203835" algn="l"/>
              </a:tabLst>
              <a:defRPr/>
            </a:pP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Existing </a:t>
            </a:r>
            <a:r>
              <a:rPr sz="2800" b="1" spc="-1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203835" marR="153035" indent="-191135" algn="just">
              <a:lnSpc>
                <a:spcPct val="100000"/>
              </a:lnSpc>
              <a:spcBef>
                <a:spcPts val="969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Remote users commonly rely on VPNs to connect to private network resources from outside the organization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3835" marR="65405" indent="-19113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VPN deployment may require firewall changes, port forwarding, public IP addresses, and additional network configuration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3835" indent="-19113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Once connected through a traditional VPN, users may receive access to a larger portion of the internal network than actually required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3835" marR="226060" indent="-19113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Exposing network services or opening ports for remote access can increase the possibility of unauthorized access and security threats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3835" indent="-19113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Managing users, devices, permissions, and network resources can require considerable manual configuration and administration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3835" marR="5080" indent="-19113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Traditional solutions may make it difficult to implement centralized identity verification, granular access policies, device verification, and activity monitoring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47632" name="object 5"/>
          <p:cNvSpPr txBox="1"/>
          <p:nvPr/>
        </p:nvSpPr>
        <p:spPr bwMode="auto">
          <a:xfrm>
            <a:off x="762000" y="6488122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685441235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376580873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825074019" name="object 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9</a:t>
            </a:fld>
            <a:endParaRPr spc="-50"/>
          </a:p>
        </p:txBody>
      </p:sp>
      <p:sp>
        <p:nvSpPr>
          <p:cNvPr id="26301923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1110437034" name="object 3"/>
          <p:cNvSpPr txBox="1"/>
          <p:nvPr/>
        </p:nvSpPr>
        <p:spPr bwMode="auto">
          <a:xfrm>
            <a:off x="234747" y="718557"/>
            <a:ext cx="8801628" cy="500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Tuyishime, F. Radu, E. Tuyishime, D. Cotfas, P. Cotfas, T. Balan, and A. Rekeraho, “Online Laboratory Access Control With Zero Trust Approach: Twingate Use Case,” 2024</a:t>
            </a:r>
            <a:endParaRPr/>
          </a:p>
        </p:txBody>
      </p:sp>
      <p:graphicFrame>
        <p:nvGraphicFramePr>
          <p:cNvPr id="1052650831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402431" y="1441306"/>
          <a:ext cx="8510905" cy="48602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213610"/>
                <a:gridCol w="2046604"/>
                <a:gridCol w="2112010"/>
                <a:gridCol w="2138680"/>
              </a:tblGrid>
              <a:tr h="608965">
                <a:tc>
                  <a:txBody>
                    <a:bodyPr/>
                    <a:p>
                      <a:pPr marL="610870" marR="119380" indent="-48450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14984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5308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64008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251325">
                <a:tc>
                  <a:txBody>
                    <a:bodyPr/>
                    <a:p>
                      <a:pPr marL="542925" marR="90804" indent="-32829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 Network Access (ZTNA)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secure remote access.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90804" indent="-32829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least-privilege access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restrict users to required resources.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11125" indent="-328295" algn="just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  <a:defRPr/>
                      </a:pPr>
                      <a:r>
                        <a:rPr sz="1200" b="0">
                          <a:solidFill>
                            <a:srgbClr val="303030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authentication and authorization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access requests.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1124" indent="-328294" algn="just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4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Raspberry Pi 4B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as a network connector.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1124" indent="-328294" algn="just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4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network monitoring and logging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7949" indent="-328295" algn="just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Improved Access Control: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Provides granular access to individual resources instead of exposing the entire network.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 Attack Surface: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Least-privilege access limits the resources available to an authenticated user.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Monitoring: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Network connections are monitored and logged to help identify suspicious activities.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89535" indent="-328295" algn="just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Dependency on Authentication: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Access to resources depends on successful authentication and authorization.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Connector Dependency: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Resources cannot be accessed when the required connector is unavailable.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Deployment Complexity: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Implementing Zero Trust requires configuration of policies, authentication, connectors, and resource permissions.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469265" indent="-32829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Proposes a Zero Trust Network Access (ZTNA) approach to enable secure remote access to online laboratory environments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383539" indent="-32829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Applies least-privilege policies using a Raspberry Pi 4B as a lab network connector.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383538" indent="-328292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Limits user access strictly to required resources, minimizing the lab's attack surface.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019024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10</a:t>
            </a:fld>
            <a:endParaRPr spc="-25"/>
          </a:p>
        </p:txBody>
      </p:sp>
      <p:sp>
        <p:nvSpPr>
          <p:cNvPr id="1483209229" name="object 6"/>
          <p:cNvSpPr txBox="1"/>
          <p:nvPr/>
        </p:nvSpPr>
        <p:spPr bwMode="auto">
          <a:xfrm>
            <a:off x="914400" y="6509553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133837893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676660904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2158311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942454964" name="object 3"/>
          <p:cNvSpPr txBox="1"/>
          <p:nvPr/>
        </p:nvSpPr>
        <p:spPr bwMode="auto">
          <a:xfrm>
            <a:off x="234747" y="718557"/>
            <a:ext cx="8856683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 Akhi, C. Eising, and L. L. Dhirani, "Securing IoT Using Lightweight TCN for Edge Deployment on Raspberry Pi 4,"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Open Journal of the Communications Society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vol. 7, pp. 1184–1200, 2026</a:t>
            </a:r>
            <a:endParaRPr sz="1400" b="0" i="0"/>
          </a:p>
        </p:txBody>
      </p:sp>
      <p:graphicFrame>
        <p:nvGraphicFramePr>
          <p:cNvPr id="727801508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316706" y="1366297"/>
          <a:ext cx="8650605" cy="50888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717165"/>
                <a:gridCol w="2078355"/>
                <a:gridCol w="2004694"/>
                <a:gridCol w="1850390"/>
              </a:tblGrid>
              <a:tr h="608965">
                <a:tc>
                  <a:txBody>
                    <a:bodyPr/>
                    <a:p>
                      <a:pPr marL="862330" marR="371475" indent="-48450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3086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9974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95934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479925">
                <a:tc>
                  <a:txBody>
                    <a:bodyPr/>
                    <a:p>
                      <a:pPr marL="542925" marR="182880" indent="-32067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Lightweight TCN Architecture: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Uses a 1D Temporal Convolutional Network with causal padding, dilated convolutions (rates 1, 2, 4), batch normalization,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$L_2$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regularization, Gaussian noise injection, and Global Average Pooling 1D</a:t>
                      </a:r>
                      <a:endParaRPr sz="1200" b="0" spc="-1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88265" indent="-32067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Post-Training INT8 Quantization: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Converts floating-point (FP32) models into full-integer (INT8) TensorFlow Lite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.tflite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representations using representative dataset calibration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4775" indent="-32067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Processing Pipeline: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Applies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$z$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-score standardization, removal of non-finite values, synthetic class balancing via SMOTE on training data, and 3D temporal tensor reshaping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$N \times F \times 1$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200" b="0" spc="-1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pos="542925" algn="l"/>
                        </a:tabLst>
                        <a:defRPr/>
                      </a:pP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2235" indent="-32067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Detection Accuracy: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Achieves 99.95% accuracy on MQTT-DDoS and 99.94% accuracy on UDP-DDoS datasets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067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Ultra-Low Latency: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Delivers inference speeds of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 ms/sample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MQTT-DDoS and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0.27 ms/sample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UDP-DDoS on physical Raspberry Pi 4 hardware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2234" indent="-32067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Significant Footprint Compression: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Reduces model file size by nearly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$4\times$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(from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248.5 KB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to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89.1 KB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) via INT8 quantization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pos="542925" algn="l"/>
                        </a:tabLst>
                        <a:defRPr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13664" indent="-32067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 Multi-Class Generalization: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Performance drops significantly on highly complex, overlapping Industrial IoT traffic (65.80% accuracy on CICIIoT2025)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78105" indent="-32067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Hardware Scope Restriction: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Evaluated exclusively on single-board computer edge hardware (Raspberry Pi 4) rather than ultra-constrained microcontrollers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78104" indent="-32067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spc="-9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Deployment Threat Vulnerabilities: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Remains vulnerable to physical edge threats such as model extraction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90" indent="-320040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Establishes a lightweight, edge-deployable deep learning Intrusion Detection System (IDS) to mitigate real-time DDoS threats on resource-constrained IoT devices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262890" indent="-32067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Converts a dilated 1D Temporal Convolutional Network to an INT8-quantized TFLite model running locally on a Raspberry Pi 4 using multi-threaded acceleration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049712" name="object 5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8239124" y="6445271"/>
            <a:ext cx="291634" cy="232994"/>
          </a:xfrm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 algn="just">
              <a:lnSpc>
                <a:spcPts val="1410"/>
              </a:lnSpc>
              <a:defRPr/>
            </a:pPr>
            <a:fld id="{81D60167-4931-47E6-BA6A-407CBD079E47}" type="slidenum">
              <a:rPr spc="-25"/>
              <a:t>11</a:t>
            </a:fld>
            <a:endParaRPr spc="-25"/>
          </a:p>
        </p:txBody>
      </p:sp>
      <p:sp>
        <p:nvSpPr>
          <p:cNvPr id="468108611" name="object 6"/>
          <p:cNvSpPr txBox="1"/>
          <p:nvPr/>
        </p:nvSpPr>
        <p:spPr bwMode="auto">
          <a:xfrm>
            <a:off x="761999" y="6509552"/>
            <a:ext cx="1278754" cy="179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 of CSE-CC</a:t>
            </a:r>
            <a:endParaRPr lang="en-IN" sz="1200" b="1">
              <a:solidFill>
                <a:srgbClr val="ED7D31"/>
              </a:solidFill>
              <a:latin typeface="Times New Roman"/>
              <a:cs typeface="Times New Roman"/>
            </a:endParaRPr>
          </a:p>
        </p:txBody>
      </p:sp>
      <p:sp>
        <p:nvSpPr>
          <p:cNvPr id="1700585508" name="object 7"/>
          <p:cNvSpPr txBox="1">
            <a:spLocks noGrp="1"/>
          </p:cNvSpPr>
          <p:nvPr>
            <p:ph type="dt" sz="half" idx="6"/>
          </p:nvPr>
        </p:nvSpPr>
        <p:spPr bwMode="auto">
          <a:xfrm>
            <a:off x="3429000" y="6437569"/>
            <a:ext cx="1979496" cy="243709"/>
          </a:xfrm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 algn="just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474753904" name="object 8"/>
          <p:cNvSpPr txBox="1">
            <a:spLocks noGrp="1"/>
          </p:cNvSpPr>
          <p:nvPr>
            <p:ph type="ftr" sz="quarter" idx="5"/>
          </p:nvPr>
        </p:nvSpPr>
        <p:spPr bwMode="auto">
          <a:xfrm>
            <a:off x="6781799" y="6443561"/>
            <a:ext cx="1348777" cy="243709"/>
          </a:xfrm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 algn="just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860077335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3" y="-7590"/>
            <a:ext cx="6094454" cy="68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1560206020" name="object 3"/>
          <p:cNvSpPr txBox="1"/>
          <p:nvPr/>
        </p:nvSpPr>
        <p:spPr bwMode="auto">
          <a:xfrm>
            <a:off x="234747" y="718557"/>
            <a:ext cx="8832638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N. N. Hari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et al.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"Standards-Compliant Zero Trust Framework-Based Software-Defined Perimeter (SDP) for Securing Residential IoT Networks,"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Transactions on Consumer Electronics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vol. 72, no. 1, pp. 1312–1327, Feb. 2026</a:t>
            </a:r>
            <a:endParaRPr sz="1100" b="0" i="0"/>
          </a:p>
        </p:txBody>
      </p:sp>
      <p:graphicFrame>
        <p:nvGraphicFramePr>
          <p:cNvPr id="1769379347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394801" y="1258575"/>
          <a:ext cx="8512174" cy="541845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608580"/>
                <a:gridCol w="1986280"/>
                <a:gridCol w="1896110"/>
                <a:gridCol w="2021204"/>
              </a:tblGrid>
              <a:tr h="608965">
                <a:tc>
                  <a:txBody>
                    <a:bodyPr/>
                    <a:p>
                      <a:pPr marL="807720" marR="316865" indent="-48450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8450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45134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8102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281805">
                <a:tc>
                  <a:txBody>
                    <a:bodyPr/>
                    <a:p>
                      <a:pPr marL="542925" marR="84455" indent="-32448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 + SDP: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 device authentication and least-privilege access.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67005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MUD-Based Policy: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Automatically defines and enforces device-specific communication rules.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67004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WireGuard + Micro-Segmentation: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Encrypts traffic and isolates IoT devices to prevent lateral attacks.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67004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Two-Stage Inter-Device Validation: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Intercepts lateral traffic, checking MUD permissions in Stage 1 and evaluating real-time session posture/SPA context in Sta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 2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53033" indent="-324483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Zero Trust principles, so IoT devices are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trusted automatically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Access is granted only after authentication and policy verification.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53033" indent="-324483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MUD-based device-specific policies restrict devices to only the communication they actually require, reducing the risk of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unauthorized access and lateral movement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pos="542925" algn="l"/>
                        </a:tabLst>
                        <a:defRPr/>
                      </a:pP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53033" indent="-324483" algn="just">
                        <a:lnSpc>
                          <a:spcPct val="100000"/>
                        </a:lnSpc>
                        <a:buFont typeface="Arial MT"/>
                        <a:buChar char="●"/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 enforcement relies heavily on the </a:t>
                      </a:r>
                      <a:r>
                        <a:rPr lang="en-US" sz="12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IoT gateway</a:t>
                      </a:r>
                      <a:r>
                        <a:rPr lang="en-US" sz="12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including SDP and micro-segmentation functions. A compromised or unavailable gateway could affect the protection of the entire residential network.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00965" indent="-32448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Integrating MUD, SDP, WireGuard encryption, Zero Trust policies, and gateway-based enforcement can introduce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computational, management, and configuration overhead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00964" indent="-324484" algn="just">
                        <a:lnSpc>
                          <a:spcPct val="100000"/>
                        </a:lnSpc>
                        <a:spcBef>
                          <a:spcPts val="249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89864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Secure residential IoT networks by preventing unauthorized access and reducing attacks using a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Trust-based Software-Defined Perimeter (SDP)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89864" indent="-324483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Combines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 Architecture, MUD, SDP, WireGuard, and micro-segmentation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44145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Provides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automated, device-specific access control and improved network isolation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939872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13</a:t>
            </a:fld>
            <a:endParaRPr spc="-25"/>
          </a:p>
        </p:txBody>
      </p:sp>
      <p:sp>
        <p:nvSpPr>
          <p:cNvPr id="1902749138" name="object 6"/>
          <p:cNvSpPr txBox="1"/>
          <p:nvPr/>
        </p:nvSpPr>
        <p:spPr bwMode="auto">
          <a:xfrm>
            <a:off x="838200" y="6509553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160768067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076874069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89670134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302149548" name="object 3"/>
          <p:cNvSpPr txBox="1"/>
          <p:nvPr/>
        </p:nvSpPr>
        <p:spPr bwMode="auto">
          <a:xfrm>
            <a:off x="234747" y="718557"/>
            <a:ext cx="8869573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defRPr/>
            </a:pP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S. M. Zoha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ib, S. M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Sajjad, Z. Iqbal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M.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Yousaf, M. Haseeb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Z. Muhammad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"Zero Trust VPN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(ZT-VPN): A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Systematic Literature Review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and Cyber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security Framework for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Hybrid and Remote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Work," </a:t>
            </a:r>
            <a:r>
              <a:rPr sz="1400" b="0" i="1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Information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2024.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161470399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402431" y="1441306"/>
          <a:ext cx="8509634" cy="470026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545715"/>
                <a:gridCol w="1949450"/>
                <a:gridCol w="1972310"/>
                <a:gridCol w="2042158"/>
              </a:tblGrid>
              <a:tr h="608965">
                <a:tc>
                  <a:txBody>
                    <a:bodyPr/>
                    <a:p>
                      <a:pPr marL="776605" marR="285750" indent="-48450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6672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8387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9182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091304">
                <a:tc>
                  <a:txBody>
                    <a:bodyPr/>
                    <a:p>
                      <a:pPr marL="542925" marR="9525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 Integration: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Merges ZTNA principles with traditional VPN infrastructure.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95249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Three-Tier Enforcement: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Utilizes Policy, Identity, and Security Enforcement Points (PEP, IEP, SEP)</a:t>
                      </a:r>
                      <a:r>
                        <a:rPr sz="1200" b="0" spc="-9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00965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Multi-Layered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Combines continuous identity/device checks with SASE, SD-WAN, and encrypted tunneling.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0964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Adaptive Risk Assessment: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Evaluates real-time contextual data over static single-point logins.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033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Prevents Lateral Movement: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Eliminates implicit trust via continuous posture checks.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1938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Enhanced Threat Protection: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Secures remote access and prevents data leakage.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9379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Optimization: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Resolves enterprise VPN latency and scalability bottlenecks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9379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Broad Framework Coverage: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Bridges legacy access systems with modern cloud security architectures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1811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Deployment Complexity: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Requires reconfiguring legacy systems and complex ZTNA policies.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Resource Overhead: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 checks increase computational and authenticationload.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90804" indent="-324484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Identity Infrastructure Reliance: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Depends heavily on external IdPs and device management tools.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8636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Resolves traditional enterprise VPN latency and security flaws for remote/hybrid work.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17475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Combines ZTNA, SASE, and enforcement points (PEP, IEP, SEP) for continuous verification.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Delivers least-privilege access, better performance, and enhanced data privacy.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888351" name="object 5"/>
          <p:cNvSpPr txBox="1"/>
          <p:nvPr/>
        </p:nvSpPr>
        <p:spPr bwMode="auto">
          <a:xfrm>
            <a:off x="8314500" y="6535234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z="1200" b="1" spc="-25">
                <a:solidFill>
                  <a:srgbClr val="375523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69250915" name="object 6"/>
          <p:cNvSpPr txBox="1"/>
          <p:nvPr/>
        </p:nvSpPr>
        <p:spPr bwMode="auto">
          <a:xfrm>
            <a:off x="838200" y="6581784"/>
            <a:ext cx="124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831768949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077451599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488909595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931018882" name="object 3"/>
          <p:cNvSpPr txBox="1"/>
          <p:nvPr/>
        </p:nvSpPr>
        <p:spPr bwMode="auto">
          <a:xfrm>
            <a:off x="319369" y="631458"/>
            <a:ext cx="8499348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defRPr/>
            </a:pP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D. N.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Jha, G. Lenton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J. Asker, 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Blundell, M. Higgins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D. C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H. Wallom (2023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). "A Run-Time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Framework for Ensuring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Zero-Trust State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of Client’s Machines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in Cloud Environment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402200284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339239" y="1285547"/>
          <a:ext cx="8537574" cy="504126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722245"/>
                <a:gridCol w="2022475"/>
                <a:gridCol w="1835150"/>
                <a:gridCol w="1957704"/>
              </a:tblGrid>
              <a:tr h="579120">
                <a:tc>
                  <a:txBody>
                    <a:bodyPr/>
                    <a:p>
                      <a:pPr marL="869950" marR="374015" indent="-48895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0292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1529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4991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462145">
                <a:tc>
                  <a:txBody>
                    <a:bodyPr/>
                    <a:p>
                      <a:pPr marL="542925" marR="12446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Extended IMA Monitoring: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Captures system/process metrics in real time via memory buffers and file hashing.</a:t>
                      </a:r>
                      <a:endParaRPr sz="1200" b="0" spc="-9">
                        <a:latin typeface="Times New Roman"/>
                        <a:cs typeface="Times New Roman"/>
                      </a:endParaRPr>
                    </a:p>
                    <a:p>
                      <a:pPr marL="542925" marR="9080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Adaptive Verification Lists: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Filters critical directories using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Include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Exclude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and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Allow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lists to optimize data processing.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9080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TPM Chain of Trust: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Extends PCR registers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pcrextend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to build digests and signs measurement batches.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9080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Three-Phase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Validates machine identity, cryptographic signatures, and file hash matches sequentially.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90" marR="12192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Internal Threat Detection: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Catches unauthorized administrative alterations and internal attacks bypassing firewalls.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289" marR="12191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89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Tamper-Proof Integrity: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Uses cryptographic chains to prevent log manipulation or state rollback.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289" marR="12191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89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&amp; Scalable: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Processes machine state within 35.6s for up to 128 concurrent clients.</a:t>
                      </a:r>
                      <a:endParaRPr sz="1200" b="0" spc="-9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4795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Irrecoverable Locking: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Cryptographic failures lock client machines permanently into an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Untrusted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state.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4795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Virtual TPM Vulnerability: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SWTPMs in public clouds lack physical hardware security unless shielded by SGX.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14999"/>
                        </a:lnSpc>
                        <a:tabLst>
                          <a:tab pos="542925" algn="l"/>
                        </a:tabLst>
                        <a:defRPr/>
                      </a:pP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7937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Zero-Trust State Validation: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Proposes the TPC framework to continuously track cloud machine integrity at run-time.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7937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Distributed Setup: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Pairs client-side agents (Kernel, Trust Agent, TPM) with a centralized Verification Cluster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7937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Cloud Safeguard: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Reduces dwell time by detecting run-time vulnerabilities across cloud VMs and containers.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 spc="-28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  <p:sp>
        <p:nvSpPr>
          <p:cNvPr id="1816093156" name="Slide Number Placeholder 8"/>
          <p:cNvSpPr>
            <a:spLocks noGrp="1"/>
          </p:cNvSpPr>
          <p:nvPr>
            <p:ph type="sldNum" sz="quarter" idx="7"/>
          </p:nvPr>
        </p:nvSpPr>
        <p:spPr bwMode="auto"/>
        <p:txBody>
          <a:bodyPr/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lang="en-IN" spc="-50"/>
              <a:t>14</a:t>
            </a:fld>
            <a:endParaRPr lang="en-IN" spc="-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367534" name="object 5"/>
          <p:cNvSpPr txBox="1"/>
          <p:nvPr/>
        </p:nvSpPr>
        <p:spPr bwMode="auto"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110809192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175904415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859754993" name="object 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  <a:defRPr/>
            </a:pPr>
            <a:fld id="{81D60167-4931-47E6-BA6A-407CBD079E47}" type="slidenum">
              <a:rPr spc="-25"/>
              <a:t>24</a:t>
            </a:fld>
            <a:endParaRPr spc="-25"/>
          </a:p>
        </p:txBody>
      </p:sp>
      <p:sp>
        <p:nvSpPr>
          <p:cNvPr id="1169105522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639984911" name="object 3"/>
          <p:cNvSpPr txBox="1"/>
          <p:nvPr/>
        </p:nvSpPr>
        <p:spPr bwMode="auto">
          <a:xfrm>
            <a:off x="546264" y="659574"/>
            <a:ext cx="8205998" cy="469622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 algn="just">
              <a:lnSpc>
                <a:spcPct val="100000"/>
              </a:lnSpc>
              <a:spcBef>
                <a:spcPts val="229"/>
              </a:spcBef>
              <a:defRPr/>
            </a:pP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K. A. Ab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uhasel (2023). "A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-Trust Network-Based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Access Control Scheme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for Sustainable and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Resilient Industry 5.0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261553731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253876" y="1244559"/>
          <a:ext cx="8623934" cy="51790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917190"/>
                <a:gridCol w="2235835"/>
                <a:gridCol w="1807209"/>
                <a:gridCol w="1663700"/>
              </a:tblGrid>
              <a:tr h="579120">
                <a:tc>
                  <a:txBody>
                    <a:bodyPr/>
                    <a:p>
                      <a:pPr marL="967105" marR="471170" indent="-48895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60960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0685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2590" algn="just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599940">
                <a:tc>
                  <a:txBody>
                    <a:bodyPr/>
                    <a:p>
                      <a:pPr marL="542925" marR="467995" indent="-320675" algn="just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Pi,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sensor, ultrasonic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sensor,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camera together.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399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YOLOv5</a:t>
                      </a:r>
                      <a:r>
                        <a:rPr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907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normalization,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removal.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92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locally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support.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386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buzzer,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LED,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LCD.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416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DCSASS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16,853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 videos.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90" indent="-32004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.High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96.8%.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 algn="just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detection: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74015" algn="just">
                        <a:lnSpc>
                          <a:spcPct val="114999"/>
                        </a:lnSpc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0.15-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 response time.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463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under different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448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 scalable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independently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63830" indent="-320675" algn="just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Processing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speed decreases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0.82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heavy computation.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32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complex backgrounds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lighting.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377825" indent="-320675" algn="just">
                        <a:lnSpc>
                          <a:spcPct val="114999"/>
                        </a:lnSpc>
                        <a:spcBef>
                          <a:spcPts val="35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  <a:defRPr/>
                      </a:pPr>
                      <a:r>
                        <a:rPr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low-cost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Raspberry Pi-based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surveillance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7165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accurate real-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alerts.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823601" name="object 5"/>
          <p:cNvSpPr txBox="1"/>
          <p:nvPr/>
        </p:nvSpPr>
        <p:spPr bwMode="auto">
          <a:xfrm>
            <a:off x="761999" y="6607232"/>
            <a:ext cx="1132794" cy="17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409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4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4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3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328850838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61960" rIns="0" bIns="0" rtlCol="0">
            <a:spAutoFit/>
          </a:bodyPr>
          <a:lstStyle/>
          <a:p>
            <a:pPr marL="12699">
              <a:lnSpc>
                <a:spcPts val="1409"/>
              </a:lnSpc>
              <a:defRPr/>
            </a:pPr>
            <a:r>
              <a:rPr lang="en-US"/>
              <a:t>CCD415 Project Phase I</a:t>
            </a:r>
            <a:endParaRPr spc="-49"/>
          </a:p>
        </p:txBody>
      </p:sp>
      <p:sp>
        <p:nvSpPr>
          <p:cNvPr id="1731300765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61960" rIns="0" bIns="0" rtlCol="0">
            <a:spAutoFit/>
          </a:bodyPr>
          <a:lstStyle/>
          <a:p>
            <a:pPr marL="12699">
              <a:lnSpc>
                <a:spcPts val="1409"/>
              </a:lnSpc>
              <a:defRPr/>
            </a:pPr>
            <a:r>
              <a:rPr spc="-9"/>
              <a:t>2023-</a:t>
            </a:r>
            <a:r>
              <a:rPr/>
              <a:t>2027</a:t>
            </a:r>
            <a:r>
              <a:rPr spc="-4"/>
              <a:t> </a:t>
            </a:r>
            <a:r>
              <a:rPr spc="-9"/>
              <a:t>Batch</a:t>
            </a:r>
            <a:endParaRPr/>
          </a:p>
        </p:txBody>
      </p:sp>
      <p:sp>
        <p:nvSpPr>
          <p:cNvPr id="1541711114" name="object 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61960" rIns="0" bIns="0" rtlCol="0">
            <a:spAutoFit/>
          </a:bodyPr>
          <a:lstStyle/>
          <a:p>
            <a:pPr marL="87629">
              <a:lnSpc>
                <a:spcPts val="1409"/>
              </a:lnSpc>
              <a:defRPr/>
            </a:pPr>
            <a:fld id="{1E87ACAE-B231-AE9D-B77E-BF710C6F48A9}" type="slidenum">
              <a:rPr spc="-23"/>
              <a:t>14</a:t>
            </a:fld>
            <a:endParaRPr spc="-23"/>
          </a:p>
        </p:txBody>
      </p:sp>
      <p:sp>
        <p:nvSpPr>
          <p:cNvPr id="207679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356234">
              <a:lnSpc>
                <a:spcPct val="100000"/>
              </a:lnSpc>
              <a:spcBef>
                <a:spcPts val="99"/>
              </a:spcBef>
              <a:defRPr/>
            </a:pPr>
            <a:r>
              <a:rPr spc="-34"/>
              <a:t>LITERATURE</a:t>
            </a:r>
            <a:r>
              <a:rPr spc="-194"/>
              <a:t> </a:t>
            </a:r>
            <a:r>
              <a:rPr spc="-9"/>
              <a:t>SURVEY</a:t>
            </a:r>
            <a:endParaRPr/>
          </a:p>
        </p:txBody>
      </p:sp>
      <p:sp>
        <p:nvSpPr>
          <p:cNvPr id="1309316783" name="object 3"/>
          <p:cNvSpPr txBox="1"/>
          <p:nvPr/>
        </p:nvSpPr>
        <p:spPr bwMode="auto">
          <a:xfrm>
            <a:off x="546264" y="659574"/>
            <a:ext cx="8204558" cy="468099"/>
          </a:xfrm>
          <a:prstGeom prst="rect">
            <a:avLst/>
          </a:prstGeom>
        </p:spPr>
        <p:txBody>
          <a:bodyPr vert="horz" wrap="square" lIns="0" tIns="42543" rIns="0" bIns="0" rtlCol="0">
            <a:spAutoFit/>
          </a:bodyPr>
          <a:lstStyle/>
          <a:p>
            <a:pPr marL="298449" indent="-285750" algn="just">
              <a:lnSpc>
                <a:spcPct val="100000"/>
              </a:lnSpc>
              <a:spcBef>
                <a:spcPts val="333"/>
              </a:spcBef>
              <a:buChar char="•"/>
              <a:tabLst>
                <a:tab pos="298449" algn="l"/>
              </a:tabLst>
              <a:defRPr/>
            </a:pPr>
            <a:r>
              <a:rPr sz="1300">
                <a:latin typeface="Times New Roman"/>
                <a:cs typeface="Times New Roman"/>
              </a:rPr>
              <a:t>AI-Based</a:t>
            </a:r>
            <a:r>
              <a:rPr sz="1300" spc="-6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Smart</a:t>
            </a:r>
            <a:r>
              <a:rPr sz="1300" spc="-23">
                <a:latin typeface="Times New Roman"/>
                <a:cs typeface="Times New Roman"/>
              </a:rPr>
              <a:t> </a:t>
            </a:r>
            <a:r>
              <a:rPr sz="1300" spc="-9">
                <a:latin typeface="Times New Roman"/>
                <a:cs typeface="Times New Roman"/>
              </a:rPr>
              <a:t>Surveillance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System</a:t>
            </a:r>
            <a:r>
              <a:rPr sz="1300" spc="-23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Using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Raspberry</a:t>
            </a:r>
            <a:r>
              <a:rPr sz="1300" spc="-1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Pi</a:t>
            </a:r>
            <a:r>
              <a:rPr sz="1300" spc="-23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and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Embedded</a:t>
            </a:r>
            <a:r>
              <a:rPr sz="1300" spc="-38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Vision</a:t>
            </a:r>
            <a:r>
              <a:rPr sz="1300" spc="28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B.</a:t>
            </a:r>
            <a:r>
              <a:rPr sz="1300" spc="-1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Girirajan,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S.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Prabu,</a:t>
            </a:r>
            <a:r>
              <a:rPr sz="1300" spc="-38">
                <a:latin typeface="Times New Roman"/>
                <a:cs typeface="Times New Roman"/>
              </a:rPr>
              <a:t> </a:t>
            </a:r>
            <a:r>
              <a:rPr sz="1300" spc="-90">
                <a:latin typeface="Times New Roman"/>
                <a:cs typeface="Times New Roman"/>
              </a:rPr>
              <a:t>V.</a:t>
            </a:r>
            <a:r>
              <a:rPr sz="1300" spc="-23">
                <a:latin typeface="Times New Roman"/>
                <a:cs typeface="Times New Roman"/>
              </a:rPr>
              <a:t> </a:t>
            </a:r>
            <a:r>
              <a:rPr sz="1300" spc="-54">
                <a:latin typeface="Times New Roman"/>
                <a:cs typeface="Times New Roman"/>
              </a:rPr>
              <a:t>T.</a:t>
            </a:r>
            <a:r>
              <a:rPr sz="1300" spc="-23">
                <a:latin typeface="Times New Roman"/>
                <a:cs typeface="Times New Roman"/>
              </a:rPr>
              <a:t> </a:t>
            </a:r>
            <a:r>
              <a:rPr sz="1300" spc="-9">
                <a:latin typeface="Times New Roman"/>
                <a:cs typeface="Times New Roman"/>
              </a:rPr>
              <a:t>Thangam,</a:t>
            </a:r>
            <a:endParaRPr sz="1300">
              <a:latin typeface="Times New Roman"/>
              <a:cs typeface="Times New Roman"/>
            </a:endParaRPr>
          </a:p>
          <a:p>
            <a:pPr marL="298449" algn="just">
              <a:lnSpc>
                <a:spcPct val="100000"/>
              </a:lnSpc>
              <a:spcBef>
                <a:spcPts val="228"/>
              </a:spcBef>
              <a:defRPr/>
            </a:pPr>
            <a:r>
              <a:rPr sz="1300">
                <a:latin typeface="Times New Roman"/>
                <a:cs typeface="Times New Roman"/>
              </a:rPr>
              <a:t>M.</a:t>
            </a:r>
            <a:r>
              <a:rPr sz="1300" spc="-28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Sugumaran,</a:t>
            </a:r>
            <a:r>
              <a:rPr sz="1300" spc="-9">
                <a:latin typeface="Times New Roman"/>
                <a:cs typeface="Times New Roman"/>
              </a:rPr>
              <a:t> </a:t>
            </a:r>
            <a:r>
              <a:rPr sz="1300" spc="-77">
                <a:latin typeface="Times New Roman"/>
                <a:cs typeface="Times New Roman"/>
              </a:rPr>
              <a:t>P.</a:t>
            </a:r>
            <a:r>
              <a:rPr sz="1300" spc="-23">
                <a:latin typeface="Times New Roman"/>
                <a:cs typeface="Times New Roman"/>
              </a:rPr>
              <a:t> </a:t>
            </a:r>
            <a:r>
              <a:rPr sz="1300" spc="-9">
                <a:latin typeface="Times New Roman"/>
                <a:cs typeface="Times New Roman"/>
              </a:rPr>
              <a:t>Venkateshwaran,</a:t>
            </a:r>
            <a:r>
              <a:rPr sz="1300" spc="-7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A.</a:t>
            </a:r>
            <a:r>
              <a:rPr sz="1300" spc="-9">
                <a:latin typeface="Times New Roman"/>
                <a:cs typeface="Times New Roman"/>
              </a:rPr>
              <a:t> </a:t>
            </a:r>
            <a:r>
              <a:rPr sz="1300" spc="-19">
                <a:latin typeface="Times New Roman"/>
                <a:cs typeface="Times New Roman"/>
              </a:rPr>
              <a:t>Kaur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806189217" name="object 4"/>
          <p:cNvGraphicFramePr>
            <a:graphicFrameLocks xmlns:a="http://schemas.openxmlformats.org/drawingml/2006/main"/>
          </p:cNvGraphicFramePr>
          <p:nvPr/>
        </p:nvGraphicFramePr>
        <p:xfrm rot="0">
          <a:off x="253875" y="1244558"/>
          <a:ext cx="8623933" cy="51790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917189"/>
                <a:gridCol w="2235834"/>
                <a:gridCol w="1807209"/>
                <a:gridCol w="1663699"/>
              </a:tblGrid>
              <a:tr h="579120">
                <a:tc>
                  <a:txBody>
                    <a:bodyPr/>
                    <a:p>
                      <a:pPr marL="967104" marR="471169" indent="-488949" algn="just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4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4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609599" algn="just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0684" algn="just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2589" algn="just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599940">
                <a:tc>
                  <a:txBody>
                    <a:bodyPr/>
                    <a:p>
                      <a:pPr marL="542925" marR="17398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DL-Assisted Access Control: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Uses deep learning to evaluate access conditions over industrial controllers.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7398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Computation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$SMI_d$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Calculates device metrics via access limits, active controllers, and detected threats.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7906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Variation Detection: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Evaluates dual input sequences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$\exists_1, \exists_2$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to track variations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$V$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against previous outputs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$PPO^*$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7906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Schedule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Dynamically grants access or reallocates controllers upon detecting anomalies or interrupts.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44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89" indent="-320040" algn="just">
                        <a:lnSpc>
                          <a:spcPct val="100000"/>
                        </a:lnSpc>
                        <a:spcBef>
                          <a:spcPts val="214"/>
                        </a:spcBef>
                        <a:buFont typeface="Arial MT"/>
                        <a:buChar char="●"/>
                        <a:tabLst>
                          <a:tab pos="542289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 Failures: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Minimizes controller denials, system failures, and false positives.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25463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Consistency: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Improves production consistency across human-centric Industry 5.0 systems.</a:t>
                      </a: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background</a:t>
                      </a:r>
                      <a:r>
                        <a:rPr sz="1200" b="0" spc="-59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spc="-9">
                          <a:latin typeface="Times New Roman"/>
                          <a:ea typeface="Times New Roman"/>
                          <a:cs typeface="Times New Roman"/>
                        </a:rPr>
                        <a:t>conditions.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389889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Minimizes Interrupts: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Mitigates adversary interruptions to maintain continuous operational schedules.</a:t>
                      </a:r>
                      <a:endParaRPr sz="1200" b="0" spc="-19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14999"/>
                        </a:lnSpc>
                        <a:tabLst>
                          <a:tab pos="542925" algn="l"/>
                        </a:tabLst>
                        <a:defRPr/>
                      </a:pPr>
                      <a:r>
                        <a:rPr sz="1200" b="0" spc="-9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49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63829" indent="-320674" algn="just">
                        <a:lnSpc>
                          <a:spcPct val="114999"/>
                        </a:lnSpc>
                        <a:spcBef>
                          <a:spcPts val="34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Concurrency Limits: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Facing constraints when processing simultaneous high-concurrency access requests.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63829" indent="-320674" algn="just">
                        <a:lnSpc>
                          <a:spcPct val="114999"/>
                        </a:lnSpc>
                        <a:spcBef>
                          <a:spcPts val="34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Dependency: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Relies heavily on precise historical production data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$PPO^*$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for accurate anomaly detection.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44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604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Zero-Trust Access Framework: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ZTN-ACS delivers deep learning-based security for Industry 5.0 operations.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77164" indent="-320674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Monitors access requests against expected outputs to mitigate cyber threats.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44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475346" name="object 4"/>
          <p:cNvSpPr txBox="1"/>
          <p:nvPr/>
        </p:nvSpPr>
        <p:spPr bwMode="auto">
          <a:xfrm>
            <a:off x="914400" y="6578165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455414805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658252037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193714161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29</a:t>
            </a:fld>
            <a:endParaRPr spc="-25"/>
          </a:p>
        </p:txBody>
      </p:sp>
      <p:sp>
        <p:nvSpPr>
          <p:cNvPr id="110824754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80"/>
              <a:t>COMPARATIVE</a:t>
            </a:r>
            <a:r>
              <a:rPr spc="-190"/>
              <a:t> </a:t>
            </a:r>
            <a:r>
              <a:rPr spc="-35"/>
              <a:t>ANALYSIS</a:t>
            </a:r>
            <a:endParaRPr/>
          </a:p>
        </p:txBody>
      </p:sp>
      <p:graphicFrame>
        <p:nvGraphicFramePr>
          <p:cNvPr id="1994404155" name="object 3"/>
          <p:cNvGraphicFramePr>
            <a:graphicFrameLocks xmlns:a="http://schemas.openxmlformats.org/drawingml/2006/main" noGrp="1"/>
          </p:cNvGraphicFramePr>
          <p:nvPr/>
        </p:nvGraphicFramePr>
        <p:xfrm rot="0">
          <a:off x="565023" y="698222"/>
          <a:ext cx="8256269" cy="57581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138555"/>
                <a:gridCol w="1478915"/>
                <a:gridCol w="1764029"/>
                <a:gridCol w="1473835"/>
                <a:gridCol w="2400935"/>
              </a:tblGrid>
              <a:tr h="914400">
                <a:tc>
                  <a:txBody>
                    <a:bodyPr/>
                    <a:p>
                      <a:pPr marL="168910" marR="161289" indent="-127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9779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394335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228600" marR="220979" indent="26416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774065" marR="316229" indent="-45085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</a:tr>
              <a:tr h="118872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1440" marR="8636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Train a lightweight TCN using IoT/H-IoT DDoS traffic and deploy the optimized model directly on Raspberry Pi 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398780" marR="39243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Edge-based cybersecurity and local DDoS 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TCN, TFLite, INT8 quantization, XNNPACK and Raspberry Pi 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498475" marR="490855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detection accuracy with very low inference latency and relatively low power consumption.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[3]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08585" marR="103505" indent="63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Fetches device MUD profiles via DHCP/LLDP and auto-generates firewall access rules.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Fetches manufacturer profiles via DHCP/LLDP and parses JSON definitions directly into per-device firewall rules.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448308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Authenticates before connecting to hide unauthorized IoT devices.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98425" marR="9080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Compact model size (675 kB), fast detection (19 ms), rapid alerts (~3 sec), multi-channel notifications (SMS/Push/Voice).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9695" marR="9461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an online laboratory as a practical case study for implementing ZTNA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2075" marR="84455" indent="-317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Application/resource-level access rather than giving users unrestricted access to the entire 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114300" marR="108585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Twingate, MFA, encryption and device-security policies.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112395" marR="10668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Demonstrates the practical use of ZTNA for remote educational laboratory access and highlights limitations of conventional VPN approaches.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[4]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03505" marR="9779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Reviews existing remote-access/security technologies and proposes a Zero-Trust VPN framework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76530" marR="16954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traditional VPN connectivity with Zero-Trust access control.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39700" marR="132080" indent="-1905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OpenVPN, SSL/TLS certificates, OTP, PEP, IEP and SEP.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257175" marR="249554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Provides more granular access by considering user identity, device health and authorization rather than providing broad network access after VPN authentication.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[5]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1440" marR="8382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Continuously monitors client-machine state and reports unexpected changes.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151130" marR="145415" indent="190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Runtime trust verification rather than relying only on authentication at the beginning of a session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254000" marR="248285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TPC, SWTPM and SGX-enabled SWTPM; tested using Azure and AWS.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Demonstrates runtime state monitoring and scalability testing; 128 concurrent clients were recognized within a maximum of 35.6 seconds.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055237" name="object 4"/>
          <p:cNvSpPr txBox="1"/>
          <p:nvPr/>
        </p:nvSpPr>
        <p:spPr bwMode="auto">
          <a:xfrm>
            <a:off x="762000" y="6578165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18561747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515102742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409263738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30</a:t>
            </a:fld>
            <a:endParaRPr spc="-25"/>
          </a:p>
        </p:txBody>
      </p:sp>
      <p:sp>
        <p:nvSpPr>
          <p:cNvPr id="1996813319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80"/>
              <a:t>COMPARATIVE</a:t>
            </a:r>
            <a:r>
              <a:rPr spc="-190"/>
              <a:t> </a:t>
            </a:r>
            <a:r>
              <a:rPr spc="-35"/>
              <a:t>ANALYSIS</a:t>
            </a:r>
            <a:endParaRPr/>
          </a:p>
        </p:txBody>
      </p:sp>
      <p:graphicFrame>
        <p:nvGraphicFramePr>
          <p:cNvPr id="1093166437" name="object 3"/>
          <p:cNvGraphicFramePr>
            <a:graphicFrameLocks xmlns:a="http://schemas.openxmlformats.org/drawingml/2006/main" noGrp="1"/>
          </p:cNvGraphicFramePr>
          <p:nvPr/>
        </p:nvGraphicFramePr>
        <p:xfrm rot="0">
          <a:off x="365661" y="786826"/>
          <a:ext cx="8465182" cy="54419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123315"/>
                <a:gridCol w="1552574"/>
                <a:gridCol w="1816735"/>
                <a:gridCol w="1249679"/>
                <a:gridCol w="2722879"/>
              </a:tblGrid>
              <a:tr h="964565">
                <a:tc>
                  <a:txBody>
                    <a:bodyPr/>
                    <a:p>
                      <a:pPr marL="161289" marR="153670" indent="-127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13462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421005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116839" marR="109220" indent="26416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935355" marR="477520" indent="-450850" algn="just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[7]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 deep learning verification for industrial controllers.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Continuously verifies access requests using deep learning instead of relying on fixed perimeter trust.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Lightweight YOLOv5 / CNNs for edge detection.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Lower system failures, fewer access denials, reduced false positives, uninterrupted schedules.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[6]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12395" marR="107314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Evaluates access conditions over industrial controllers via continuous deep learning-based security verification.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Evaluates access conditions continuously over industrial controllers using deep learning models.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97790" marR="91440" algn="just">
                        <a:lnSpc>
                          <a:spcPct val="100000"/>
                        </a:lnSpc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Evaluates real-time industrial controller requests against baseline metrics.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Minimizes controller denials, reduces system failures and false positives, and prevents adversary schedule interruptions.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just"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272523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31</a:t>
            </a:fld>
            <a:endParaRPr spc="-25"/>
          </a:p>
        </p:txBody>
      </p:sp>
      <p:sp>
        <p:nvSpPr>
          <p:cNvPr id="660439259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034114877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101756608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05698136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908119" y="408856"/>
            <a:ext cx="550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PROPOSED</a:t>
            </a:r>
            <a:r>
              <a:rPr spc="-200"/>
              <a:t> </a:t>
            </a:r>
            <a:r>
              <a:rPr spc="-10"/>
              <a:t>SYSTEM</a:t>
            </a:r>
            <a:endParaRPr/>
          </a:p>
        </p:txBody>
      </p:sp>
      <p:sp>
        <p:nvSpPr>
          <p:cNvPr id="1714253612" name="object 3"/>
          <p:cNvSpPr txBox="1"/>
          <p:nvPr/>
        </p:nvSpPr>
        <p:spPr bwMode="auto">
          <a:xfrm>
            <a:off x="376882" y="1117155"/>
            <a:ext cx="8250362" cy="47485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3" marR="553085" indent="-193040" algn="just">
              <a:lnSpc>
                <a:spcPct val="114999"/>
              </a:lnSpc>
              <a:spcBef>
                <a:spcPts val="95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Develop a secure and cost-effective remote network access system using Raspberry Pi and Twingate ZTNA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521334" indent="-193040" algn="just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Implement Zero Trust security with identity verification, device authentication, and least-privilege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5080" indent="-193040" algn="just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Use Raspberry Pi as a lightweight network connector to securely connect internal resources to the Twingate platform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107314" indent="-193040" algn="just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Provide secure remote access to authorized users without port forwarding, public IP addresses, or direct exposure of internal services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133350" indent="-193040" algn="just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Integrate the Twingate API with Python automation to discover and dynamically register network resources with minimal manual configuration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424815" indent="-193040" algn="just">
              <a:lnSpc>
                <a:spcPct val="1149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Support centralized management, DNS aliasing, temporary access, service accounts, activity logging, and network monitoring for secure administration and maintenance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91180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32</a:t>
            </a:fld>
            <a:endParaRPr spc="-25"/>
          </a:p>
        </p:txBody>
      </p:sp>
      <p:sp>
        <p:nvSpPr>
          <p:cNvPr id="1941842442" name="object 5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285672914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503385435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281714697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815094" y="107104"/>
            <a:ext cx="5691505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46150" marR="5080" indent="-934085">
              <a:lnSpc>
                <a:spcPts val="4750"/>
              </a:lnSpc>
              <a:spcBef>
                <a:spcPts val="700"/>
              </a:spcBef>
              <a:defRPr/>
            </a:pPr>
            <a:r>
              <a:rPr spc="-10"/>
              <a:t>PROPOSED</a:t>
            </a:r>
            <a:r>
              <a:rPr spc="-200"/>
              <a:t> </a:t>
            </a:r>
            <a:r>
              <a:rPr spc="-10"/>
              <a:t>SYSTEM: </a:t>
            </a:r>
            <a:r>
              <a:rPr spc="80"/>
              <a:t>AD</a:t>
            </a:r>
            <a:r>
              <a:rPr spc="-480"/>
              <a:t>V</a:t>
            </a:r>
            <a:r>
              <a:rPr spc="80"/>
              <a:t>AN</a:t>
            </a:r>
            <a:r>
              <a:rPr spc="-250"/>
              <a:t>T</a:t>
            </a:r>
            <a:r>
              <a:rPr spc="80"/>
              <a:t>A</a:t>
            </a:r>
            <a:r>
              <a:rPr spc="75"/>
              <a:t>GES</a:t>
            </a:r>
            <a:endParaRPr/>
          </a:p>
        </p:txBody>
      </p:sp>
      <p:sp>
        <p:nvSpPr>
          <p:cNvPr id="1455490734" name="object 3"/>
          <p:cNvSpPr txBox="1"/>
          <p:nvPr/>
        </p:nvSpPr>
        <p:spPr bwMode="auto">
          <a:xfrm>
            <a:off x="368548" y="1423477"/>
            <a:ext cx="8362674" cy="3610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1027430" indent="-194945" algn="just">
              <a:lnSpc>
                <a:spcPct val="120000"/>
              </a:lnSpc>
              <a:spcBef>
                <a:spcPts val="100"/>
              </a:spcBef>
              <a:buChar char="•"/>
              <a:tabLst>
                <a:tab pos="2070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Provides secure remote network access using Zero Trust Network Access (ZTNA)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marR="234950" indent="-192405" algn="just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Eliminates the need for port forwarding, public IP addresses, and complex firewall configurations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marR="65405" indent="-192405" algn="just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Offers low-cost and energy-efficient deployment using Raspberry Pi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6375" indent="-192405" algn="just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Provides least-privilege access control so users can access only authorized resources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6375" indent="-192405" algn="just">
              <a:lnSpc>
                <a:spcPct val="100000"/>
              </a:lnSpc>
              <a:spcBef>
                <a:spcPts val="1435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 spc="-10">
                <a:latin typeface="Times New Roman"/>
                <a:cs typeface="Times New Roman"/>
              </a:rPr>
              <a:t>Enables centralized management and monitoring through the Twingate platform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marR="802640" indent="-192405" algn="just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  <a:defRPr/>
            </a:pPr>
            <a:r>
              <a:rPr lang="en-US" sz="1800" spc="-10">
                <a:latin typeface="Times New Roman"/>
                <a:cs typeface="Times New Roman"/>
              </a:rPr>
              <a:t>Reduces manual configuration through Python-based API automation, improving scalability and efficiency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178897" name="object 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33</a:t>
            </a:fld>
            <a:endParaRPr spc="-25"/>
          </a:p>
        </p:txBody>
      </p:sp>
      <p:sp>
        <p:nvSpPr>
          <p:cNvPr id="2020575005" name="object 7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773591425" name="object 8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675866807" name="object 9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10289645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  <a:defRPr/>
            </a:pPr>
            <a:r>
              <a:rPr spc="-10"/>
              <a:t>PROJECT</a:t>
            </a:r>
            <a:r>
              <a:rPr spc="-185"/>
              <a:t> </a:t>
            </a:r>
            <a:r>
              <a:rPr/>
              <a:t>PLANNING</a:t>
            </a:r>
            <a:r>
              <a:rPr spc="-110"/>
              <a:t> </a:t>
            </a:r>
            <a:r>
              <a:rPr spc="-50"/>
              <a:t>&amp; </a:t>
            </a:r>
            <a:r>
              <a:rPr spc="-10"/>
              <a:t>SCHEDULING</a:t>
            </a:r>
            <a:endParaRPr/>
          </a:p>
        </p:txBody>
      </p:sp>
      <p:sp>
        <p:nvSpPr>
          <p:cNvPr id="546627932" name="object 3"/>
          <p:cNvSpPr txBox="1"/>
          <p:nvPr/>
        </p:nvSpPr>
        <p:spPr bwMode="auto">
          <a:xfrm>
            <a:off x="339575" y="1429724"/>
            <a:ext cx="392747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950" b="1">
                <a:latin typeface="Times New Roman"/>
                <a:cs typeface="Times New Roman"/>
              </a:rPr>
              <a:t>Work</a:t>
            </a:r>
            <a:r>
              <a:rPr sz="1950" b="1" spc="-80">
                <a:latin typeface="Times New Roman"/>
                <a:cs typeface="Times New Roman"/>
              </a:rPr>
              <a:t> </a:t>
            </a:r>
            <a:r>
              <a:rPr sz="1950" b="1">
                <a:latin typeface="Times New Roman"/>
                <a:cs typeface="Times New Roman"/>
              </a:rPr>
              <a:t>Breakdown</a:t>
            </a:r>
            <a:r>
              <a:rPr sz="1950" b="1" spc="-65">
                <a:latin typeface="Times New Roman"/>
                <a:cs typeface="Times New Roman"/>
              </a:rPr>
              <a:t> </a:t>
            </a:r>
            <a:r>
              <a:rPr sz="1950" b="1">
                <a:latin typeface="Times New Roman"/>
                <a:cs typeface="Times New Roman"/>
              </a:rPr>
              <a:t>Structure</a:t>
            </a:r>
            <a:r>
              <a:rPr sz="1950" b="1" spc="-70">
                <a:latin typeface="Times New Roman"/>
                <a:cs typeface="Times New Roman"/>
              </a:rPr>
              <a:t> </a:t>
            </a:r>
            <a:r>
              <a:rPr sz="1950" b="1">
                <a:latin typeface="Times New Roman"/>
                <a:cs typeface="Times New Roman"/>
              </a:rPr>
              <a:t>(WBS)</a:t>
            </a:r>
            <a:r>
              <a:rPr sz="1950" b="1" spc="-65">
                <a:latin typeface="Times New Roman"/>
                <a:cs typeface="Times New Roman"/>
              </a:rPr>
              <a:t> </a:t>
            </a:r>
            <a:r>
              <a:rPr sz="1950" b="1" spc="-50">
                <a:latin typeface="Times New Roman"/>
                <a:cs typeface="Times New Roman"/>
              </a:rPr>
              <a:t>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0590754" name="object 5"/>
          <p:cNvSpPr txBox="1"/>
          <p:nvPr/>
        </p:nvSpPr>
        <p:spPr bwMode="auto">
          <a:xfrm>
            <a:off x="339574" y="1776985"/>
            <a:ext cx="8547459" cy="4373798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05103" marR="6985" indent="-193040" algn="just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Requirement Analysis – Study the existing remote access methods, identify security limitations, and define project requirements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indent="-193040" algn="just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0574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System Design – Design the architecture integrating Raspberry Pi, Twingate, remote users, and internal network resources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indent="-193040" algn="just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Raspberry Pi Setup – Install and configure the required operating system, networking components, and Twingate connector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5080" indent="-193040" algn="just">
              <a:lnSpc>
                <a:spcPct val="111200"/>
              </a:lnSpc>
              <a:spcBef>
                <a:spcPts val="1005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IN" sz="1800">
                <a:latin typeface="Times New Roman"/>
                <a:cs typeface="Times New Roman"/>
              </a:rPr>
              <a:t>Twingate Configuration – Configure users, devices, resources, authentication, and access-control policies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7620" indent="-193040" algn="just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Python Automation – Develop and integrate the Twingate API with Python for resource discovery and automated configuration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indent="-193040" algn="just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Testing and Documentation – Test security, connectivity, access control, automation, and performance, then prepare the final documentation and project demonstration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941288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34</a:t>
            </a:fld>
            <a:endParaRPr spc="-25"/>
          </a:p>
        </p:txBody>
      </p:sp>
      <p:sp>
        <p:nvSpPr>
          <p:cNvPr id="1075111040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964384195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44993601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60326904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62768" y="370236"/>
            <a:ext cx="19881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600" spc="-10">
                <a:solidFill>
                  <a:srgbClr val="000000"/>
                </a:solidFill>
              </a:rPr>
              <a:t>Methodology:</a:t>
            </a:r>
            <a:endParaRPr sz="2600"/>
          </a:p>
        </p:txBody>
      </p:sp>
      <p:sp>
        <p:nvSpPr>
          <p:cNvPr id="1378947751" name="object 3"/>
          <p:cNvSpPr txBox="1"/>
          <p:nvPr/>
        </p:nvSpPr>
        <p:spPr bwMode="auto">
          <a:xfrm>
            <a:off x="484335" y="1246231"/>
            <a:ext cx="8313779" cy="4615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715" indent="-20637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Design a Zero Trust architecture using Raspberry Pi as the network connector and Twingate for secure remote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16510" indent="-20637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Configure the Raspberry Pi and establish a secure connection with the Twingate platform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5080" indent="-20637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Configure users, devices, network resources, authentication, and least-privilege access policies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22860" indent="-20637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Develop a Python-based automation module using the Twingate API for resource discovery and management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22860" indent="-20637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Test the system for connectivity, security, access control, performance, and reliability, followed by documentation and evaluation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6350" indent="-20637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  <a:tab pos="1273810" algn="l"/>
                <a:tab pos="2237105" algn="l"/>
                <a:tab pos="3074670" algn="l"/>
                <a:tab pos="3620770" algn="l"/>
                <a:tab pos="4383405" algn="l"/>
                <a:tab pos="5779770" algn="l"/>
                <a:tab pos="6199505" algn="l"/>
                <a:tab pos="7373620" algn="l"/>
              </a:tabLst>
              <a:defRPr/>
            </a:pPr>
            <a:r>
              <a:rPr lang="en-US" sz="1800" spc="-10">
                <a:latin typeface="Times New Roman"/>
                <a:cs typeface="Times New Roman"/>
              </a:rPr>
              <a:t>Implement DNS aliasing and temporary access permissions for flexible and controlled resource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26034" indent="-20637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Enable activity logging and network monitoring to track access, identify issues, and support secure administration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80527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  <a:defRPr/>
            </a:pPr>
            <a:r>
              <a:rPr spc="-10"/>
              <a:t>PROJECT</a:t>
            </a:r>
            <a:r>
              <a:rPr spc="-185"/>
              <a:t> </a:t>
            </a:r>
            <a:r>
              <a:rPr/>
              <a:t>PLANNING</a:t>
            </a:r>
            <a:r>
              <a:rPr spc="-110"/>
              <a:t> </a:t>
            </a:r>
            <a:r>
              <a:rPr spc="-50"/>
              <a:t>&amp; </a:t>
            </a:r>
            <a:r>
              <a:rPr spc="-10"/>
              <a:t>SCHEDULING</a:t>
            </a:r>
            <a:endParaRPr/>
          </a:p>
        </p:txBody>
      </p:sp>
      <p:sp>
        <p:nvSpPr>
          <p:cNvPr id="836632046" name="object 3"/>
          <p:cNvSpPr txBox="1"/>
          <p:nvPr/>
        </p:nvSpPr>
        <p:spPr bwMode="auto">
          <a:xfrm>
            <a:off x="583547" y="1784068"/>
            <a:ext cx="5766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  <a:defRPr/>
            </a:pP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800" b="1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800" b="1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Schedule</a:t>
            </a:r>
            <a:r>
              <a:rPr sz="2800" b="1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(The</a:t>
            </a:r>
            <a:r>
              <a:rPr sz="2800" b="1" spc="-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spc="-10">
                <a:solidFill>
                  <a:srgbClr val="0C0C0C"/>
                </a:solidFill>
                <a:latin typeface="Times New Roman"/>
                <a:cs typeface="Times New Roman"/>
              </a:rPr>
              <a:t>Timeline)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69507383" name="object 4"/>
          <p:cNvPicPr/>
          <p:nvPr/>
        </p:nvPicPr>
        <p:blipFill rotWithShape="1">
          <a:blip r:embed="rId3"/>
          <a:stretch/>
        </p:blipFill>
        <p:spPr bwMode="auto">
          <a:xfrm>
            <a:off x="935700" y="2339556"/>
            <a:ext cx="7584898" cy="3936818"/>
          </a:xfrm>
          <a:prstGeom prst="rect">
            <a:avLst/>
          </a:prstGeom>
        </p:spPr>
      </p:pic>
      <p:sp>
        <p:nvSpPr>
          <p:cNvPr id="567162043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35</a:t>
            </a:fld>
            <a:endParaRPr spc="-25"/>
          </a:p>
        </p:txBody>
      </p:sp>
      <p:sp>
        <p:nvSpPr>
          <p:cNvPr id="725374877" name="object 6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69428924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033121262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335727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36</a:t>
            </a:fld>
            <a:endParaRPr spc="-25"/>
          </a:p>
        </p:txBody>
      </p:sp>
      <p:sp>
        <p:nvSpPr>
          <p:cNvPr id="1686926331" name="object 6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34492026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398331593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73903007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4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  <a:defRPr/>
            </a:pPr>
            <a:r>
              <a:rPr sz="3950" spc="-10"/>
              <a:t>RESOURCE/TASK IDENTIFICATION</a:t>
            </a:r>
            <a:r>
              <a:rPr sz="3950" spc="-200"/>
              <a:t> </a:t>
            </a:r>
            <a:r>
              <a:rPr sz="3950"/>
              <a:t>&amp;</a:t>
            </a:r>
            <a:r>
              <a:rPr sz="3950" spc="-245"/>
              <a:t> </a:t>
            </a:r>
            <a:r>
              <a:rPr sz="3950" spc="-20"/>
              <a:t>ALLOCATION</a:t>
            </a:r>
            <a:endParaRPr sz="3950"/>
          </a:p>
        </p:txBody>
      </p:sp>
      <p:sp>
        <p:nvSpPr>
          <p:cNvPr id="1564399159" name="object 3"/>
          <p:cNvSpPr txBox="1"/>
          <p:nvPr/>
        </p:nvSpPr>
        <p:spPr bwMode="auto">
          <a:xfrm>
            <a:off x="568333" y="1822269"/>
            <a:ext cx="8269965" cy="622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2565" algn="l"/>
              </a:tabLst>
              <a:defRPr/>
            </a:pP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Systematic</a:t>
            </a:r>
            <a:r>
              <a:rPr sz="2000" spc="15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distribution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25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workload,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software</a:t>
            </a:r>
            <a:r>
              <a:rPr sz="2000" spc="25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tools,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spc="-10">
                <a:solidFill>
                  <a:srgbClr val="0C0C0C"/>
                </a:solidFill>
                <a:latin typeface="Times New Roman"/>
                <a:cs typeface="Times New Roman"/>
              </a:rPr>
              <a:t>hardware 	assets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694952560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222250" y="2540906"/>
          <a:ext cx="8830944" cy="36766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119505"/>
                <a:gridCol w="2612390"/>
                <a:gridCol w="1492885"/>
                <a:gridCol w="2239644"/>
                <a:gridCol w="1366520"/>
              </a:tblGrid>
              <a:tr h="57023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marL="664845" algn="just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marL="397510" marR="390525" indent="27940" algn="just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Primary </a:t>
                      </a:r>
                      <a:r>
                        <a:rPr sz="14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Resource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marR="248920" algn="just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400" b="1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Infrastructure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b="1" spc="-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T1: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230504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spc="-10">
                          <a:latin typeface="Times New Roman"/>
                          <a:cs typeface="Times New Roman"/>
                        </a:rPr>
                        <a:t>Literature survey and system architecture design.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R="26797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Journals,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scholar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Completed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marL="214629" marR="131445" indent="-7620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T2:</a:t>
                      </a:r>
                      <a:r>
                        <a:rPr lang="en-IN" sz="1200" spc="-10">
                          <a:latin typeface="Times New Roman"/>
                          <a:cs typeface="Times New Roman"/>
                        </a:rPr>
                        <a:t>Connector &amp; Network Setup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5941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spc="-10">
                          <a:latin typeface="Times New Roman"/>
                          <a:cs typeface="Times New Roman"/>
                        </a:rPr>
                        <a:t>Raspberry Pi setup and Twingate Connector configuration.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450215" marR="44259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kshay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N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&amp;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8575" algn="just">
                        <a:lnSpc>
                          <a:spcPct val="100000"/>
                        </a:lnSpc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Shanid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Ali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3210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Raspberry Pi, Twingate, Linux, SSH, Local Network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T3: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API Automation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10350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spc="-20">
                          <a:latin typeface="Times New Roman"/>
                          <a:cs typeface="Times New Roman"/>
                        </a:rPr>
                        <a:t>Python API integration and resource automation.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Akshay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40894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Python, Twingate API, REST API, GitHub, VS 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T4:</a:t>
                      </a:r>
                      <a:r>
                        <a:rPr lang="en-IN" sz="1200" spc="-10">
                          <a:latin typeface="Times New Roman"/>
                          <a:cs typeface="Times New Roman"/>
                        </a:rPr>
                        <a:t> Security Implementation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3210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Configure authentication and least-privilege access.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Abhishek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KB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2131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Twingate Admin Console, ZTNA Policies, DNS, Authentication &amp; Logging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</a:tr>
              <a:tr h="570230">
                <a:tc>
                  <a:txBody>
                    <a:bodyPr/>
                    <a:p>
                      <a:pPr marL="449580" marR="127000" indent="-315595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T5:</a:t>
                      </a:r>
                      <a:r>
                        <a:rPr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QA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36957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System testing, bug fixing, and final documentation.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40513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Postman, Twingate Logs, Word/Docs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58165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4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  <a:defRPr/>
            </a:pPr>
            <a:r>
              <a:rPr sz="3950" spc="-10"/>
              <a:t>RESOURCE/TASK IDENTIFICATION</a:t>
            </a:r>
            <a:r>
              <a:rPr sz="3950" spc="-200"/>
              <a:t> </a:t>
            </a:r>
            <a:r>
              <a:rPr sz="3950"/>
              <a:t>&amp;</a:t>
            </a:r>
            <a:r>
              <a:rPr sz="3950" spc="-245"/>
              <a:t> </a:t>
            </a:r>
            <a:r>
              <a:rPr sz="3950" spc="-20"/>
              <a:t>ALLOCATION</a:t>
            </a:r>
            <a:endParaRPr sz="3950"/>
          </a:p>
        </p:txBody>
      </p:sp>
      <p:sp>
        <p:nvSpPr>
          <p:cNvPr id="1771981687" name="object 3"/>
          <p:cNvSpPr txBox="1"/>
          <p:nvPr/>
        </p:nvSpPr>
        <p:spPr bwMode="auto">
          <a:xfrm>
            <a:off x="586262" y="1289711"/>
            <a:ext cx="454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6375" algn="l"/>
              </a:tabLst>
              <a:defRPr/>
            </a:pPr>
            <a:r>
              <a:rPr sz="1800" b="1" spc="-10">
                <a:solidFill>
                  <a:srgbClr val="0C0C0C"/>
                </a:solidFill>
                <a:latin typeface="Times New Roman"/>
                <a:cs typeface="Times New Roman"/>
              </a:rPr>
              <a:t>Resource</a:t>
            </a:r>
            <a:r>
              <a:rPr sz="1800" b="1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Breakdown</a:t>
            </a:r>
            <a:r>
              <a:rPr sz="1800" b="1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b="1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800" b="1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10">
                <a:solidFill>
                  <a:srgbClr val="0C0C0C"/>
                </a:solidFill>
                <a:latin typeface="Times New Roman"/>
                <a:cs typeface="Times New Roman"/>
              </a:rPr>
              <a:t>Governance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36034162" name="object 4"/>
          <p:cNvGrpSpPr/>
          <p:nvPr/>
        </p:nvGrpSpPr>
        <p:grpSpPr bwMode="auto">
          <a:xfrm>
            <a:off x="493623" y="1677820"/>
            <a:ext cx="2194560" cy="4247515"/>
            <a:chOff x="79612" y="1683413"/>
            <a:chExt cx="2194560" cy="4247515"/>
          </a:xfrm>
        </p:grpSpPr>
        <p:sp>
          <p:nvSpPr>
            <p:cNvPr id="5" name="object 5"/>
            <p:cNvSpPr/>
            <p:nvPr/>
          </p:nvSpPr>
          <p:spPr bwMode="auto">
            <a:xfrm>
              <a:off x="84375" y="1688176"/>
              <a:ext cx="2185035" cy="4237990"/>
            </a:xfrm>
            <a:custGeom>
              <a:avLst/>
              <a:gdLst/>
              <a:ahLst/>
              <a:cxnLst/>
              <a:rect l="l" t="t" r="r" b="b"/>
              <a:pathLst>
                <a:path w="2185035" h="4237990" fill="norm" stroke="1" extrusionOk="0">
                  <a:moveTo>
                    <a:pt x="0" y="364107"/>
                  </a:moveTo>
                  <a:lnTo>
                    <a:pt x="3323" y="314700"/>
                  </a:lnTo>
                  <a:lnTo>
                    <a:pt x="13006" y="267313"/>
                  </a:lnTo>
                  <a:lnTo>
                    <a:pt x="28613" y="222380"/>
                  </a:lnTo>
                  <a:lnTo>
                    <a:pt x="49711" y="180335"/>
                  </a:lnTo>
                  <a:lnTo>
                    <a:pt x="75866" y="141612"/>
                  </a:lnTo>
                  <a:lnTo>
                    <a:pt x="106644" y="106644"/>
                  </a:lnTo>
                  <a:lnTo>
                    <a:pt x="141612" y="75866"/>
                  </a:lnTo>
                  <a:lnTo>
                    <a:pt x="180335" y="49711"/>
                  </a:lnTo>
                  <a:lnTo>
                    <a:pt x="222380" y="28613"/>
                  </a:lnTo>
                  <a:lnTo>
                    <a:pt x="267313" y="13006"/>
                  </a:lnTo>
                  <a:lnTo>
                    <a:pt x="314700" y="3323"/>
                  </a:lnTo>
                  <a:lnTo>
                    <a:pt x="364107" y="0"/>
                  </a:lnTo>
                  <a:lnTo>
                    <a:pt x="1820492" y="0"/>
                  </a:lnTo>
                  <a:lnTo>
                    <a:pt x="1868352" y="3157"/>
                  </a:lnTo>
                  <a:lnTo>
                    <a:pt x="1914986" y="12474"/>
                  </a:lnTo>
                  <a:lnTo>
                    <a:pt x="1959830" y="27716"/>
                  </a:lnTo>
                  <a:lnTo>
                    <a:pt x="2002317" y="48647"/>
                  </a:lnTo>
                  <a:lnTo>
                    <a:pt x="2041880" y="75035"/>
                  </a:lnTo>
                  <a:lnTo>
                    <a:pt x="2077955" y="106644"/>
                  </a:lnTo>
                  <a:lnTo>
                    <a:pt x="2109564" y="142719"/>
                  </a:lnTo>
                  <a:lnTo>
                    <a:pt x="2135952" y="182282"/>
                  </a:lnTo>
                  <a:lnTo>
                    <a:pt x="2156883" y="224769"/>
                  </a:lnTo>
                  <a:lnTo>
                    <a:pt x="2172125" y="269612"/>
                  </a:lnTo>
                  <a:lnTo>
                    <a:pt x="2181442" y="316247"/>
                  </a:lnTo>
                  <a:lnTo>
                    <a:pt x="2184599" y="364107"/>
                  </a:lnTo>
                  <a:lnTo>
                    <a:pt x="2184599" y="3873692"/>
                  </a:lnTo>
                  <a:lnTo>
                    <a:pt x="2181276" y="3923100"/>
                  </a:lnTo>
                  <a:lnTo>
                    <a:pt x="2171593" y="3970486"/>
                  </a:lnTo>
                  <a:lnTo>
                    <a:pt x="2155986" y="4015419"/>
                  </a:lnTo>
                  <a:lnTo>
                    <a:pt x="2134888" y="4057464"/>
                  </a:lnTo>
                  <a:lnTo>
                    <a:pt x="2108733" y="4096187"/>
                  </a:lnTo>
                  <a:lnTo>
                    <a:pt x="2077955" y="4131155"/>
                  </a:lnTo>
                  <a:lnTo>
                    <a:pt x="2042987" y="4161933"/>
                  </a:lnTo>
                  <a:lnTo>
                    <a:pt x="2004264" y="4188088"/>
                  </a:lnTo>
                  <a:lnTo>
                    <a:pt x="1962219" y="4209186"/>
                  </a:lnTo>
                  <a:lnTo>
                    <a:pt x="1917286" y="4224793"/>
                  </a:lnTo>
                  <a:lnTo>
                    <a:pt x="1869899" y="4234476"/>
                  </a:lnTo>
                  <a:lnTo>
                    <a:pt x="1820492" y="4237799"/>
                  </a:lnTo>
                  <a:lnTo>
                    <a:pt x="364107" y="4237799"/>
                  </a:lnTo>
                  <a:lnTo>
                    <a:pt x="314700" y="4234476"/>
                  </a:lnTo>
                  <a:lnTo>
                    <a:pt x="267313" y="4224793"/>
                  </a:lnTo>
                  <a:lnTo>
                    <a:pt x="222380" y="4209186"/>
                  </a:lnTo>
                  <a:lnTo>
                    <a:pt x="180335" y="4188088"/>
                  </a:lnTo>
                  <a:lnTo>
                    <a:pt x="141612" y="4161933"/>
                  </a:lnTo>
                  <a:lnTo>
                    <a:pt x="106644" y="4131155"/>
                  </a:lnTo>
                  <a:lnTo>
                    <a:pt x="75866" y="4096187"/>
                  </a:lnTo>
                  <a:lnTo>
                    <a:pt x="49711" y="4057464"/>
                  </a:lnTo>
                  <a:lnTo>
                    <a:pt x="28613" y="4015419"/>
                  </a:lnTo>
                  <a:lnTo>
                    <a:pt x="13006" y="3970486"/>
                  </a:lnTo>
                  <a:lnTo>
                    <a:pt x="3323" y="3923100"/>
                  </a:lnTo>
                  <a:lnTo>
                    <a:pt x="0" y="3873692"/>
                  </a:lnTo>
                  <a:lnTo>
                    <a:pt x="0" y="364107"/>
                  </a:lnTo>
                  <a:close/>
                </a:path>
              </a:pathLst>
            </a:custGeom>
            <a:grpFill/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 rotWithShape="1">
            <a:blip r:embed="rId3"/>
            <a:stretch/>
          </p:blipFill>
          <p:spPr bwMode="auto">
            <a:xfrm>
              <a:off x="481665" y="1910722"/>
              <a:ext cx="284633" cy="267890"/>
            </a:xfrm>
            <a:prstGeom prst="rect">
              <a:avLst/>
            </a:prstGeom>
          </p:spPr>
        </p:pic>
      </p:grpSp>
      <p:sp>
        <p:nvSpPr>
          <p:cNvPr id="339513893" name="object 7"/>
          <p:cNvSpPr txBox="1"/>
          <p:nvPr/>
        </p:nvSpPr>
        <p:spPr bwMode="auto">
          <a:xfrm>
            <a:off x="703753" y="1875908"/>
            <a:ext cx="1657710" cy="3616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67310" indent="236854" algn="just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10">
                <a:solidFill>
                  <a:srgbClr val="102C57"/>
                </a:solidFill>
                <a:latin typeface="Arial"/>
                <a:cs typeface="Arial"/>
              </a:rPr>
              <a:t>Hardware Resources</a:t>
            </a:r>
            <a:endParaRPr sz="1800">
              <a:latin typeface="Arial"/>
              <a:cs typeface="Arial"/>
            </a:endParaRPr>
          </a:p>
          <a:p>
            <a:pPr marL="272415" marR="318770" indent="-260350" algn="just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72415" algn="l"/>
              </a:tabLst>
              <a:defRPr/>
            </a:pPr>
            <a:r>
              <a:rPr lang="en-IN"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Raspberry Pi</a:t>
            </a: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(</a:t>
            </a:r>
            <a:r>
              <a:rPr lang="en-IN"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Mini Computing Chip</a:t>
            </a: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272415" marR="5080" indent="-260350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2420" algn="l"/>
              </a:tabLst>
              <a:defRPr/>
            </a:pPr>
            <a:r>
              <a:rPr sz="1350" b="1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lang="en-IN"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SD Card</a:t>
            </a:r>
            <a:endParaRPr sz="1350">
              <a:latin typeface="Times New Roman"/>
              <a:cs typeface="Times New Roman"/>
            </a:endParaRPr>
          </a:p>
          <a:p>
            <a:pPr marL="272415" marR="33020" indent="-260350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  <a:defRPr/>
            </a:pPr>
            <a:r>
              <a:rPr lang="en-IN" sz="1350" b="1">
                <a:solidFill>
                  <a:srgbClr val="282828"/>
                </a:solidFill>
                <a:latin typeface="Arial"/>
                <a:cs typeface="Arial"/>
              </a:rPr>
              <a:t>Ethernet/Wi-Fi Router</a:t>
            </a:r>
            <a:endParaRPr sz="1350">
              <a:latin typeface="Times New Roman"/>
              <a:cs typeface="Times New Roman"/>
            </a:endParaRPr>
          </a:p>
          <a:p>
            <a:pPr marL="272415" marR="490220" indent="-260350" algn="just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2415" algn="l"/>
              </a:tabLst>
              <a:defRPr/>
            </a:pP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Internet </a:t>
            </a: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connectivity</a:t>
            </a:r>
            <a:endParaRPr sz="1350">
              <a:latin typeface="Times New Roman"/>
              <a:cs typeface="Times New Roman"/>
            </a:endParaRPr>
          </a:p>
          <a:p>
            <a:pPr marL="272415" marR="248920" indent="-260350" algn="just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  <a:defRPr/>
            </a:pPr>
            <a:r>
              <a:rPr lang="en-IN" sz="1350" b="1">
                <a:solidFill>
                  <a:srgbClr val="282828"/>
                </a:solidFill>
                <a:latin typeface="Times New Roman"/>
                <a:cs typeface="Times New Roman"/>
              </a:rPr>
              <a:t>Client Computer/Laptop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07010129" name="object 8"/>
          <p:cNvSpPr/>
          <p:nvPr/>
        </p:nvSpPr>
        <p:spPr bwMode="auto">
          <a:xfrm>
            <a:off x="3506504" y="1652338"/>
            <a:ext cx="2185035" cy="4237990"/>
          </a:xfrm>
          <a:custGeom>
            <a:avLst/>
            <a:gdLst/>
            <a:ahLst/>
            <a:cxnLst/>
            <a:rect l="l" t="t" r="r" b="b"/>
            <a:pathLst>
              <a:path w="2185035" h="4237990" fill="norm" stroke="1" extrusionOk="0">
                <a:moveTo>
                  <a:pt x="0" y="615292"/>
                </a:moveTo>
                <a:lnTo>
                  <a:pt x="1851" y="567207"/>
                </a:lnTo>
                <a:lnTo>
                  <a:pt x="7313" y="520135"/>
                </a:lnTo>
                <a:lnTo>
                  <a:pt x="16250" y="474211"/>
                </a:lnTo>
                <a:lnTo>
                  <a:pt x="28524" y="429573"/>
                </a:lnTo>
                <a:lnTo>
                  <a:pt x="43999" y="386358"/>
                </a:lnTo>
                <a:lnTo>
                  <a:pt x="62539" y="344702"/>
                </a:lnTo>
                <a:lnTo>
                  <a:pt x="84005" y="304742"/>
                </a:lnTo>
                <a:lnTo>
                  <a:pt x="108262" y="266615"/>
                </a:lnTo>
                <a:lnTo>
                  <a:pt x="135172" y="230458"/>
                </a:lnTo>
                <a:lnTo>
                  <a:pt x="164600" y="196407"/>
                </a:lnTo>
                <a:lnTo>
                  <a:pt x="196407" y="164600"/>
                </a:lnTo>
                <a:lnTo>
                  <a:pt x="230458" y="135172"/>
                </a:lnTo>
                <a:lnTo>
                  <a:pt x="266615" y="108262"/>
                </a:lnTo>
                <a:lnTo>
                  <a:pt x="304742" y="84005"/>
                </a:lnTo>
                <a:lnTo>
                  <a:pt x="344702" y="62539"/>
                </a:lnTo>
                <a:lnTo>
                  <a:pt x="386358" y="43999"/>
                </a:lnTo>
                <a:lnTo>
                  <a:pt x="429573" y="28524"/>
                </a:lnTo>
                <a:lnTo>
                  <a:pt x="474211" y="16250"/>
                </a:lnTo>
                <a:lnTo>
                  <a:pt x="520135" y="7313"/>
                </a:lnTo>
                <a:lnTo>
                  <a:pt x="567207" y="1851"/>
                </a:lnTo>
                <a:lnTo>
                  <a:pt x="615292" y="0"/>
                </a:lnTo>
                <a:lnTo>
                  <a:pt x="1569307" y="0"/>
                </a:lnTo>
                <a:lnTo>
                  <a:pt x="1618028" y="1930"/>
                </a:lnTo>
                <a:lnTo>
                  <a:pt x="1666141" y="7664"/>
                </a:lnTo>
                <a:lnTo>
                  <a:pt x="1713440" y="17117"/>
                </a:lnTo>
                <a:lnTo>
                  <a:pt x="1759718" y="30203"/>
                </a:lnTo>
                <a:lnTo>
                  <a:pt x="1804769" y="46836"/>
                </a:lnTo>
                <a:lnTo>
                  <a:pt x="1848386" y="66931"/>
                </a:lnTo>
                <a:lnTo>
                  <a:pt x="1890363" y="90401"/>
                </a:lnTo>
                <a:lnTo>
                  <a:pt x="1930492" y="117163"/>
                </a:lnTo>
                <a:lnTo>
                  <a:pt x="1968568" y="147129"/>
                </a:lnTo>
                <a:lnTo>
                  <a:pt x="2004384" y="180214"/>
                </a:lnTo>
                <a:lnTo>
                  <a:pt x="2037470" y="216030"/>
                </a:lnTo>
                <a:lnTo>
                  <a:pt x="2067436" y="254106"/>
                </a:lnTo>
                <a:lnTo>
                  <a:pt x="2094198" y="294236"/>
                </a:lnTo>
                <a:lnTo>
                  <a:pt x="2117668" y="336213"/>
                </a:lnTo>
                <a:lnTo>
                  <a:pt x="2137763" y="379830"/>
                </a:lnTo>
                <a:lnTo>
                  <a:pt x="2154396" y="424881"/>
                </a:lnTo>
                <a:lnTo>
                  <a:pt x="2167482" y="471159"/>
                </a:lnTo>
                <a:lnTo>
                  <a:pt x="2176934" y="518458"/>
                </a:lnTo>
                <a:lnTo>
                  <a:pt x="2182669" y="566571"/>
                </a:lnTo>
                <a:lnTo>
                  <a:pt x="2184599" y="615292"/>
                </a:lnTo>
                <a:lnTo>
                  <a:pt x="2184599" y="3622507"/>
                </a:lnTo>
                <a:lnTo>
                  <a:pt x="2182748" y="3670592"/>
                </a:lnTo>
                <a:lnTo>
                  <a:pt x="2177286" y="3717664"/>
                </a:lnTo>
                <a:lnTo>
                  <a:pt x="2168349" y="3763588"/>
                </a:lnTo>
                <a:lnTo>
                  <a:pt x="2156075" y="3808226"/>
                </a:lnTo>
                <a:lnTo>
                  <a:pt x="2140599" y="3851441"/>
                </a:lnTo>
                <a:lnTo>
                  <a:pt x="2122060" y="3893097"/>
                </a:lnTo>
                <a:lnTo>
                  <a:pt x="2100594" y="3933057"/>
                </a:lnTo>
                <a:lnTo>
                  <a:pt x="2076337" y="3971184"/>
                </a:lnTo>
                <a:lnTo>
                  <a:pt x="2049426" y="4007341"/>
                </a:lnTo>
                <a:lnTo>
                  <a:pt x="2019999" y="4041392"/>
                </a:lnTo>
                <a:lnTo>
                  <a:pt x="1988192" y="4073199"/>
                </a:lnTo>
                <a:lnTo>
                  <a:pt x="1954141" y="4102627"/>
                </a:lnTo>
                <a:lnTo>
                  <a:pt x="1917984" y="4129537"/>
                </a:lnTo>
                <a:lnTo>
                  <a:pt x="1879857" y="4153794"/>
                </a:lnTo>
                <a:lnTo>
                  <a:pt x="1839897" y="4175261"/>
                </a:lnTo>
                <a:lnTo>
                  <a:pt x="1798241" y="4193800"/>
                </a:lnTo>
                <a:lnTo>
                  <a:pt x="1755026" y="4209275"/>
                </a:lnTo>
                <a:lnTo>
                  <a:pt x="1710388" y="4221549"/>
                </a:lnTo>
                <a:lnTo>
                  <a:pt x="1664464" y="4230486"/>
                </a:lnTo>
                <a:lnTo>
                  <a:pt x="1617392" y="4235949"/>
                </a:lnTo>
                <a:lnTo>
                  <a:pt x="1569307" y="4237800"/>
                </a:lnTo>
                <a:lnTo>
                  <a:pt x="615292" y="4237800"/>
                </a:lnTo>
                <a:lnTo>
                  <a:pt x="567207" y="4235949"/>
                </a:lnTo>
                <a:lnTo>
                  <a:pt x="520135" y="4230486"/>
                </a:lnTo>
                <a:lnTo>
                  <a:pt x="474211" y="4221549"/>
                </a:lnTo>
                <a:lnTo>
                  <a:pt x="429573" y="4209275"/>
                </a:lnTo>
                <a:lnTo>
                  <a:pt x="386358" y="4193800"/>
                </a:lnTo>
                <a:lnTo>
                  <a:pt x="344702" y="4175261"/>
                </a:lnTo>
                <a:lnTo>
                  <a:pt x="304742" y="4153794"/>
                </a:lnTo>
                <a:lnTo>
                  <a:pt x="266615" y="4129537"/>
                </a:lnTo>
                <a:lnTo>
                  <a:pt x="230458" y="4102627"/>
                </a:lnTo>
                <a:lnTo>
                  <a:pt x="196407" y="4073199"/>
                </a:lnTo>
                <a:lnTo>
                  <a:pt x="164600" y="4041392"/>
                </a:lnTo>
                <a:lnTo>
                  <a:pt x="135172" y="4007341"/>
                </a:lnTo>
                <a:lnTo>
                  <a:pt x="108262" y="3971184"/>
                </a:lnTo>
                <a:lnTo>
                  <a:pt x="84005" y="3933057"/>
                </a:lnTo>
                <a:lnTo>
                  <a:pt x="62539" y="3893097"/>
                </a:lnTo>
                <a:lnTo>
                  <a:pt x="43999" y="3851441"/>
                </a:lnTo>
                <a:lnTo>
                  <a:pt x="28524" y="3808226"/>
                </a:lnTo>
                <a:lnTo>
                  <a:pt x="16250" y="3763588"/>
                </a:lnTo>
                <a:lnTo>
                  <a:pt x="7313" y="3717664"/>
                </a:lnTo>
                <a:lnTo>
                  <a:pt x="1851" y="3670592"/>
                </a:lnTo>
                <a:lnTo>
                  <a:pt x="0" y="3622507"/>
                </a:lnTo>
                <a:lnTo>
                  <a:pt x="0" y="615292"/>
                </a:lnTo>
                <a:close/>
              </a:path>
            </a:pathLst>
          </a:custGeom>
          <a:ln w="9524">
            <a:solidFill>
              <a:srgbClr val="35A2EB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68770447" name="object 9"/>
          <p:cNvSpPr txBox="1"/>
          <p:nvPr/>
        </p:nvSpPr>
        <p:spPr bwMode="auto">
          <a:xfrm>
            <a:off x="3926128" y="2791305"/>
            <a:ext cx="1502134" cy="1305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  <a:defRPr/>
            </a:pPr>
            <a:r>
              <a:rPr sz="1400" b="1">
                <a:latin typeface="Times New Roman"/>
                <a:cs typeface="Times New Roman"/>
              </a:rPr>
              <a:t>Python</a:t>
            </a:r>
            <a:endParaRPr lang="en-IN" sz="1400" b="1">
              <a:latin typeface="Times New Roman"/>
              <a:cs typeface="Times New Roman"/>
            </a:endParaRPr>
          </a:p>
          <a:p>
            <a:pPr marL="302895" marR="6350" indent="-29083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Linux</a:t>
            </a:r>
            <a:endParaRPr sz="1400" b="1">
              <a:latin typeface="Times New Roman"/>
              <a:cs typeface="Times New Roman"/>
            </a:endParaRPr>
          </a:p>
          <a:p>
            <a:pPr marL="302895" indent="-290195" algn="just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Postman</a:t>
            </a:r>
            <a:endParaRPr/>
          </a:p>
          <a:p>
            <a:pPr marL="302895" indent="-290195" algn="just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sz="1400" b="1" spc="-10">
                <a:latin typeface="Times New Roman"/>
                <a:cs typeface="Times New Roman"/>
              </a:rPr>
              <a:t>GitHub</a:t>
            </a:r>
            <a:endParaRPr sz="1400" b="1">
              <a:latin typeface="Times New Roman"/>
              <a:cs typeface="Times New Roman"/>
            </a:endParaRPr>
          </a:p>
          <a:p>
            <a:pPr marL="302895" marR="133350" indent="-290830" algn="just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VS </a:t>
            </a:r>
            <a:r>
              <a:rPr lang="en-IN" sz="1400" b="1">
                <a:latin typeface="Times New Roman"/>
                <a:cs typeface="Times New Roman"/>
              </a:rPr>
              <a:t>Code</a:t>
            </a:r>
            <a:endParaRPr/>
          </a:p>
          <a:p>
            <a:pPr marL="302895" marR="133350" indent="-290830" algn="just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Twingate</a:t>
            </a:r>
            <a:endParaRPr sz="1400" b="1">
              <a:latin typeface="Times New Roman"/>
              <a:cs typeface="Times New Roman"/>
            </a:endParaRPr>
          </a:p>
        </p:txBody>
      </p:sp>
      <p:grpSp>
        <p:nvGrpSpPr>
          <p:cNvPr id="1482467583" name="object 15"/>
          <p:cNvGrpSpPr/>
          <p:nvPr/>
        </p:nvGrpSpPr>
        <p:grpSpPr bwMode="auto">
          <a:xfrm>
            <a:off x="6509860" y="1651462"/>
            <a:ext cx="2332355" cy="4247515"/>
            <a:chOff x="6509860" y="1651462"/>
            <a:chExt cx="2332355" cy="4247515"/>
          </a:xfrm>
        </p:grpSpPr>
        <p:sp>
          <p:nvSpPr>
            <p:cNvPr id="16" name="object 16"/>
            <p:cNvSpPr/>
            <p:nvPr/>
          </p:nvSpPr>
          <p:spPr bwMode="auto">
            <a:xfrm>
              <a:off x="6514623" y="1656225"/>
              <a:ext cx="2322830" cy="4237990"/>
            </a:xfrm>
            <a:custGeom>
              <a:avLst/>
              <a:gdLst/>
              <a:ahLst/>
              <a:cxnLst/>
              <a:rect l="l" t="t" r="r" b="b"/>
              <a:pathLst>
                <a:path w="2322829" h="4237990" fill="norm" stroke="1" extrusionOk="0">
                  <a:moveTo>
                    <a:pt x="0" y="387057"/>
                  </a:moveTo>
                  <a:lnTo>
                    <a:pt x="3015" y="338506"/>
                  </a:lnTo>
                  <a:lnTo>
                    <a:pt x="11821" y="291754"/>
                  </a:lnTo>
                  <a:lnTo>
                    <a:pt x="26053" y="247164"/>
                  </a:lnTo>
                  <a:lnTo>
                    <a:pt x="45349" y="205099"/>
                  </a:lnTo>
                  <a:lnTo>
                    <a:pt x="69347" y="165923"/>
                  </a:lnTo>
                  <a:lnTo>
                    <a:pt x="97684" y="129997"/>
                  </a:lnTo>
                  <a:lnTo>
                    <a:pt x="129997" y="97684"/>
                  </a:lnTo>
                  <a:lnTo>
                    <a:pt x="165923" y="69347"/>
                  </a:lnTo>
                  <a:lnTo>
                    <a:pt x="205100" y="45349"/>
                  </a:lnTo>
                  <a:lnTo>
                    <a:pt x="247164" y="26053"/>
                  </a:lnTo>
                  <a:lnTo>
                    <a:pt x="291754" y="11821"/>
                  </a:lnTo>
                  <a:lnTo>
                    <a:pt x="338506" y="3015"/>
                  </a:lnTo>
                  <a:lnTo>
                    <a:pt x="387057" y="0"/>
                  </a:lnTo>
                  <a:lnTo>
                    <a:pt x="1935241" y="0"/>
                  </a:lnTo>
                  <a:lnTo>
                    <a:pt x="1986118" y="3356"/>
                  </a:lnTo>
                  <a:lnTo>
                    <a:pt x="2035692" y="13260"/>
                  </a:lnTo>
                  <a:lnTo>
                    <a:pt x="2083362" y="29462"/>
                  </a:lnTo>
                  <a:lnTo>
                    <a:pt x="2128527" y="51714"/>
                  </a:lnTo>
                  <a:lnTo>
                    <a:pt x="2170584" y="79765"/>
                  </a:lnTo>
                  <a:lnTo>
                    <a:pt x="2208933" y="113366"/>
                  </a:lnTo>
                  <a:lnTo>
                    <a:pt x="2242535" y="151715"/>
                  </a:lnTo>
                  <a:lnTo>
                    <a:pt x="2270585" y="193772"/>
                  </a:lnTo>
                  <a:lnTo>
                    <a:pt x="2292837" y="238937"/>
                  </a:lnTo>
                  <a:lnTo>
                    <a:pt x="2309039" y="286607"/>
                  </a:lnTo>
                  <a:lnTo>
                    <a:pt x="2318943" y="336181"/>
                  </a:lnTo>
                  <a:lnTo>
                    <a:pt x="2322299" y="387057"/>
                  </a:lnTo>
                  <a:lnTo>
                    <a:pt x="2322299" y="3850742"/>
                  </a:lnTo>
                  <a:lnTo>
                    <a:pt x="2319284" y="3899293"/>
                  </a:lnTo>
                  <a:lnTo>
                    <a:pt x="2310478" y="3946045"/>
                  </a:lnTo>
                  <a:lnTo>
                    <a:pt x="2296246" y="3990635"/>
                  </a:lnTo>
                  <a:lnTo>
                    <a:pt x="2276950" y="4032699"/>
                  </a:lnTo>
                  <a:lnTo>
                    <a:pt x="2252952" y="4071876"/>
                  </a:lnTo>
                  <a:lnTo>
                    <a:pt x="2224615" y="4107802"/>
                  </a:lnTo>
                  <a:lnTo>
                    <a:pt x="2192302" y="4140115"/>
                  </a:lnTo>
                  <a:lnTo>
                    <a:pt x="2156376" y="4168452"/>
                  </a:lnTo>
                  <a:lnTo>
                    <a:pt x="2117200" y="4192450"/>
                  </a:lnTo>
                  <a:lnTo>
                    <a:pt x="2075135" y="4211746"/>
                  </a:lnTo>
                  <a:lnTo>
                    <a:pt x="2030545" y="4225978"/>
                  </a:lnTo>
                  <a:lnTo>
                    <a:pt x="1983793" y="4234784"/>
                  </a:lnTo>
                  <a:lnTo>
                    <a:pt x="1935241" y="4237799"/>
                  </a:lnTo>
                  <a:lnTo>
                    <a:pt x="387057" y="4237799"/>
                  </a:lnTo>
                  <a:lnTo>
                    <a:pt x="338506" y="4234784"/>
                  </a:lnTo>
                  <a:lnTo>
                    <a:pt x="291754" y="4225978"/>
                  </a:lnTo>
                  <a:lnTo>
                    <a:pt x="247164" y="4211746"/>
                  </a:lnTo>
                  <a:lnTo>
                    <a:pt x="205100" y="4192450"/>
                  </a:lnTo>
                  <a:lnTo>
                    <a:pt x="165923" y="4168452"/>
                  </a:lnTo>
                  <a:lnTo>
                    <a:pt x="129997" y="4140115"/>
                  </a:lnTo>
                  <a:lnTo>
                    <a:pt x="97684" y="4107802"/>
                  </a:lnTo>
                  <a:lnTo>
                    <a:pt x="69347" y="4071876"/>
                  </a:lnTo>
                  <a:lnTo>
                    <a:pt x="45349" y="4032699"/>
                  </a:lnTo>
                  <a:lnTo>
                    <a:pt x="26053" y="3990635"/>
                  </a:lnTo>
                  <a:lnTo>
                    <a:pt x="11821" y="3946045"/>
                  </a:lnTo>
                  <a:lnTo>
                    <a:pt x="3015" y="3899293"/>
                  </a:lnTo>
                  <a:lnTo>
                    <a:pt x="0" y="3850742"/>
                  </a:lnTo>
                  <a:lnTo>
                    <a:pt x="0" y="387057"/>
                  </a:lnTo>
                  <a:close/>
                </a:path>
              </a:pathLst>
            </a:custGeom>
            <a:grpFill/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7" name="object 17"/>
            <p:cNvPicPr/>
            <p:nvPr/>
          </p:nvPicPr>
          <p:blipFill rotWithShape="1">
            <a:blip r:embed="rId4"/>
            <a:stretch/>
          </p:blipFill>
          <p:spPr bwMode="auto">
            <a:xfrm>
              <a:off x="7096622" y="1701710"/>
              <a:ext cx="569267" cy="267890"/>
            </a:xfrm>
            <a:prstGeom prst="rect">
              <a:avLst/>
            </a:prstGeom>
          </p:spPr>
        </p:pic>
      </p:grpSp>
      <p:sp>
        <p:nvSpPr>
          <p:cNvPr id="1345717551" name="object 18"/>
          <p:cNvSpPr txBox="1"/>
          <p:nvPr/>
        </p:nvSpPr>
        <p:spPr bwMode="auto">
          <a:xfrm>
            <a:off x="6645739" y="1672489"/>
            <a:ext cx="2043154" cy="2495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 marR="278130" indent="568960" algn="just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>
                <a:solidFill>
                  <a:srgbClr val="1F3764"/>
                </a:solidFill>
                <a:latin typeface="Arial"/>
                <a:cs typeface="Arial"/>
              </a:rPr>
              <a:t>APIs</a:t>
            </a:r>
            <a:r>
              <a:rPr sz="1800" b="1" spc="-20">
                <a:solidFill>
                  <a:srgbClr val="1F3764"/>
                </a:solidFill>
                <a:latin typeface="Arial"/>
                <a:cs typeface="Arial"/>
              </a:rPr>
              <a:t> </a:t>
            </a:r>
            <a:r>
              <a:rPr sz="1800" b="1" spc="-50">
                <a:solidFill>
                  <a:srgbClr val="1F3764"/>
                </a:solidFill>
                <a:latin typeface="Arial"/>
                <a:cs typeface="Arial"/>
              </a:rPr>
              <a:t>&amp; </a:t>
            </a:r>
            <a:r>
              <a:rPr sz="1800" b="1" spc="-10">
                <a:solidFill>
                  <a:srgbClr val="1F3764"/>
                </a:solidFill>
                <a:latin typeface="Arial"/>
                <a:cs typeface="Arial"/>
              </a:rPr>
              <a:t>Services &amp;Data Resources</a:t>
            </a:r>
            <a:endParaRPr sz="1800">
              <a:latin typeface="Arial"/>
              <a:cs typeface="Arial"/>
            </a:endParaRPr>
          </a:p>
          <a:p>
            <a:pPr marL="271145" marR="5080" indent="-259079" algn="just">
              <a:lnSpc>
                <a:spcPct val="100000"/>
              </a:lnSpc>
              <a:spcBef>
                <a:spcPts val="825"/>
              </a:spcBef>
              <a:buChar char="•"/>
              <a:tabLst>
                <a:tab pos="271145" algn="l"/>
              </a:tabLst>
              <a:defRPr/>
            </a:pPr>
            <a:r>
              <a:rPr lang="en-IN" sz="1400" b="1" spc="-10">
                <a:latin typeface="Times New Roman"/>
                <a:cs typeface="Times New Roman"/>
              </a:rPr>
              <a:t>Twingate API</a:t>
            </a:r>
            <a:endParaRPr sz="1400" b="1">
              <a:latin typeface="Times New Roman"/>
              <a:cs typeface="Times New Roman"/>
            </a:endParaRPr>
          </a:p>
          <a:p>
            <a:pPr marL="271145" marR="26670" indent="-259079" algn="just">
              <a:lnSpc>
                <a:spcPct val="100000"/>
              </a:lnSpc>
              <a:buFont typeface="Arial"/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REST API</a:t>
            </a:r>
            <a:endParaRPr sz="1400" b="1">
              <a:latin typeface="Times New Roman"/>
              <a:cs typeface="Times New Roman"/>
            </a:endParaRPr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sz="1400" b="1" spc="-50">
                <a:latin typeface="Times New Roman"/>
                <a:cs typeface="Times New Roman"/>
              </a:rPr>
              <a:t>	</a:t>
            </a:r>
            <a:r>
              <a:rPr lang="en-IN" sz="1400" b="1">
                <a:latin typeface="Times New Roman"/>
                <a:cs typeface="Times New Roman"/>
              </a:rPr>
              <a:t>DNS</a:t>
            </a:r>
            <a:endParaRPr/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Authentication</a:t>
            </a:r>
            <a:endParaRPr sz="1400" b="1">
              <a:latin typeface="Times New Roman"/>
              <a:cs typeface="Times New Roman"/>
            </a:endParaRPr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Activity Logs</a:t>
            </a:r>
            <a:endParaRPr/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Network Data</a:t>
            </a:r>
            <a:endParaRPr sz="1400" b="1">
              <a:latin typeface="Times New Roman"/>
              <a:cs typeface="Times New Roman"/>
            </a:endParaRPr>
          </a:p>
        </p:txBody>
      </p:sp>
      <p:pic>
        <p:nvPicPr>
          <p:cNvPr id="2010178090" name="object 19"/>
          <p:cNvPicPr/>
          <p:nvPr/>
        </p:nvPicPr>
        <p:blipFill rotWithShape="1">
          <a:blip r:embed="rId5"/>
          <a:stretch/>
        </p:blipFill>
        <p:spPr bwMode="auto">
          <a:xfrm>
            <a:off x="3989729" y="1882169"/>
            <a:ext cx="284633" cy="267890"/>
          </a:xfrm>
          <a:prstGeom prst="rect">
            <a:avLst/>
          </a:prstGeom>
        </p:spPr>
      </p:pic>
      <p:sp>
        <p:nvSpPr>
          <p:cNvPr id="259805384" name="object 20"/>
          <p:cNvSpPr txBox="1"/>
          <p:nvPr/>
        </p:nvSpPr>
        <p:spPr bwMode="auto">
          <a:xfrm>
            <a:off x="3977028" y="1852948"/>
            <a:ext cx="1338938" cy="561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7345" algn="just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10">
                <a:solidFill>
                  <a:srgbClr val="102C57"/>
                </a:solidFill>
                <a:latin typeface="Arial"/>
                <a:cs typeface="Arial"/>
              </a:rPr>
              <a:t>Software </a:t>
            </a:r>
            <a:r>
              <a:rPr sz="1800" b="1">
                <a:solidFill>
                  <a:srgbClr val="102C57"/>
                </a:solidFill>
                <a:latin typeface="Arial"/>
                <a:cs typeface="Arial"/>
              </a:rPr>
              <a:t>&amp;</a:t>
            </a:r>
            <a:r>
              <a:rPr sz="1800" b="1" spc="-25">
                <a:solidFill>
                  <a:srgbClr val="102C57"/>
                </a:solidFill>
                <a:latin typeface="Arial"/>
                <a:cs typeface="Arial"/>
              </a:rPr>
              <a:t> </a:t>
            </a:r>
            <a:r>
              <a:rPr sz="1800" b="1" spc="-20">
                <a:solidFill>
                  <a:srgbClr val="102C57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88841572" name="object 2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37</a:t>
            </a:fld>
            <a:endParaRPr spc="-25"/>
          </a:p>
        </p:txBody>
      </p:sp>
      <p:sp>
        <p:nvSpPr>
          <p:cNvPr id="2025005919" name="object 22"/>
          <p:cNvSpPr txBox="1"/>
          <p:nvPr/>
        </p:nvSpPr>
        <p:spPr bwMode="auto">
          <a:xfrm>
            <a:off x="895677" y="6488122"/>
            <a:ext cx="114471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447073446" name="object 23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131834892" name="object 24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03741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38</a:t>
            </a:fld>
            <a:endParaRPr spc="-25"/>
          </a:p>
        </p:txBody>
      </p:sp>
      <p:sp>
        <p:nvSpPr>
          <p:cNvPr id="163747758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79981770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755549184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24260842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54082" y="408856"/>
            <a:ext cx="3812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CONCLUSION</a:t>
            </a:r>
            <a:endParaRPr/>
          </a:p>
        </p:txBody>
      </p:sp>
      <p:sp>
        <p:nvSpPr>
          <p:cNvPr id="1086250792" name="object 3"/>
          <p:cNvSpPr txBox="1"/>
          <p:nvPr/>
        </p:nvSpPr>
        <p:spPr bwMode="auto">
          <a:xfrm>
            <a:off x="351418" y="1555817"/>
            <a:ext cx="8592353" cy="4356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404494" indent="-21018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800" spc="-25">
                <a:latin typeface="Times New Roman"/>
                <a:cs typeface="Times New Roman"/>
              </a:rPr>
              <a:t>Secure remote network access using twin gate and raspberry pi provides secure and reliable remote network connectivity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22885" marR="220345" indent="-210185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Raspberry Pi acts as a low-cost and lightweight network connector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22885" marR="746760" indent="-210185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Twingate enables Zero Trust-based remote access without exposing internal services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22885" marR="616585" indent="-210185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Identity verification and least-privilege access enhance network security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22885" marR="5080" indent="-210185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IN" sz="1800">
                <a:latin typeface="Times New Roman"/>
                <a:cs typeface="Times New Roman"/>
              </a:rPr>
              <a:t>Python API automation simplifies resource management and configuration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 spc="-10">
              <a:latin typeface="Times New Roman"/>
              <a:cs typeface="Times New Roman"/>
            </a:endParaRPr>
          </a:p>
          <a:p>
            <a:pPr marL="222885" marR="5080" indent="-210185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The proposed system is scalable, cost-effective, and easy to manage</a:t>
            </a:r>
            <a:r>
              <a:rPr lang="en-IN" sz="1800" spc="-10">
                <a:latin typeface="Times New Roman"/>
                <a:cs typeface="Times New Roman"/>
              </a:rPr>
              <a:t>.</a:t>
            </a:r>
            <a:endParaRPr lang="en-IN" sz="1900">
              <a:latin typeface="Times New Roman"/>
              <a:cs typeface="Times New Roman"/>
            </a:endParaRPr>
          </a:p>
          <a:p>
            <a:pPr marL="222885" marR="5080" indent="-21018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61841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39</a:t>
            </a:fld>
            <a:endParaRPr spc="-25"/>
          </a:p>
        </p:txBody>
      </p:sp>
      <p:sp>
        <p:nvSpPr>
          <p:cNvPr id="753253089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011487657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493922717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18780341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69496" y="408856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316929042" name="object 3"/>
          <p:cNvSpPr txBox="1"/>
          <p:nvPr/>
        </p:nvSpPr>
        <p:spPr bwMode="auto">
          <a:xfrm>
            <a:off x="549013" y="1228649"/>
            <a:ext cx="8110179" cy="483905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algn="just"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[1]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Tuyishime, F. Radu, E. Tuyishime, D. Cotfas, P. Cotfas, T. Balan, and A. Rekeraho, “Online Laboratory Access Control With Zero Trust Approach: Twingate Use Case,” 2024</a:t>
            </a:r>
            <a:endParaRPr sz="1800"/>
          </a:p>
          <a:p>
            <a:pPr algn="just"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[2]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N. N. Hari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et al.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"Standards-Compliant Zero Trust Framework-Based Software-Defined Perimeter (SDP) for Securing Residential IoT Networks,"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Transactions on Consumer Electronics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vol. 72, no. 1, pp. 1312–1327, Feb. 2026</a:t>
            </a:r>
            <a:endParaRPr sz="1800" b="0" i="0"/>
          </a:p>
          <a:p>
            <a:pPr marL="12700">
              <a:lnSpc>
                <a:spcPts val="1730"/>
              </a:lnSpc>
              <a:defRPr/>
            </a:pPr>
            <a:endParaRPr sz="180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800" b="1">
                <a:latin typeface="Times New Roman"/>
                <a:cs typeface="Times New Roman"/>
              </a:rPr>
              <a:t>[3]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 Akhi, C. Eising, and L. L. Dhirani, "Securing IoT Using Lightweight TCN for Edge Deployment on Raspberry Pi 4,"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Open Journal of the Communications Society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vol. 7, pp. 1184–1200, 2026</a:t>
            </a:r>
            <a:endParaRPr sz="1800" b="0" i="0"/>
          </a:p>
          <a:p>
            <a:pPr algn="just">
              <a:defRPr/>
            </a:pPr>
            <a:r>
              <a:rPr sz="1800" b="1">
                <a:solidFill>
                  <a:srgbClr val="303030"/>
                </a:solidFill>
                <a:latin typeface="Times New Roman"/>
                <a:cs typeface="Times New Roman"/>
              </a:rPr>
              <a:t>[4]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S. M. Zoha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ib, S. M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Sajjad, Z. Iqbal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M.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Yousaf, M. Haseeb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Z. Muhammad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"Zero Trust VPN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(ZT-VPN): A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Systematic Literature Review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and Cyber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security Framework for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Hybrid and Remote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Work," </a:t>
            </a:r>
            <a:r>
              <a:rPr lang="en-US" sz="1800" b="0" i="1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Information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2024.</a:t>
            </a:r>
            <a:endParaRPr sz="180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sz="1700" b="1">
                <a:latin typeface="Arial"/>
                <a:cs typeface="Arial"/>
              </a:rPr>
              <a:t>[5]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D. N.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Jha, G. Lenton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J. Asker, D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Blundell, M. Higgins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D. C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H. Wallom (2023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). "A Run-Time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Framework for Ensuring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Zero-Trust State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of Client’s Machines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in Cloud Environment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 sz="1800">
              <a:latin typeface="Times New Roman"/>
              <a:cs typeface="Times New Roman"/>
            </a:endParaRPr>
          </a:p>
          <a:p>
            <a:pPr marL="12699" marR="5079" algn="just">
              <a:lnSpc>
                <a:spcPts val="1729"/>
              </a:lnSpc>
              <a:spcBef>
                <a:spcPts val="1709"/>
              </a:spcBef>
              <a:defRPr/>
            </a:pP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906979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40</a:t>
            </a:fld>
            <a:endParaRPr spc="-25"/>
          </a:p>
        </p:txBody>
      </p:sp>
      <p:sp>
        <p:nvSpPr>
          <p:cNvPr id="1829243955" name="object 5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39534945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655473749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12916324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485380739" name="object 3"/>
          <p:cNvSpPr txBox="1"/>
          <p:nvPr/>
        </p:nvSpPr>
        <p:spPr bwMode="auto">
          <a:xfrm>
            <a:off x="530224" y="1779393"/>
            <a:ext cx="8099769" cy="3775277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algn="just">
              <a:defRPr/>
            </a:pPr>
            <a:r>
              <a:rPr lang="en-US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[6]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D. N.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Jha, G. Lenton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J. Asker, D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Blundell, M. Higgins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D. C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H. Wallom (2023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). "A Run-Time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Framework for Ensuring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Zero-Trust State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of Client’s Machines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in Cloud Environment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 lang="en-US" sz="1800" b="0" i="0" u="none" strike="noStrike" cap="none" spc="0">
              <a:solidFill>
                <a:srgbClr val="0D0D0D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endParaRPr lang="en-US" sz="1800" b="0" i="0" u="none" strike="noStrike" cap="none" spc="0">
              <a:solidFill>
                <a:srgbClr val="0D0D0D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[7]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K. A. Ab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uhasel (2023). "A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-Trust Network-Based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Access Control Scheme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for Sustainable and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Resilient Industry 5.0</a:t>
            </a:r>
            <a:r>
              <a:rPr lang="en-US" sz="1800" b="0" i="0" u="none" strike="noStrike" cap="none" spc="0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/>
          </a:p>
          <a:p>
            <a:pPr algn="just">
              <a:defRPr/>
            </a:pPr>
            <a:endParaRPr sz="18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32"/>
              </a:spcBef>
              <a:defRPr/>
            </a:pPr>
            <a:r>
              <a:rPr lang="en-US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[8]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AI-Based</a:t>
            </a:r>
            <a:r>
              <a:rPr lang="en-US" sz="1800" b="0" i="0" u="none" strike="noStrike" cap="none" spc="-6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Smart</a:t>
            </a:r>
            <a:r>
              <a:rPr lang="en-US" sz="1800" b="0" i="0" u="none" strike="noStrike" cap="none" spc="-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Surveillance</a:t>
            </a:r>
            <a:r>
              <a:rPr lang="en-US" sz="1800" b="0" i="0" u="none" strike="noStrike" cap="none" spc="-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lang="en-US" sz="1800" b="0" i="0" u="none" strike="noStrike" cap="none" spc="-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Using</a:t>
            </a:r>
            <a:r>
              <a:rPr lang="en-US" sz="1800" b="0" i="0" u="none" strike="noStrike" cap="none" spc="-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Raspberry</a:t>
            </a:r>
            <a:r>
              <a:rPr lang="en-US" sz="1800" b="0" i="0" u="none" strike="noStrike" cap="none" spc="-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</a:t>
            </a:r>
            <a:r>
              <a:rPr lang="en-US" sz="1800" b="0" i="0" u="none" strike="noStrike" cap="none" spc="-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sz="1800" b="0" i="0" u="none" strike="noStrike" cap="none" spc="-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Embedded</a:t>
            </a:r>
            <a:r>
              <a:rPr lang="en-US" sz="1800" b="0" i="0" u="none" strike="noStrike" cap="none" spc="-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  <a:r>
              <a:rPr lang="en-US" sz="1800" b="0" i="0" u="none" strike="noStrike" cap="none" spc="2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</a:t>
            </a:r>
            <a:r>
              <a:rPr lang="en-US" sz="1800" b="0" i="0" u="none" strike="noStrike" cap="none" spc="-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Girirajan,</a:t>
            </a:r>
            <a:r>
              <a:rPr lang="en-US" sz="1800" b="0" i="0" u="none" strike="noStrike" cap="none" spc="-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S.</a:t>
            </a:r>
            <a:r>
              <a:rPr lang="en-US" sz="1800" b="0" i="0" u="none" strike="noStrike" cap="none" spc="-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Prabu,</a:t>
            </a:r>
            <a:r>
              <a:rPr lang="en-US" sz="1800" b="0" i="0" u="none" strike="noStrike" cap="none" spc="-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V.</a:t>
            </a:r>
            <a:r>
              <a:rPr lang="en-US" sz="1800" b="0" i="0" u="none" strike="noStrike" cap="none" spc="-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T.</a:t>
            </a:r>
            <a:r>
              <a:rPr lang="en-US" sz="1800" b="0" i="0" u="none" strike="noStrike" cap="none" spc="-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Thangam,</a:t>
            </a:r>
            <a:endParaRPr lang="en-US" sz="1800" b="0" i="0" u="none" strike="noStrike" cap="none" spc="-9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332"/>
              </a:spcBef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</a:t>
            </a:r>
            <a:r>
              <a:rPr lang="en-US" sz="1800" b="0" i="0" u="none" strike="noStrike" cap="none" spc="-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Sugumaran,</a:t>
            </a:r>
            <a:r>
              <a:rPr lang="en-US" sz="1800" b="0" i="0" u="none" strike="noStrike" cap="none" spc="-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P.</a:t>
            </a:r>
            <a:r>
              <a:rPr lang="en-US" sz="1800" b="0" i="0" u="none" strike="noStrike" cap="none" spc="-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Venkateshwaran,</a:t>
            </a:r>
            <a:r>
              <a:rPr lang="en-US" sz="1800" b="0" i="0" u="none" strike="noStrike" cap="none" spc="-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</a:t>
            </a:r>
            <a:r>
              <a:rPr lang="en-US" sz="1800" b="0" i="0" u="none" strike="noStrike" cap="none" spc="-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strike="noStrike" cap="none" spc="-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Kaur</a:t>
            </a:r>
            <a:endParaRPr sz="1800">
              <a:latin typeface="Times New Roman"/>
              <a:cs typeface="Times New Roman"/>
            </a:endParaRPr>
          </a:p>
          <a:p>
            <a:pPr marL="12700" marR="70485" indent="266065" algn="just">
              <a:lnSpc>
                <a:spcPct val="80000"/>
              </a:lnSpc>
              <a:spcBef>
                <a:spcPts val="172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  <a:defRPr/>
            </a:pPr>
            <a:endParaRPr sz="1800">
              <a:latin typeface="Times New Roman"/>
              <a:cs typeface="Times New Roman"/>
            </a:endParaRPr>
          </a:p>
          <a:p>
            <a:pPr algn="just">
              <a:lnSpc>
                <a:spcPts val="1730"/>
              </a:lnSpc>
              <a:spcBef>
                <a:spcPts val="1720"/>
              </a:spcBef>
              <a:tabLst>
                <a:tab pos="393065" algn="l"/>
              </a:tabLst>
              <a:defRPr/>
            </a:pP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710565" name="object 3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43</a:t>
            </a:fld>
            <a:endParaRPr spc="-25"/>
          </a:p>
        </p:txBody>
      </p:sp>
      <p:sp>
        <p:nvSpPr>
          <p:cNvPr id="882578454" name="object 4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934059200" name="object 5"/>
          <p:cNvSpPr txBox="1">
            <a:spLocks noGrp="1"/>
          </p:cNvSpPr>
          <p:nvPr>
            <p:ph type="dt" sz="half" idx="6"/>
          </p:nvPr>
        </p:nvSpPr>
        <p:spPr bwMode="auto">
          <a:xfrm>
            <a:off x="3754840" y="6488122"/>
            <a:ext cx="1905471" cy="179536"/>
          </a:xfrm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743742506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0314857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258332" y="3007261"/>
            <a:ext cx="4453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4000"/>
              <a:t>Thank</a:t>
            </a:r>
            <a:r>
              <a:rPr sz="4000" spc="-170"/>
              <a:t> </a:t>
            </a:r>
            <a:r>
              <a:rPr sz="4000" spc="-60"/>
              <a:t>You</a:t>
            </a:r>
            <a:r>
              <a:rPr lang="en-IN" sz="4000" spc="-60"/>
              <a:t>uuu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3030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28</Slides>
  <Notes>28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wildguard....pptx</dc:title>
  <dc:creator>Akshay N</dc:creator>
  <cp:lastModifiedBy/>
  <cp:revision>15</cp:revision>
  <dcterms:created xsi:type="dcterms:W3CDTF">2026-09-15T04:45:46Z</dcterms:created>
  <dcterms:modified xsi:type="dcterms:W3CDTF">2026-10-07T04:37:40Z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2026-09-15T00:00:00Z</vt:filetime>
  </property>
</Properties>
</file>