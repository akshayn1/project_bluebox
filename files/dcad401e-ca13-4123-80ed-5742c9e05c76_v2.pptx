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72" r:id="rId9"/>
    <p:sldId id="273" r:id="rId10"/>
    <p:sldId id="262" r:id="rId11"/>
    <p:sldId id="275" r:id="rId12"/>
    <p:sldId id="276" r:id="rId13"/>
    <p:sldId id="263" r:id="rId14"/>
    <p:sldId id="277" r:id="rId15"/>
    <p:sldId id="265" r:id="rId16"/>
    <p:sldId id="278" r:id="rId17"/>
    <p:sldId id="279" r:id="rId18"/>
    <p:sldId id="280" r:id="rId19"/>
    <p:sldId id="266" r:id="rId20"/>
    <p:sldId id="267" r:id="rId21"/>
    <p:sldId id="269" r:id="rId22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514" y="-10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AE1D46-90DA-4BB2-B119-AB858D6812D0}" type="datetimeFigureOut">
              <a:rPr lang="en-IN" smtClean="0"/>
              <a:t>30-10-2026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2B4B0-0604-47A5-ADC3-D292FF15FD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72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0837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8055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975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F358D4-B96D-7317-C838-9375347C391B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239F6-878D-FEAF-435B-4DD38486234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408379" name="Slide Image Placeholder 1">
            <a:extLst>
              <a:ext uri="{FF2B5EF4-FFF2-40B4-BE49-F238E27FC236}">
                <a16:creationId xmlns:a16="http://schemas.microsoft.com/office/drawing/2014/main" id="{74EF7AC4-6A3B-FA50-EA71-0ECC0DCF6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8055017" name="Notes Placeholder 2">
            <a:extLst>
              <a:ext uri="{FF2B5EF4-FFF2-40B4-BE49-F238E27FC236}">
                <a16:creationId xmlns:a16="http://schemas.microsoft.com/office/drawing/2014/main" id="{B2CC30FB-6BC9-2171-46B0-A837D7DD1D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975987" name="Slide Number Placeholder 3">
            <a:extLst>
              <a:ext uri="{FF2B5EF4-FFF2-40B4-BE49-F238E27FC236}">
                <a16:creationId xmlns:a16="http://schemas.microsoft.com/office/drawing/2014/main" id="{095DA047-90AC-AABC-8AD5-933C99007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F358D4-B96D-7317-C838-9375347C391B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01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1354" y="6461281"/>
            <a:ext cx="5255045" cy="205184"/>
          </a:xfrm>
        </p:spPr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2782" y="563054"/>
            <a:ext cx="622554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0394" y="2586983"/>
            <a:ext cx="7198359" cy="2305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31354" y="6461281"/>
            <a:ext cx="5331245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1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374257" y="6461281"/>
            <a:ext cx="1892934" cy="21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1">
                <a:solidFill>
                  <a:srgbClr val="58585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4717" y="6454869"/>
            <a:ext cx="330834" cy="28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47800" y="1006729"/>
            <a:ext cx="6400800" cy="167545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u="none" dirty="0"/>
              <a:t>REMOTE NETWORK ACCESS USING TWIN GATE AND RASPBERRY PI</a:t>
            </a:r>
            <a:endParaRPr u="none" spc="-10" dirty="0"/>
          </a:p>
        </p:txBody>
      </p:sp>
      <p:sp>
        <p:nvSpPr>
          <p:cNvPr id="2" name="object 2"/>
          <p:cNvSpPr txBox="1"/>
          <p:nvPr/>
        </p:nvSpPr>
        <p:spPr>
          <a:xfrm>
            <a:off x="994079" y="4144327"/>
            <a:ext cx="3882721" cy="125867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b="1" dirty="0">
                <a:latin typeface="Times New Roman"/>
                <a:cs typeface="Times New Roman"/>
              </a:rPr>
              <a:t>Guided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lang="en-US" sz="2000" spc="-20" dirty="0">
                <a:solidFill>
                  <a:srgbClr val="375F92"/>
                </a:solidFill>
                <a:latin typeface="Times New Roman"/>
                <a:cs typeface="Times New Roman"/>
              </a:rPr>
              <a:t>MS FARBEENA N</a:t>
            </a:r>
            <a:endParaRPr sz="2000" dirty="0">
              <a:latin typeface="Times New Roman"/>
              <a:cs typeface="Times New Roman"/>
            </a:endParaRPr>
          </a:p>
          <a:p>
            <a:pPr marL="1436370" marR="5080" indent="-26034">
              <a:lnSpc>
                <a:spcPts val="2380"/>
              </a:lnSpc>
              <a:spcBef>
                <a:spcPts val="90"/>
              </a:spcBef>
            </a:pPr>
            <a:r>
              <a:rPr lang="en-IN" sz="2000" spc="-25" dirty="0">
                <a:solidFill>
                  <a:srgbClr val="375F92"/>
                </a:solidFill>
                <a:latin typeface="Times New Roman"/>
                <a:cs typeface="Times New Roman"/>
              </a:rPr>
              <a:t>ASSIT.PROFESSOR</a:t>
            </a:r>
            <a:r>
              <a:rPr sz="2000" spc="-2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lang="en-US" sz="2000" spc="-35" dirty="0">
                <a:solidFill>
                  <a:srgbClr val="375F92"/>
                </a:solidFill>
                <a:latin typeface="Times New Roman"/>
                <a:cs typeface="Times New Roman"/>
              </a:rPr>
              <a:t>DEPT. OF COMPUTERSCIENCE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60746" y="4159440"/>
            <a:ext cx="3492500" cy="635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: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lang="en-US" sz="2000" b="1" spc="-20" dirty="0">
                <a:latin typeface="Times New Roman"/>
                <a:cs typeface="Times New Roman"/>
              </a:rPr>
              <a:t>AKSHAY N</a:t>
            </a:r>
            <a:endParaRPr sz="2000" dirty="0">
              <a:latin typeface="Times New Roman"/>
              <a:cs typeface="Times New Roman"/>
            </a:endParaRPr>
          </a:p>
          <a:p>
            <a:pPr marL="1664970">
              <a:lnSpc>
                <a:spcPts val="2390"/>
              </a:lnSpc>
            </a:pPr>
            <a:r>
              <a:rPr lang="en-US" sz="2000" b="1" dirty="0">
                <a:solidFill>
                  <a:srgbClr val="375F92"/>
                </a:solidFill>
                <a:latin typeface="Times New Roman"/>
                <a:cs typeface="Times New Roman"/>
              </a:rPr>
              <a:t>JCE23CC008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57600" y="363100"/>
            <a:ext cx="200850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219200"/>
            <a:ext cx="6650355" cy="3787575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49965" indent="-349965">
              <a:buAutoNum type="arabicPeriod"/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Abstract</a:t>
            </a:r>
            <a:endParaRPr lang="en-US" sz="2000" dirty="0">
              <a:latin typeface="Times New Roman"/>
              <a:cs typeface="Times New Roman"/>
            </a:endParaRPr>
          </a:p>
          <a:p>
            <a:pPr marL="349965" indent="-349965">
              <a:buAutoNum type="arabicPeriod"/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lang="en-US" sz="2000" dirty="0">
              <a:latin typeface="Times New Roman"/>
              <a:cs typeface="Times New Roman"/>
            </a:endParaRPr>
          </a:p>
          <a:p>
            <a:pPr marL="349965" indent="-349965">
              <a:buAutoNum type="arabicPeriod"/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Analysis</a:t>
            </a:r>
          </a:p>
          <a:p>
            <a:pPr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	Literature Review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System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System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4. System Overview 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Requirements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Design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	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System Working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 Conclusion</a:t>
            </a:r>
            <a:endParaRPr lang="en-US" sz="2000" dirty="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dirty="0">
                <a:latin typeface="Times New Roman"/>
                <a:ea typeface="Times New Roman"/>
                <a:cs typeface="Times New Roman"/>
              </a:rPr>
              <a:t>6. 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References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1.</a:t>
            </a:r>
            <a:r>
              <a:rPr u="none" spc="-200" dirty="0"/>
              <a:t> </a:t>
            </a:r>
            <a:r>
              <a:rPr spc="-10" dirty="0"/>
              <a:t>ABSTRACT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D9030-15DD-A105-A55A-5B8335FA988B}"/>
              </a:ext>
            </a:extLst>
          </p:cNvPr>
          <p:cNvSpPr txBox="1"/>
          <p:nvPr/>
        </p:nvSpPr>
        <p:spPr>
          <a:xfrm>
            <a:off x="910423" y="1371600"/>
            <a:ext cx="7790257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as a secure network connector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Trust Network Access (ZTNA) platform.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identity-based and least-privilege access, allowing users to access only authorized network resources.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centralized authentication, access control, device verification, and activity logging without directly exposing internal services to the internet.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with Python automation for resource discovery, dynamic registration, DNS aliasing, temporary access, and service accounts.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25830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2.</a:t>
            </a:r>
            <a:r>
              <a:rPr u="none" spc="-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0747" y="1511891"/>
            <a:ext cx="7342505" cy="365189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Objective</a:t>
            </a:r>
            <a:r>
              <a:rPr lang="en-US"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</a:t>
            </a: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:</a:t>
            </a:r>
            <a:endParaRPr sz="2350" dirty="0">
              <a:latin typeface="Times New Roman"/>
              <a:cs typeface="Times New Roman"/>
            </a:endParaRPr>
          </a:p>
          <a:p>
            <a:pPr marL="118110" marR="5080" indent="-112395">
              <a:lnSpc>
                <a:spcPct val="150000"/>
              </a:lnSpc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develop a secure remote access system using Raspberry Pi and </a:t>
            </a:r>
            <a:r>
              <a:rPr lang="en-US" dirty="0" err="1">
                <a:latin typeface="Times New Roman"/>
                <a:cs typeface="Times New Roman"/>
              </a:rPr>
              <a:t>Twingate</a:t>
            </a:r>
            <a:r>
              <a:rPr lang="en-US" dirty="0">
                <a:latin typeface="Times New Roman"/>
                <a:cs typeface="Times New Roman"/>
              </a:rPr>
              <a:t> ZTNA.</a:t>
            </a:r>
          </a:p>
          <a:p>
            <a:pPr marL="118110" marR="5080" indent="-112395">
              <a:lnSpc>
                <a:spcPct val="150000"/>
              </a:lnSpc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implement identity-based authentication and least-privilege access to network resources.</a:t>
            </a:r>
          </a:p>
          <a:p>
            <a:pPr marL="118110" marR="5080" indent="-112395">
              <a:lnSpc>
                <a:spcPct val="150000"/>
              </a:lnSpc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reduce the need for public IPs, port forwarding, and complex firewall configurations.</a:t>
            </a:r>
          </a:p>
          <a:p>
            <a:pPr marL="118110" marR="5080" indent="-112395">
              <a:lnSpc>
                <a:spcPct val="150000"/>
              </a:lnSpc>
              <a:buSzPct val="95744"/>
              <a:buFont typeface="Arial MT"/>
              <a:buChar char="•"/>
              <a:tabLst>
                <a:tab pos="470534" algn="l"/>
              </a:tabLst>
            </a:pPr>
            <a:r>
              <a:rPr lang="en-US" dirty="0">
                <a:latin typeface="Times New Roman"/>
                <a:cs typeface="Times New Roman"/>
              </a:rPr>
              <a:t>To automate resource discovery and registration using the </a:t>
            </a:r>
            <a:r>
              <a:rPr lang="en-US" dirty="0" err="1">
                <a:latin typeface="Times New Roman"/>
                <a:cs typeface="Times New Roman"/>
              </a:rPr>
              <a:t>Twingate</a:t>
            </a:r>
            <a:r>
              <a:rPr lang="en-US" dirty="0">
                <a:latin typeface="Times New Roman"/>
                <a:cs typeface="Times New Roman"/>
              </a:rPr>
              <a:t> API and Python.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12876" y="441198"/>
            <a:ext cx="7991475" cy="12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8630" indent="1666239" algn="r">
              <a:lnSpc>
                <a:spcPct val="118400"/>
              </a:lnSpc>
              <a:spcBef>
                <a:spcPts val="100"/>
              </a:spcBef>
            </a:pPr>
            <a:r>
              <a:rPr u="none" dirty="0"/>
              <a:t>3.</a:t>
            </a:r>
            <a:r>
              <a:rPr u="none" spc="-15" dirty="0"/>
              <a:t> </a:t>
            </a:r>
            <a:r>
              <a:rPr dirty="0"/>
              <a:t>SYSTEM</a:t>
            </a:r>
            <a:r>
              <a:rPr spc="-220" dirty="0"/>
              <a:t> </a:t>
            </a:r>
            <a:r>
              <a:rPr spc="-55" dirty="0"/>
              <a:t>ANALYSIS</a:t>
            </a:r>
            <a:r>
              <a:rPr u="none" spc="-55" dirty="0"/>
              <a:t> </a:t>
            </a:r>
            <a:r>
              <a:rPr lang="en-US" u="none" spc="-55" dirty="0"/>
              <a:t>       </a:t>
            </a:r>
            <a:r>
              <a:rPr spc="-3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070394" y="2586983"/>
            <a:ext cx="7198359" cy="268945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Proposes a Zero Trust architecture called OUTSIDE for fine-grained authorization in IoT networks.</a:t>
            </a:r>
          </a:p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Uses per-packet verification to ensure that only authorized applications can access network resources.</a:t>
            </a:r>
          </a:p>
          <a:p>
            <a:pPr marL="527050" marR="447040" indent="-514984">
              <a:lnSpc>
                <a:spcPct val="150000"/>
              </a:lnSpc>
              <a:spcBef>
                <a:spcPts val="65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The system was implemented using Raspberry Pi and ESP32, with experiments showing negligible performance degradation</a:t>
            </a: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480422" y="5758870"/>
            <a:ext cx="710247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latin typeface="Times New Roman"/>
                <a:cs typeface="Times New Roman"/>
              </a:rPr>
              <a:t>[</a:t>
            </a:r>
            <a:r>
              <a:rPr lang="en-US" sz="1200" dirty="0">
                <a:latin typeface="Times New Roman"/>
                <a:cs typeface="Times New Roman"/>
              </a:rPr>
              <a:t>1</a:t>
            </a:r>
            <a:r>
              <a:rPr sz="1200" dirty="0">
                <a:latin typeface="Times New Roman"/>
                <a:cs typeface="Times New Roman"/>
              </a:rPr>
              <a:t>]</a:t>
            </a:r>
            <a:r>
              <a:rPr lang="en-US" sz="1200" dirty="0">
                <a:latin typeface="Times New Roman"/>
                <a:cs typeface="Times New Roman"/>
              </a:rPr>
              <a:t> </a:t>
            </a:r>
            <a:r>
              <a:rPr lang="en-US" sz="1200" i="1" dirty="0">
                <a:latin typeface="Times New Roman"/>
                <a:cs typeface="Times New Roman"/>
              </a:rPr>
              <a:t>Syed et al., “Zero Trust Architecture (ZTA): A Comprehensive Survey,” IEEE Access, 2022.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48090" y="6433184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AC7A4BF-0B43-F309-F2DC-7FF4F9A1479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238172" y="6469479"/>
            <a:ext cx="1892934" cy="218440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US" dirty="0"/>
              <a:t>Monday, October 5, 2026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83E1F65-8DF3-46D4-067E-52FB201079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42875" y="6461281"/>
            <a:ext cx="5255045" cy="205184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lang="en-IN" spc="-2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DEBE6B-0222-E4AA-7139-253B41082D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lang="en-IN" spc="-50" smtClean="0"/>
              <a:t>5</a:t>
            </a:fld>
            <a:endParaRPr lang="en-IN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68A46-1776-DD24-B0B0-71DD96745C14}"/>
              </a:ext>
            </a:extLst>
          </p:cNvPr>
          <p:cNvSpPr txBox="1"/>
          <p:nvPr/>
        </p:nvSpPr>
        <p:spPr>
          <a:xfrm>
            <a:off x="1143000" y="1828800"/>
            <a:ext cx="712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Toward Zero-Trust IoT Networks via Per-Packet Authorization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45E18-721C-B3C7-E5CF-8390BA9F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90E9E13-AA54-2012-413F-7626EABAD1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76" y="441198"/>
            <a:ext cx="7991475" cy="12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8630" indent="1666239" algn="r">
              <a:lnSpc>
                <a:spcPct val="118400"/>
              </a:lnSpc>
              <a:spcBef>
                <a:spcPts val="100"/>
              </a:spcBef>
            </a:pPr>
            <a:r>
              <a:rPr u="none" dirty="0"/>
              <a:t>3.</a:t>
            </a:r>
            <a:r>
              <a:rPr u="none" spc="-15" dirty="0"/>
              <a:t> </a:t>
            </a:r>
            <a:r>
              <a:rPr dirty="0"/>
              <a:t>SYSTEM</a:t>
            </a:r>
            <a:r>
              <a:rPr spc="-220" dirty="0"/>
              <a:t> </a:t>
            </a:r>
            <a:r>
              <a:rPr spc="-55" dirty="0"/>
              <a:t>ANALYSIS</a:t>
            </a:r>
            <a:r>
              <a:rPr u="none" spc="-55" dirty="0"/>
              <a:t> </a:t>
            </a:r>
            <a:r>
              <a:rPr lang="en-US" u="none" spc="-55" dirty="0"/>
              <a:t>       </a:t>
            </a:r>
            <a:r>
              <a:rPr spc="-3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AC150FE-B1AD-2C4B-844F-8BCF65A2B0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394" y="2341129"/>
            <a:ext cx="7198359" cy="310495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Proposes a standards-compliant Zero Trust Framework to enhance security in residential IoT networks.</a:t>
            </a:r>
          </a:p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Uses Software-Defined Perimeter (SDP) to restrict network access to authenticated and authorized devices.</a:t>
            </a:r>
          </a:p>
          <a:p>
            <a:pPr marL="527050" marR="447040" indent="-514984">
              <a:lnSpc>
                <a:spcPct val="150000"/>
              </a:lnSpc>
              <a:spcBef>
                <a:spcPts val="65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3. Implements identity-based access control and continuous verification to reduce unauthorized access and potential cyberattacks.</a:t>
            </a:r>
            <a:endParaRPr sz="1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D3F26CC-CFE0-1767-B947-FC5592A18963}"/>
              </a:ext>
            </a:extLst>
          </p:cNvPr>
          <p:cNvSpPr txBox="1"/>
          <p:nvPr/>
        </p:nvSpPr>
        <p:spPr>
          <a:xfrm>
            <a:off x="1480422" y="5758870"/>
            <a:ext cx="7102475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lang="en-IN" sz="1200" dirty="0">
                <a:latin typeface="Times New Roman"/>
                <a:cs typeface="Times New Roman"/>
              </a:rPr>
              <a:t>[2] </a:t>
            </a:r>
            <a:r>
              <a:rPr lang="en-IN" sz="1200" i="1" dirty="0">
                <a:latin typeface="Times New Roman"/>
                <a:cs typeface="Times New Roman"/>
              </a:rPr>
              <a:t>N. N. Hari et al., “Standards-Compliant Zero Trust Framework-Based Software-Defined Perimeter (SDP) for Securing Residential IoT Networks,” IEEE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D93581D-7D9D-BBFD-B6B7-307CEE069D6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238172" y="6469479"/>
            <a:ext cx="1892934" cy="218440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US" dirty="0"/>
              <a:t>Monday, October 5, 2026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DD736C-8547-E6DA-44B6-82F4242377F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42875" y="6461281"/>
            <a:ext cx="5255045" cy="205184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lang="en-IN" spc="-2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C4C64C4-F6C5-E021-AA87-FF730AE48D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778395" y="6461281"/>
            <a:ext cx="330834" cy="282575"/>
          </a:xfrm>
        </p:spPr>
        <p:txBody>
          <a:bodyPr/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lang="en-IN" spc="-50" smtClean="0"/>
              <a:t>6</a:t>
            </a:fld>
            <a:endParaRPr lang="en-IN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C5D814-8F76-4F31-A4D3-F0C7B40E315A}"/>
              </a:ext>
            </a:extLst>
          </p:cNvPr>
          <p:cNvSpPr txBox="1"/>
          <p:nvPr/>
        </p:nvSpPr>
        <p:spPr>
          <a:xfrm>
            <a:off x="1143000" y="1828800"/>
            <a:ext cx="712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Toward Zero-Trust IoT Networks via Per-Packet Authorization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41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335B0-E033-7291-92C6-1544D42F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9568EF7-020D-7CE0-BD11-01002D1CBB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2876" y="441198"/>
            <a:ext cx="7991475" cy="126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38630" indent="1666239" algn="r">
              <a:lnSpc>
                <a:spcPct val="118400"/>
              </a:lnSpc>
              <a:spcBef>
                <a:spcPts val="100"/>
              </a:spcBef>
            </a:pPr>
            <a:r>
              <a:rPr u="none" dirty="0"/>
              <a:t>3.</a:t>
            </a:r>
            <a:r>
              <a:rPr u="none" spc="-15" dirty="0"/>
              <a:t> </a:t>
            </a:r>
            <a:r>
              <a:rPr dirty="0"/>
              <a:t>SYSTEM</a:t>
            </a:r>
            <a:r>
              <a:rPr spc="-220" dirty="0"/>
              <a:t> </a:t>
            </a:r>
            <a:r>
              <a:rPr spc="-55" dirty="0"/>
              <a:t>ANALYSIS</a:t>
            </a:r>
            <a:r>
              <a:rPr u="none" spc="-55" dirty="0"/>
              <a:t> </a:t>
            </a:r>
            <a:r>
              <a:rPr lang="en-US" u="none" spc="-55" dirty="0"/>
              <a:t>       </a:t>
            </a:r>
            <a:r>
              <a:rPr spc="-30" dirty="0"/>
              <a:t>LITERATURE</a:t>
            </a:r>
            <a:r>
              <a:rPr spc="-180" dirty="0"/>
              <a:t> </a:t>
            </a:r>
            <a:r>
              <a:rPr spc="-10" dirty="0"/>
              <a:t>REVIEW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5D9F16-4CD5-9882-672A-4457F2E564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70394" y="2479219"/>
            <a:ext cx="7198359" cy="268945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Proposes a standards-compliant Zero Trust framework for securing residential IoT networks..</a:t>
            </a:r>
          </a:p>
          <a:p>
            <a:pPr marL="527050" indent="-514350">
              <a:lnSpc>
                <a:spcPct val="150000"/>
              </a:lnSpc>
              <a:spcBef>
                <a:spcPts val="62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Integrates Software-Defined Perimeter (SDP) to control access to connected IoT devices.</a:t>
            </a:r>
          </a:p>
          <a:p>
            <a:pPr marL="527050" marR="447040" indent="-514984">
              <a:lnSpc>
                <a:spcPct val="150000"/>
              </a:lnSpc>
              <a:spcBef>
                <a:spcPts val="650"/>
              </a:spcBef>
              <a:buFont typeface="Arial MT"/>
              <a:buChar char="•"/>
              <a:tabLst>
                <a:tab pos="527050" algn="l"/>
              </a:tabLst>
            </a:pPr>
            <a:r>
              <a:rPr lang="en-US" sz="1800" dirty="0"/>
              <a:t>3. Uses authentication and authorization mechanisms to prevent unauthorized network access.</a:t>
            </a:r>
            <a:endParaRPr sz="1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897B3B3-FAF6-EFF8-615C-ABA9F249FFB8}"/>
              </a:ext>
            </a:extLst>
          </p:cNvPr>
          <p:cNvSpPr txBox="1"/>
          <p:nvPr/>
        </p:nvSpPr>
        <p:spPr>
          <a:xfrm>
            <a:off x="1480422" y="5758870"/>
            <a:ext cx="7102475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lang="en-IN" sz="1200" dirty="0">
                <a:latin typeface="Times New Roman"/>
                <a:cs typeface="Times New Roman"/>
              </a:rPr>
              <a:t>[3] </a:t>
            </a:r>
            <a:r>
              <a:rPr lang="en-US" sz="1200" i="1" dirty="0">
                <a:latin typeface="Times New Roman"/>
                <a:cs typeface="Times New Roman"/>
              </a:rPr>
              <a:t>E. </a:t>
            </a:r>
            <a:r>
              <a:rPr lang="en-US" sz="1200" i="1" dirty="0" err="1">
                <a:latin typeface="Times New Roman"/>
                <a:cs typeface="Times New Roman"/>
              </a:rPr>
              <a:t>Tuyishime</a:t>
            </a:r>
            <a:r>
              <a:rPr lang="en-US" sz="1200" i="1" dirty="0">
                <a:latin typeface="Times New Roman"/>
                <a:cs typeface="Times New Roman"/>
              </a:rPr>
              <a:t> et al., “Online Laboratory Access Control With Zero Trust Approach: </a:t>
            </a:r>
            <a:r>
              <a:rPr lang="en-US" sz="1200" i="1" dirty="0" err="1">
                <a:latin typeface="Times New Roman"/>
                <a:cs typeface="Times New Roman"/>
              </a:rPr>
              <a:t>Twingate</a:t>
            </a:r>
            <a:r>
              <a:rPr lang="en-US" sz="1200" i="1" dirty="0">
                <a:latin typeface="Times New Roman"/>
                <a:cs typeface="Times New Roman"/>
              </a:rPr>
              <a:t> Use Case,” IEEE.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161C64-C27A-774A-DF2B-AC68CE2473F1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6238172" y="6469479"/>
            <a:ext cx="1892934" cy="218440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US" dirty="0"/>
              <a:t>Monday, October 5, 2026</a:t>
            </a:r>
            <a:endParaRPr lang="en-US" spc="-2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FC4CCED-FF98-C946-C2DA-CC6EA3316D1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42875" y="6461281"/>
            <a:ext cx="5255045" cy="205184"/>
          </a:xfrm>
        </p:spPr>
        <p:txBody>
          <a:bodyPr/>
          <a:lstStyle/>
          <a:p>
            <a:pPr marL="12700">
              <a:lnSpc>
                <a:spcPts val="1590"/>
              </a:lnSpc>
            </a:pPr>
            <a:r>
              <a:rPr lang="en-IN" dirty="0" err="1"/>
              <a:t>B.Tech</a:t>
            </a:r>
            <a:r>
              <a:rPr lang="en-IN" dirty="0"/>
              <a:t> - CSE CC - CCQ413 - SEMINAR PRESENTATION– 2026-2027</a:t>
            </a:r>
            <a:endParaRPr lang="en-IN" spc="-2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D0DD66-219C-71CE-8AA8-B009063B14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805941" y="6469479"/>
            <a:ext cx="330834" cy="282575"/>
          </a:xfrm>
        </p:spPr>
        <p:txBody>
          <a:bodyPr/>
          <a:lstStyle/>
          <a:p>
            <a:pPr marL="75565">
              <a:lnSpc>
                <a:spcPts val="2090"/>
              </a:lnSpc>
            </a:pPr>
            <a:fld id="{81D60167-4931-47E6-BA6A-407CBD079E47}" type="slidenum">
              <a:rPr lang="en-IN" spc="-50" smtClean="0"/>
              <a:t>7</a:t>
            </a:fld>
            <a:endParaRPr lang="en-IN"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1C9A21-BC11-5BB9-3D0C-27C71266DC38}"/>
              </a:ext>
            </a:extLst>
          </p:cNvPr>
          <p:cNvSpPr txBox="1"/>
          <p:nvPr/>
        </p:nvSpPr>
        <p:spPr>
          <a:xfrm>
            <a:off x="1143000" y="1828800"/>
            <a:ext cx="754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Online Laboratory Access Control With Zero Trust Approach:   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82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844648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7410">
              <a:lnSpc>
                <a:spcPct val="100000"/>
              </a:lnSpc>
              <a:spcBef>
                <a:spcPts val="100"/>
              </a:spcBef>
              <a:defRPr/>
            </a:pPr>
            <a:r>
              <a:t>EXISTING</a:t>
            </a:r>
            <a:r>
              <a:rPr spc="-155"/>
              <a:t> </a:t>
            </a:r>
            <a:r>
              <a:rPr spc="-10"/>
              <a:t>SYSTEM</a:t>
            </a:r>
          </a:p>
        </p:txBody>
      </p:sp>
      <p:sp>
        <p:nvSpPr>
          <p:cNvPr id="446714246" name="object 13"/>
          <p:cNvSpPr txBox="1">
            <a:spLocks noGrp="1"/>
          </p:cNvSpPr>
          <p:nvPr>
            <p:ph type="ftr" sz="quarter" idx="5"/>
          </p:nvPr>
        </p:nvSpPr>
        <p:spPr bwMode="auto">
          <a:xfrm>
            <a:off x="231138" y="6448662"/>
            <a:ext cx="5826500" cy="207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629"/>
              </a:lnSpc>
              <a:defRPr/>
            </a:pPr>
            <a:r>
              <a:t>B.Tech - CSE (CC) - CCQ413 - SEMINAR PRESENTATION– 2026-2027</a:t>
            </a:r>
          </a:p>
        </p:txBody>
      </p:sp>
      <p:sp>
        <p:nvSpPr>
          <p:cNvPr id="2094822039" name="object 14"/>
          <p:cNvSpPr txBox="1">
            <a:spLocks noGrp="1"/>
          </p:cNvSpPr>
          <p:nvPr>
            <p:ph type="dt" sz="half" idx="6"/>
          </p:nvPr>
        </p:nvSpPr>
        <p:spPr bwMode="auto">
          <a:xfrm>
            <a:off x="6224450" y="6448663"/>
            <a:ext cx="2386150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t>Saturday, October 3, 2026</a:t>
            </a:r>
          </a:p>
        </p:txBody>
      </p:sp>
      <p:sp>
        <p:nvSpPr>
          <p:cNvPr id="637844060" name="object 15"/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  <a:defRPr/>
            </a:pPr>
            <a:fld id="{81D60167-4931-47E6-BA6A-407CBD079E47}" type="slidenum">
              <a:rPr spc="-25"/>
              <a:t>8</a:t>
            </a:fld>
            <a:endParaRPr spc="-25"/>
          </a:p>
        </p:txBody>
      </p:sp>
      <p:sp>
        <p:nvSpPr>
          <p:cNvPr id="630672745" name=" 630672744"/>
          <p:cNvSpPr/>
          <p:nvPr/>
        </p:nvSpPr>
        <p:spPr bwMode="auto">
          <a:xfrm>
            <a:off x="1145104" y="1378633"/>
            <a:ext cx="7315479" cy="2585389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IN" sz="2000" b="0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 Remote Network Access</a:t>
            </a:r>
            <a:r>
              <a:rPr sz="2000" b="0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Traditional remote access systems primarily rely on VPNs to connect remote users to private networks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VPN deployment often requires firewall modifications, port forwarding, and public IP configuration.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network setup and maintenance increase administrative workload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Broad network access may allow users to access resources beyond their actual requirements.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Exposing network services to the internet can increase the risk of unauthorized access and cyberattacks.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Manual configuration of users, permissions, and network resources makes scalability and centralized management challenging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CF2C33-D68E-0BF8-0A51-8B08F9728C0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844648" name="object 2">
            <a:extLst>
              <a:ext uri="{FF2B5EF4-FFF2-40B4-BE49-F238E27FC236}">
                <a16:creationId xmlns:a16="http://schemas.microsoft.com/office/drawing/2014/main" id="{8D84F4C3-1F71-BAFB-A6A8-98361DF2D4F5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7410">
              <a:lnSpc>
                <a:spcPct val="100000"/>
              </a:lnSpc>
              <a:spcBef>
                <a:spcPts val="100"/>
              </a:spcBef>
              <a:defRPr/>
            </a:pPr>
            <a:r>
              <a:t>EXISTING</a:t>
            </a:r>
            <a:r>
              <a:rPr spc="-155"/>
              <a:t> </a:t>
            </a:r>
            <a:r>
              <a:rPr spc="-10"/>
              <a:t>SYSTEM</a:t>
            </a:r>
          </a:p>
        </p:txBody>
      </p:sp>
      <p:sp>
        <p:nvSpPr>
          <p:cNvPr id="446714246" name="object 13">
            <a:extLst>
              <a:ext uri="{FF2B5EF4-FFF2-40B4-BE49-F238E27FC236}">
                <a16:creationId xmlns:a16="http://schemas.microsoft.com/office/drawing/2014/main" id="{B1117890-B0F8-BD71-09C6-2DD484E7AB1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 bwMode="auto">
          <a:xfrm>
            <a:off x="231138" y="6448662"/>
            <a:ext cx="5826500" cy="2072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699">
              <a:lnSpc>
                <a:spcPts val="1629"/>
              </a:lnSpc>
              <a:defRPr/>
            </a:pPr>
            <a:r>
              <a:t>B.Tech - CSE (CC) - CCQ413 - SEMINAR PRESENTATION– 2026-2027</a:t>
            </a:r>
          </a:p>
        </p:txBody>
      </p:sp>
      <p:sp>
        <p:nvSpPr>
          <p:cNvPr id="2094822039" name="object 14">
            <a:extLst>
              <a:ext uri="{FF2B5EF4-FFF2-40B4-BE49-F238E27FC236}">
                <a16:creationId xmlns:a16="http://schemas.microsoft.com/office/drawing/2014/main" id="{545C0504-8FE2-2471-2EDF-0F527055153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 bwMode="auto">
          <a:xfrm>
            <a:off x="6224450" y="6448663"/>
            <a:ext cx="2386150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defRPr/>
            </a:pPr>
            <a:r>
              <a:t>Saturday, October 3, 2026</a:t>
            </a:r>
          </a:p>
        </p:txBody>
      </p:sp>
      <p:sp>
        <p:nvSpPr>
          <p:cNvPr id="637844060" name="object 15">
            <a:extLst>
              <a:ext uri="{FF2B5EF4-FFF2-40B4-BE49-F238E27FC236}">
                <a16:creationId xmlns:a16="http://schemas.microsoft.com/office/drawing/2014/main" id="{E3FFE677-5877-EC86-79F9-AA7E3B94BD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90"/>
              </a:lnSpc>
              <a:defRPr/>
            </a:pPr>
            <a:fld id="{81D60167-4931-47E6-BA6A-407CBD079E47}" type="slidenum">
              <a:rPr spc="-25"/>
              <a:t>9</a:t>
            </a:fld>
            <a:endParaRPr spc="-25"/>
          </a:p>
        </p:txBody>
      </p:sp>
      <p:sp>
        <p:nvSpPr>
          <p:cNvPr id="630672745" name=" 630672744">
            <a:extLst>
              <a:ext uri="{FF2B5EF4-FFF2-40B4-BE49-F238E27FC236}">
                <a16:creationId xmlns:a16="http://schemas.microsoft.com/office/drawing/2014/main" id="{8DC86848-8EE4-46AE-3D9F-B586495255C8}"/>
              </a:ext>
            </a:extLst>
          </p:cNvPr>
          <p:cNvSpPr/>
          <p:nvPr/>
        </p:nvSpPr>
        <p:spPr bwMode="auto">
          <a:xfrm>
            <a:off x="1145104" y="1378633"/>
            <a:ext cx="7315479" cy="2585389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IN" sz="2000" b="0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Limitations</a:t>
            </a:r>
            <a:r>
              <a:rPr sz="2000" b="0" i="0" u="sng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Complex Configuration: Requires firewall changes, port forwarding, and network setup.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High Maintenance: Regular updates and manual configuration increase administrative effort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Security Risks: Exposed services and misconfigured VPNs may create vulnerabilities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Excessive Access: Traditional VPNs may provide broader network access than necessary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Limited Automation: Resource registration and permission management often require manual intervention..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1800" b="0" dirty="0">
              <a:latin typeface="Times New Roman"/>
              <a:cs typeface="Times New Roman"/>
            </a:endParaRPr>
          </a:p>
          <a:p>
            <a:pPr marL="283879" indent="-283879" algn="just">
              <a:lnSpc>
                <a:spcPct val="114999"/>
              </a:lnSpc>
              <a:buFont typeface="Arial"/>
              <a:buChar char="•"/>
              <a:defRPr/>
            </a:pPr>
            <a:r>
              <a:rPr lang="en-US"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Scalability Issues: Expanding access to new users and resources can increase complexity and management costs</a:t>
            </a:r>
            <a:r>
              <a:rPr sz="18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73425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AB5BFB-8356-17B4-C491-900E188127DE}"/>
              </a:ext>
            </a:extLst>
          </p:cNvPr>
          <p:cNvSpPr txBox="1"/>
          <p:nvPr/>
        </p:nvSpPr>
        <p:spPr>
          <a:xfrm>
            <a:off x="1066800" y="1524000"/>
            <a:ext cx="72003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a Raspberry Pi as a lightweight network connector integrated with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Zero Trust Network Access (ZTNA) platform.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system: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low-cost connector between private network resources and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platform.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ZTNA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access management, secure connectivity, and zero-trust policy enforcement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Automation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to discover network resources and automate resource registration.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28CFE-81CA-A145-ABEC-38ECC0509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75FDEB6-5240-E693-1533-B0FEB839C7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51D8702-A35B-55F9-568E-A1175FADCAE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FF2D253-F309-9853-3BFB-36C0EB1ACC0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6F6342D-50D8-2A66-36F9-AC4B516BE6A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4" name="TextBox 795010712">
            <a:extLst>
              <a:ext uri="{FF2B5EF4-FFF2-40B4-BE49-F238E27FC236}">
                <a16:creationId xmlns:a16="http://schemas.microsoft.com/office/drawing/2014/main" id="{F297028B-5279-214C-B236-9148D1981908}"/>
              </a:ext>
            </a:extLst>
          </p:cNvPr>
          <p:cNvSpPr txBox="1"/>
          <p:nvPr/>
        </p:nvSpPr>
        <p:spPr bwMode="auto">
          <a:xfrm>
            <a:off x="773055" y="1378831"/>
            <a:ext cx="2427346" cy="305159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fromWordArt="0" anchor="t" anchorCtr="0" forceAA="0" compatLnSpc="0">
            <a:spAutoFit/>
          </a:bodyPr>
          <a:lstStyle>
            <a:defPPr>
              <a:defRPr/>
            </a:defPPr>
          </a:lstStyle>
          <a:p>
            <a:pPr>
              <a:defRPr/>
            </a:pPr>
            <a:r>
              <a:rPr sz="1400" b="0" u="sng" dirty="0">
                <a:latin typeface="Times New Roman"/>
                <a:ea typeface="Times New Roman"/>
                <a:cs typeface="Times New Roman"/>
              </a:rPr>
              <a:t>SYSTEM ARCHITECTURE:</a:t>
            </a:r>
            <a:endParaRPr sz="1600" b="0" u="sng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02ACF-F87D-D0EA-826F-2565D0F61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844" y="2215781"/>
            <a:ext cx="7427416" cy="3713708"/>
          </a:xfrm>
          <a:prstGeom prst="rect">
            <a:avLst/>
          </a:prstGeom>
          <a:effectLst>
            <a:softEdge rad="0"/>
          </a:effectLst>
        </p:spPr>
      </p:pic>
      <p:sp>
        <p:nvSpPr>
          <p:cNvPr id="7" name="TextBox 795010712">
            <a:extLst>
              <a:ext uri="{FF2B5EF4-FFF2-40B4-BE49-F238E27FC236}">
                <a16:creationId xmlns:a16="http://schemas.microsoft.com/office/drawing/2014/main" id="{973732FE-2329-ED8B-1593-4DFC94971936}"/>
              </a:ext>
            </a:extLst>
          </p:cNvPr>
          <p:cNvSpPr txBox="1"/>
          <p:nvPr/>
        </p:nvSpPr>
        <p:spPr bwMode="auto">
          <a:xfrm>
            <a:off x="2310413" y="1815898"/>
            <a:ext cx="4523173" cy="298800"/>
          </a:xfrm>
          <a:prstGeom prst="rect">
            <a:avLst/>
          </a:prstGeom>
          <a:noFill/>
        </p:spPr>
        <p:txBody>
          <a:bodyPr vert="horz" wrap="square" lIns="91440" tIns="45720" rIns="91440" bIns="45720" numCol="1" spcCol="0" rtlCol="0" fromWordArt="0" anchor="t" anchorCtr="0" forceAA="0" compatLnSpc="0">
            <a:spAutoFit/>
          </a:bodyPr>
          <a:lstStyle>
            <a:defPPr>
              <a:defRPr/>
            </a:defPPr>
          </a:lstStyle>
          <a:p>
            <a:pPr>
              <a:defRPr/>
            </a:pPr>
            <a:r>
              <a:rPr lang="en-US" sz="1400" b="0" u="sng" dirty="0">
                <a:latin typeface="Times New Roman"/>
                <a:ea typeface="Times New Roman"/>
                <a:cs typeface="Times New Roman"/>
              </a:rPr>
              <a:t>Raspberry Pi–Based </a:t>
            </a:r>
            <a:r>
              <a:rPr lang="en-US" sz="1400" b="0" u="sng" dirty="0" err="1">
                <a:latin typeface="Times New Roman"/>
                <a:ea typeface="Times New Roman"/>
                <a:cs typeface="Times New Roman"/>
              </a:rPr>
              <a:t>Twingate</a:t>
            </a:r>
            <a:r>
              <a:rPr lang="en-US" sz="1400" b="0" u="sng" dirty="0">
                <a:latin typeface="Times New Roman"/>
                <a:ea typeface="Times New Roman"/>
                <a:cs typeface="Times New Roman"/>
              </a:rPr>
              <a:t> Zero Trust Network Access</a:t>
            </a:r>
            <a:endParaRPr sz="1600" b="0" u="sng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575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BBD6D-3424-B489-753B-D0AEDEE6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3206BBD-A0FA-9699-F249-F0A6D48947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43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SYSTEM</a:t>
            </a:r>
            <a:r>
              <a:rPr lang="en-US" spc="-10" dirty="0"/>
              <a:t> DESIGN</a:t>
            </a:r>
            <a:endParaRPr spc="-10"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BEB5BB3-97A5-6B80-6579-7CEC67F5355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EB223FC-16F3-4021-8E28-88F3AB003B4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970E51D-30A5-4D1D-4925-798D1E9D91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FABAEF-EB2C-A450-5779-D5E08AA207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943" y="1137729"/>
            <a:ext cx="3280114" cy="492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3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6575" y="563054"/>
            <a:ext cx="6438900" cy="12336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4.</a:t>
            </a:r>
            <a:r>
              <a:rPr dirty="0"/>
              <a:t>SYSTEM</a:t>
            </a:r>
            <a:r>
              <a:rPr spc="5" dirty="0"/>
              <a:t> </a:t>
            </a:r>
            <a:r>
              <a:rPr spc="-30" dirty="0"/>
              <a:t>OVERVIEW</a:t>
            </a:r>
          </a:p>
          <a:p>
            <a:pPr marL="12700">
              <a:lnSpc>
                <a:spcPct val="100000"/>
              </a:lnSpc>
              <a:spcBef>
                <a:spcPts val="2780"/>
              </a:spcBef>
            </a:pPr>
            <a:r>
              <a:rPr lang="en-US" sz="2000" dirty="0"/>
              <a:t>SECURITY APPROCH:</a:t>
            </a:r>
            <a:endParaRPr sz="2000"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5B3DA-2544-8F58-E69B-FDE5C6F5250C}"/>
              </a:ext>
            </a:extLst>
          </p:cNvPr>
          <p:cNvSpPr txBox="1"/>
          <p:nvPr/>
        </p:nvSpPr>
        <p:spPr>
          <a:xfrm>
            <a:off x="536575" y="1905000"/>
            <a:ext cx="8378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Zero Trust security model with identity verification, device authentication, and least-privilege access control. Protects private network resources through encrypted connections, granular access policies, and activity logging.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07C75-2E5E-42A7-28B9-B1D1361A9600}"/>
              </a:ext>
            </a:extLst>
          </p:cNvPr>
          <p:cNvSpPr txBox="1"/>
          <p:nvPr/>
        </p:nvSpPr>
        <p:spPr>
          <a:xfrm>
            <a:off x="484441" y="3124200"/>
            <a:ext cx="817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DE82B-92A6-C947-B3E1-3444F1F2212E}"/>
              </a:ext>
            </a:extLst>
          </p:cNvPr>
          <p:cNvSpPr txBox="1"/>
          <p:nvPr/>
        </p:nvSpPr>
        <p:spPr>
          <a:xfrm>
            <a:off x="609600" y="3524310"/>
            <a:ext cx="8175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1.Raspberry Pi – Acts as the network connector.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2.Power Supply – Provides power to the Raspberry Pi.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3.Network Interface (Ethernet/Wi-Fi) – Connects the Raspberry Pi to the local network               and internet.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4.Private Network – Contains internal servers, applications, and services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5186-41C8-EEEF-EF10-777CB2009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9BF2B63-D0EE-97F0-EB1E-CA129945AA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54883"/>
            <a:ext cx="73882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9095">
              <a:lnSpc>
                <a:spcPct val="100000"/>
              </a:lnSpc>
              <a:spcBef>
                <a:spcPts val="100"/>
              </a:spcBef>
            </a:pPr>
            <a:r>
              <a:rPr u="none" spc="-10" dirty="0"/>
              <a:t> </a:t>
            </a:r>
            <a:r>
              <a:rPr dirty="0"/>
              <a:t>SYSTEM</a:t>
            </a:r>
            <a:r>
              <a:rPr spc="5" dirty="0"/>
              <a:t> </a:t>
            </a:r>
            <a:r>
              <a:rPr lang="en-US" spc="-30" dirty="0"/>
              <a:t>REQUIREMENTS</a:t>
            </a:r>
            <a:endParaRPr spc="-3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02D7D49-908C-DDBD-6AE4-F1A007C16D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5D64C3C-A3D5-BAB2-5809-3480C1CC4E2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DC2B7D5-CD59-762D-4BC3-198420F0C4A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E8B95-3230-4B98-D6E4-27572B1AE6E2}"/>
              </a:ext>
            </a:extLst>
          </p:cNvPr>
          <p:cNvSpPr txBox="1"/>
          <p:nvPr/>
        </p:nvSpPr>
        <p:spPr>
          <a:xfrm>
            <a:off x="775017" y="1456381"/>
            <a:ext cx="817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880F5-7760-E7EE-999E-DA68DF75E94D}"/>
              </a:ext>
            </a:extLst>
          </p:cNvPr>
          <p:cNvSpPr txBox="1"/>
          <p:nvPr/>
        </p:nvSpPr>
        <p:spPr>
          <a:xfrm>
            <a:off x="838200" y="2057400"/>
            <a:ext cx="8077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/ Linux – Operating system for running the connector and automation scripts.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Connector – Establishes secure connectivity between the private network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ZTNA Platform – Handles centralized access management and security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– Enables remote users to securely access authorized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– Used to develop automation scripts.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– Provides programmatic access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resource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Configuration – Supports hostname-based access through DNS aliasing</a:t>
            </a:r>
          </a:p>
        </p:txBody>
      </p:sp>
    </p:spTree>
    <p:extLst>
      <p:ext uri="{BB962C8B-B14F-4D97-AF65-F5344CB8AC3E}">
        <p14:creationId xmlns:p14="http://schemas.microsoft.com/office/powerpoint/2010/main" val="2593181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80" dirty="0"/>
              <a:t> </a:t>
            </a:r>
            <a:r>
              <a:rPr spc="-10" dirty="0"/>
              <a:t>WORKING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178" y="1473644"/>
            <a:ext cx="3341550" cy="111633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7050" algn="l"/>
              </a:tabLst>
            </a:pPr>
            <a:r>
              <a:rPr sz="2200" spc="-25" dirty="0">
                <a:latin typeface="Times New Roman"/>
                <a:cs typeface="Times New Roman"/>
              </a:rPr>
              <a:t>1.</a:t>
            </a:r>
            <a:r>
              <a:rPr lang="en-US" sz="2200" spc="-10" dirty="0">
                <a:latin typeface="Times New Roman"/>
                <a:cs typeface="Times New Roman"/>
              </a:rPr>
              <a:t>Network Connector Module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33AA6C-53A4-28E3-313C-B1AB9BCB84B4}"/>
              </a:ext>
            </a:extLst>
          </p:cNvPr>
          <p:cNvSpPr/>
          <p:nvPr/>
        </p:nvSpPr>
        <p:spPr>
          <a:xfrm>
            <a:off x="6172200" y="2895600"/>
            <a:ext cx="1892934" cy="838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03ADE566-C578-A3D6-6ACE-92050BBC4A2C}"/>
              </a:ext>
            </a:extLst>
          </p:cNvPr>
          <p:cNvCxnSpPr>
            <a:endCxn id="30" idx="1"/>
          </p:cNvCxnSpPr>
          <p:nvPr/>
        </p:nvCxnSpPr>
        <p:spPr>
          <a:xfrm rot="16200000" flipH="1">
            <a:off x="5391150" y="2533650"/>
            <a:ext cx="952500" cy="609600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12167E8-28C5-6424-C587-85F25EA955BD}"/>
              </a:ext>
            </a:extLst>
          </p:cNvPr>
          <p:cNvCxnSpPr>
            <a:stCxn id="30" idx="3"/>
          </p:cNvCxnSpPr>
          <p:nvPr/>
        </p:nvCxnSpPr>
        <p:spPr>
          <a:xfrm>
            <a:off x="8065134" y="3314700"/>
            <a:ext cx="5454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AA07C32-AFB2-8A39-A66A-B9B4FAFDC098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7118667" y="3733800"/>
            <a:ext cx="0" cy="762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DA3063A-DF5B-24FE-F62F-25045CDEA572}"/>
              </a:ext>
            </a:extLst>
          </p:cNvPr>
          <p:cNvSpPr/>
          <p:nvPr/>
        </p:nvSpPr>
        <p:spPr>
          <a:xfrm>
            <a:off x="6172200" y="4495800"/>
            <a:ext cx="1892934" cy="838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7A7485-6E10-2D99-95E5-CD94F4B688C0}"/>
              </a:ext>
            </a:extLst>
          </p:cNvPr>
          <p:cNvSpPr txBox="1"/>
          <p:nvPr/>
        </p:nvSpPr>
        <p:spPr>
          <a:xfrm>
            <a:off x="4893733" y="2075400"/>
            <a:ext cx="14974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Network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0A197F-41EB-5307-699C-9D20AE898AB9}"/>
              </a:ext>
            </a:extLst>
          </p:cNvPr>
          <p:cNvSpPr txBox="1"/>
          <p:nvPr/>
        </p:nvSpPr>
        <p:spPr>
          <a:xfrm>
            <a:off x="8234171" y="2693254"/>
            <a:ext cx="1057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Network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E6E160-B977-4363-8F91-218EA56A1A22}"/>
              </a:ext>
            </a:extLst>
          </p:cNvPr>
          <p:cNvSpPr txBox="1"/>
          <p:nvPr/>
        </p:nvSpPr>
        <p:spPr>
          <a:xfrm>
            <a:off x="6248400" y="3019221"/>
            <a:ext cx="18167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Connector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(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7BF99D-7921-F943-F562-338DFC2A254D}"/>
              </a:ext>
            </a:extLst>
          </p:cNvPr>
          <p:cNvSpPr txBox="1"/>
          <p:nvPr/>
        </p:nvSpPr>
        <p:spPr>
          <a:xfrm>
            <a:off x="6248400" y="4644535"/>
            <a:ext cx="181673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Remote Client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A8B175-D6C3-163B-09B8-17D0632AC753}"/>
              </a:ext>
            </a:extLst>
          </p:cNvPr>
          <p:cNvSpPr txBox="1"/>
          <p:nvPr/>
        </p:nvSpPr>
        <p:spPr>
          <a:xfrm>
            <a:off x="762000" y="2819400"/>
            <a:ext cx="3810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is configured as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Establishes a secure connection between the private network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B2-53BE-8A74-5F38-2C4837BC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9DA83C3A-DDD6-4CFE-5486-C0102886D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80" dirty="0"/>
              <a:t> </a:t>
            </a:r>
            <a:r>
              <a:rPr spc="-10" dirty="0"/>
              <a:t>WORKING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6F3AC9B-60F1-B7BA-4322-B3D3C43840F3}"/>
              </a:ext>
            </a:extLst>
          </p:cNvPr>
          <p:cNvSpPr txBox="1"/>
          <p:nvPr/>
        </p:nvSpPr>
        <p:spPr>
          <a:xfrm>
            <a:off x="689178" y="1473644"/>
            <a:ext cx="3501822" cy="111633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7050" algn="l"/>
              </a:tabLst>
            </a:pPr>
            <a:r>
              <a:rPr lang="en-US" sz="2200" spc="-25" dirty="0">
                <a:latin typeface="Times New Roman"/>
                <a:cs typeface="Times New Roman"/>
              </a:rPr>
              <a:t>2</a:t>
            </a:r>
            <a:r>
              <a:rPr sz="2200" spc="-25" dirty="0">
                <a:latin typeface="Times New Roman"/>
                <a:cs typeface="Times New Roman"/>
              </a:rPr>
              <a:t>.</a:t>
            </a:r>
            <a:r>
              <a:rPr lang="en-US" sz="2200" spc="-10" dirty="0">
                <a:latin typeface="Times New Roman"/>
                <a:cs typeface="Times New Roman"/>
              </a:rPr>
              <a:t>User Authentication Module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7021CD7-923A-F103-CD7D-B519294A4FC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A6CB4E3-883E-FEE1-2457-6E8DF35C849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31EED22-A06C-656C-BF5C-91D815B936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CBDCF-07D0-7F5B-EC1C-79B253766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005" y="2209800"/>
            <a:ext cx="4248075" cy="31736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81B734-70B6-121F-511F-7EE0F17D32AE}"/>
              </a:ext>
            </a:extLst>
          </p:cNvPr>
          <p:cNvSpPr txBox="1"/>
          <p:nvPr/>
        </p:nvSpPr>
        <p:spPr>
          <a:xfrm>
            <a:off x="723045" y="2790698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users connect through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identity and device authorization are verified.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32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5F1A-B3EB-A880-6763-7C0C8381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ED69148-5FCC-96F2-76F3-6888B8D5C0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80" dirty="0"/>
              <a:t> </a:t>
            </a:r>
            <a:r>
              <a:rPr spc="-10" dirty="0"/>
              <a:t>WORKING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096E57-C576-7422-55EF-4982E0ED25DA}"/>
              </a:ext>
            </a:extLst>
          </p:cNvPr>
          <p:cNvSpPr txBox="1"/>
          <p:nvPr/>
        </p:nvSpPr>
        <p:spPr>
          <a:xfrm>
            <a:off x="689178" y="1473644"/>
            <a:ext cx="3882822" cy="1454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7050" algn="l"/>
              </a:tabLst>
            </a:pPr>
            <a:r>
              <a:rPr lang="en-US" sz="2200" spc="-25" dirty="0">
                <a:latin typeface="Times New Roman"/>
                <a:cs typeface="Times New Roman"/>
              </a:rPr>
              <a:t>3</a:t>
            </a:r>
            <a:r>
              <a:rPr sz="2200" spc="-25" dirty="0">
                <a:latin typeface="Times New Roman"/>
                <a:cs typeface="Times New Roman"/>
              </a:rPr>
              <a:t>.</a:t>
            </a:r>
            <a:r>
              <a:rPr lang="en-US" sz="2200" spc="-10" dirty="0">
                <a:latin typeface="Times New Roman"/>
                <a:cs typeface="Times New Roman"/>
              </a:rPr>
              <a:t>Zero Trust Access Control  Module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CC5493E-53F9-E72A-52C0-EB135AD8AA0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6825F091-E375-40CA-B728-08DCB90E0031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5C92AD1-C0CE-DE90-D994-81C464B3711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3EDAC-65AC-14A9-3249-FAEAFECC0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0032" y="1744935"/>
            <a:ext cx="4508450" cy="3368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80C31A-21FF-773B-0775-BD3598D303AB}"/>
              </a:ext>
            </a:extLst>
          </p:cNvPr>
          <p:cNvSpPr txBox="1"/>
          <p:nvPr/>
        </p:nvSpPr>
        <p:spPr>
          <a:xfrm>
            <a:off x="689178" y="3076417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access policies before granting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least-privilege access to authorized resources only.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178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5546D-E81E-C92A-0EA8-3CFC47FBF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23CB658-C73D-AA0D-2E4B-DDFB0FBF3E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21690">
              <a:lnSpc>
                <a:spcPct val="100000"/>
              </a:lnSpc>
              <a:spcBef>
                <a:spcPts val="105"/>
              </a:spcBef>
            </a:pPr>
            <a:r>
              <a:rPr dirty="0"/>
              <a:t>SYSTEM</a:t>
            </a:r>
            <a:r>
              <a:rPr spc="-80" dirty="0"/>
              <a:t> </a:t>
            </a:r>
            <a:r>
              <a:rPr spc="-10" dirty="0"/>
              <a:t>WORKING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9E393BE-60AD-7140-AB1B-6CB74487F948}"/>
              </a:ext>
            </a:extLst>
          </p:cNvPr>
          <p:cNvSpPr txBox="1"/>
          <p:nvPr/>
        </p:nvSpPr>
        <p:spPr>
          <a:xfrm>
            <a:off x="689178" y="1473644"/>
            <a:ext cx="3810000" cy="14548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35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Modules:</a:t>
            </a:r>
            <a:endParaRPr sz="23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527050" algn="l"/>
              </a:tabLst>
            </a:pPr>
            <a:r>
              <a:rPr lang="en-US" sz="2200" spc="-25" dirty="0">
                <a:latin typeface="Times New Roman"/>
                <a:cs typeface="Times New Roman"/>
              </a:rPr>
              <a:t>4</a:t>
            </a:r>
            <a:r>
              <a:rPr sz="2200" spc="-25" dirty="0">
                <a:latin typeface="Times New Roman"/>
                <a:cs typeface="Times New Roman"/>
              </a:rPr>
              <a:t>.</a:t>
            </a:r>
            <a:r>
              <a:rPr lang="en-US" sz="2200" spc="-10" dirty="0">
                <a:latin typeface="Times New Roman"/>
                <a:cs typeface="Times New Roman"/>
              </a:rPr>
              <a:t>Monitoring and Logging Module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86D822F-03D6-5885-3509-8364FA69C7D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C65F161-7CA5-3C88-4A70-B1CCB511058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FED5751-FDB2-2958-985E-19CD4D4CFC3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8E1D-F474-F859-CC1E-C008D34FA399}"/>
              </a:ext>
            </a:extLst>
          </p:cNvPr>
          <p:cNvSpPr txBox="1"/>
          <p:nvPr/>
        </p:nvSpPr>
        <p:spPr>
          <a:xfrm>
            <a:off x="689178" y="3076417"/>
            <a:ext cx="381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cyclical workflow where resource registration feeds into automated API discovery.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Positioning the "Monitoring &amp; Logging Module" as the external input indicates that continuous system auditing directly informs.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3D0FA4-DC9C-3E3C-B60B-24DD3CEA3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178" y="1642031"/>
            <a:ext cx="4187622" cy="324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38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79830">
              <a:lnSpc>
                <a:spcPct val="100000"/>
              </a:lnSpc>
              <a:spcBef>
                <a:spcPts val="105"/>
              </a:spcBef>
            </a:pPr>
            <a:r>
              <a:rPr u="none" dirty="0"/>
              <a:t>5.</a:t>
            </a:r>
            <a:r>
              <a:rPr u="none" spc="-5" dirty="0"/>
              <a:t> </a:t>
            </a:r>
            <a:r>
              <a:rPr spc="-10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F0C68-4520-0FA8-6C40-4F80E71CDB63}"/>
              </a:ext>
            </a:extLst>
          </p:cNvPr>
          <p:cNvSpPr txBox="1"/>
          <p:nvPr/>
        </p:nvSpPr>
        <p:spPr>
          <a:xfrm>
            <a:off x="762000" y="1371600"/>
            <a:ext cx="80227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 Zero Trust: The project successfully implements a secure, lightweight Zero Trust Network Access (ZTNA) architecture utilizing an affordable Raspberry Pi as a network connector.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Security Posture: Replaces traditional VPNs by enforcing strict identity verification and least-privilege access, ensuring users only access authorized resources without exposing internal services to the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Infrastructure: Eliminates the need for complex traditional network configurations, such as firewall modifications, port forwarding, and the assignment of public IP addresses.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Scalability: The integration of a Python-based API automation script allows for the dynamic discovery and seamless registration of network resources, significantly reducing manual administration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7165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6.</a:t>
            </a: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F15191-45F0-D887-A9AC-1322384F1ED6}"/>
              </a:ext>
            </a:extLst>
          </p:cNvPr>
          <p:cNvSpPr txBox="1"/>
          <p:nvPr/>
        </p:nvSpPr>
        <p:spPr>
          <a:xfrm>
            <a:off x="1066800" y="1524000"/>
            <a:ext cx="7391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Syed et al., “Zero Trust Architecture (ZTA): A Comprehensive Survey,” IEEE Access, 2022.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N. N. Hari et al., “Standards-Compliant Zero Trust Framework-Based Software-Defined Perimeter (SDP) for Securing Residential IoT Networks,” IEEE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Tuyishime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“Online Laboratory Access Control With Zero Trust Approach: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Case,” IEEE.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870" y="2781249"/>
            <a:ext cx="422846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u="none" dirty="0">
                <a:solidFill>
                  <a:srgbClr val="375F92"/>
                </a:solidFill>
                <a:latin typeface="Times New Roman"/>
                <a:cs typeface="Times New Roman"/>
              </a:rPr>
              <a:t>THANK</a:t>
            </a:r>
            <a:r>
              <a:rPr sz="5400" b="1" u="none" spc="-145" dirty="0">
                <a:solidFill>
                  <a:srgbClr val="375F92"/>
                </a:solidFill>
                <a:latin typeface="Times New Roman"/>
                <a:cs typeface="Times New Roman"/>
              </a:rPr>
              <a:t> </a:t>
            </a:r>
            <a:r>
              <a:rPr sz="5400" b="1" u="none" spc="-25" dirty="0">
                <a:solidFill>
                  <a:srgbClr val="375F92"/>
                </a:solidFill>
                <a:latin typeface="Times New Roman"/>
                <a:cs typeface="Times New Roman"/>
              </a:rPr>
              <a:t>YOU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IN"/>
              <a:t>B.Tech - CSE CC - CCQ413 - SEMINAR PRESENTATION– 2026-2027</a:t>
            </a:r>
            <a:endParaRPr spc="-20" dirty="0"/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0"/>
              </a:lnSpc>
            </a:pPr>
            <a:r>
              <a:rPr lang="en-US"/>
              <a:t>Monday, October 5, 2026</a:t>
            </a:r>
            <a:endParaRPr spc="-20" dirty="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</TotalTime>
  <Words>1696</Words>
  <Application>Microsoft Office PowerPoint</Application>
  <PresentationFormat>On-screen Show (4:3)</PresentationFormat>
  <Paragraphs>204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Arial MT</vt:lpstr>
      <vt:lpstr>Times New Roman</vt:lpstr>
      <vt:lpstr>Office Theme</vt:lpstr>
      <vt:lpstr>REMOTE NETWORK ACCESS USING TWIN GATE AND RASPBERRY PI</vt:lpstr>
      <vt:lpstr>OUTLINE</vt:lpstr>
      <vt:lpstr>1. ABSTRACT</vt:lpstr>
      <vt:lpstr>2. INTRODUCTION</vt:lpstr>
      <vt:lpstr>3. SYSTEM ANALYSIS        LITERATURE REVIEW</vt:lpstr>
      <vt:lpstr>3. SYSTEM ANALYSIS        LITERATURE REVIEW</vt:lpstr>
      <vt:lpstr>3. SYSTEM ANALYSIS        LITERATURE REVIEW</vt:lpstr>
      <vt:lpstr>EXISTING SYSTEM</vt:lpstr>
      <vt:lpstr>EXISTING SYSTEM</vt:lpstr>
      <vt:lpstr>PROPOSED SYSTEM</vt:lpstr>
      <vt:lpstr>PROPOSED SYSTEM</vt:lpstr>
      <vt:lpstr>SYSTEM DESIGN</vt:lpstr>
      <vt:lpstr>4.SYSTEM OVERVIEW SECURITY APPROCH:</vt:lpstr>
      <vt:lpstr> SYSTEM REQUIREMENTS</vt:lpstr>
      <vt:lpstr>SYSTEM WORKING</vt:lpstr>
      <vt:lpstr>SYSTEM WORKING</vt:lpstr>
      <vt:lpstr>SYSTEM WORKING</vt:lpstr>
      <vt:lpstr>SYSTEM WORKING</vt:lpstr>
      <vt:lpstr>5. CONCLUSION</vt:lpstr>
      <vt:lpstr>6.REFERENCES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Nithin Ramakrishnan</dc:creator>
  <cp:lastModifiedBy>Akshay N</cp:lastModifiedBy>
  <cp:revision>4</cp:revision>
  <dcterms:created xsi:type="dcterms:W3CDTF">2026-09-26T01:42:47Z</dcterms:created>
  <dcterms:modified xsi:type="dcterms:W3CDTF">2026-10-30T11:24:25Z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2026-08-10T00:00:00Z</vt:filetime>
  </property>
  <property fmtid="{D5CDD505-2E9C-101B-9397-08002B2CF9AE}" pid="4" name="LastSaved">
    <vt:filetime>2026-09-26T00:00:00Z</vt:filetime>
  </property>
</Properties>
</file>