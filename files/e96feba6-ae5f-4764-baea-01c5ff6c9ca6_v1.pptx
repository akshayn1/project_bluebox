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3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4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5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6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7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7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image" Target="../media/image8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9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6250"/>
            <a:ext cx="11049000" cy="590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345" y="2296417"/>
            <a:ext cx="2945159" cy="238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25628" y="2610742"/>
            <a:ext cx="5940742" cy="569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b="1" sz="3900" i="0" u="none">
                <a:solidFill>
                  <a:srgbClr val="0F172A"/>
                </a:solidFill>
                <a:latin typeface="Poppins"/>
              </a:rPr>
              <a:t>Disaster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3370808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A Master Guide Covering Strategy, Community Action, Relief Operations &amp; Behavioral Dynamics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8425" y="4275683"/>
            <a:ext cx="1657350" cy="285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650" y="4275683"/>
            <a:ext cx="2371725" cy="28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0" y="4275683"/>
            <a:ext cx="2600325" cy="285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0350" y="4361408"/>
            <a:ext cx="142875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0575" y="4361408"/>
            <a:ext cx="15240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5175" y="4361408"/>
            <a:ext cx="12382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67012"/>
            <a:ext cx="5381625" cy="2352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767012"/>
            <a:ext cx="5381625" cy="2352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725" y="3043237"/>
            <a:ext cx="5070633" cy="285750"/>
          </a:xfrm>
          <a:prstGeom prst="rect">
            <a:avLst/>
          </a:prstGeom>
          <a:noFill/>
        </p:spPr>
        <p:txBody>
          <a:bodyPr wrap="square" lIns="28575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3A8A"/>
                </a:solidFill>
                <a:latin typeface="Poppins SemiBold"/>
              </a:rPr>
              <a:t>Meaning &amp; Core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443287"/>
            <a:ext cx="482917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Definition: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A Disaster Management Plan (DMP) is a structured operational document that outlines preemptive measures and response strategies for disasters.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200525"/>
            <a:ext cx="482917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Primary Purpose: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To establish systemic readiness, minimize life and property loss, and streamline quick multi-agency recovery during emergencies.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3043237"/>
            <a:ext cx="5070633" cy="285750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3A8A"/>
                </a:solidFill>
                <a:latin typeface="Poppins SemiBold"/>
              </a:rPr>
              <a:t>Strategic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3443287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Primary Goal: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Build resilient systems that reduce disaster vulnerability across communities and physical infrastructure.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986212"/>
            <a:ext cx="482917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Key Objectives: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Ensure rapid emergency deployment, maintain seamless communication, safeguard critical assets, and establish smooth transition to rehabilitation.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090862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3090862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6250"/>
            <a:ext cx="2729954" cy="2381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Meaning, Purpose &amp; Objectives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8450"/>
            <a:ext cx="3530649" cy="2209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838450"/>
            <a:ext cx="3530649" cy="2209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838450"/>
            <a:ext cx="3530649" cy="2209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3600450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Risk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952875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Identification of historical hazards, geographic vulnerabilities, and community exposure to create baseline risk profiles.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874" y="3600450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Standard Operating Protocols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874" y="3952875"/>
            <a:ext cx="3054399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Clear Command Structure detailing exact chains of responsibility, alert triggers, and inter-departmental communication protocols.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8124" y="3600450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Resource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8124" y="3952875"/>
            <a:ext cx="3054399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Database of emergency stockpiles, rescue equipment, medical supplies, and designated shelter facilities ready for immediate deployment.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105150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3105150"/>
            <a:ext cx="3429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3105150"/>
            <a:ext cx="3810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76250"/>
            <a:ext cx="2729954" cy="2381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Basic Components of a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925" y="3307556"/>
            <a:ext cx="5334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175" y="3307556"/>
            <a:ext cx="53340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0425" y="3307556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2675" y="3307556"/>
            <a:ext cx="533400" cy="53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4067175"/>
            <a:ext cx="88392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2456" y="3993356"/>
            <a:ext cx="270033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oppins"/>
              </a:rPr>
              <a:t>Hazard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4307681"/>
            <a:ext cx="25717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Identifying geographical risk zones and potential natural or technological disaster threats.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706" y="3993356"/>
            <a:ext cx="270033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oppins"/>
              </a:rPr>
              <a:t>Resource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4307681"/>
            <a:ext cx="25717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Evaluating available manpower, machinery, medical assets, and financial reserves.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956" y="3993356"/>
            <a:ext cx="270033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oppins"/>
              </a:rPr>
              <a:t>Role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0" y="4307681"/>
            <a:ext cx="25717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Assigning explicit roles to government, NGOs, emergency services, and community volunteers.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9206" y="3993356"/>
            <a:ext cx="270033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oppins"/>
              </a:rPr>
              <a:t>Validation &amp; Drills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0" y="4307681"/>
            <a:ext cx="25717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Testing response efficacy through periodic simulation exercises and stakeholder reviews.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6250"/>
            <a:ext cx="2040284" cy="2381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Planning Process &amp; Hazard 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1325"/>
            <a:ext cx="5381625" cy="1924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981325"/>
            <a:ext cx="5381625" cy="1924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725" y="3257550"/>
            <a:ext cx="507063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3A8A"/>
                </a:solidFill>
                <a:latin typeface="Poppins SemiBold"/>
              </a:rPr>
              <a:t>Resource &amp; Responsibility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657600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Resource Allocation: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Pre-designating emergency funds, food stockpiles, heavy rescue vehicles, and communication gear.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200525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Institutional Accountability: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Establishing clear accountability across local authorities, police, health services, and fire rescue teams.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3257550"/>
            <a:ext cx="507063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3A8A"/>
                </a:solidFill>
                <a:latin typeface="Poppins SemiBold"/>
              </a:rPr>
              <a:t>Preparedness Measures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3657600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Early Warning Systems: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Deploying multi-channel alert mechanisms including sirens, mobile broadcasts, and weather telemetry.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4200525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Capacity Building: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regular maintenance of emergency gear, training of first responders, and keeping emergency contact networks updated.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250"/>
            <a:ext cx="2040284" cy="238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Resources &amp; Preparedness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067050"/>
            <a:ext cx="10706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Official Record Keeping: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Disaster reports capture accurate, chronological timelines of events, impact severity, and immediate environmental conditions.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76650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Accountability &amp; Transparency: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Documents government and relief agency response actions to ensure public accountability and post-event audits.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57650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Real-time Incident Logging: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Continuous recording of hazard progression, casualty counts, infrastructure damage, and resource consumption.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8650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Multi-Agency Coordination: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Provides standardized data updates across civil defense, military, health, and non-profit organization networks.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81337"/>
            <a:ext cx="21907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90937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71937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52937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6250"/>
            <a:ext cx="3000375" cy="238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Purpose &amp; Event Recording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133600"/>
            <a:ext cx="53816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43125"/>
            <a:ext cx="5362575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33600"/>
            <a:ext cx="50387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Damage &amp; Loss Assessment: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Quantifies human casualties, agricultural damage, housing destruction, and economic downtime for relief funding.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50387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Evaluating Response Activities: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Analyzes rescue efficiency, evacuation timelines, and distribution bottlenecks during the active phase.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10000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Documenting Lessons Learned: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Identifies structural vulnerabilities and plan failures to update future emergency response strategies.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47887"/>
            <a:ext cx="2190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86087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824287"/>
            <a:ext cx="14287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76250"/>
            <a:ext cx="3000375" cy="238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Loss Assessment &amp; Lessons Learned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1325"/>
            <a:ext cx="5381625" cy="1924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981325"/>
            <a:ext cx="5381625" cy="1924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725" y="3257550"/>
            <a:ext cx="507063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3A8A"/>
                </a:solidFill>
                <a:latin typeface="Poppins SemiBold"/>
              </a:rPr>
              <a:t>First Responders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657600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Local community members are physically present at the disaster site during the critical first hours long before professional teams arrive.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200525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Immediate community action directly correlates with higher survival rates and faster immediate triage.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3257550"/>
            <a:ext cx="507063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3A8A"/>
                </a:solidFill>
                <a:latin typeface="Poppins SemiBold"/>
              </a:rPr>
              <a:t>Indigenous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3657600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Local residents understand unique local topography, weather markers, traditional safe havens, and community vulnerabilities.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4200525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Leveraging traditional knowledge enhances early warning reliability and evacuation compliance.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250"/>
            <a:ext cx="2598539" cy="238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Importance of Local Involvement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8450"/>
            <a:ext cx="3530649" cy="2209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838450"/>
            <a:ext cx="3530649" cy="2209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838450"/>
            <a:ext cx="3530649" cy="2209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3600450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Early Warning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952875"/>
            <a:ext cx="3054399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Local volunteers act as vital links to disseminate alerts across remote households and vulnerable neighborhood pockets.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874" y="3600450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Evacuation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874" y="3952875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Community leaders assist children, elderly, and disabled individuals in reaching designated high-ground or shelters swiftly.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8124" y="3600450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Community Audits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8124" y="3952875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Participating in local hazard mapping, reporting blocked drainage systems, and identifying vulnerable infrastructure.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105150"/>
            <a:ext cx="2286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3105150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3105150"/>
            <a:ext cx="3810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76250"/>
            <a:ext cx="2598539" cy="2381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Local Role in Preparedness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133600"/>
            <a:ext cx="53816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43125"/>
            <a:ext cx="5362575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33600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Targeted Awareness Campaigns: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Regular drills, safety workshops, and disaster literacy in schools and community centers.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Mobilizing Local Resources: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Cataloging village boats, private trucks, generators, and community halls for emergency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52800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Inter-neighborhood Cooperation: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Forming local task forces dedicated to search, rescue, first aid, and shelter management.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47887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57487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367087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76250"/>
            <a:ext cx="2598539" cy="238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Community Awareness &amp; Resources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5606"/>
            <a:ext cx="3530649" cy="19954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945606"/>
            <a:ext cx="3530649" cy="19954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945606"/>
            <a:ext cx="3530649" cy="1995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3707606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Structured Volunteer Cadres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406003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Training youth and civic groups in basic first aid, fire containment, and light search-and-rescue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874" y="3707606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Relief Logistics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874" y="406003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Assisting official authorities in unloading, sorting, packaging, and distributing emergency food kits and blankets.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8124" y="3707606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Shelter Support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8124" y="406003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Managing community kitchens, maintaining hygiene, and helping register displaced individuals within local shelters.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212306"/>
            <a:ext cx="2667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3212306"/>
            <a:ext cx="3810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3212306"/>
            <a:ext cx="3810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76250"/>
            <a:ext cx="2598539" cy="2381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Volunteering &amp; 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1325"/>
            <a:ext cx="5381625" cy="1924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981325"/>
            <a:ext cx="5381625" cy="1924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725" y="3257550"/>
            <a:ext cx="507063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3A8A"/>
                </a:solidFill>
                <a:latin typeface="Poppins SemiBold"/>
              </a:rPr>
              <a:t>Need for Relief Camps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657600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Disasters often destroy homes and lifelines, leaving thousands homeless and vulnerable to extreme weather and secondary hazards.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200525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Relief camps provide temporary safe havens that preserve human dignity and prevent post-disaster mortality.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3257550"/>
            <a:ext cx="507063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3A8A"/>
                </a:solidFill>
                <a:latin typeface="Poppins SemiBold"/>
              </a:rPr>
              <a:t>Core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3657600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Primary Protection: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Deliver immediate shelter, physical safety, nourishment, and medical treatment to displaced populations.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4200525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Systemic Stability: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Prevent disease outbreaks and establish centralized hubs for humanitarian relief distribution.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250"/>
            <a:ext cx="3209925" cy="238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Need &amp; Core 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133600"/>
            <a:ext cx="53816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43125"/>
            <a:ext cx="5362575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33600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Safe Site Selection: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Built on elevated, hazard-free ground away from floodplains, landslide paths, or industrial hazards.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Accessibility &amp; Logistics: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Close to main transport routes for supply trucks and ambulances with good natural drainage.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52800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Basic Spatial Zoning: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Organizing distinct areas for sleeping, dining, sanitation, medical triage, and administrative desks.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47887"/>
            <a:ext cx="2190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57487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367087"/>
            <a:ext cx="21907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76250"/>
            <a:ext cx="3209925" cy="238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Site Selection &amp; Organization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5606"/>
            <a:ext cx="3530649" cy="19954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945606"/>
            <a:ext cx="3530649" cy="19954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945606"/>
            <a:ext cx="3530649" cy="1995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3707606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Camp Commandant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406003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Overall administrative lead responsible for policy execution, official reporting, and high-level decision making.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874" y="3707606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Registration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874" y="406003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Log-in team tracking family units, vulnerable individuals, missing persons, and special nutritional/medical needs.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8124" y="3707606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Security &amp; Safety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8124" y="406003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Law enforcement and trained personnel ensuring order, protecting women/children, and managing entry points.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212306"/>
            <a:ext cx="3810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3212306"/>
            <a:ext cx="3429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3212306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76250"/>
            <a:ext cx="2800350" cy="2381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Camp Administration 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683668"/>
          <a:ext cx="11039473" cy="2519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60959"/>
                <a:gridCol w="4838848"/>
                <a:gridCol w="4239666"/>
              </a:tblGrid>
              <a:tr h="62984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Operational Pillar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Standard Guidelines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Key Objective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2984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Space Allocation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Minimum 3.5m² covered shelter space per person with adequate head clearance.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Prevents overcrowding, maintains family privacy, and reduces stress.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984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Security &amp; Safety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Well-lit perimeters, dedicated safe spaces for women/children, and 24/7 patrols.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Mitigates theft, exploitation, physical violence, and camp conflicts.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2984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Inter-Agency Coordination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Daily updates between government officials, military logistics, and international NGOs.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Eliminates resource duplication and ensures smooth supply replenishment.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6262" y="3836193"/>
            <a:ext cx="19609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37221" y="3836193"/>
            <a:ext cx="48388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76070" y="3836193"/>
            <a:ext cx="42396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262" y="4512468"/>
            <a:ext cx="19609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37221" y="4512468"/>
            <a:ext cx="48388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76070" y="4512468"/>
            <a:ext cx="42396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262" y="5188743"/>
            <a:ext cx="19609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37221" y="5188743"/>
            <a:ext cx="48388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6070" y="5188743"/>
            <a:ext cx="42396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6250"/>
            <a:ext cx="2800350" cy="2381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Space Allocation &amp; Security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5606"/>
            <a:ext cx="3530649" cy="19954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945606"/>
            <a:ext cx="3530649" cy="19954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945606"/>
            <a:ext cx="3530649" cy="1995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3707606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Food &amp; Nutrition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406003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Minimum 2,100 kcal per person/day. Hygienic communal kitchens providing culturally appropriate meals and infant food.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874" y="3707606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Safe Drinking Water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874" y="406003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15-20 liters per person daily for drinking, cooking, and personal hygiene. Continuous water quality monitoring.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8124" y="3707606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Sanitation &amp; Hygiene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8124" y="406003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1 toilet per 20 persons (gender-segregated). Proper waste management, vector control, and hygiene kit distribution.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212306"/>
            <a:ext cx="2667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3212306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3212306"/>
            <a:ext cx="2667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76250"/>
            <a:ext cx="2529929" cy="2381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Essential Life-Support Amenities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133600"/>
            <a:ext cx="53816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43125"/>
            <a:ext cx="5362575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33600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Healthcare Facilities: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On-site primary health clinics, emergency trauma care, essential drugs, and maternal health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Electricity &amp; Lighting: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Generator back-ups and solar lights for latrines, medical bays, and pathways to ensure safety.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52800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Communication Hubs: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Public announcement systems, family reunifying desks, and charging stations.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47887"/>
            <a:ext cx="2190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57487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367087"/>
            <a:ext cx="21907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76250"/>
            <a:ext cx="2529929" cy="238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Healthcare &amp; Infrastructure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1325"/>
            <a:ext cx="5381625" cy="1924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981325"/>
            <a:ext cx="5381625" cy="1924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725" y="3257550"/>
            <a:ext cx="507063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3A8A"/>
                </a:solidFill>
                <a:latin typeface="Poppins SemiBold"/>
              </a:rPr>
              <a:t>Panic &amp; Acute Fear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657600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Panic Triggers: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Sudden loss of control, breakdown of communication, and conflicting rumors can cause mass panic.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200525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Behavioral Risk: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Irrational flight behavior, stampedes at relief distribution points, and severe cognitive freeze.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3257550"/>
            <a:ext cx="507063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3A8A"/>
                </a:solidFill>
                <a:latin typeface="Poppins SemiBold"/>
              </a:rPr>
              <a:t>Stress &amp; Survival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3657600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Acute Stress Reaction: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Shock, disorientation, denial, and hyper-vigilance are common psychological responses.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4200525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Pro-Social Altruism: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Contrary to myths, communities frequently exhibit immense mutual helpfulness and solidarity during acute crises.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250"/>
            <a:ext cx="2227064" cy="238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Human Reactions in Crises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81350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Transparent Public Communication: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Deliver factual, calm, authoritative, and actionable updates frequently to counter rumor mills and prevent panic.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2350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Structured Crowd Management: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Use clear queueing barriers, empathetic personnel, and organized staging areas during food/supply distribution.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43350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Promoting Community Cooperation: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Involve survivors in routine camp tasks to restore agency, purpose, and social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24350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De-escalation Training: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Equipping field responders with calm verbal skills to defuse rising tensions in stressed groups.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95637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76637"/>
            <a:ext cx="23812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57637"/>
            <a:ext cx="23812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38637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6250"/>
            <a:ext cx="2227064" cy="238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Effective Behavior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133600"/>
            <a:ext cx="53816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43125"/>
            <a:ext cx="2619375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33600"/>
            <a:ext cx="50387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Psychological Toll: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Grief, severe anxiety, depression, and Post-Traumatic Stress Disorder (PTSD) triggered by loss of loved ones and property.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50387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Psychological First Aid (PFA):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Non-intrusive, compassionate care focusing on safety, comfort, listening, and connecting survivors to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10000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Specialized Vulnerable Care: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Targeted emotional support for children, orphans, widows, and elderly survivors.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47887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86087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824287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76250"/>
            <a:ext cx="3101429" cy="238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Psychological Trauma &amp;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8450"/>
            <a:ext cx="3530649" cy="2209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838450"/>
            <a:ext cx="3530649" cy="2209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838450"/>
            <a:ext cx="3530649" cy="2209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3600450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Community Debriefing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952875"/>
            <a:ext cx="3054399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Facilitated group interactions allowing survivors to share experiences and normalize emotional reactions in a safe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874" y="3600450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Professional Counselling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874" y="3952875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Clinical referral pathways for individuals exhibiting severe depression, prolonged trauma, or self-harm tendencies.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8124" y="3600450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Care for First Responders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8124" y="3952875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Managing compassion fatigue and vicarious trauma among emergency workers through mandatory rest and debriefing.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105150"/>
            <a:ext cx="3810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3105150"/>
            <a:ext cx="2667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3105150"/>
            <a:ext cx="3429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76250"/>
            <a:ext cx="3101429" cy="2381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Counselling &amp; Care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5606"/>
            <a:ext cx="3530649" cy="19954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945606"/>
            <a:ext cx="3530649" cy="19954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945606"/>
            <a:ext cx="3530649" cy="1995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3707606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Rigorous Skill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406003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Continuous drills in search and rescue, incident command systems, hazard containment, and medical triage.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874" y="3707606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Discipline &amp; Ethics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874" y="406003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Adhering to non-discriminatory relief distribution, preserving human dignity, and maintaining strict professional integrity.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8124" y="3707606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Clear Communication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8124" y="406003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Succinct multi-channel communications across rescue teams, administrative leads, and vulnerable civilians.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212306"/>
            <a:ext cx="3810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3212306"/>
            <a:ext cx="3810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3212306"/>
            <a:ext cx="3810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76250"/>
            <a:ext cx="2533650" cy="2381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Training &amp; Core Attributes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133600"/>
            <a:ext cx="53816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43125"/>
            <a:ext cx="5362575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33600"/>
            <a:ext cx="50387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Decisive Emergency Leadership: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Ability to analyze incomplete data rapidly, make high-stakes choices, and direct rescue operations under extreme pressure.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Inter-Agency Teamwork: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Harmonizing civil administration, military units, medical personnel, and local volunteer corps.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81400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Professional Accountability: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Taking responsibility for resource stewardship, operational outcomes, and field safety protocols.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47887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86087"/>
            <a:ext cx="23812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9568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76250"/>
            <a:ext cx="2533650" cy="238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Leadership &amp; Team Conduct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1325"/>
            <a:ext cx="5381625" cy="1924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981325"/>
            <a:ext cx="5381625" cy="1924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725" y="3257550"/>
            <a:ext cx="507063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3A8A"/>
                </a:solidFill>
                <a:latin typeface="Poppins SemiBold"/>
              </a:rPr>
              <a:t>Building Personal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657600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Practical First-Aid: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Training citizens in CPR, wound dressing, fracture stabilization, and basic triage techniques.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200525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Household Preparedness: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Equipping families to create 72-hour emergency kits, escape plans, and secure vital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3257550"/>
            <a:ext cx="507063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3A8A"/>
                </a:solidFill>
                <a:latin typeface="Poppins SemiBold"/>
              </a:rPr>
              <a:t>Self-Reliance 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3657600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Reducing Dependence: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Cultivating personal confidence so individuals act decisively without waiting for external aid.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4200525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Risk Awareness: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Educating individuals to recognize environmental warning signs and evacuate proactively.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250"/>
            <a:ext cx="3585269" cy="238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Individual Capacity Building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8450"/>
            <a:ext cx="3530649" cy="2209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838450"/>
            <a:ext cx="3530649" cy="2209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838450"/>
            <a:ext cx="3530649" cy="2209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3600450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Community Disaster Committees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952875"/>
            <a:ext cx="3054399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Establishing localized, community-led committees responsible for maintenance of local early warning systems and safe shelters.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874" y="3600450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Resilient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874" y="3952875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Encouraging community-driven retrofitting, safe building practices, mangrove protection, and sustainable land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8124" y="3600450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Long-term Adaptability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8124" y="3952875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Integrating climate resilience and risk reduction into everyday local development planning and social programs.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105150"/>
            <a:ext cx="3429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8124" y="3105150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76250"/>
            <a:ext cx="3585269" cy="2381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790575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Strengthening Community Resilience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3906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1621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933700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8766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6482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1526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1526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924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924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638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638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410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5410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3352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540668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https://cdn.sanity.io/images/vjj9kuff/production/e87e12ff47ccbd85d78d9af228f244f0acb1a60d-1500x918.jpg?q=85&amp;auto=format&amp;w=1920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774031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flytbase.com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0505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231219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https://preparecenter.org/wp-content/uploads/2024/02/Night-Time-First-Aid-Training-scaled.jpg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54555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preparecenter.org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62300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3076575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https://images.squarespace-cdn.com/content/v1/66623a178f69fa695b49dcb1/0eeb28cb-32cf-4310-a262-38ec63de0f99/western%2Bshelter%2Bgatekeeper%2B20%2Bcommand%2Band%2Bcontrol%2Bshelter.jpg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495675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www.westernshelter.com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19550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402669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https://www.unrefugees.org/media/3z4jk5su/wash-explainer-3.png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26005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www.unrefugees.org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91075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4798218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https://www.goodtherapy.org/blog/blog/wp-content/uploads/2019/08/How-to-Give-Psychological-First-Aid-800x1760.png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5031581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www.goodtherapy.org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562600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556974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https://hadps.ha.org.hk/GetFile.ashx?file=%2FPreparedness%2FTraining%20Model%20(Eng)%202022.png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80310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hadps.ha.org.hk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76250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9334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